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147479658" r:id="rId41"/>
    <p:sldId id="2147479659" r:id="rId42"/>
    <p:sldId id="2147479660" r:id="rId43"/>
    <p:sldId id="2147479661" r:id="rId44"/>
    <p:sldId id="2147479662" r:id="rId45"/>
    <p:sldId id="2147479663" r:id="rId46"/>
    <p:sldId id="2147479664" r:id="rId47"/>
    <p:sldId id="2147479665" r:id="rId48"/>
    <p:sldId id="2147479666" r:id="rId49"/>
    <p:sldId id="2147479667" r:id="rId50"/>
    <p:sldId id="2147479668" r:id="rId51"/>
    <p:sldId id="2147479669" r:id="rId52"/>
    <p:sldId id="2147479670" r:id="rId53"/>
    <p:sldId id="2147479671" r:id="rId54"/>
    <p:sldId id="2147479672" r:id="rId55"/>
    <p:sldId id="2147479673" r:id="rId56"/>
    <p:sldId id="2147479674" r:id="rId57"/>
    <p:sldId id="2147479675" r:id="rId58"/>
    <p:sldId id="2147479676" r:id="rId59"/>
    <p:sldId id="2147479677" r:id="rId60"/>
    <p:sldId id="2147479678" r:id="rId61"/>
    <p:sldId id="2147479679" r:id="rId62"/>
    <p:sldId id="2147479680" r:id="rId63"/>
    <p:sldId id="2147479681" r:id="rId64"/>
    <p:sldId id="2147479682" r:id="rId65"/>
    <p:sldId id="2147479683" r:id="rId66"/>
    <p:sldId id="2147479684" r:id="rId67"/>
    <p:sldId id="2147479685" r:id="rId68"/>
    <p:sldId id="2147479686" r:id="rId69"/>
    <p:sldId id="2147479687" r:id="rId70"/>
    <p:sldId id="2147479688" r:id="rId71"/>
    <p:sldId id="2147479689" r:id="rId72"/>
    <p:sldId id="2147479690" r:id="rId73"/>
    <p:sldId id="2147479691" r:id="rId74"/>
    <p:sldId id="2147479692" r:id="rId75"/>
    <p:sldId id="2147479693" r:id="rId76"/>
    <p:sldId id="2147479657" r:id="rId7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50" autoAdjust="0"/>
  </p:normalViewPr>
  <p:slideViewPr>
    <p:cSldViewPr snapToGrid="0">
      <p:cViewPr varScale="1">
        <p:scale>
          <a:sx n="94" d="100"/>
          <a:sy n="94" d="100"/>
        </p:scale>
        <p:origin x="106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(5 minutes)
Open by welcoming the group and setting expectations. Say: "Over this programme we are going to take you from 'I have heard of containers' to 'I can deploy, expose, configure and operate an application on AKS with confidence.' We are deliberately staying on the application side of the boundary — this is not a cluster administration course."
Establish the audience level. Ask for a quick show of hands on three questions: who has built a Docker image, who has run kubectl against a cluster, and who currently supports an application running in production on Kubernetes. Use the answers to calibrate your pace — if most hands go up on the first question only, spend full time on Module 1; if the room is already containerised, move faster through Module 1 and invest the time in Modules 3 and 4.
Explain the structure. Section 1 covers fundamentals: what containers are, how Kubernetes and AKS fit together, how you deploy an application, how you expose it, and how you configure it. Section 2 covers operations: persistent storage and application health management.
Set the ground rules: questions welcome at any time; every concept slide is paired with the YAML you would actually write; and nothing here requires cluster admin rights, so everything is reproducible in a namespace of your own.
TIMING NOTE: The full deck runs comfortably in a full-day format, or two half-days split at the section boundary.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(3 minutes)
Read the agenda as a story rather than a list. The narrative is: "First we make an application portable (Module 1). Then we make it run reliably in multiple copies (Module 2). Then we let other things talk to it (Module 3). Then we make it behave differently per environment without rebuilding (Module 4). Then we let it keep data (Module 5). Finally we teach the platform how to tell whether it is healthy (Module 6)."
That ordering is deliberate and worth stating out loud, because delegates often want to jump ahead to ingress, service mesh or autoscaling. Acknowledge those topics exist and note that they build directly on Module 3, but they are out of scope here.
Flag the split point: Section 1 ends after Configuration Management. If you are running this as two half-days, that is your natural break. If it is a single day, take the long break there.
Point out the note on the right: every module includes real manifests. Encourage delegates to keep a scratch file open and copy snippets as you go, because the same manifests reappear and grow across modules — the Deployment we write in Module 2 is the one we expose in Module 3, configure in Module 4, give storage to in Module 5 and add probes to in Module 6.
QUESTION TO EXPECT: "Will we cover Helm / GitOps / ingress?" Answer: not in this programme; they are the natural follow-on once these fundamentals are solid.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OPENING (1 minute)
Use this divider as a deliberate reset point. Say: "Section 1 is about getting an application onto AKS correctly. By the end of it you will have a running, reachable, environment-aware application."
Preview the four modules in one sentence each so the group has a mental map: Module 1 gives vocabulary and architecture; Module 2 gives the deployment objects; Module 3 gives connectivity; Module 4 gives configuration.
If you are resuming after a break, spend thirty seconds recapping the objectives slide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CONTAINERS FOR BANKING APPLICATIONS (7 minutes)
This is the only slide with an explicit banking frame, so land it well — the rest of the course uses generic application examples.
Start with the problem, not the solution. Describe the traditional estate: a shared application server hosting several applications, a change window that requires coordination across teams, environment drift between UAT and production, and a release process that depends on runbooks executed by hand. Ask the group which of those they recognise. Most will recognise all four.
CONSISTENCY: Explain immutability. Once an image is built it does not change; you promote the identical artefact through environments. This kills the classic "works in UAT" conversation, and for regulated organisations it produces a clean audit answer to "what exactly was running on the fifteenth?" — a specific image digest.
SPEED: Be careful here. Containers do not automatically make releases safe or fast; they remove one class of blocker (shared runtime coupling). Smaller, more frequent releases reduce blast radius, which is the actual risk argument that resonates with a risk committee.
RESILIENCE: Contrast process isolation with a shared JVM or application server where one memory leak affects every co-hosted application. In Kubernetes, a failing container is restarted in place, and traffic is withheld until it is ready again — we cover exactly how in Module 6.
EFFICIENCY: Mention that the saving is usually most visible in non-production, where dozens of low-utilisation environments can share nodes.
HONEST CAVEAT to state out loud: containers are not a security boundary as strong as a virtual machine. Regulated workloads still rely on network policy, image scanning, private registries and node-level isolation. Say plainly, "Containers change how you package and operate software; they do not remove your security obligations."
QUESTION TO EXPECT: "Can we run our core banking system in containers?" Answer: usually the surrounding services first — APIs, channels, batch orchestration — while stateful legacy cores migrate last, if at 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CONTAINERISATION CONCEPTS (8 minutes)
Define the three nouns precisely, because delegates routinely use them interchangeably and it causes confusion later.
IMAGE: a template. Read-only, built once, versioned, stored in a registry. Use the analogy of a class in object-oriented programming.
CONTAINER: an instance of that template, running. The object created from the class. You can run twenty containers from one image.
REGISTRY: the library. On Azure, Azure Container Registry. Mention that in a bank this is almost always private, with vulnerability scanning and geo-replication enabled.
Then explain the mechanism, because understanding it dispels a lot of magic. Two Linux kernel features do the work. Namespaces control visibility — a container gets its own view of the process table, the filesystem mounts, the network stack and the hostname, so it believes it is alone on the machine. Control groups, cgroups, control consumption — how much CPU time and memory the process is allowed. When we set resource requests and limits later, we are configuring cgroups.
Walk the diagram bottom-up: one host, one kernel, a container runtime (containerd on AKS today, not Docker Engine), and above it several containers each carrying their own libraries and runtime versions. Make the key observation explicit: the Payments API can use one runtime version while Statements uses another, on the same host, with no conflict. That is the dependency-hell problem solved.
Pause here for the inevitable question: "So is it a lightweight virtual machine?" Answer no, and hold that thought — the next slide addresses it directly with a picture.
COMMON MISCONCEPTION to correct: containers are not persistent. Anything written inside the container filesystem disappears when the container is replaced. Plant that seed now; Module 5 harvests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VMS VERSUS CONTAINERS (5 minutes)
This slide exists to answer the question that always comes up on the previous slide. Draw attention to the amber band on the left: three guest operating systems, each with its own kernel, its own patching lifecycle, its own several gigabytes of disk and its own boot time.
On the right, that band collapses into a shared kernel accessed through the container runtime. Everything else — the application layer at the top, the hardware at the bottom — is the same.
Draw out the practical consequences one at a time:
· Startup time drops from minutes to milliseconds, which is what makes automatic restarts and horizontal scaling practical.
· Image size drops from gigabytes to tens or hundreds of megabytes, which is what makes promoting the same artefact between environments quick.
· Density rises, because you are no longer paying an operating system tax per workload.
Then state the trade-off honestly, because a technically literate banking audience will ask: the isolation boundary is weaker. A hypervisor boundary is a stronger security control than a kernel namespace boundary. This is why, in practice, banks separate workloads of very different trust levels onto different node pools or different clusters rather than relying on container isolation alone.
Also correct a common assumption: it is not either/or. On AKS your containers run on virtual machines — the agent nodes. You get both boundaries; the container boundary is simply the inner one.
TRANSITION: "So containers are the packaging model. Now let us look at the tool that builds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ARCHITECTURE (7 minutes)
Explain the client-server split first, because it removes confusion about where work actually happens. When a developer types docker build, the CLI does almost nothing — it packages the build context and sends it over a REST API to the Docker daemon, which does the building. That is why builds can run on a remote machine or a build agent.
Walk the three components:
· CLI — the commands you type. Four verbs cover most of a developer's day: build, run, push, pull.
· DAEMON — the engine. It resolves base images, executes each Dockerfile instruction, stores the resulting layers locally, and manages running containers, their networks and volumes.
· REGISTRY — the shared library. In an enterprise this is Azure Container Registry, private, with scanning and retention policies. Emphasise that public Docker Hub is normally blocked in a bank and base images are mirrored into ACR after review.
Point at the dashed box: the daemon keeps a local cache of layers. This is why the second build of the same application is dramatically faster than the first, and why the ordering of Dockerfile instructions matters — a topic we hit on the next slide.
NOW THE IMPORTANT CLARIFICATION, and delegates find this genuinely surprising: AKS does not use Docker to run your containers. The node runtime is containerd. Docker remains a perfectly good tool for building images on your workstation or build agent, because images follow an open standard — the OCI specification — so an image built by Docker runs under containerd without modification. Say it plainly: "Docker is a build-time tool for you; containerd is a run-time detail of the cluster."
QUESTION TO EXPECT: "Does that mean our Dockerfiles stop working?" Answer: no. The Dockerfile format and the resulting images are unaffected.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BUILDING BASICS (9 minutes)
Explain layering first. Every instruction in a Dockerfile produces a layer, and layers are cached by content. When you rebuild, Docker reuses every layer up to the first one whose inputs changed, then rebuilds the rest. This single fact drives almost all Dockerfile best practice.
Walk the snippet line by line and make the caching point concrete. Notice that the project file is copied and dependencies restored BEFORE the rest of the source is copied. Dependencies change rarely; source changes constantly. With this ordering, a normal code change reuses the restore layer and the build takes seconds. If you reverse those lines, every code change re-downloads every dependency. Tell the group this is the single highest-value Dockerfile habit they can adopt.
Then explain multi-stage builds. Stage one uses the full SDK image, which is large — often well over a gigabyte — because it contains compilers and tooling. Stage two starts from a lean runtime image and copies in only the published output. The compilers never reach production. The benefit is threefold: smaller images pull faster, there is less to scan, and there is less to exploit.
Cover the security and governance lines:
· USER 1000 — run as non-root. Many banking security standards mandate this, and AKS can enforce it with policy.
· Pinned base image tags — mcr.microsoft.com/dotnet/aspnet:8.0 rather than latest, so a rebuild six months from now is predictable.
· Immutable tags on your own images — use the commit SHA. If you deploy the tag "latest" you can never answer with certainty what is running. Say: "Tags are labels; only digests are identity."
Point at the build and push commands. Note that the registry name is part of the image name — that is how the daemon knows where to push, and later how the node knows where to pull.
DEMO OPTION (5 minutes if you have a terminal): build a trivial image twice and show the "CACHED" lines on the second run. It makes layering click faster than any explanation.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ARCHITECTURE (10 minutes)
Frame this from the application team's seat. Say: "You will interact with exactly one thing on this slide — the API server. Everything else is background, but knowing it exists helps you debug."
Explain the control loop, which is the central idea of Kubernetes. You submit a declaration: "I want five replicas of this image." That declaration is stored in etcd. Controllers continuously compare desired state with actual state and take action to close the gap. If a node dies and two Pods vanish, the controller notices the gap and creates two more. Nobody is paged, no script runs. This is why Kubernetes is described as declarative rather than imperative.
Walk the control plane components briefly:
· API SERVER — the only component anything talks to. It authenticates, authorises, validates and persists. When kubectl feels slow, this is usually where to look.
· ETCD — the database of record. On AKS you never touch it or back it up yourself; Azure does.
· SCHEDULER — placement. It filters nodes that cannot run the Pod (insufficient CPU or memory, taints, node selectors) then scores the rest and picks a winner. This is where resource requests actually matter: a Pod with no requests is hard to place sensibly.
· CONTROLLER MANAGER — the collection of control loops, including the Deployment and ReplicaSet controllers we meet in Module 2.
Then the node side:
· KUBELET — the agent on each node. It receives Pod specifications, tells containerd to start containers, and reports health back. It is also what executes your liveness and readiness probes — link forward to Module 6.
· KUBE-PROXY — programmes the node's networking rules so Service virtual IPs route to the right Pods. Link forward to Module 3.
Emphasise the arrow in the middle: the flow of intent runs from the API server outward. The nodes pull work; you never push containers to a node.
DEBUGGING TIP worth sharing: when something does not start, the sequence to check is (1) did the object get created — kubectl get, (2) did it get scheduled — kubectl describe pod and look at Events, (3) did the image pull, (4) did the container start and stay up. That order follows this diagram left to right.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AKS OVERVIEW (7 minutes)
Define AKS in one sentence: "AKS is Kubernetes where Microsoft operates the control plane for you, and you operate your applications on Azure virtual machines that join the cluster as nodes."
MANAGED: This is the main reason organisations choose AKS over self-managed Kubernetes. Running the control plane yourself means running a highly available etcd cluster with backups, certificate rotation and version upgrades — real, specialised work. Azure absorbs it. State clearly that this is not a proprietary fork: the control plane is upstream Kubernetes.
ELASTIC: Introduce node pools. A node pool is a group of identically sized virtual machines. Most clusters have at least a system pool for cluster services and one or more user pools for workloads. Mention that the platform team may give different applications different pools for isolation, cost attribution or hardware requirements. The cluster autoscaler adds nodes when Pods cannot be scheduled and removes them when they sit idle — but note that it only works well if your Pods declare resource requests, which links back to the scheduler discussion.
INTEGRATED: Walk the integrations because they define the shape of a real banking deployment. Identity comes from Entra ID, so cluster access follows the same joiners-movers-leavers process as everything else. Images come from a private ACR. Secrets ideally live in Key Vault and are projected into Pods rather than stored in the cluster. Logs and metrics land in Azure Monitor and Log Analytics. Storage is Azure Disk or Azure Files, which we cover in Module 5.
STANDARD: Reassure on portability. Nothing you write in this course is AKS-specific except the storage classes and the load balancer integration, and even those are configuration rather than a different API.
COMMERCIAL: Free tier control plane with no financial SLA, or a paid Standard tier with an SLA. You always pay for the nodes, disks and outbound traffic. This matters when teams ask why non-production costs what it does — usually the answer is idle nodes, not the control plane.
QUESTION TO EXPECT: "Who upgrades Kubernetes versions?" Answer: the platform team initiates it; Azure performs the control plane upgrade and orchestrates node pool upgrades. Your job is to make sure your application tolerates a node being drained — which is exactly what Module 6 prepares you for.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RESPONSIBILITY (6 minutes)
This slide prevents a great deal of wasted time later, so do not rush it. Most incidents in the first year of a Kubernetes adoption are escalated to the wrong team because nobody agreed the boundary.
Read the table row by row and, for each, name the practical consequence.
CONTROL PLANE: You have no operational duties here at all. If the API server is unavailable, note that your running Pods keep serving traffic — the control plane is needed to change things, not to keep them running. That is a genuinely reassuring fact worth stating.
NODES: Azure supplies hardened node images; the platform team decides sizes and upgrade windows. Your obligation is to declare CPU and memory requests honestly. Under-declaring causes noisy-neighbour problems; over-declaring wastes money and blocks the autoscaler from packing nodes efficiently.
NETWORKING: The platform team owns subnets, network policy and ingress. Your decision is narrower but important — which Service type to request. Choosing a public load balancer when an internal one was appropriate is a common and avoidable finding in a security review.
IDENTITY: The platform team grants you access, usually scoped to a namespace. Your obligation is to use workload identity or a scoped service account instead of embedding credentials.
IMAGES: You own what goes into your image, including base image currency. A critical vulnerability in your base image is your finding to remediate, not the platform team's.
THE APPLICATION: Manifests, configuration, probes, storage choices and graceful shutdown. All of it yours.
FACILITATION TIP: Ask the group who they currently call when a deployment fails. If the answer is "the platform team, always," this table is the fix. Encourage them to take a photograph of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OBJECTS OVERVIEW (7 minutes)
Anchor the whole of Modules 2 to 6 on this one structural insight: every Kubernetes object, no matter how different it looks, has the same four top-level fields. Once delegates internalise this, reading unfamiliar YAML stops being intimidating.
apiVersion — which API group and version defines this type. Deployments live in apps/v1; Pods, Services, ConfigMaps and Secrets live in the core group, written simply as v1. If someone gets "no matches for kind", this line is almost always the culprit.
kind — the object type. Case sensitive.
metadata — identity. Name, namespace and labels. Names must be unique within a namespace and type. Labels are not decoration; Module 2 shows they are the wiring mechanism.
spec — what you want. This is the only part you author.
status — what is actually true. Kubernetes writes it; you read it. Never hand-edit it.
Make the desired-versus-actual distinction vivid: "spec is your instruction, status is the platform's report card. Debugging is almost always the act of comparing the two."
Then walk the object families on the right at a high level, promising where each is covered: workloads now, networking in Module 3, configuration in Module 4, storage in Module 5.
On the commands, push hard for the declarative habit. kubectl apply with a file kept in version control is the pattern; kubectl create, kubectl edit and kubectl scale typed live are the anti-pattern, because the cluster then disagrees with your repository and the next apply silently reverts someone's fix. In a regulated environment this also matters for change evidence — the repository becomes the record.
Mention kubectl describe explicitly as the most underused command. The Events section at the bottom of its output answers the majority of "why is this not working"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 (9 minutes)
Define it crisply: "A Pod is a wrapper around one or more containers that are so closely related they should be treated as a single unit."
Explain what "shared" actually means, because this is the part that gets glossed over:
· SHARED NETWORK — the containers in a Pod share one network namespace, and therefore one IP address and one port space. Container A reaches container B on localhost. It also means two containers in the same Pod cannot both bind port 8080.
· SHARED STORAGE — they can mount the same volume, which is how the sidecar pattern on the next slide works.
· SHARED LIFECYCLE — they are scheduled together, they live on the same node, and they are deleted together.
Now hammer the most important cultural point in the whole module: PODS ARE DISPOSABLE. They are not servers. They have no stable name, no stable IP address and no stable storage by default. A Pod that is replaced comes back with a different name and a different address. Delegates who have come from virtual machines will resist this instinctively — everything else in Kubernetes exists to make that disposability safe. Services (Module 3) give you a stable address in front of moving Pods. PersistentVolumeClaims (Module 5) give you storage that outlives the Pod.
Walk the manifest. Point at the image tag and reinforce the earlier lesson about immutable tags. Then dwell on resources, because it is the field most often omitted and most often the root cause of production problems:
· REQUESTS are what the scheduler reserves. They determine which node your Pod lands on. No request means the scheduler is guessing.
· LIMITS are the hard ceiling. Exceeding the memory limit gets the container killed with OOMKilled — a specific status worth remembering. Exceeding the CPU limit causes throttling, not a kill, which shows up as mysterious latency.
Recommend the practical starting point: set requests from observed usage, set memory limit close to requests, and be generous or absent with CPU limits.
Finally, state that you should almost never apply this file directly. A bare Pod is not recreated if its node fails. It is useful for a quick test and nothing else. That sets up ReplicaSets.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MULTI-CONTAINER PODS (7 minutes)
Open with the discipline, not the patterns: "The default is one container per Pod. Reach for a second only when the two containers must live and die together and need to share the network or filesystem. If they can be scaled or released independently, they belong in separate Pods."
Then explain each pattern with a concrete, recognisable example.
SIDECAR: the most common by far. A log shipper reads files the application writes and forwards them to the central platform. The application does not need to know anything about the logging backend. Other examples: a metrics exporter that turns internal counters into a scrapeable endpoint, or a proxy that handles mutual TLS on behalf of a legacy application that cannot do it itself. That last one is genuinely valuable in a bank with older services.
ADAPTER: a narrower sidecar. The application emits a proprietary log format; the adapter reshapes it into the standard the platform expects. Useful when you cannot change the application.
AMBASSADOR: the outbound mirror image. The application connects to localhost on a fixed port; the ambassador container handles where that actually goes, plus retries and connection pooling. Common when connecting to a database or a mainframe gateway with complex connection semantics.
INIT CONTAINERS: call these out as a distinct mechanism, not just another sidecar. They run to completion, in order, before any application container starts. If an init container fails, Kubernetes retries it and the application never starts — which is often exactly what you want. Typical uses: wait for a dependency to be reachable, pull a certificate into a shared volume, or run a database schema migration exactly once before the new version starts serving.
Walk the manifest and point at the two identical volumeMounts. That shared emptyDir volume is the entire mechanism: the application writes, the sidecar reads. Note that emptyDir lives and dies with the Pod, which is perfectly appropriate for a log buffer and completely inappropriate for business data — a distinction Module 5 develops.
WARNING WORTH GIVING: sidecars consume CPU and memory from the same node budget, and every Pod pays that cost. A sidecar on a service scaled to fifty replicas is fifty copies. Size them deliberately.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REPLICASETS (7 minutes)
Introduce this as the first real control loop delegates will meet by name. The ReplicaSet has exactly one job: make the number of Pods matching its selector equal to the replica count.
Walk the reconciliation strip at the bottom slowly, because it is the mental model that makes Kubernetes feel predictable rather than magical. Desired is three. A node fails and one Pod disappears, so actual is two. The controller observes the difference on its next pass and creates one replacement Pod. Actual returns to three. Emphasise the timescale — this happens in seconds, unattended, at three in the morning, with nobody paged. Then add the honest caveat: the replacement Pod is scheduled somewhere with capacity, so if the cluster is full it stays Pending. That is why resource requests and node pool sizing matter.
Now the manifest. Three fields deserve attention.
· REPLICAS — how many.
· SELECTOR — which Pods this controller considers its own. This is a label query, not a parent-child pointer. That is a genuinely different model from most systems delegates have used.
· TEMPLATE — the blueprint used when it needs to create a new Pod. Note that this is essentially the Pod spec from two slides ago, nested.
Then deliver the classic mistake in the red callout, ideally as a story: if the labels in the template do not match the selector, the ReplicaSet creates a Pod, then looks for Pods matching its selector, finds none, and creates another. It never converges. The symptom is an ever-growing pile of Pods. Kubernetes now validates this at creation for Deployments, but the lesson stands: the selector and the template labels are one contract.
Finish with the practical instruction: do not write ReplicaSets. Write Deployments. The reason is on the next slide — ReplicaSets have no concept of a version change, so updating the image in one gives you no controlled rollout and no way back.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DEPLOYMENTS (8 minutes)
Frame the Deployment as the object application teams actually author. Say: "In practice you will write Deployments, Services, ConfigMaps and Secrets. You will read ReplicaSets and Pods when debugging, but you will rarely write them."
Explain the three-level hierarchy using the diagram: the Deployment owns ReplicaSets, and each ReplicaSet owns Pods. The crucial insight is why there is a middle layer at all. A ReplicaSet is tied to one Pod template — that is, one version. So a version change means a new ReplicaSet. The Deployment's job is to orchestrate the transition between them.
Walk the picture: revision four is the current version, running three Pods. Revision three is the previous version, scaled to zero, but still present. It costs nothing to keep because it has no Pods, and it is what makes rollback fast — Kubernetes does not need to rebuild or re-pull anything, it simply scales the old ReplicaSet back up and the new one down.
Explain what happens when you change the image tag and apply: the Deployment controller notices the template changed, creates a new ReplicaSet, and then gradually shifts replicas from old to new according to the strategy — the subject of the next slide.
Cover the commands:
· kubectl apply — the declarative update.
· kubectl rollout status — blocks until the rollout completes or fails. This is the command to put in a pipeline; without it your pipeline reports success before the application is actually running.
· kubectl get rs — shows the revision history as ReplicaSets, which is how you see what a rollback would return you to.
Mention revisionHistoryLimit, which defaults to ten. It controls how many old ReplicaSets are retained. Reducing it keeps the namespace tidy; setting it too low removes your ability to roll back more than one version.
QUESTION TO EXPECT: "Does changing a ConfigMap trigger a rollout?" Answer: no, and that surprises people. Only a change to the Pod template does. We return to this in Module 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 UPDATES AND ROLLBACKS (9 minutes)
This is one of the highest-value slides in the course for a banking audience, because it converts "deployment" from an event requiring a change window into a routine operation.
Walk the strip left to right as a story. We start with three Pods on version one. The Deployment creates one Pod on version two — that is maxSurge in action, temporarily allowing four Pods. Kubernetes waits until that new Pod reports ready. Only then does it terminate one version one Pod. It repeats until all three are on version two. At no point does serving capacity drop below three.
Now explain the two knobs precisely, because they are frequently misunderstood:
· maxSurge — how many Pods above the replica count may exist during the rollout. Higher means faster, at the cost of temporary extra capacity.
· maxUnavailable — how many Pods below the replica count may be unavailable. Setting this to zero is the conservative, production-appropriate choice: you never lose capacity, you only ever add it temporarily. The trade-off is that you need headroom on the cluster for the surge.
Point out minReadySeconds. Without it, a Pod that passes its readiness probe once is immediately counted as good, and the rollout continues. A settle time of ten or thirty seconds catches applications that crash shortly after startup, which stops a bad version from rolling all the way through.
progressDeadlineSeconds is the safety net: if the rollout has not progressed within this window, it is marked failed. Note that it does NOT automatically roll back — it stops and reports. Somebody or something still has to act.
Cover rollback. kubectl rollout undo returns to the previous revision, and it is fast because the old ReplicaSet is still there. Encourage delegates to practise it, not just know about it. Also caution about the one thing rollback cannot undo: a database schema migration. If your release changed the schema in a non-backward-compatible way, scaling the old ReplicaSet back up will not save you. The discipline is to make schema changes backward compatible and deploy them separately from the code that uses them.
Finally, land the red callout hard. The entire mechanism depends on the readiness probe telling the truth. If there is no readiness probe, Kubernetes treats "the process started" as "ready to serve", and a rolling update will happily replace every working Pod with a broken one, quickly and confidently. Tell them we will fix this properly in Module 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AND SELECTORS (7 minutes)
Open by challenging the assumption that labels are cosmetic. Say: "In most systems, tags are for humans searching a console. In Kubernetes, labels are the wiring. If you get them wrong, traffic goes to the wrong Pods, or nowhere at all."
Explain the loose coupling model. A Service does not hold a list of Pod names. It holds a query. Any Pod that matches the query receives traffic; any Pod that stops matching stops receiving it. This is why the system tolerates Pods being created and destroyed constantly — nothing holds a reference to a specific Pod.
Make that concrete with a debugging story: "The single most common connectivity problem you will hit is a Service whose selector does not match the Pod labels. The Service exists, the Pods are running and healthy, and yet nothing works. The diagnostic is kubectl get endpoints — if the list is empty, your selector is wrong."
Walk the four relationships in the cards:
· Deployment to Pods, via the ReplicaSet selector.
· Service to Pods, covered in detail next module.
· Platform tooling to workloads — monitoring, network policy and cost allocation all select by label. In a bank, chargeback by cost-centre label is common, which is why the convention matters beyond your own team.
· You to the cluster, using -l to filter kubectl output. Show that comma-separated selectors are ANDed.
Distinguish labels from annotations clearly. Labels are for identification and selection, so keep them short and bounded — app, tier, env, version, and perhaps a cost centre or owner. Annotations carry arbitrary metadata: build numbers, commit URLs, change record references, tool configuration. Annotations cannot be used in a selector, which is precisely why they are the right home for values that change on every build. Recommend the standard app.kubernetes.io/ label set if the organisation has not already chosen one.
Close on the amber warning. Selectors on Services are mutable, but the selector on a Deployment is immutable after creation — changing it requires deleting and recreating the Deployment. In production that is a change request nobody wants. Agree the convention first.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SERVICES OVERVIEW (7 minutes)
Start with the problem statement, because the solution only makes sense once the problem is felt. Ask the group: "If a Pod's IP address changes every time it is replaced, and there are five of them, what address does a caller use?" Let them sit with it for a moment. Hardcoding addresses is impossible; a client-side registry is work nobody wants.
The Service is the answer. It provides three things at once:
· A STABLE VIRTUAL IP — allocated at creation and unchanged for the life of the Service, even as every Pod behind it is replaced.
· A STABLE DNS NAME — which is what you will actually use, covered shortly.
· LOAD BALANCING — traffic is distributed across all healthy matching Pods.
Explain the mechanism briefly. The Service's selector matches Pod labels. The endpoints controller maintains the list of matching, ready Pod addresses. kube-proxy on each node programmes rules so that traffic to the virtual IP is rewritten to one of those addresses. Nothing sits in the path as a proxy process — it is kernel-level routing, which is why it is fast.
Highlight the word READY. Only Pods that pass their readiness probe appear in the endpoint list. That is the mechanism by which readiness probes control traffic, and it is worth flagging now so Module 6 lands as a payoff rather than a new idea.
Introduce the three types at headline level only — each gets its own slide. But give the mental model in the callout: they are layered, not alternatives. A LoadBalancer Service is a NodePort Service is a ClusterIP Service, with each layer adding external reach. Every Service, whatever its type, is reachable internally by its cluster IP and DNS name.
Set the decision frame for the next four slides: "The question is not 'how do I expose this?' but 'who needs to reach it?' If the answer is other services in the cluster, you are done with ClusterIP."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CLUSTERIP (6 minutes)
Establish this as the default and the destination for most services. In a typical banking microservice estate, the large majority of services should be ClusterIP — payment processors, ledger adapters, notification workers, internal APIs. Only the small number of genuine entry points need external exposure.
Explain what happens on creation. Kubernetes allocates a virtual IP from the service CIDR — an address range separate from the Pod network. That IP is not attached to any network interface anywhere; it exists only as a routing rule that kube-proxy programmes on every node. That is why you cannot ping it in a meaningful way from outside, and why it has zero cost.
Walk the manifest and pay particular attention to the port pair, because this trips up nearly everyone the first time:
· port is the port the Service listens on — what callers use.
· targetPort is the port the container is actually listening on.
They are frequently different, and deliberately so: callers use a conventional port 80 while the application listens on 8080 as a non-root user. Mention that targetPort can also be a named port, which is more robust when the container port changes.
Mention headless Services briefly. Setting clusterIP: None means no virtual IP is allocated and DNS returns the individual Pod addresses instead. This is what StatefulSet-based systems such as databases and message brokers use, because clients need to address specific members rather than a random one. Say it exists so they recognise it, but note it is not something an application team usually configures by hand.
SECURITY POINT worth emphasising to this audience: ClusterIP is not a security control on its own. Any Pod in the cluster can reach any ClusterIP Service by default. Restricting which Pods may call which Services requires NetworkPolicy, which the platform team usually owns. Be honest that "internal" means "not on the internet", not "only authorised callers".
Close with the default position in the callout, and make it a rule of thumb they can take away: if you cannot name the external caller, you do not need an external Service.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NODEPORT (5 minutes)
Present NodePort honestly as the least-used of the three types on AKS, but explain it properly because it is the layer underneath LoadBalancer and understanding it makes the next slide obvious.
Describe the mechanism: Kubernetes picks a port in the 30000 to 32767 range, or you specify one, and every node in the cluster starts accepting traffic on that port. Traffic arriving there is forwarded to the Service's cluster IP and on to a matching Pod — which may well be on a different node. Walk the flow strip to make that hop explicit.
Then be direct about the drawbacks, because delegates who discover NodePort in a tutorial will otherwise reach for it:
· The port range is unfriendly. Nobody wants to publish an API on port 31742.
· You must know a node's IP address, and nodes are replaced during scaling and upgrades. There is no stable address.
· It provides no TLS termination, no health-based routing at the edge, and no name.
· It opens the port cluster-wide, which security teams tend to view unfavourably.
Then give the legitimate uses:
· A quick manual test where you have node network access.
· A cluster running outside a cloud, where no load balancer can be provisioned automatically, with an external appliance pointed at the node ports.
· As the plumbing beneath a LoadBalancer Service — which is exactly what happens on AKS.
Mention kubectl port-forward as the better tool for the "I just want to poke at this service from my laptop" case. It is temporary, scoped to your session, requires no cluster change and leaves no open port behind. Show the form: kubectl port-forward svc/payments-api 8080:80. Delegates find this genuinely useful and it prevents a lot of unnecessary NodePort Services appearing in shared clusters.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LOADBALANCER (7 minutes)
Explain what actually happens when you apply this manifest, because the cloud integration is invisible otherwise. The Azure cloud controller inside the cluster sees a Service of type LoadBalancer, calls the Azure API, provisions a rule on the cluster's Azure Load Balancer, allocates an IP address, and writes that address back into the Service status. Within a minute or two, kubectl get svc shows an EXTERNAL-IP where it previously showed pending. Note that a stuck "pending" almost always means a permissions or quota problem, not a Kubernetes problem.
Now the decision that matters most for this audience: internal or public. The annotation shown is the switch. Internal gives you a private IP from the cluster's virtual network, reachable from other Azure workloads and from the corporate network over ExpressRoute or VPN. That is the appropriate default for the overwhelming majority of banking workloads. Public puts the service on the internet and should be a deliberate, reviewed decision accompanied by a web application firewall, DDoS protection and rate limiting.
Emphasise how easy it is to get this wrong: omitting one annotation is the difference between a private endpoint and a public one. Recommend that teams enforce it with policy rather than review — Azure Policy can block public load balancers in a subscription.
Then cover the practical limits in the stat strip:
· Every LoadBalancer Service is its own IP and its own cost. Twenty services means twenty IPs. This gets expensive and hard to govern.
· It operates at layer four. It cannot route by host name or URL path, cannot terminate TLS, and cannot do header-based routing.
· Which is why, in practice, most organisations put a single ingress controller or Azure Application Gateway in front of many ClusterIP Services. One entry point, one certificate story, one place for WAF rules, and routing by host and path.
State clearly that ingress is out of scope for this course but is the natural next topic, and that everything they have learnt about ClusterIP Services is what an ingress sits in front of — so nothing is wasted.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DISCOVERY AND DNS (8 minutes)
This slide removes the last reason anyone would hardcode an address. Take the DNS name apart on screen, left to right, and explain each segment.
payments-api — the Service name, exactly as written in metadata.name.
payments — the namespace the Service lives in.
svc — a fixed segment indicating this is a Service record.
cluster.local — the cluster domain, the default on AKS.
Then explain the search domain behaviour, which is what makes short names work. Every Pod is configured with a DNS search path that includes its own namespace. So a Pod in the payments namespace calling "payments-api" resolves it automatically. A Pod in a different namespace must qualify it with the namespace. Give the practical guidance: use the short name for same-namespace calls to keep manifests portable across environments, and use namespace-qualified names for cross-namespace calls so the intent is explicit.
Explain that CoreDNS provides this. It runs as Pods in the cluster, watches the API server for Services and Endpoints, and answers queries from every Pod. Note that on a busy cluster, DNS is a shared dependency — if the platform team reports CoreDNS problems, expect connection failures across many applications simultaneously.
Make the payoff explicit: the DNS name is attached to the Service, and the Service tracks Pods by label. So Pods can be created, destroyed, rescheduled to different nodes and given new IP addresses continuously, and the caller's configuration never changes. This is the piece that makes disposable Pods workable.
Spend real time on the debugging guidance, because it is the most useful thing in this module. Teach the three-step diagnosis:
1. Does the name resolve? Run nslookup from a temporary Pod. If not, it is a DNS or namespace-qualification issue.
2. Does the Service have endpoints? kubectl get endpoints. If the list is empty, either the selector does not match any Pod labels, or the matching Pods are not passing readiness.
3. Does the Pod actually serve on the targetPort? Port-forward directly to the Pod and test.
Running through those three in order resolves the vast majority of connectivity tickets.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SERVICE TYPE (5 minutes)
Use this as the consolidation slide for Module 3. Rather than reading it out, turn it into an exercise. Give the group four scenarios and ask them to call out the answer:
1. "A backend service that only the web frontend Pods call." — ClusterIP. Everyone should get this.
2. "An API consumed by a legacy application running in the on-premises data centre, connected over ExpressRoute." — internal LoadBalancer. Watch for people saying public; correct it firmly.
3. "A customer-facing web application." — public entry point, but almost certainly through an ingress or Application Gateway with a WAF rather than a raw public LoadBalancer Service.
4. "You want to check whether a new service responds at all, from your laptop, right now." — none of them; use kubectl port-forward.
Then reinforce the cost and governance columns. ClusterIP and NodePort cost nothing. Each LoadBalancer Service consumes an Azure public or private IP and appears on the bill. In organisations where every team creates LoadBalancer Services by default, the result is dozens of IPs, dozens of certificates, dozens of firewall entries and a security review that takes weeks. One shared ingress replaces all of that.
Mention the fifth row deliberately even though ingress is out of scope, so nobody leaves thinking LoadBalancer is the only route to the outside world. Frame it as: "This is your next course. It sits in front of ClusterIP Services, so everything you have learnt today is the foundation for it."
TRANSITION to Module 4: "We can now deploy an application and let other things reach it. The last thing standing between us and a real deployment is configuration — because the same image has to behave differently in development, UAT and production."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CONFIGMAPS (7 minutes)
Open with the principle rather than the object. The rule is: build once, configure per environment. If a setting differs between development and production, it must not be inside the image — otherwise you are building a different artefact per environment and losing every consistency benefit from Module 1.
Explain what a ConfigMap is: a namespaced Kubernetes object holding key-value data. The values can be short strings or entire file contents, as the appsettings.json key in the example shows. The pipe character in YAML preserves the multi-line block exactly.
Walk through the typical pattern in a banking estate: one Deployment manifest, identical across environments, plus one ConfigMap per environment. The development namespace has LOG_LEVEL Debug and points at a test ledger; production has LOG_LEVEL Warning and points at the real one. The image is byte-for-byte identical in both.
Cover the constraints clearly:
· Namespaced. A Pod cannot reference a ConfigMap in another namespace. If you need the same values in several namespaces, you replicate them — usually through your deployment tooling.
· Roughly one megabyte in size. It is stored in etcd, so it is not a place for large files, datasets or binaries.
· Stored in plain text. Anyone who can read ConfigMaps in your namespace can read every value. Say this firmly: connection strings with embedded passwords, API keys and certificates do not belong here, and putting them here is one of the most common findings in a Kubernetes security review.
On the "keep it in Git" point, note the nuance for regulated environments: because ConfigMaps are non-sensitive, they can and should live alongside the Deployment manifests in version control. That gives you a change history and an approval trail for configuration changes, which auditors will ask for.
FLAG FOR LATER: mention that changing a ConfigMap does not automatically restart Pods. Do not fully explain it yet — the mounting slide covers the mechanics, and it makes more sense there.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(8 minutes)
Treat this as the most safety-critical slide in Section 1 and do not rush it.
Start with the mechanics. A Secret looks almost identical to a ConfigMap: namespaced, key-value, consumed as environment variables or mounted files. Point out stringData versus data: with stringData you write plain text and Kubernetes stores the base64 form; with data you must supply base64 yourself. stringData is far less error-prone.
Now the myth to destroy, and be blunt about it: base64 is an encoding, not encryption. It exists so that binary values can travel safely through YAML and JSON. Anyone with read access to the Secret can decode it instantly. If you have a terminal available, demonstrate it — decoding a Secret in one line in front of the room is worth more than five minutes of explanation.
So what actually protects a Secret?
· RBAC. Read access to Secrets in a namespace must be restricted, reviewed and separated from general developer access. Many organisations allow developers to create Secrets but not to read them back.
· Encryption at rest for etcd, which on AKS you can configure with a customer-managed key. This protects the storage layer, not the API.
· Not putting long-lived credentials in the cluster in the first place.
That last point leads to the recommended pattern for a bank. Use Azure Key Vault as the system of record for secrets, and the Secrets Store CSI driver to project them into the Pod as files at mount time, authenticated with workload identity — a federated Entra ID credential tied to the Pod's service account, with no password anywhere. The benefits are concrete: central rotation, full audit of access, no secret in Git, no secret in a manifest, and no long-lived credential to leak.
Give the practical hygiene rules to take away:
· Never commit a Secret manifest with a real value. Use a sealed or externally referenced secret, or generate it in the pipeline.
· Prefer mounted files over environment variables for secrets, because environment variables leak into crash dumps, logs and child processes.
· Rotate. A secret that has never been rotated is a finding waiting to happen.
QUESTION TO EXPECT: "Is it acceptable to use Kubernetes Secrets at all?" Answer: yes, when access is properly restricted and the values originate from a managed source. The failure mode is not the object; it is treating base64 as protection.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VARIABLES (6 minutes)
Walk the four mechanisms in the snippet, because delegates usually know only the first one.
1. LITERAL VALUE. Fine for something that genuinely never varies. If it varies by environment, it should come from a ConfigMap instead.
2. configMapKeyRef. Pulls a single named key. This is the most explicit and most readable form — a reader of the manifest can see exactly which settings the application consumes.
3. fieldRef, the downward API. The Pod can learn about itself: its own name, namespace, node and IP address. Extremely useful for logging and tracing, so that every log line identifies which Pod produced it. Delegates rarely know this exists and usually find it immediately valuable.
4. envFrom. Imports every key in a ConfigMap or Secret as environment variables in one line. Convenient, but note the trade-off: it hides what the application actually consumes, and a stray key in the ConfigMap silently becomes an environment variable. Recommend explicit keys for anything important.
Then the limitation that matters most, and it deserves emphasis: environment variables are read by the process when it starts. If you update the ConfigMap, a running Pod keeps the old value forever. There is no reload. To pick up a change you must restart the Pods — kubectl rollout restart deploy/payments-api is the clean way, because it performs a controlled rolling restart rather than deleting Pods.
Mention the common production pattern that solves this properly: put a hash of the ConfigMap contents into a Pod template annotation. When the ConfigMap changes, the hash changes, the Pod template changes, and the Deployment performs a normal rolling update automatically. Most templating tools do this for you.
Close on the guidance cards. Environment variables suit small scalar values. They are a poor fit for certificates and large configuration files, and a risky fit for secrets, because they are visible in kubectl describe output, in process listings, in crash dumps and often in application logs. That sets up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MOUNTING CONFIGURATION FILES (7 minutes)
Explain the projection model. When you mount a ConfigMap as a volume, Kubernetes creates a directory at the mount path and writes one file per key, where the file name is the key and the contents are the value. So a key named appsettings.json becomes a file named appsettings.json containing that JSON. This is why the key naming in the previous ConfigMap example used a filename — it was designed to be mounted.
Point out the items block. Without it, every key in the ConfigMap becomes a file, including your scalar settings such as LOG_LEVEL, which would appear as a file named LOG_LEVEL. With items, you select exactly which keys to project and what to call them. Recommend it whenever the ConfigMap mixes environment variables and file content.
WARNING worth giving explicitly: mounting a volume at a path replaces the entire contents of that directory in the container. If you mount at /app/config and the image already had files there, they disappear. Teams lose an afternoon to this. If you need to add a single file to an existing directory, use subPath — but note the trade-off, which is the next point.
Now the automatic update behaviour, which is the main advantage over environment variables. The kubelet refreshes mounted ConfigMap and Secret volumes periodically, typically within a minute or so. The file contents change underneath the running container with no restart. But be precise about the limit: Kubernetes updates the file; it does not tell your application. Unless the application watches the file and reloads, nothing changes in behaviour. Many frameworks support this natively — .NET configuration reload-on-change and Spring Cloud Kubernetes are common examples. And note the exception: files mounted with subPath do NOT receive updates.
Cover the security details in the Secret volume. defaultMode 0400 makes the file readable only by the owning user. Combined with running as a non-root user, that is a meaningful control for private keys. Reiterate the earlier point: mounted files are the preferred way to deliver secrets, because unlike environment variables they do not appear in process listings, describe output or crash dumps.
MODULE 4 WRAP-UP: summarise the decision rule in one line — "small scalar setting, read at start-up: environment variable. Whole file, certificate, or anything that should refresh: mounted volume. Sensitive: Secret, ideally projected from Key Vault."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OPENING (2 minutes)
Use this as a checkpoint. Recap Section 1 in four sentences: we packaged the application as an image, we ran it with a Deployment, we exposed it with a Service, and we configured it with ConfigMaps and Secrets. At this point we have an application that runs and is reachable.
Then set up what is missing. Two things stand between that and something you would be willing to run in production. First, the application currently has nowhere durable to put data — everything it writes disappears when a Pod is replaced. Second, Kubernetes currently has no reliable way to tell whether the application is actually working, which means restarts and rolling updates are operating partly blind.
Module 5 solves the first. Module 6 solves the second.
If you are running this as two half-days, this is where the second session starts. Take five minutes to answer outstanding questions from Section 1 before continuing, and ask whether anyone tried the manifests in between.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VOLUMES AND PERSISTENT STORAGE CONCEPTS (7 minutes)
Reconnect to the point planted back in Module 1: containers are disposable. Make it concrete. If a container writes an uploaded document to /var/data and that Pod is rescheduled onto another node — because of a node upgrade, an autoscaler decision or a crash — the document is gone. There is no warning and no error. Ask the group whether any of their applications currently write to local disk. Usually several hands go up, and it becomes a useful conversation.
Then lay out the three tiers on the slide, from least to most durable.
CONTAINER FILESYSTEM: writable but ephemeral, and also inefficient because writes go through the container storage layer. Suitable for temporary files a process creates and deletes within its own lifetime.
EMPTYDIR: a directory created when the Pod is assigned to a node, shared by all containers in that Pod, and deleted permanently when the Pod is removed. It survives a container restart within the same Pod, but not a Pod replacement. Its legitimate uses are caches, scratch space for processing, and the shared log directory from the sidecar example in Module 2. Mention that you can back it with node memory for speed, at the cost of counting against the Pod's memory limit.
PERSISTENTVOLUMECLAIM: storage with a lifecycle independent of any Pod. The Pod says "I need ten gigabytes of read-write storage" and Kubernetes attaches it. When the Pod is replaced, the same storage is attached to the replacement. This is the only correct answer for data that matters.
Now give the architectural advice, because it is more valuable than the mechanics. In a modern application estate, and especially in banking, the strong preference is to keep state out of the cluster entirely — in Azure SQL, Cosmos DB, Azure Cache for Redis, Service Bus or Blob Storage. Those services handle backup, high availability, geo-replication and point-in-time restore far better than storage attached to a Pod. Persistent volumes in the cluster are for the cases where that is genuinely not an option.
Finally, warn against hostPath — mounting a directory from the node. It appears in many tutorials, ties the Pod to one specific node, breaks when the node is replaced, and is a serious security concern. Most clusters block it by policy. State plainly: do not use 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PERSISTENT VOLUMES (7 minutes)
Set expectations first: as an application team you will rarely author a PersistentVolume object. You will author claims. But you must understand PVs because their properties — access mode, reclaim policy, performance tier — determine what your application can actually do.
Explain the two provisioning models.
STATIC: an administrator creates PV objects in advance, each mapped to a real disk or share, and claims bind to whichever available PV satisfies them. This is common on-premises and rare in the cloud.
DYNAMIC: the normal AKS model. A StorageClass defines a recipe — which provisioner, which Azure SKU, which options. When you create a claim referencing that class, Azure creates the disk and Kubernetes creates the matching PV automatically. Nothing exists until you ask for it.
Walk the StorageClass and pull out the fields that matter to an application team:
· provisioner — disk.csi.azure.com for managed disks, file.csi.azure.com for file shares.
· skuName — the performance and redundancy tier. Premium_LRS for latency-sensitive workloads, Standard for archival or development. This is a cost and performance decision worth asking about.
· volumeBindingMode WaitForFirstConsumer — important and worth explaining. It delays creating the disk until a Pod is actually scheduled, so the disk is created in the same availability zone as the node that will use it. Without this, in a zone-redundant cluster you can end up with a disk in one zone and a Pod that cannot be scheduled there. This is a real and confusing failure mode.
· allowVolumeExpansion — whether you can grow the volume later by editing the claim. You cannot shrink it. Turn it on.
Then access modes, which cause more confusion than anything else in this module. ReadWriteOnce means the volume can be mounted read-write by Pods on ONE node. An Azure managed disk is a block device attached to a single virtual machine, so it cannot be shared across nodes — which means a Deployment with three replicas spread over three nodes cannot all mount the same disk. When a team reports that scaling up leaves Pods stuck in ContainerCreating, this is almost always why. ReadWriteMany, provided by Azure Files, allows concurrent mounting across nodes.
Finish on reclaim policy, and be serious about it. Delete means that when the claim goes, the Azure disk and its data are destroyed. A mistaken kubectl delete of a namespace can therefore destroy production data irreversibly. Retain keeps the disk. Either way, insist on independent backup — Azure Backup or Velero — because a reclaim policy is not a backup strategy.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PERSISTENT VOLUME CLAIMS (8 minutes)
Give the analogy that makes this stick: the PersistentVolume is the storage; the PersistentVolumeClaim is the request for storage. It is very similar to how a Pod requests CPU and memory — you state what you need and the platform satisfies it. You do not say which disk; you say what properties the disk must have.
Walk the four-step strip. Note that steps two and three happen automatically with dynamic provisioning, usually in a few seconds, and that the claim shows as Pending until they complete. If a claim stays Pending, kubectl describe pvc gives the reason — most often a StorageClass name that does not exist, a zone mismatch, or a quota limit.
Walk the claim manifest. Three fields:
· accessModes — ReadWriteOnce for a disk, ReadWriteMany for a file share. Choose based on whether multiple Pods on different nodes need to write simultaneously.
· storageClassName — which recipe to use. Ask the platform team which classes are available and approved; do not guess. Omitting it uses the cluster default, which may not be what you want.
· resources.requests.storage — the size. You can usually grow this later if the class allows expansion, but you can never shrink it.
Then the second snippet, which is the part people forget. The claim on its own provisions storage but mounts nothing. The Pod template must declare a volume referencing the claim by name, and a volumeMount placing it at a path inside the container. Those two blocks always come as a pair.
Now the important design caution for Deployments. If you put a ReadWriteOnce claim into a Deployment and scale to more than one replica, the second Pod will fail to start if it lands on a different node — and even if it succeeds on the same node, you now have two processes writing to one filesystem with no coordination, which corrupts data in most applications. The correct answer for genuinely stateful, replicated workloads is a StatefulSet, which gives each replica its own claim and a stable identity. That is beyond this course, but delegates should know the boundary so they do not design themselves into a corner.
PRACTICAL TIP: deleting a Deployment does not delete its claim. That is deliberate and protective — your data survives a redeploy. It also means orphaned claims accumulate and quietly cost money, so include them in your clean-up routines for non-production environments.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DISK AND AZURE FILES (7 minutes)
Keep this practical. The Kubernetes API is identical for both — a claim with a StorageClass — so the only real decision is which backend, and one question settles it.
AZURE DISK is a block device, exactly like attaching a virtual disk to a virtual machine. Because a block device can only be attached to one virtual machine at a time, it is ReadWriteOnce. It gives the best performance: Premium SSD for most production workloads, Ultra Disk where a database demands very high IOPS. Use it for anything with a single writer — a database engine, a message broker's storage, a workload that owns its data exclusively.
Call out the zone constraint again because it causes real incidents: a managed disk lives in one availability zone, and a Pod using it can only be scheduled on a node in that zone. If that zone has no capacity, the Pod does not start. WaitForFirstConsumer binding avoids creating the disk in the wrong place, but it does not remove the constraint. Zone-redundant applications need replication at the application layer, not shared disks.
AZURE FILES is a managed file share, mounted over SMB or NFS. Because it is network-attached, many Pods on many nodes can mount it simultaneously — ReadWriteMany. The trade-off is latency: every file operation is a network round trip, so a workload doing many small operations will feel noticeably slower than on a disk. Use it for shared content: uploaded documents that any replica might serve, generated reports, shared reference data.
Warn about the semantics difference. SMB shares do not behave exactly like a local filesystem — file locking, permissions, symbolic links and case sensitivity all differ. Applications that assume POSIX behaviour sometimes misbehave. Test rather than assume. Mention that the NFS variant of Azure Files is closer to Linux expectations and is often the better choice for containers.
For a banking audience add the governance points: enable encryption at rest with customer-managed keys where policy requires it, use private endpoints so storage is not reachable over the public internet, and confirm the backup arrangement — Azure Backup covers both disks and file shares, but somebody must actually configure it.
CLOSE THE MODULE: repeat the decision rule and remind them of the earlier architectural preference — if the data can live in a managed database or object store instead, that is usually the better answer.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HEALTH MANAGEMENT — OVERVIEW (6 minutes)
Open by explaining why probes exist at all. Kubernetes can see that a process is running. It cannot see whether that process is serving correctly, whether it has lost its database connection, or whether it is still loading a large cache. Without probes it makes a naive assumption: process running equals healthy. Every rolling update, every restart decision and every load-balancing decision then rests on that assumption.
State the three questions in the delegates' own language and make sure the distinction is unmistakable:
· STARTUP — "have I finished starting?" Answer once, at the beginning.
· READINESS — "should you send me traffic right now?" Answered continuously; the answer may legitimately change many times.
· LIVENESS — "am I broken beyond recovery?" Answered continuously; a sustained no gets you killed.
Walk the timeline. When a container starts, only the startup probe runs. Readiness and liveness are suspended entirely until the startup probe succeeds once. From that moment, readiness and liveness run for the life of the container.
Now flag the classic error, because it causes real outages and is worth naming explicitly. A team writes one health endpoint that checks the database, and wires it to the liveness probe. The database has a brief blip. Every replica fails liveness simultaneously and every container is killed and restarted. The database is now hit by a thundering herd of reconnecting instances, so it blips again. The application is in a restart loop caused entirely by its own probe configuration. Had that endpoint been wired to readiness instead, the Pods would simply have stopped taking traffic and resumed when the database recovered — no restarts, no cascade.
Give the rule of thumb for the rest of the module: liveness should check only whether the process itself is functioning, with no external dependencies. Readiness may check dependencies, because withholding traffic is a safe response.
Tell them the next three slides take each probe in turn, and the fourth shows how it all combines into self-healing.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LIVENESS PROBES (8 minutes)
Define the narrow purpose: liveness exists for one situation only — the process is running, so Kubernetes sees nothing wrong, but it will never recover on its own. Classic examples are a deadlock, an exhausted thread pool, an event loop blocked forever, or an internal state machine wedged in an impossible state. The only remedy is a restart, and liveness automates it.
Walk each field and explain what happens if you get it wrong:
· initialDelaySeconds — how long to wait before the first check. Set this too low on a slow-starting application and Kubernetes kills the container mid-start, forever. That is a crash loop caused entirely by configuration, and it is common. The startup probe, two slides on, is the proper fix.
· periodSeconds — how often to check. Ten seconds is a reasonable default.
· timeoutSeconds — how long to wait for a response. Too short and a garbage collection pause looks like a failure.
· failureThreshold — how many consecutive failures before acting. Multiply period by threshold to see your real detection time: ten seconds times three is thirty seconds before a restart.
Cover the three probe mechanisms:
· httpGet — the usual choice for a web application. Any 2xx or 3xx response counts as success.
· tcpSocket — success simply means the port accepts a connection. Useful for non-HTTP services.
· exec — runs a command inside the container; exit code zero is success. The most flexible and the most expensive, since it starts a process on every check.
Now the design guidance, which is the real content of this slide. A liveness endpoint must be cheap and must have no external dependencies. It should answer one question: can this process still handle a request? If your endpoint checks the database, then a database outage causes every replica to be killed simultaneously, and restarting them does not fix the database. You have converted a degraded service into an outage plus a restart storm.
Give the practical pattern: expose two separate endpoints, conventionally /healthz/live and /healthz/ready. The live endpoint returns 200 unconditionally as long as the process can serve. The ready endpoint checks dependencies. Most frameworks support exactly this split out of the box.
FINAL POINT: liveness restarts the container, not the Pod. The Pod keeps its name and its IP address; the restart count in kubectl get pods increments. A high restart count is one of the first things to look at when investigating an unhealthy service.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PROBES (8 minutes)
Frame readiness as a traffic control, not a health verdict. The single sentence to remember: liveness decides whether the container lives; readiness decides whether it works today.
Explain the mechanism precisely, tying back to Module 3. The endpoints controller maintains the list of Pod addresses behind each Service, and only Pods passing readiness appear in that list. When readiness fails, the address is removed and kube-proxy stops sending new connections there — typically within a second or two. Nothing is killed. When the probe passes again, the address is added back automatically.
Walk the four-stage strip as a story. A Pod is serving happily. Its downstream ledger service becomes unreachable, so its readiness endpoint starts returning 503. It is removed from the Service, so callers are routed to the other replicas instead. The container is not restarted, it holds its warm caches and open connections, and when the ledger recovers the probe passes and traffic returns. Contrast this explicitly with what liveness would have done in the same situation — killed it.
Give the legitimate uses:
· Dependency checks. Unlike liveness, this is appropriate here.
· Warm-up. An application that must load a large reference dataset or prime a cache before serving should report not-ready until it is done. Otherwise the first requests after every deployment fail.
· Back-pressure. An overloaded instance can report not-ready briefly to shed load onto its peers. Use this carefully — if every replica does it simultaneously the Service has no endpoints at all and everything fails.
Then the connection to rolling updates, which is the payoff for Module 2. During a rolling update the Deployment waits for each new Pod to become ready before terminating an old one. Readiness is therefore the gate that makes zero-downtime deployment real. Without a readiness probe, "ready" means "the process started", and a broken version rolls all the way through to every replica in under a minute.
Also cover graceful shutdown, which delegates rarely think about. When a Pod is deleted, Kubernetes sends SIGTERM and removes it from endpoints at roughly the same moment — those are separate, concurrent paths, and in-flight requests can be lost. The standard mitigation is a preStop hook with a short sleep, giving the endpoint removal time to propagate before the process stops accepting work. Mention terminationGracePeriodSeconds as the ceiling for that shutdown window.
SETTINGS ADVICE: readiness should be checked more frequently than liveness, because reacting quickly here is cheap and safe. Five seconds is a sensible period.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STARTUP PROBES (6 minutes)
Introduce the problem this solves, because delegates who have only used liveness and readiness will not immediately see the need.
You have an application that takes three minutes to start — a large framework, a JIT-compiled runtime warming up, a cache being primed, or an older application doing work at boot. You also want liveness to detect a hang quickly once it is running. Those two requirements conflict. If initialDelaySeconds is set to two hundred seconds so start-up survives, then for the entire life of that container Kubernetes waits far too long before its first liveness check after any restart. And if you set it short, the container is killed mid-start and never comes up at all — an infinite crash loop, which is one of the most confusing failures a newcomer meets.
The startup probe resolves the conflict by separating the two questions. While it is running, both liveness and readiness are completely suspended. Once it succeeds a single time, it never runs again, and the other two probes take over with their own tight, sensible settings.
Explain the budget arithmetic on screen, since it is the part people get wrong: failureThreshold multiplied by periodSeconds is the total time the application is allowed to start. Thirty failures at ten seconds each is five minutes. If that budget is exhausted, Kubernetes concludes the application will never start, kills the container and lets the restart policy try again. Advise setting the budget generously — well beyond the worst observed start time — because the only cost of a generous budget is slower detection of a genuinely dead start, whereas the cost of a tight budget is an unstartable application.
Note that all three probes can use different endpoints, and often should. /healthz/started can be as simple as "the HTTP server is listening and initialisation has completed".
PRACTICAL ADVICE: measure before you configure. Look at your slowest observed start-up time across environments — including the cold start after a node scale-up, when the image also has to be pulled — and set the budget from that with substantial headroom. Also mention that a large image makes start-up slower, which links back to the multi-stage build discussion in Module 1.</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SELF-HEALING CAPABILITIES (7 minutes)
Bring the whole course together here. Self-healing is not one feature; it is several independent control loops operating at different levels. Walk them from the inside out.
CONTAINER LEVEL: the kubelet watches containers on its node. If one exits or fails its liveness probe, it restarts it in place. Explain the back-off: the delay doubles with each failure — ten seconds, twenty, forty, up to five minutes — which is exactly what CrashLoopBackOff means. Stress that this status is not an error from Kubernetes; it is Kubernetes telling you that your container keeps exiting and it is now waiting before trying again. The fix is in the container logs, and the command is kubectl logs with --previous to see the run that crashed.
POD LEVEL: the ReplicaSet controller counts Pods matching its selector. If a Pod is deleted, evicted or lost with its node, the count falls short and a replacement is created. Note that the replacement is a new Pod with a new name and new address, which is the whole reason Services exist.
TRAFFIC LEVEL: readiness keeps unhealthy Pods out of the endpoint list, so a struggling instance is bypassed rather than restarted.
NODE LEVEL: if a node stops reporting, its Pods are marked for eviction and recreated on healthy nodes. The same mechanism runs deliberately during a node upgrade, when the platform team cordons and drains a node.
Then the honest caveats, which matter more than the capabilities:
· All of this is only as good as your probes. A liveness probe that always returns 200 means a wedged application is never restarted. A missing readiness probe means traffic goes to Pods that cannot serve.
· A single replica cannot self-heal without downtime. There is nothing to route to while it restarts. Two replicas is the practical minimum for anything that matters, and they should be spread across nodes and zones — mention topology spread constraints as the mechanism, without going deep.
· Kubernetes cannot fix a bad image, a wrong configuration value or a missing Secret. It will loyally retry a doomed container forever.
Finish with PodDisruptionBudgets, because they are the one protective object application teams should own and usually do not. During a voluntary disruption — a node upgrade or a scale-down — the drain process respects your budget and will not take a node if doing so would drop you below minAvailable. Without one, an upgrade can legitimately remove every replica of your service at once. It is four lines of YAML and it prevents a genuinely painful class of incident.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AND CLOSE (6 minutes)
Do not read the five points out. Instead, ask the group to tell you why each one matters — they now have the material to answer, and hearing it in their own words is what makes it stick.
1. BUILD ONCE, CONFIGURE PER ENVIRONMENT. The image is the artefact you promote; nothing environment-specific goes inside it. This is what makes "what we tested is what we released" literally true, which is the argument that wins over risk and audit functions.
2. DECLARE, DO NOT INSTRUCT. Manifests live in version control and are applied. Nobody edits live objects. The repository becomes both the source of truth and the change evidence.
3. START INTERNAL, EXPOSE DELIBERATELY. ClusterIP is the default. Every step outward — internal load balancer, public address — is a decision somebody should be able to justify.
4. KEEP STATE OUT OF THE POD. Prefer managed data services. Use PersistentVolumeClaims when you genuinely must, and know the difference between Azure Disk and Azure Files before you choose.
5. TELL THE TRUTH IN YOUR PROBES. Liveness checks the process only. Readiness checks whether it should serve. Startup buys time for a slow boot. Everything Kubernetes does automatically depends on these being honest.
SUGGESTED NEXT STEPS to offer the group:
· Containerise one real service end to end, with a multi-stage build and a non-root user.
· Deploy it with a Deployment, a ClusterIP Service, a ConfigMap and all three probes.
· Practise a rolling update and a deliberate rollback in a non-production namespace until it feels routine.
· Add a PodDisruptionBudget and run to at least two replicas.
· Then move on to ingress, Helm or GitOps, autoscaling, and network policy — each builds directly on what we covered today.
Close by inviting outstanding questions and pointing delegates at your organisation's platform team documentation for the cluster-specific details: available StorageClasses, approved base images, namespace request process and the ingress arrangement.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D00FB-4101-2FA0-1535-2286DFCBF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B50CC-6864-BA77-90C0-478EC6E48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6D12D-1973-9A71-5CD5-C22E94C6C7F2}"/>
              </a:ext>
            </a:extLst>
          </p:cNvPr>
          <p:cNvSpPr>
            <a:spLocks noGrp="1"/>
          </p:cNvSpPr>
          <p:nvPr>
            <p:ph type="body" idx="1"/>
          </p:nvPr>
        </p:nvSpPr>
        <p:spPr/>
        <p:txBody>
          <a:bodyPr/>
          <a:lstStyle/>
          <a:p>
            <a:r>
              <a:rPr lang="en-US" dirty="0"/>
              <a:t>WELCOME AND FRAMING (5 minutes)
Open by welcoming the group and setting expectations. Say: "Over this programme we are going to take you from 'I have heard of containers' to 'I can deploy, expose, configure and operate an application on AKS with confidence.' We are deliberately staying on the application side of the boundary — this is not a cluster administration course."
Establish the audience level. Ask for a quick show of hands on three questions: who has built a Docker image, who has run kubectl against a cluster, and who currently supports an application running in production on Kubernetes. Use the answers to calibrate your pace — if most hands go up on the first question only, spend full time on Module 1; if the room is already containerised, move faster through Module 1 and invest the time in Modules 3 and 4.
Explain the structure. Section 1 covers fundamentals: what containers are, how Kubernetes and AKS fit together, how you deploy an application, how you expose it, and how you configure it. Section 2 covers operations: persistent storage and application health management.
Set the ground rules: questions welcome at any time; every concept slide is paired with the YAML you would actually write; and nothing here requires cluster admin rights, so everything is reproducible in a namespace of your own.
TIMING NOTE: The full deck runs comfortably in a full-day format, or two half-days split at the section boundary.</a:t>
            </a:r>
          </a:p>
        </p:txBody>
      </p:sp>
      <p:sp>
        <p:nvSpPr>
          <p:cNvPr id="4" name="Slide Number Placeholder 3">
            <a:extLst>
              <a:ext uri="{FF2B5EF4-FFF2-40B4-BE49-F238E27FC236}">
                <a16:creationId xmlns:a16="http://schemas.microsoft.com/office/drawing/2014/main" id="{91B8A3DE-54FA-21AB-7561-CA6DA28A0FA2}"/>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4436652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set expectations for Day 2 and connect it back to Day 1.</a:t>
            </a:r>
          </a:p>
          <a:p>
            <a:endParaRPr/>
          </a:p>
          <a:p>
            <a:r>
              <a:t>Talking points:</a:t>
            </a:r>
          </a:p>
          <a:p>
            <a:r>
              <a:t>- Day 1 covered containers, deployments, services and configuration. Day 2 is about running those workloads safely and shipping them repeatedly.</a:t>
            </a:r>
          </a:p>
          <a:p>
            <a:r>
              <a:t>- Section 2 (Modules 7-8) is about fair sharing and security: namespaces, quotas, identity, secrets and images.</a:t>
            </a:r>
          </a:p>
          <a:p>
            <a:r>
              <a:t>- Section 3 (Modules 9-12) is about production readiness: scaling and availability, ingress, monitoring and CI/CD.</a:t>
            </a:r>
          </a:p>
          <a:p>
            <a:r>
              <a:t>- Emphasise the shift in mindset: Day 1 was 'make it run', Day 2 is 'make it safe, observable and repeatable'.</a:t>
            </a:r>
          </a:p>
          <a:p>
            <a:endParaRPr/>
          </a:p>
          <a:p>
            <a:r>
              <a:t>Timing: 5 minutes. Ask the room which of the two sections is most urgent for their current project and note it - you can weight the labs accordingly.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frame Section 2.</a:t>
            </a:r>
          </a:p>
          <a:p>
            <a:endParaRPr/>
          </a:p>
          <a:p>
            <a:r>
              <a:t>Talking points:</a:t>
            </a:r>
          </a:p>
          <a:p>
            <a:r>
              <a:t>- Most AKS clusters are shared. The question is never 'can we run it' but 'can two teams run on this cluster without hurting each other'.</a:t>
            </a:r>
          </a:p>
          <a:p>
            <a:r>
              <a:t>- The four controls that answer that are namespaces, resource governance, RBAC and secret handling. Modules 7 and 8 cover them in that order.</a:t>
            </a:r>
          </a:p>
          <a:p>
            <a:r>
              <a:t>- Set expectations: this is where platform teams and application teams have to agree on a contract. Application teams need to know what the platform will enforce.</a:t>
            </a:r>
          </a:p>
          <a:p>
            <a:endParaRPr/>
          </a:p>
          <a:p>
            <a:r>
              <a:t>Timing: 2 minutes. Keep it short; the divider is a breathing point, not a lesson.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establish what a namespace does and, importantly, what it does not do.</a:t>
            </a:r>
          </a:p>
          <a:p>
            <a:endParaRPr/>
          </a:p>
          <a:p>
            <a:r>
              <a:t>Talking points:</a:t>
            </a:r>
          </a:p>
          <a:p>
            <a:r>
              <a:t>- The single most common misconception: people assume a namespace is a security boundary. It is only a naming and scoping boundary until you add RBAC, quotas and network policy.</a:t>
            </a:r>
          </a:p>
          <a:p>
            <a:r>
              <a:t>- Naming convention is worth ten minutes of argument now and saves months later, because automation, quotas and RBAC all key off the name.</a:t>
            </a:r>
          </a:p>
          <a:p>
            <a:r>
              <a:t>- Per-team versus per-environment: explain that separate clusters are the safest production split, and shared clusters with namespaces are the cost-efficient compromise for non-production.</a:t>
            </a:r>
          </a:p>
          <a:p>
            <a:r>
              <a:t>- Demonstrate 'kubectl api-resources --namespaced=false' live if you have a cluster - it surprises people.</a:t>
            </a:r>
          </a:p>
          <a:p>
            <a:r>
              <a:t>- The 'default' namespace habit is the source of countless accidental deployments.</a:t>
            </a:r>
          </a:p>
          <a:p>
            <a:endParaRPr/>
          </a:p>
          <a:p>
            <a:r>
              <a:t>Ask: how many namespaces do you have today, and who decided the names?</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single most important operational concept in the module.</a:t>
            </a:r>
          </a:p>
          <a:p>
            <a:endParaRPr/>
          </a:p>
          <a:p>
            <a:r>
              <a:t>Talking points:</a:t>
            </a:r>
          </a:p>
          <a:p>
            <a:r>
              <a:t>- Use a hotel analogy: the request is the room you booked, the limit is how loud you may be once you are in it.</a:t>
            </a:r>
          </a:p>
          <a:p>
            <a:r>
              <a:t>- Scheduling uses requests only. A node with plenty of free memory but no unreserved capacity will still refuse your Pod.</a:t>
            </a:r>
          </a:p>
          <a:p>
            <a:r>
              <a:t>- CPU versus memory is the key distinction: CPU throttles (slow), memory kills (OOMKilled). Learners who remember only one thing should remember this.</a:t>
            </a:r>
          </a:p>
          <a:p>
            <a:r>
              <a:t>- Warn about setting requests from a single load test - measure over days.</a:t>
            </a:r>
          </a:p>
          <a:p>
            <a:r>
              <a:t>- Walk through the YAML line by line; it is the shape they will write most often.</a:t>
            </a:r>
          </a:p>
          <a:p>
            <a:endParaRPr/>
          </a:p>
          <a:p>
            <a:r>
              <a:t>Ask: who has ever had a Pod stuck in Pending? This usually explains why.</a:t>
            </a:r>
          </a:p>
          <a:p>
            <a:endParaRPr/>
          </a:p>
          <a:p>
            <a:r>
              <a:t>Timing: 10 minutes.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turn theory into recognisable production symptoms.</a:t>
            </a:r>
          </a:p>
          <a:p>
            <a:endParaRPr/>
          </a:p>
          <a:p>
            <a:r>
              <a:t>Talking points:</a:t>
            </a:r>
          </a:p>
          <a:p>
            <a:r>
              <a:t>- Three symptoms, three causes. Slow with no restarts is CPU throttling. Restarts with exit code 137 is OOMKilled. Erratic behaviour with no pattern usually means no requests at all.</a:t>
            </a:r>
          </a:p>
          <a:p>
            <a:r>
              <a:t>- Explain quality of service classes briefly: Guaranteed (requests equal limits) survives longest, BestEffort is evicted first. Production workloads should never be BestEffort.</a:t>
            </a:r>
          </a:p>
          <a:p>
            <a:r>
              <a:t>- Emphasise 'kubectl describe pod' and the Last State section as the evidence for OOMKilled.</a:t>
            </a:r>
          </a:p>
          <a:p>
            <a:r>
              <a:t>- Mention CPU throttling metrics in Container Insights - teams often chase code performance when the platform is throttling them.</a:t>
            </a:r>
          </a:p>
          <a:p>
            <a:endParaRPr/>
          </a:p>
          <a:p>
            <a:r>
              <a:t>Timing: 7 minutes. This slide often generates war stories; let one or two run, then move 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introduce the platform team's enforcement tool.</a:t>
            </a:r>
          </a:p>
          <a:p>
            <a:endParaRPr/>
          </a:p>
          <a:p>
            <a:r>
              <a:t>Talking points:</a:t>
            </a:r>
          </a:p>
          <a:p>
            <a:r>
              <a:t>- A quota is a contract, not a punishment. It protects every team from every other team.</a:t>
            </a:r>
          </a:p>
          <a:p>
            <a:r>
              <a:t>- Point out the side effect that catches everyone: once a quota tracks requests, Pods without requests are rejected outright. This is exactly why LimitRange (next slide) exists.</a:t>
            </a:r>
          </a:p>
          <a:p>
            <a:r>
              <a:t>- Walk through 'kubectl describe quota' output and the used-versus-hard columns.</a:t>
            </a:r>
          </a:p>
          <a:p>
            <a:r>
              <a:t>- The debugging trap is worth repeating slowly: the Deployment is created successfully, but no Pods appear, because the rejection happens at the ReplicaSet layer. Show 'kubectl describe rs'.</a:t>
            </a:r>
          </a:p>
          <a:p>
            <a:endParaRPr/>
          </a:p>
          <a:p>
            <a:r>
              <a:t>Ask: who sets the quota in your organisation - platform or application team? The answer reveals their operating model.</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complete the quota story.</a:t>
            </a:r>
          </a:p>
          <a:p>
            <a:endParaRPr/>
          </a:p>
          <a:p>
            <a:r>
              <a:t>Talking points:</a:t>
            </a:r>
          </a:p>
          <a:p>
            <a:r>
              <a:t>- LimitRange is the safety net that makes quotas usable. It supplies defaults so developers are not blocked, and caps so nobody claims the whole cluster.</a:t>
            </a:r>
          </a:p>
          <a:p>
            <a:r>
              <a:t>- Stress that it applies at admission time - existing Pods are untouched, so a new LimitRange only affects the next rollout.</a:t>
            </a:r>
          </a:p>
          <a:p>
            <a:r>
              <a:t>- Set defaults that are deliberately modest: they should be enough to start, not enough to be lazy with.</a:t>
            </a:r>
          </a:p>
          <a:p>
            <a:r>
              <a:t>- Recommend the standard pairing: every namespace gets a ResourceQuota and a LimitRange created at the same time, ideally from the same template.</a:t>
            </a:r>
          </a:p>
          <a:p>
            <a:endParaRPr/>
          </a:p>
          <a:p>
            <a:r>
              <a:t>Timing: 6 minutes.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pull Module 7 together into an isolation model.</a:t>
            </a:r>
          </a:p>
          <a:p>
            <a:endParaRPr/>
          </a:p>
          <a:p>
            <a:r>
              <a:t>Talking points:</a:t>
            </a:r>
          </a:p>
          <a:p>
            <a:r>
              <a:t>- No single control gives isolation. Walk the layers: namespace organises, RBAC restricts, quota bounds, network policy segments, node pools separate physically, registry governs supply.</a:t>
            </a:r>
          </a:p>
          <a:p>
            <a:r>
              <a:t>- Network policy is the one most often missing. Without it, any Pod in the cluster can reach any other Pod, regardless of namespace. Default-deny per namespace is the recommended starting posture.</a:t>
            </a:r>
          </a:p>
          <a:p>
            <a:r>
              <a:t>- Taints and tolerations are for the platform team; application teams just need to know the labels they must request.</a:t>
            </a:r>
          </a:p>
          <a:p>
            <a:r>
              <a:t>- Close with the shared-versus-dedicated cluster trade-off: cost and consistency versus blast radius and compliance.</a:t>
            </a:r>
          </a:p>
          <a:p>
            <a:endParaRPr/>
          </a:p>
          <a:p>
            <a:r>
              <a:t>Timing: 8 minutes, then run the namespace and quota lab.</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open Module 8 with identity inside the cluster.</a:t>
            </a:r>
          </a:p>
          <a:p>
            <a:endParaRPr/>
          </a:p>
          <a:p>
            <a:r>
              <a:t>Talking points:</a:t>
            </a:r>
          </a:p>
          <a:p>
            <a:r>
              <a:t>- Every Pod has an identity whether you choose one or not. That default identity is the one attackers hope you granted permissions to.</a:t>
            </a:r>
          </a:p>
          <a:p>
            <a:r>
              <a:t>- One service account per application, never a shared team account - it keeps blast radius and audit trails clean.</a:t>
            </a:r>
          </a:p>
          <a:p>
            <a:r>
              <a:t>- automountServiceAccountToken: false is a cheap, high-value hardening step for the majority of applications that never call the Kubernetes API.</a:t>
            </a:r>
          </a:p>
          <a:p>
            <a:r>
              <a:t>- Distinguish clearly: a service account is an identity inside the cluster; workload identity (later in this module) is how that identity becomes an Azure identity.</a:t>
            </a:r>
          </a:p>
          <a:p>
            <a:endParaRPr/>
          </a:p>
          <a:p>
            <a:r>
              <a:t>Timing: 7 minutes.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make RBAC concrete rather than abstract.</a:t>
            </a:r>
          </a:p>
          <a:p>
            <a:endParaRPr/>
          </a:p>
          <a:p>
            <a:r>
              <a:t>Talking points:</a:t>
            </a:r>
          </a:p>
          <a:p>
            <a:r>
              <a:t>- Teach the four nouns and their sentence: 'this subject, through this binding, gets this role, on these resources'.</a:t>
            </a:r>
          </a:p>
          <a:p>
            <a:r>
              <a:t>- Role versus ClusterRole is a scope question, and the binding decides the blast radius. A ClusterRole bound with a RoleBinding is namespace-scoped - a genuinely useful pattern.</a:t>
            </a:r>
          </a:p>
          <a:p>
            <a:r>
              <a:t>- Verbs matter: get, list, watch, create, update, patch, delete. 'list' on Secrets is effectively 'read all Secrets'.</a:t>
            </a:r>
          </a:p>
          <a:p>
            <a:r>
              <a:t>- Demonstrate 'kubectl auth can-i create deployments -n payments --as=someone' - it settles arguments instantly.</a:t>
            </a:r>
          </a:p>
          <a:p>
            <a:r>
              <a:t>- Note the two-layer model on AKS: Azure RBAC to reach the cluster, Kubernetes RBAC inside it.</a:t>
            </a:r>
          </a:p>
          <a:p>
            <a:endParaRPr/>
          </a:p>
          <a:p>
            <a:r>
              <a:t>Timing: 10 minutes.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correct the biggest misconception about Kubernetes Secrets.</a:t>
            </a:r>
          </a:p>
          <a:p>
            <a:endParaRPr/>
          </a:p>
          <a:p>
            <a:r>
              <a:t>Talking points:</a:t>
            </a:r>
          </a:p>
          <a:p>
            <a:r>
              <a:t>- Base64 is encoding, not encryption. Decode one live if you can - the message lands harder than any slide.</a:t>
            </a:r>
          </a:p>
          <a:p>
            <a:r>
              <a:t>- What actually protects a Secret is RBAC on get and list, plus encryption at rest and a proper source of truth.</a:t>
            </a:r>
          </a:p>
          <a:p>
            <a:r>
              <a:t>- Never commit Secret manifests. Ask how many repositories in the room might contain one right now.</a:t>
            </a:r>
          </a:p>
          <a:p>
            <a:r>
              <a:t>- Mounted files beat environment variables: they can be rotated without a restart and they do not leak into logs, crash dumps or 'kubectl describe' output as easily.</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show the recommended pattern on Azure.</a:t>
            </a:r>
          </a:p>
          <a:p>
            <a:endParaRPr/>
          </a:p>
          <a:p>
            <a:r>
              <a:t>Talking points:</a:t>
            </a:r>
          </a:p>
          <a:p>
            <a:r>
              <a:t>- Walk the flow left to right: Key Vault holds the value, the CSI driver fetches it, the Pod sees a file. The manifest only ever contains references.</a:t>
            </a:r>
          </a:p>
          <a:p>
            <a:r>
              <a:t>- Mention the SecretProviderClass object as the piece that declares what to fetch, and note it can optionally sync into a Kubernetes Secret for applications that need environment variables.</a:t>
            </a:r>
          </a:p>
          <a:p>
            <a:r>
              <a:t>- Rotation is the selling point for operations teams; a single audit trail is the selling point for security and compliance.</a:t>
            </a:r>
          </a:p>
          <a:p>
            <a:r>
              <a:t>- Note that this pairs with workload identity - the Pod authenticates to Key Vault as itself.</a:t>
            </a:r>
          </a:p>
          <a:p>
            <a:endParaRPr/>
          </a:p>
          <a:p>
            <a:r>
              <a:t>Timing: 7 minutes.</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shift the security conversation left, into the image.</a:t>
            </a:r>
          </a:p>
          <a:p>
            <a:endParaRPr/>
          </a:p>
          <a:p>
            <a:r>
              <a:t>Talking points:</a:t>
            </a:r>
          </a:p>
          <a:p>
            <a:r>
              <a:t>- Most container vulnerabilities arrive with the base image, not the application code. Smaller base images mean a smaller attack surface and faster pulls.</a:t>
            </a:r>
          </a:p>
          <a:p>
            <a:r>
              <a:t>- 'latest' is the single worst habit in container delivery: it makes rollbacks meaningless and deployments non-reproducible. Tag with the commit SHA, or deploy by digest.</a:t>
            </a:r>
          </a:p>
          <a:p>
            <a:r>
              <a:t>- Scanning is only useful if a finding can fail the build. Ask whether their pipeline currently can.</a:t>
            </a:r>
          </a:p>
          <a:p>
            <a:r>
              <a:t>- Runtime hardening is cheap: runAsNonRoot, read-only root filesystem, drop capabilities. Many applications need only file permission fixes to comply.</a:t>
            </a:r>
          </a:p>
          <a:p>
            <a:r>
              <a:t>- Mention attaching ACR with managed identity so no registry credentials live in the cluster.</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modern answer to 'where do I put the connection string'.</a:t>
            </a:r>
          </a:p>
          <a:p>
            <a:endParaRPr/>
          </a:p>
          <a:p>
            <a:r>
              <a:t>Talking points:</a:t>
            </a:r>
          </a:p>
          <a:p>
            <a:r>
              <a:t>- The chain is worth saying out loud: annotated service account, projected token, federated credential in Entra ID, Azure access token, Azure RBAC on the target resource.</a:t>
            </a:r>
          </a:p>
          <a:p>
            <a:r>
              <a:t>- Nothing sensitive exists in the image, the manifest or the pipeline. There is no secret to rotate, because there is no secret.</a:t>
            </a:r>
          </a:p>
          <a:p>
            <a:r>
              <a:t>- Note that this replaces pod-managed identity, which is retired - flag it if learners have older documentation.</a:t>
            </a:r>
          </a:p>
          <a:p>
            <a:r>
              <a:t>- The federated credential ties one Azure identity to one namespace plus service account name, which is itself a useful isolation boundary.</a:t>
            </a:r>
          </a:p>
          <a:p>
            <a:r>
              <a:t>- Keep the depth appropriate: they need to recognise and request it, not configure Entra ID themselves.</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consolidate Modules 7 and 8 before the break.</a:t>
            </a:r>
          </a:p>
          <a:p>
            <a:endParaRPr/>
          </a:p>
          <a:p>
            <a:r>
              <a:t>Talking points:</a:t>
            </a:r>
          </a:p>
          <a:p>
            <a:r>
              <a:t>- Ask the group to name the five points before you reveal them - retention improves sharply when they recall rather than read.</a:t>
            </a:r>
          </a:p>
          <a:p>
            <a:r>
              <a:t>- Frame each takeaway as an action they can take next week, not a principle.</a:t>
            </a:r>
          </a:p>
          <a:p>
            <a:r>
              <a:t>- Note the natural sequencing: namespace, then quota and LimitRange, then RBAC, then secrets and identity. Each depends on the previous one.</a:t>
            </a:r>
          </a:p>
          <a:p>
            <a:endParaRPr/>
          </a:p>
          <a:p>
            <a:r>
              <a:t>Timing: 5 minutes, then break. After the break, Section 3 begins.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frame Section 3.</a:t>
            </a:r>
          </a:p>
          <a:p>
            <a:endParaRPr/>
          </a:p>
          <a:p>
            <a:r>
              <a:t>Talking points:</a:t>
            </a:r>
          </a:p>
          <a:p>
            <a:r>
              <a:t>- Section 2 made the cluster safe to share. Section 3 makes an application ready for production and repeatable to deliver.</a:t>
            </a:r>
          </a:p>
          <a:p>
            <a:r>
              <a:t>- Four themes: scale and survive (Module 9), let traffic in (Module 10), see what is happening (Module 11), ship changes safely (Module 12).</a:t>
            </a:r>
          </a:p>
          <a:p>
            <a:r>
              <a:t>- Set expectations that Module 9 includes a decision framework - AKS is not always the right answer, and knowing when to say so is a senior skill.</a:t>
            </a:r>
          </a:p>
          <a:p>
            <a:endParaRPr/>
          </a:p>
          <a:p>
            <a:r>
              <a:t>Timing: 2 minutes.</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automatic scaling, and its prerequisites.</a:t>
            </a:r>
          </a:p>
          <a:p>
            <a:endParaRPr/>
          </a:p>
          <a:p>
            <a:r>
              <a:t>Talking points:</a:t>
            </a:r>
          </a:p>
          <a:p>
            <a:r>
              <a:t>- The HPA is a control loop: observe the metric, compare with target, adjust replicas, wait, repeat.</a:t>
            </a:r>
          </a:p>
          <a:p>
            <a:r>
              <a:t>- Stress the dependency: without resource requests, utilisation cannot be calculated and the HPA does nothing. This is the number one reason an HPA appears broken.</a:t>
            </a:r>
          </a:p>
          <a:p>
            <a:r>
              <a:t>- Scaling out only helps stateless workloads. If the app holds session state locally, more replicas make things worse.</a:t>
            </a:r>
          </a:p>
          <a:p>
            <a:r>
              <a:t>- Distinguish clearly between the HPA (more Pods) and the cluster autoscaler (more nodes). Most production clusters need both, and Pods sit Pending in between.</a:t>
            </a:r>
          </a:p>
          <a:p>
            <a:r>
              <a:t>- Mention KEDA briefly for event-driven scaling on queue length, if the group is ready for it.</a:t>
            </a:r>
          </a:p>
          <a:p>
            <a:endParaRPr/>
          </a:p>
          <a:p>
            <a:r>
              <a:t>Timing: 10 minutes.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give permission to keep things simple.</a:t>
            </a:r>
          </a:p>
          <a:p>
            <a:endParaRPr/>
          </a:p>
          <a:p>
            <a:r>
              <a:t>Talking points:</a:t>
            </a:r>
          </a:p>
          <a:p>
            <a:r>
              <a:t>- Manual scaling is not a failure. For predictable load and planned events, it is cheaper to reason about and easier to approve.</a:t>
            </a:r>
          </a:p>
          <a:p>
            <a:r>
              <a:t>- It is also the fastest lever in an incident - 'kubectl scale' buys you time while you diagnose.</a:t>
            </a:r>
          </a:p>
          <a:p>
            <a:r>
              <a:t>- The failure mode is drift: scaled up during an incident, never scaled back, and the cost persists quietly. Suggest a review cadence.</a:t>
            </a:r>
          </a:p>
          <a:p>
            <a:r>
              <a:t>- The two approaches combine: set a sane replica count in the manifest and let an HPA move it within bounds. Note that if an HPA manages a Deployment, editing replicas manually will be overridden.</a:t>
            </a:r>
          </a:p>
          <a:p>
            <a:endParaRPr/>
          </a:p>
          <a:p>
            <a:r>
              <a:t>Timing: 6 minutes.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broaden availability beyond replica counts.</a:t>
            </a:r>
          </a:p>
          <a:p>
            <a:endParaRPr/>
          </a:p>
          <a:p>
            <a:r>
              <a:t>Talking points:</a:t>
            </a:r>
          </a:p>
          <a:p>
            <a:r>
              <a:t>- One replica is never highly available - even a routine rolling update causes downtime.</a:t>
            </a:r>
          </a:p>
          <a:p>
            <a:r>
              <a:t>- Two replicas allow a rolling update to be invisible; three or more keeps you covered while one is restarting or being drained.</a:t>
            </a:r>
          </a:p>
          <a:p>
            <a:r>
              <a:t>- Zones and topology spread constraints prevent the classic outage where all three replicas were on the same node.</a:t>
            </a:r>
          </a:p>
          <a:p>
            <a:r>
              <a:t>- The application must cooperate: fast clean start, no local state, tolerant of a peer disappearing mid-request.</a:t>
            </a:r>
          </a:p>
          <a:p>
            <a:r>
              <a:t>- Close with the chain point - availability is only as good as its weakest dependency, and that is usually the database.</a:t>
            </a:r>
          </a:p>
          <a:p>
            <a:endParaRPr/>
          </a:p>
          <a:p>
            <a:r>
              <a:t>Timing: 7 minutes.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protect availability during planned maintenance.</a:t>
            </a:r>
          </a:p>
          <a:p>
            <a:endParaRPr/>
          </a:p>
          <a:p>
            <a:r>
              <a:t>Talking points:</a:t>
            </a:r>
          </a:p>
          <a:p>
            <a:r>
              <a:t>- Be precise about scope: a PDB covers voluntary disruptions - drains, upgrades, autoscaler scale-in. It does nothing for crashes, OOMKills or node failures.</a:t>
            </a:r>
          </a:p>
          <a:p>
            <a:r>
              <a:t>- Node upgrades are routine on AKS, so without a PDB the platform team can legitimately drain all your replicas at once.</a:t>
            </a:r>
          </a:p>
          <a:p>
            <a:r>
              <a:t>- Express it as the smallest healthy service you can live with, either minAvailable or maxUnavailable.</a:t>
            </a:r>
          </a:p>
          <a:p>
            <a:r>
              <a:t>- The classic trap deserves emphasis: minAvailable equal to the replica count means no node can ever be drained, and cluster upgrades stall indefinitely. Platform teams see this constantly.</a:t>
            </a:r>
          </a:p>
          <a:p>
            <a:endParaRPr/>
          </a:p>
          <a:p>
            <a:r>
              <a:t>Timing: 6 minutes.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decision framework - arguably the most valuable slide of the day for architects.</a:t>
            </a:r>
          </a:p>
          <a:p>
            <a:endParaRPr/>
          </a:p>
          <a:p>
            <a:r>
              <a:t>Talking points:</a:t>
            </a:r>
          </a:p>
          <a:p>
            <a:r>
              <a:t>- Kubernetes is a platform for running platforms. If the application does not need what it offers, the operating cost is not justified.</a:t>
            </a:r>
          </a:p>
          <a:p>
            <a:r>
              <a:t>- Walk the four options in order of increasing responsibility: App Service, Container Apps, AKS, virtual machines.</a:t>
            </a:r>
          </a:p>
          <a:p>
            <a:r>
              <a:t>- The honest test: what specifically do you need that the simpler option cannot do? Usually the answer is networking, sidecars, custom operators, or scale and density.</a:t>
            </a:r>
          </a:p>
          <a:p>
            <a:r>
              <a:t>- Also ask about the operating model - who patches, who is on call, who owns the upgrade cycle. Choosing AKS is choosing a team, not just a service.</a:t>
            </a:r>
          </a:p>
          <a:p>
            <a:r>
              <a:t>- Note that migration up the ladder is normal and expected.</a:t>
            </a:r>
          </a:p>
          <a:p>
            <a:endParaRPr/>
          </a:p>
          <a:p>
            <a:r>
              <a:t>Timing: 10 minutes. This slide usually starts the best discussion of the day.</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give them a practical assessment tool to take back to work.</a:t>
            </a:r>
          </a:p>
          <a:p>
            <a:endParaRPr/>
          </a:p>
          <a:p>
            <a:r>
              <a:t>Talking points:</a:t>
            </a:r>
          </a:p>
          <a:p>
            <a:r>
              <a:t>- Walk each question and ask the room to score their own application silently as you go.</a:t>
            </a:r>
          </a:p>
          <a:p>
            <a:r>
              <a:t>- Emphasise that a 'no' is work, not a veto. Every 'no' has a known remedy, and the remedy column is the migration backlog.</a:t>
            </a:r>
          </a:p>
          <a:p>
            <a:r>
              <a:t>- State and configuration are the two that most often force real code changes; the rest are usually configuration or packaging work.</a:t>
            </a:r>
          </a:p>
          <a:p>
            <a:r>
              <a:t>- Slow start-up is under-appreciated: it undermines scaling, rolling updates and self-healing all at once.</a:t>
            </a:r>
          </a:p>
          <a:p>
            <a:r>
              <a:t>- Suggest running this as a workshop with their own application after the course, and keeping the scores as a portfolio view.</a:t>
            </a:r>
          </a:p>
          <a:p>
            <a:endParaRPr/>
          </a:p>
          <a:p>
            <a:r>
              <a:t>Timing: 10 minutes including discussion.</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open Module 10 with why ingress exists.</a:t>
            </a:r>
          </a:p>
          <a:p>
            <a:endParaRPr/>
          </a:p>
          <a:p>
            <a:r>
              <a:t>Talking points:</a:t>
            </a:r>
          </a:p>
          <a:p>
            <a:r>
              <a:t>- Start with the pain: a LoadBalancer Service per application means a public IP, a DNS entry and a certificate per application. That does not scale operationally or financially.</a:t>
            </a:r>
          </a:p>
          <a:p>
            <a:r>
              <a:t>- Separate the two words clearly: the Ingress resource is the rules, the ingress controller is the software that acts on them. Rules with no controller do nothing, which is a very common first-time failure.</a:t>
            </a:r>
          </a:p>
          <a:p>
            <a:r>
              <a:t>- On AKS, the managed application routing add-on is the quickest path; NGINX via Helm gives full control. Application Gateway Ingress Controller is a third option if they use WAF.</a:t>
            </a:r>
          </a:p>
          <a:p>
            <a:r>
              <a:t>- Note that TLS is normally terminated here, which centralises certificate management.</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most common routing pattern.</a:t>
            </a:r>
          </a:p>
          <a:p>
            <a:endParaRPr/>
          </a:p>
          <a:p>
            <a:r>
              <a:t>Talking points:</a:t>
            </a:r>
          </a:p>
          <a:p>
            <a:r>
              <a:t>- One hostname, several backends. Walk a request through the rules out loud.</a:t>
            </a:r>
          </a:p>
          <a:p>
            <a:r>
              <a:t>- pathType matters: Prefix matches everything below, Exact matches only that path. Getting this wrong sends traffic to the wrong Service in ways that look random.</a:t>
            </a:r>
          </a:p>
          <a:p>
            <a:r>
              <a:t>- Keep the catch-all '/' rule last conceptually - and explain that the controller matches most-specific-first.</a:t>
            </a:r>
          </a:p>
          <a:p>
            <a:r>
              <a:t>- Rewrite annotations are needed when the application does not expect to see the prefix; this is a frequent source of 404s.</a:t>
            </a:r>
          </a:p>
          <a:p>
            <a:r>
              <a:t>- One hostname means one certificate, which is often the deciding factor for smaller teams.</a:t>
            </a:r>
          </a:p>
          <a:p>
            <a:endParaRPr/>
          </a:p>
          <a:p>
            <a:r>
              <a:t>Timing: 7 minutes.</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alternative routing model.</a:t>
            </a:r>
          </a:p>
          <a:p>
            <a:endParaRPr/>
          </a:p>
          <a:p>
            <a:r>
              <a:t>Talking points:</a:t>
            </a:r>
          </a:p>
          <a:p>
            <a:r>
              <a:t>- The decision is made on the Host header, so each application keeps its own name, certificate and owner while sharing one controller and one public IP.</a:t>
            </a:r>
          </a:p>
          <a:p>
            <a:r>
              <a:t>- All hostnames resolve to the same ingress IP in DNS. That surprises people the first time they see it.</a:t>
            </a:r>
          </a:p>
          <a:p>
            <a:r>
              <a:t>- Host and path combine freely - versioned APIs on one host are a common pattern.</a:t>
            </a:r>
          </a:p>
          <a:p>
            <a:r>
              <a:t>- Give practical guidance: host-based when applications belong to different owners or brands, path-based when they are one product.</a:t>
            </a:r>
          </a:p>
          <a:p>
            <a:r>
              <a:t>- Close on the 'keep it boring' point: complex routing eventually routes something somewhere surprising.</a:t>
            </a:r>
          </a:p>
          <a:p>
            <a:endParaRPr/>
          </a:p>
          <a:p>
            <a:r>
              <a:t>Timing: 6 minutes.</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operational reality of certificates.</a:t>
            </a:r>
          </a:p>
          <a:p>
            <a:endParaRPr/>
          </a:p>
          <a:p>
            <a:r>
              <a:t>Talking points:</a:t>
            </a:r>
          </a:p>
          <a:p>
            <a:r>
              <a:t>- Terminating TLS at the ingress means certificates are managed in one place rather than in every application image.</a:t>
            </a:r>
          </a:p>
          <a:p>
            <a:r>
              <a:t>- Two supply routes on Azure: Key Vault with the CSI driver, or cert-manager with an ACME issuer such as Let's Encrypt. Both end with a Kubernetes TLS secret the Ingress references.</a:t>
            </a:r>
          </a:p>
          <a:p>
            <a:r>
              <a:t>- The tls block names the hosts and the secret; the hostname must match the certificate or browsers will reject it.</a:t>
            </a:r>
          </a:p>
          <a:p>
            <a:r>
              <a:t>- Expired certificates cause a genuinely large share of production outages. Automate renewal and alert on days-to-expiry - never rely on a calendar reminder or a person.</a:t>
            </a:r>
          </a:p>
          <a:p>
            <a:endParaRPr/>
          </a:p>
          <a:p>
            <a:r>
              <a:t>Timing: 7 minutes, then run the ingress lab if time allows.</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give a mental map before the tooling detail.</a:t>
            </a:r>
          </a:p>
          <a:p>
            <a:endParaRPr/>
          </a:p>
          <a:p>
            <a:r>
              <a:t>Talking points:</a:t>
            </a:r>
          </a:p>
          <a:p>
            <a:r>
              <a:t>- The most useful troubleshooting skill is knowing which layer a question belongs to. Walk the four layers: cluster, workload, application, and the logs and metrics that describe them.</a:t>
            </a:r>
          </a:p>
          <a:p>
            <a:r>
              <a:t>- Application-level signals require the application to emit them - Application Insights or OpenTelemetry. The platform cannot invent them.</a:t>
            </a:r>
          </a:p>
          <a:p>
            <a:r>
              <a:t>- Alerts are the difference between knowing and being told. Alert on user-visible symptoms first, resource metrics second.</a:t>
            </a:r>
          </a:p>
          <a:p>
            <a:r>
              <a:t>- Recommend starting from the user's symptom and working downwards rather than starting with a dashboard.</a:t>
            </a:r>
          </a:p>
          <a:p>
            <a:endParaRPr/>
          </a:p>
          <a:p>
            <a:r>
              <a:t>Timing: 6 minutes.</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Azure-native tooling.</a:t>
            </a:r>
          </a:p>
          <a:p>
            <a:endParaRPr/>
          </a:p>
          <a:p>
            <a:r>
              <a:t>Talking points:</a:t>
            </a:r>
          </a:p>
          <a:p>
            <a:r>
              <a:t>- Container Insights is an add-on with an agent on every node; enabling it needs no application change, which makes it the fastest first win.</a:t>
            </a:r>
          </a:p>
          <a:p>
            <a:r>
              <a:t>- Managed Prometheus removes the need to run and scale your own Prometheus; Managed Grafana or Azure workbooks provide dashboards.</a:t>
            </a:r>
          </a:p>
          <a:p>
            <a:r>
              <a:t>- KQL is the shared language - point out ContainerLogV2 for console output and KubeEvents for what the cluster attempted. A couple of saved queries per team pays for itself.</a:t>
            </a:r>
          </a:p>
          <a:p>
            <a:r>
              <a:t>- Be honest about cost: verbose logging across all namespaces at default retention gets expensive quickly. Decide collection scope and retention deliberately.</a:t>
            </a:r>
          </a:p>
          <a:p>
            <a:endParaRPr/>
          </a:p>
          <a:p>
            <a:r>
              <a:t>Timing: 7 minutes. Demonstrate a live query if you have a cluster.</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the practical toolkit. This is often the most valued slide of the module.</a:t>
            </a:r>
          </a:p>
          <a:p>
            <a:endParaRPr/>
          </a:p>
          <a:p>
            <a:r>
              <a:t>Talking points:</a:t>
            </a:r>
          </a:p>
          <a:p>
            <a:r>
              <a:t>- Teach the sequence, not just the commands: get, describe, logs, previous logs, events, exec. Following the order avoids guessing.</a:t>
            </a:r>
          </a:p>
          <a:p>
            <a:r>
              <a:t>- 'describe' before 'logs' - if the container never started, there are no logs to read, and the events explain why.</a:t>
            </a:r>
          </a:p>
          <a:p>
            <a:r>
              <a:t>- '--previous' is the one people forget, and it is the only way to see the logs of the container that actually crashed.</a:t>
            </a:r>
          </a:p>
          <a:p>
            <a:r>
              <a:t>- 'exec' is powerful but the last resort; remind them that changes made inside a container are lost on restart and must never be a fix.</a:t>
            </a:r>
          </a:p>
          <a:p>
            <a:r>
              <a:t>- Reinforce logging to stdout in structured JSON with a correlation ID - it is what makes the Log Analytics query useful later.</a:t>
            </a:r>
          </a:p>
          <a:p>
            <a:endParaRPr/>
          </a:p>
          <a:p>
            <a:r>
              <a:t>Timing: 10 minutes. Run these live if a cluster is available.</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a symptom-to-cause reference card.</a:t>
            </a:r>
          </a:p>
          <a:p>
            <a:endParaRPr/>
          </a:p>
          <a:p>
            <a:r>
              <a:t>Talking points:</a:t>
            </a:r>
          </a:p>
          <a:p>
            <a:r>
              <a:t>- Encourage them to photograph this slide; it is the one they will use at their desk.</a:t>
            </a:r>
          </a:p>
          <a:p>
            <a:r>
              <a:t>- Pending is nearly always scheduling: requests too large, quota exhausted, or a selector that matches nothing.</a:t>
            </a:r>
          </a:p>
          <a:p>
            <a:r>
              <a:t>- ImagePullBackOff is credentials or a typo. 'az aks check-acr' settles the registry question quickly.</a:t>
            </a:r>
          </a:p>
          <a:p>
            <a:r>
              <a:t>- CrashLoopBackOff is the application's own failure; the previous logs hold the answer.</a:t>
            </a:r>
          </a:p>
          <a:p>
            <a:r>
              <a:t>- Running but not Ready is a probe problem, and it is worth linking back to Day 1's readiness probes.</a:t>
            </a:r>
          </a:p>
          <a:p>
            <a:r>
              <a:t>- Close on discipline: describe, read events, read previous logs, then change one thing.</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open Module 12 with principles before tools.</a:t>
            </a:r>
          </a:p>
          <a:p>
            <a:endParaRPr/>
          </a:p>
          <a:p>
            <a:r>
              <a:t>Talking points:</a:t>
            </a:r>
          </a:p>
          <a:p>
            <a:r>
              <a:t>- CI proves the change is good; CD gets it to the cluster the same way every time. Many teams have the first and not the second.</a:t>
            </a:r>
          </a:p>
          <a:p>
            <a:r>
              <a:t>- 'Build once, deploy many' is the core rule: the artefact that reaches production is the one that passed the tests. Rebuilding per environment breaks that guarantee.</a:t>
            </a:r>
          </a:p>
          <a:p>
            <a:r>
              <a:t>- Configuration differs per environment, the image never does - tie this back to Day 1's ConfigMaps and today's Key Vault integration.</a:t>
            </a:r>
          </a:p>
          <a:p>
            <a:r>
              <a:t>- Everything in version control, including the pipeline definition and the manifests.</a:t>
            </a:r>
          </a:p>
          <a:p>
            <a:r>
              <a:t>- Close with the human point: if deploying by hand is faster than the pipeline, people will deploy by hand. Pipeline speed is a safety feature.</a:t>
            </a:r>
          </a:p>
          <a:p>
            <a:endParaRPr/>
          </a:p>
          <a:p>
            <a:r>
              <a:t>Timing: 7 minutes.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practical tooling comparison without advocacy.</a:t>
            </a:r>
          </a:p>
          <a:p>
            <a:endParaRPr/>
          </a:p>
          <a:p>
            <a:r>
              <a:t>Talking points:</a:t>
            </a:r>
          </a:p>
          <a:p>
            <a:r>
              <a:t>- Both are mature and both do the same job. The right answer is usually whichever the organisation already runs and supports.</a:t>
            </a:r>
          </a:p>
          <a:p>
            <a:r>
              <a:t>- The shape is identical: authenticate to Azure, build and push an image, deploy a manifest, gate with environments and approvals.</a:t>
            </a:r>
          </a:p>
          <a:p>
            <a:r>
              <a:t>- Highlight the authentication row: workload identity federation and OIDC login mean no stored service principal secret. This is the modern default and worth insisting on.</a:t>
            </a:r>
          </a:p>
          <a:p>
            <a:r>
              <a:t>- Environments with approvals are how you get change control without slowing developers down - relevant for regulated audiences.</a:t>
            </a:r>
          </a:p>
          <a:p>
            <a:endParaRPr/>
          </a:p>
          <a:p>
            <a:r>
              <a:t>Timing: 7 minutes. Ask which tool the room uses and tailor the emphasis.</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make the pipeline concrete end to end.</a:t>
            </a:r>
          </a:p>
          <a:p>
            <a:endParaRPr/>
          </a:p>
          <a:p>
            <a:r>
              <a:t>Talking points:</a:t>
            </a:r>
          </a:p>
          <a:p>
            <a:r>
              <a:t>- Walk the four steps as one story: a merge produces an image, the image is scanned and tagged, the tag is deployed, the rollout is verified.</a:t>
            </a:r>
          </a:p>
          <a:p>
            <a:r>
              <a:t>- Point out that 'az acr build' builds in Azure, so no Docker daemon is needed on the agent - a common simplification.</a:t>
            </a:r>
          </a:p>
          <a:p>
            <a:r>
              <a:t>- Tagging by commit SHA is what makes the whole chain traceable and rollbacks exact.</a:t>
            </a:r>
          </a:p>
          <a:p>
            <a:r>
              <a:t>- 'kubectl rollout status' is the gate: without it, the pipeline reports success before the Pods are actually healthy. This is a very common gap.</a:t>
            </a:r>
          </a:p>
          <a:p>
            <a:r>
              <a:t>- Mention promotion: the same image moves to the next environment, only configuration changes.</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introduce the pull-based model.</a:t>
            </a:r>
          </a:p>
          <a:p>
            <a:endParaRPr/>
          </a:p>
          <a:p>
            <a:r>
              <a:t>Talking points:</a:t>
            </a:r>
          </a:p>
          <a:p>
            <a:r>
              <a:t>- Contrast with the previous slide: there, the pipeline pushed to the cluster and needed cluster credentials. Here, an agent inside the cluster pulls from Git, so those credentials do not exist.</a:t>
            </a:r>
          </a:p>
          <a:p>
            <a:r>
              <a:t>- Git becomes the audit trail: every change is a reviewed commit and a rollback is a revert.</a:t>
            </a:r>
          </a:p>
          <a:p>
            <a:r>
              <a:t>- Continuous reconciliation means drift is corrected automatically - the manual 'quick fix' someone applied at 2am gets reverted, which is exactly what you want.</a:t>
            </a:r>
          </a:p>
          <a:p>
            <a:r>
              <a:t>- Note both options on AKS: Argo CD via Helm, or the GitOps (Flux v2) cluster extension, which is Azure-managed.</a:t>
            </a:r>
          </a:p>
          <a:p>
            <a:r>
              <a:t>- Keep it as an introduction; the goal is that they can evaluate it, not implement it today.</a:t>
            </a:r>
          </a:p>
          <a:p>
            <a:endParaRPr/>
          </a:p>
          <a:p>
            <a:r>
              <a:t>Timing: 8 minutes.</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close Day 2 and point to what comes next.</a:t>
            </a:r>
          </a:p>
          <a:p>
            <a:endParaRPr/>
          </a:p>
          <a:p>
            <a:r>
              <a:t>Talking points:</a:t>
            </a:r>
          </a:p>
          <a:p>
            <a:r>
              <a:t>- Recall the arc of the day: share the cluster fairly, secure the workload, scale and survive, let traffic in, see what is happening, ship it repeatedly.</a:t>
            </a:r>
          </a:p>
          <a:p>
            <a:r>
              <a:t>- Ask each participant to name one change they will make to their own application in the next two weeks. Written commitments are followed through far more often than spoken ones.</a:t>
            </a:r>
          </a:p>
          <a:p>
            <a:r>
              <a:t>- Suggested next steps: run the container-readiness questionnaire against a real application, add requests and limits everywhere, and get one pipeline deploying to a non-production namespace.</a:t>
            </a:r>
          </a:p>
          <a:p>
            <a:r>
              <a:t>- Leave time for open questions; keep a parking list for anything that needs a follow-up session.</a:t>
            </a:r>
          </a:p>
          <a:p>
            <a:endParaRPr/>
          </a:p>
          <a:p>
            <a:r>
              <a:t>Timing: 8 minutes plus Q&amp;A.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E030-CBEE-D3A4-C574-F0F41A4BC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5B34D-C352-3F51-033E-84B14E477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69C45E-ED89-B2D5-2FC0-494FE524C079}"/>
              </a:ext>
            </a:extLst>
          </p:cNvPr>
          <p:cNvSpPr>
            <a:spLocks noGrp="1"/>
          </p:cNvSpPr>
          <p:nvPr>
            <p:ph type="body" idx="1"/>
          </p:nvPr>
        </p:nvSpPr>
        <p:spPr/>
        <p:txBody>
          <a:bodyPr/>
          <a:lstStyle/>
          <a:p>
            <a:r>
              <a:rPr lang="en-US" dirty="0"/>
              <a:t>SECTION 1 OPENING (1 minute)
Use this divider as a deliberate reset point. Say: "Section 1 is about getting an application onto AKS correctly. By the end of it you will have a running, reachable, environment-aware application."
Preview the four modules in one sentence each so the group has a mental map: Module 1 gives vocabulary and architecture; Module 2 gives the deployment objects; Module 3 gives connectivity; Module 4 gives configuration.
If you are resuming after a break, spend thirty seconds recapping the objectives slide before moving on.</a:t>
            </a:r>
          </a:p>
        </p:txBody>
      </p:sp>
      <p:sp>
        <p:nvSpPr>
          <p:cNvPr id="4" name="Slide Number Placeholder 3">
            <a:extLst>
              <a:ext uri="{FF2B5EF4-FFF2-40B4-BE49-F238E27FC236}">
                <a16:creationId xmlns:a16="http://schemas.microsoft.com/office/drawing/2014/main" id="{E7EC4C2C-C69C-3D0A-5DBD-F8314CD8865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9597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
          </a:xfrm>
          <a:prstGeom prst="rect">
            <a:avLst/>
          </a:prstGeom>
          <a:solidFill>
            <a:srgbClr val="0B63CE"/>
          </a:solidFill>
          <a:ln/>
        </p:spPr>
        <p:txBody>
          <a:bodyPr/>
          <a:lstStyle/>
          <a:p>
            <a:endParaRPr lang="en-IN"/>
          </a:p>
        </p:txBody>
      </p:sp>
      <p:sp>
        <p:nvSpPr>
          <p:cNvPr id="3" name="Shape 1"/>
          <p:cNvSpPr/>
          <p:nvPr/>
        </p:nvSpPr>
        <p:spPr>
          <a:xfrm>
            <a:off x="0" y="0"/>
            <a:ext cx="2194560" cy="68580"/>
          </a:xfrm>
          <a:prstGeom prst="rect">
            <a:avLst/>
          </a:prstGeom>
          <a:solidFill>
            <a:srgbClr val="17A9DB"/>
          </a:solidFill>
          <a:ln/>
        </p:spPr>
        <p:txBody>
          <a:bodyPr/>
          <a:lstStyle/>
          <a:p>
            <a:endParaRPr lang="en-IN"/>
          </a:p>
        </p:txBody>
      </p:sp>
      <p:sp>
        <p:nvSpPr>
          <p:cNvPr id="4" name="Text 2"/>
          <p:cNvSpPr/>
          <p:nvPr/>
        </p:nvSpPr>
        <p:spPr>
          <a:xfrm>
            <a:off x="502920" y="4745736"/>
            <a:ext cx="5486400" cy="274320"/>
          </a:xfrm>
          <a:prstGeom prst="rect">
            <a:avLst/>
          </a:prstGeom>
          <a:noFill/>
          <a:ln/>
        </p:spPr>
        <p:txBody>
          <a:bodyPr wrap="square" lIns="0" tIns="0" rIns="0" bIns="0" rtlCol="0" anchor="ctr"/>
          <a:lstStyle/>
          <a:p>
            <a:pPr marL="0" indent="0">
              <a:buNone/>
            </a:pPr>
            <a:r>
              <a:rPr lang="en-US" sz="900">
                <a:solidFill>
                  <a:srgbClr val="7C8FA3"/>
                </a:solidFill>
                <a:latin typeface="Segoe UI" pitchFamily="34" charset="0"/>
                <a:ea typeface="Segoe UI" pitchFamily="34" charset="-122"/>
                <a:cs typeface="Segoe UI" pitchFamily="34" charset="-120"/>
              </a:rPr>
              <a:t>Azure Kubernetes Service for Application Teams</a:t>
            </a:r>
            <a:endParaRPr lang="en-US" sz="9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296915170"/>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bstract illustration of stacked shipping containers and connected blocks, representing containerised applications"/>
          <p:cNvPicPr>
            <a:picLocks noChangeAspect="1"/>
          </p:cNvPicPr>
          <p:nvPr/>
        </p:nvPicPr>
        <p:blipFill>
          <a:blip r:embed="rId3"/>
          <a:srcRect t="1064" b="1064"/>
          <a:stretch/>
        </p:blipFill>
        <p:spPr>
          <a:xfrm>
            <a:off x="0" y="0"/>
            <a:ext cx="9144000" cy="5143500"/>
          </a:xfrm>
          <a:prstGeom prst="rect">
            <a:avLst/>
          </a:prstGeom>
        </p:spPr>
      </p:pic>
      <p:sp>
        <p:nvSpPr>
          <p:cNvPr id="3" name="image scrim">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A2E4E">
              <a:alpha val="78000"/>
            </a:srgbClr>
          </a:solidFill>
          <a:ln w="12700">
            <a:solidFill>
              <a:srgbClr val="333333"/>
            </a:solidFill>
            <a:prstDash val="solid"/>
          </a:ln>
        </p:spPr>
        <p:txBody>
          <a:bodyPr/>
          <a:lstStyle/>
          <a:p>
            <a:endParaRPr lang="en-IN"/>
          </a:p>
        </p:txBody>
      </p:sp>
      <p:sp>
        <p:nvSpPr>
          <p:cNvPr id="4" name="title panel">
            <a:extLst>
              <a:ext uri="{C183D7F6-B498-43B3-948B-1728B52AA6E4}">
                <adec:decorative xmlns:adec="http://schemas.microsoft.com/office/drawing/2017/decorative" val="1"/>
              </a:ext>
            </a:extLst>
          </p:cNvPr>
          <p:cNvSpPr/>
          <p:nvPr/>
        </p:nvSpPr>
        <p:spPr>
          <a:xfrm>
            <a:off x="0" y="0"/>
            <a:ext cx="5394960" cy="5143500"/>
          </a:xfrm>
          <a:prstGeom prst="rect">
            <a:avLst/>
          </a:prstGeom>
          <a:solidFill>
            <a:srgbClr val="0A2E4E">
              <a:alpha val="92000"/>
            </a:srgbClr>
          </a:solidFill>
          <a:ln w="12700">
            <a:solidFill>
              <a:srgbClr val="333333"/>
            </a:solidFill>
            <a:prstDash val="solid"/>
          </a:ln>
        </p:spPr>
        <p:txBody>
          <a:bodyPr/>
          <a:lstStyle/>
          <a:p>
            <a:endParaRPr lang="en-IN"/>
          </a:p>
        </p:txBody>
      </p:sp>
      <p:sp>
        <p:nvSpPr>
          <p:cNvPr id="5" name="rule">
            <a:extLst>
              <a:ext uri="{C183D7F6-B498-43B3-948B-1728B52AA6E4}">
                <adec:decorative xmlns:adec="http://schemas.microsoft.com/office/drawing/2017/decorative" val="1"/>
              </a:ext>
            </a:extLst>
          </p:cNvPr>
          <p:cNvSpPr/>
          <p:nvPr/>
        </p:nvSpPr>
        <p:spPr>
          <a:xfrm>
            <a:off x="640080" y="1234440"/>
            <a:ext cx="685800" cy="41148"/>
          </a:xfrm>
          <a:prstGeom prst="rect">
            <a:avLst/>
          </a:prstGeom>
          <a:solidFill>
            <a:srgbClr val="17A9DB"/>
          </a:solidFill>
          <a:ln w="12700">
            <a:solidFill>
              <a:srgbClr val="333333"/>
            </a:solidFill>
            <a:prstDash val="solid"/>
          </a:ln>
        </p:spPr>
        <p:txBody>
          <a:bodyPr/>
          <a:lstStyle/>
          <a:p>
            <a:endParaRPr lang="en-IN"/>
          </a:p>
        </p:txBody>
      </p:sp>
      <p:sp>
        <p:nvSpPr>
          <p:cNvPr id="6" name="Text 3"/>
          <p:cNvSpPr/>
          <p:nvPr/>
        </p:nvSpPr>
        <p:spPr>
          <a:xfrm>
            <a:off x="640080" y="1481328"/>
            <a:ext cx="4572000" cy="256032"/>
          </a:xfrm>
          <a:prstGeom prst="rect">
            <a:avLst/>
          </a:prstGeom>
          <a:noFill/>
          <a:ln/>
        </p:spPr>
        <p:txBody>
          <a:bodyPr wrap="square" lIns="0" tIns="0" rIns="0" bIns="0" rtlCol="0" anchor="ctr"/>
          <a:lstStyle/>
          <a:p>
            <a:pPr marL="0" indent="0">
              <a:buNone/>
            </a:pPr>
            <a:r>
              <a:rPr lang="en-US" sz="1100" b="1" kern="0" spc="240" dirty="0">
                <a:solidFill>
                  <a:srgbClr val="17A9DB"/>
                </a:solidFill>
                <a:latin typeface="Segoe UI" pitchFamily="34" charset="0"/>
                <a:ea typeface="Segoe UI" pitchFamily="34" charset="-122"/>
                <a:cs typeface="Segoe UI" pitchFamily="34" charset="-120"/>
              </a:rPr>
              <a:t>TRAINING PROGRAMME</a:t>
            </a:r>
            <a:endParaRPr lang="en-US" sz="1100" dirty="0"/>
          </a:p>
        </p:txBody>
      </p:sp>
      <p:sp>
        <p:nvSpPr>
          <p:cNvPr id="7" name="Text 4"/>
          <p:cNvSpPr/>
          <p:nvPr/>
        </p:nvSpPr>
        <p:spPr>
          <a:xfrm>
            <a:off x="640080" y="1755648"/>
            <a:ext cx="4480560" cy="914400"/>
          </a:xfrm>
          <a:prstGeom prst="rect">
            <a:avLst/>
          </a:prstGeom>
          <a:noFill/>
          <a:ln/>
        </p:spPr>
        <p:txBody>
          <a:bodyPr wrap="square" lIns="0" tIns="0" rIns="0" bIns="0" rtlCol="0" anchor="t"/>
          <a:lstStyle/>
          <a:p>
            <a:pPr marL="0" indent="0">
              <a:lnSpc>
                <a:spcPct val="100000"/>
              </a:lnSpc>
              <a:buNone/>
            </a:pPr>
            <a:r>
              <a:rPr lang="en-US" sz="3100" b="1" dirty="0">
                <a:solidFill>
                  <a:srgbClr val="FFFFFF"/>
                </a:solidFill>
                <a:latin typeface="Segoe UI" pitchFamily="34" charset="0"/>
                <a:ea typeface="Segoe UI" pitchFamily="34" charset="-122"/>
                <a:cs typeface="Segoe UI" pitchFamily="34" charset="-120"/>
              </a:rPr>
              <a:t>Azure Kubernetes Service</a:t>
            </a:r>
            <a:endParaRPr lang="en-US" sz="3100" dirty="0"/>
          </a:p>
        </p:txBody>
      </p:sp>
      <p:sp>
        <p:nvSpPr>
          <p:cNvPr id="8" name="Text 5"/>
          <p:cNvSpPr/>
          <p:nvPr/>
        </p:nvSpPr>
        <p:spPr>
          <a:xfrm>
            <a:off x="640080" y="2670048"/>
            <a:ext cx="4754880" cy="384048"/>
          </a:xfrm>
          <a:prstGeom prst="rect">
            <a:avLst/>
          </a:prstGeom>
          <a:noFill/>
          <a:ln/>
        </p:spPr>
        <p:txBody>
          <a:bodyPr wrap="square" lIns="0" tIns="0" rIns="0" bIns="0" rtlCol="0" anchor="ctr"/>
          <a:lstStyle/>
          <a:p>
            <a:pPr marL="0" indent="0">
              <a:buNone/>
            </a:pPr>
            <a:r>
              <a:rPr lang="en-US" sz="2100" dirty="0">
                <a:solidFill>
                  <a:srgbClr val="BBD9F2"/>
                </a:solidFill>
                <a:latin typeface="Segoe UI" pitchFamily="34" charset="0"/>
                <a:ea typeface="Segoe UI" pitchFamily="34" charset="-122"/>
                <a:cs typeface="Segoe UI" pitchFamily="34" charset="-120"/>
              </a:rPr>
              <a:t>for Application Teams</a:t>
            </a:r>
            <a:endParaRPr lang="en-US" sz="2100" dirty="0"/>
          </a:p>
        </p:txBody>
      </p:sp>
      <p:sp>
        <p:nvSpPr>
          <p:cNvPr id="9" name="Text 6"/>
          <p:cNvSpPr/>
          <p:nvPr/>
        </p:nvSpPr>
        <p:spPr>
          <a:xfrm>
            <a:off x="640080" y="3154680"/>
            <a:ext cx="4663440" cy="640080"/>
          </a:xfrm>
          <a:prstGeom prst="rect">
            <a:avLst/>
          </a:prstGeom>
          <a:noFill/>
          <a:ln/>
        </p:spPr>
        <p:txBody>
          <a:bodyPr wrap="square" lIns="0" tIns="0" rIns="0" bIns="0" rtlCol="0" anchor="t"/>
          <a:lstStyle/>
          <a:p>
            <a:pPr marL="0" indent="0">
              <a:lnSpc>
                <a:spcPct val="125000"/>
              </a:lnSpc>
              <a:buNone/>
            </a:pPr>
            <a:r>
              <a:rPr lang="en-US" sz="1200" dirty="0">
                <a:solidFill>
                  <a:srgbClr val="D6E7F6"/>
                </a:solidFill>
                <a:latin typeface="Segoe UI" pitchFamily="34" charset="0"/>
                <a:ea typeface="Segoe UI" pitchFamily="34" charset="-122"/>
                <a:cs typeface="Segoe UI" pitchFamily="34" charset="-120"/>
              </a:rPr>
              <a:t>Fundamentals, deployment, connectivity, configuration,</a:t>
            </a:r>
            <a:endParaRPr lang="en-US" sz="1200" dirty="0"/>
          </a:p>
          <a:p>
            <a:pPr marL="0" indent="0">
              <a:lnSpc>
                <a:spcPct val="125000"/>
              </a:lnSpc>
              <a:buNone/>
            </a:pPr>
            <a:r>
              <a:rPr lang="en-US" sz="1200" dirty="0">
                <a:solidFill>
                  <a:srgbClr val="D6E7F6"/>
                </a:solidFill>
                <a:latin typeface="Segoe UI" pitchFamily="34" charset="0"/>
                <a:ea typeface="Segoe UI" pitchFamily="34" charset="-122"/>
                <a:cs typeface="Segoe UI" pitchFamily="34" charset="-120"/>
              </a:rPr>
              <a:t>storage and application health on managed Kubernetes</a:t>
            </a:r>
            <a:endParaRPr lang="en-US" sz="1200" dirty="0"/>
          </a:p>
        </p:txBody>
      </p:sp>
      <p:sp>
        <p:nvSpPr>
          <p:cNvPr id="10" name="divider">
            <a:extLst>
              <a:ext uri="{C183D7F6-B498-43B3-948B-1728B52AA6E4}">
                <adec:decorative xmlns:adec="http://schemas.microsoft.com/office/drawing/2017/decorative" val="1"/>
              </a:ext>
            </a:extLst>
          </p:cNvPr>
          <p:cNvSpPr/>
          <p:nvPr/>
        </p:nvSpPr>
        <p:spPr>
          <a:xfrm>
            <a:off x="640080" y="3886200"/>
            <a:ext cx="4206240" cy="18288"/>
          </a:xfrm>
          <a:prstGeom prst="rect">
            <a:avLst/>
          </a:prstGeom>
          <a:solidFill>
            <a:srgbClr val="FFFFFF">
              <a:alpha val="45000"/>
            </a:srgbClr>
          </a:solidFill>
          <a:ln w="12700">
            <a:solidFill>
              <a:srgbClr val="333333"/>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Agenda Day-1</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section panel">
            <a:extLst>
              <a:ext uri="{C183D7F6-B498-43B3-948B-1728B52AA6E4}">
                <adec:decorative xmlns:adec="http://schemas.microsoft.com/office/drawing/2017/decorative" val="1"/>
              </a:ext>
            </a:extLst>
          </p:cNvPr>
          <p:cNvSpPr/>
          <p:nvPr/>
        </p:nvSpPr>
        <p:spPr>
          <a:xfrm>
            <a:off x="502920" y="1234440"/>
            <a:ext cx="3977640" cy="3291840"/>
          </a:xfrm>
          <a:prstGeom prst="rect">
            <a:avLst/>
          </a:prstGeom>
          <a:solidFill>
            <a:srgbClr val="F6F9FD"/>
          </a:solidFill>
          <a:ln w="9525">
            <a:solidFill>
              <a:srgbClr val="D8E5F2"/>
            </a:solidFill>
            <a:prstDash val="solid"/>
          </a:ln>
        </p:spPr>
        <p:txBody>
          <a:bodyPr/>
          <a:lstStyle/>
          <a:p>
            <a:endParaRPr lang="en-IN"/>
          </a:p>
        </p:txBody>
      </p:sp>
      <p:sp>
        <p:nvSpPr>
          <p:cNvPr id="7" name="section header">
            <a:extLst>
              <a:ext uri="{C183D7F6-B498-43B3-948B-1728B52AA6E4}">
                <adec:decorative xmlns:adec="http://schemas.microsoft.com/office/drawing/2017/decorative" val="1"/>
              </a:ext>
            </a:extLst>
          </p:cNvPr>
          <p:cNvSpPr/>
          <p:nvPr/>
        </p:nvSpPr>
        <p:spPr>
          <a:xfrm>
            <a:off x="502920" y="1234440"/>
            <a:ext cx="3977640" cy="457200"/>
          </a:xfrm>
          <a:prstGeom prst="rect">
            <a:avLst/>
          </a:prstGeom>
          <a:solidFill>
            <a:srgbClr val="0B63CE"/>
          </a:solidFill>
          <a:ln w="12700">
            <a:solidFill>
              <a:srgbClr val="333333"/>
            </a:solidFill>
            <a:prstDash val="solid"/>
          </a:ln>
        </p:spPr>
        <p:txBody>
          <a:bodyPr/>
          <a:lstStyle/>
          <a:p>
            <a:endParaRPr lang="en-IN"/>
          </a:p>
        </p:txBody>
      </p:sp>
      <p:sp>
        <p:nvSpPr>
          <p:cNvPr id="8" name="Text 6"/>
          <p:cNvSpPr/>
          <p:nvPr/>
        </p:nvSpPr>
        <p:spPr>
          <a:xfrm>
            <a:off x="685800" y="1234440"/>
            <a:ext cx="3657600" cy="457200"/>
          </a:xfrm>
          <a:prstGeom prst="rect">
            <a:avLst/>
          </a:prstGeom>
          <a:noFill/>
          <a:ln/>
        </p:spPr>
        <p:txBody>
          <a:bodyPr wrap="square" lIns="0" tIns="0" rIns="0" bIns="0"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SECTION 1  ·  AKS Fundamentals</a:t>
            </a:r>
            <a:endParaRPr lang="en-US" sz="1050" dirty="0"/>
          </a:p>
        </p:txBody>
      </p:sp>
      <p:sp>
        <p:nvSpPr>
          <p:cNvPr id="9" name="Text 7"/>
          <p:cNvSpPr/>
          <p:nvPr/>
        </p:nvSpPr>
        <p:spPr>
          <a:xfrm>
            <a:off x="731520" y="1847088"/>
            <a:ext cx="1005840" cy="219456"/>
          </a:xfrm>
          <a:prstGeom prst="rect">
            <a:avLst/>
          </a:prstGeom>
          <a:noFill/>
          <a:ln/>
        </p:spPr>
        <p:txBody>
          <a:bodyPr wrap="square" lIns="0" tIns="0" rIns="0" bIns="0" rtlCol="0" anchor="ctr"/>
          <a:lstStyle/>
          <a:p>
            <a:pPr marL="0" indent="0">
              <a:buNone/>
            </a:pPr>
            <a:r>
              <a:rPr lang="en-US" sz="900" b="1" kern="0" spc="100" dirty="0">
                <a:solidFill>
                  <a:srgbClr val="0B63CE"/>
                </a:solidFill>
                <a:latin typeface="Segoe UI" pitchFamily="34" charset="0"/>
                <a:ea typeface="Segoe UI" pitchFamily="34" charset="-122"/>
                <a:cs typeface="Segoe UI" pitchFamily="34" charset="-120"/>
              </a:rPr>
              <a:t>MODULE 1</a:t>
            </a:r>
            <a:endParaRPr lang="en-US" sz="900" dirty="0"/>
          </a:p>
        </p:txBody>
      </p:sp>
      <p:sp>
        <p:nvSpPr>
          <p:cNvPr id="10" name="Text 8"/>
          <p:cNvSpPr/>
          <p:nvPr/>
        </p:nvSpPr>
        <p:spPr>
          <a:xfrm>
            <a:off x="731520" y="2048256"/>
            <a:ext cx="3520440" cy="365760"/>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Introduction to Containers and Kubernetes</a:t>
            </a:r>
            <a:endParaRPr lang="en-US" sz="1200" dirty="0"/>
          </a:p>
        </p:txBody>
      </p:sp>
      <p:sp>
        <p:nvSpPr>
          <p:cNvPr id="11" name="Text 9"/>
          <p:cNvSpPr/>
          <p:nvPr/>
        </p:nvSpPr>
        <p:spPr>
          <a:xfrm>
            <a:off x="731520" y="2505456"/>
            <a:ext cx="1005840" cy="219456"/>
          </a:xfrm>
          <a:prstGeom prst="rect">
            <a:avLst/>
          </a:prstGeom>
          <a:noFill/>
          <a:ln/>
        </p:spPr>
        <p:txBody>
          <a:bodyPr wrap="square" lIns="0" tIns="0" rIns="0" bIns="0" rtlCol="0" anchor="ctr"/>
          <a:lstStyle/>
          <a:p>
            <a:pPr marL="0" indent="0">
              <a:buNone/>
            </a:pPr>
            <a:r>
              <a:rPr lang="en-US" sz="900" b="1" kern="0" spc="100" dirty="0">
                <a:solidFill>
                  <a:srgbClr val="0B63CE"/>
                </a:solidFill>
                <a:latin typeface="Segoe UI" pitchFamily="34" charset="0"/>
                <a:ea typeface="Segoe UI" pitchFamily="34" charset="-122"/>
                <a:cs typeface="Segoe UI" pitchFamily="34" charset="-120"/>
              </a:rPr>
              <a:t>MODULE 2</a:t>
            </a:r>
            <a:endParaRPr lang="en-US" sz="900" dirty="0"/>
          </a:p>
        </p:txBody>
      </p:sp>
      <p:sp>
        <p:nvSpPr>
          <p:cNvPr id="12" name="Text 10"/>
          <p:cNvSpPr/>
          <p:nvPr/>
        </p:nvSpPr>
        <p:spPr>
          <a:xfrm>
            <a:off x="731520" y="2706624"/>
            <a:ext cx="3520440" cy="365760"/>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Application Deployment on AKS</a:t>
            </a:r>
            <a:endParaRPr lang="en-US" sz="1200" dirty="0"/>
          </a:p>
        </p:txBody>
      </p:sp>
      <p:sp>
        <p:nvSpPr>
          <p:cNvPr id="13" name="Text 11"/>
          <p:cNvSpPr/>
          <p:nvPr/>
        </p:nvSpPr>
        <p:spPr>
          <a:xfrm>
            <a:off x="731520" y="3163824"/>
            <a:ext cx="1005840" cy="219456"/>
          </a:xfrm>
          <a:prstGeom prst="rect">
            <a:avLst/>
          </a:prstGeom>
          <a:noFill/>
          <a:ln/>
        </p:spPr>
        <p:txBody>
          <a:bodyPr wrap="square" lIns="0" tIns="0" rIns="0" bIns="0" rtlCol="0" anchor="ctr"/>
          <a:lstStyle/>
          <a:p>
            <a:pPr marL="0" indent="0">
              <a:buNone/>
            </a:pPr>
            <a:r>
              <a:rPr lang="en-US" sz="900" b="1" kern="0" spc="100" dirty="0">
                <a:solidFill>
                  <a:srgbClr val="0B63CE"/>
                </a:solidFill>
                <a:latin typeface="Segoe UI" pitchFamily="34" charset="0"/>
                <a:ea typeface="Segoe UI" pitchFamily="34" charset="-122"/>
                <a:cs typeface="Segoe UI" pitchFamily="34" charset="-120"/>
              </a:rPr>
              <a:t>MODULE 3</a:t>
            </a:r>
            <a:endParaRPr lang="en-US" sz="900" dirty="0"/>
          </a:p>
        </p:txBody>
      </p:sp>
      <p:sp>
        <p:nvSpPr>
          <p:cNvPr id="14" name="Text 12"/>
          <p:cNvSpPr/>
          <p:nvPr/>
        </p:nvSpPr>
        <p:spPr>
          <a:xfrm>
            <a:off x="731520" y="3364992"/>
            <a:ext cx="3520440" cy="365760"/>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Application Exposure and Connectivity</a:t>
            </a:r>
            <a:endParaRPr lang="en-US" sz="1200" dirty="0"/>
          </a:p>
        </p:txBody>
      </p:sp>
      <p:sp>
        <p:nvSpPr>
          <p:cNvPr id="15" name="Text 13"/>
          <p:cNvSpPr/>
          <p:nvPr/>
        </p:nvSpPr>
        <p:spPr>
          <a:xfrm>
            <a:off x="731520" y="3822192"/>
            <a:ext cx="1005840" cy="219456"/>
          </a:xfrm>
          <a:prstGeom prst="rect">
            <a:avLst/>
          </a:prstGeom>
          <a:noFill/>
          <a:ln/>
        </p:spPr>
        <p:txBody>
          <a:bodyPr wrap="square" lIns="0" tIns="0" rIns="0" bIns="0" rtlCol="0" anchor="ctr"/>
          <a:lstStyle/>
          <a:p>
            <a:pPr marL="0" indent="0">
              <a:buNone/>
            </a:pPr>
            <a:r>
              <a:rPr lang="en-US" sz="900" b="1" kern="0" spc="100" dirty="0">
                <a:solidFill>
                  <a:srgbClr val="0B63CE"/>
                </a:solidFill>
                <a:latin typeface="Segoe UI" pitchFamily="34" charset="0"/>
                <a:ea typeface="Segoe UI" pitchFamily="34" charset="-122"/>
                <a:cs typeface="Segoe UI" pitchFamily="34" charset="-120"/>
              </a:rPr>
              <a:t>MODULE 4</a:t>
            </a:r>
            <a:endParaRPr lang="en-US" sz="900" dirty="0"/>
          </a:p>
        </p:txBody>
      </p:sp>
      <p:sp>
        <p:nvSpPr>
          <p:cNvPr id="16" name="Text 14"/>
          <p:cNvSpPr/>
          <p:nvPr/>
        </p:nvSpPr>
        <p:spPr>
          <a:xfrm>
            <a:off x="731520" y="4023360"/>
            <a:ext cx="3520440" cy="365760"/>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Configuration Management</a:t>
            </a:r>
            <a:endParaRPr lang="en-US" sz="1200" dirty="0"/>
          </a:p>
        </p:txBody>
      </p:sp>
      <p:sp>
        <p:nvSpPr>
          <p:cNvPr id="17" name="section panel">
            <a:extLst>
              <a:ext uri="{C183D7F6-B498-43B3-948B-1728B52AA6E4}">
                <adec:decorative xmlns:adec="http://schemas.microsoft.com/office/drawing/2017/decorative" val="1"/>
              </a:ext>
            </a:extLst>
          </p:cNvPr>
          <p:cNvSpPr/>
          <p:nvPr/>
        </p:nvSpPr>
        <p:spPr>
          <a:xfrm>
            <a:off x="4663440" y="1234440"/>
            <a:ext cx="3977640" cy="3291840"/>
          </a:xfrm>
          <a:prstGeom prst="rect">
            <a:avLst/>
          </a:prstGeom>
          <a:solidFill>
            <a:srgbClr val="F6F9FD"/>
          </a:solidFill>
          <a:ln w="9525">
            <a:solidFill>
              <a:srgbClr val="D8E5F2"/>
            </a:solidFill>
            <a:prstDash val="solid"/>
          </a:ln>
        </p:spPr>
        <p:txBody>
          <a:bodyPr/>
          <a:lstStyle/>
          <a:p>
            <a:endParaRPr lang="en-IN"/>
          </a:p>
        </p:txBody>
      </p:sp>
      <p:sp>
        <p:nvSpPr>
          <p:cNvPr id="18" name="section header">
            <a:extLst>
              <a:ext uri="{C183D7F6-B498-43B3-948B-1728B52AA6E4}">
                <adec:decorative xmlns:adec="http://schemas.microsoft.com/office/drawing/2017/decorative" val="1"/>
              </a:ext>
            </a:extLst>
          </p:cNvPr>
          <p:cNvSpPr/>
          <p:nvPr/>
        </p:nvSpPr>
        <p:spPr>
          <a:xfrm>
            <a:off x="4663440" y="1234440"/>
            <a:ext cx="3977640" cy="457200"/>
          </a:xfrm>
          <a:prstGeom prst="rect">
            <a:avLst/>
          </a:prstGeom>
          <a:solidFill>
            <a:srgbClr val="0A2E4E"/>
          </a:solidFill>
          <a:ln w="12700">
            <a:solidFill>
              <a:srgbClr val="333333"/>
            </a:solidFill>
            <a:prstDash val="solid"/>
          </a:ln>
        </p:spPr>
        <p:txBody>
          <a:bodyPr/>
          <a:lstStyle/>
          <a:p>
            <a:endParaRPr lang="en-IN"/>
          </a:p>
        </p:txBody>
      </p:sp>
      <p:sp>
        <p:nvSpPr>
          <p:cNvPr id="19" name="Text 17"/>
          <p:cNvSpPr/>
          <p:nvPr/>
        </p:nvSpPr>
        <p:spPr>
          <a:xfrm>
            <a:off x="4846320" y="1234440"/>
            <a:ext cx="3657600" cy="457200"/>
          </a:xfrm>
          <a:prstGeom prst="rect">
            <a:avLst/>
          </a:prstGeom>
          <a:noFill/>
          <a:ln/>
        </p:spPr>
        <p:txBody>
          <a:bodyPr wrap="square" lIns="0" tIns="0" rIns="0" bIns="0"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SECTION 2  ·  Operations and Security</a:t>
            </a:r>
            <a:endParaRPr lang="en-US" sz="1050" dirty="0"/>
          </a:p>
        </p:txBody>
      </p:sp>
      <p:sp>
        <p:nvSpPr>
          <p:cNvPr id="20" name="Text 18"/>
          <p:cNvSpPr/>
          <p:nvPr/>
        </p:nvSpPr>
        <p:spPr>
          <a:xfrm>
            <a:off x="4892040" y="1847088"/>
            <a:ext cx="1005840" cy="219456"/>
          </a:xfrm>
          <a:prstGeom prst="rect">
            <a:avLst/>
          </a:prstGeom>
          <a:noFill/>
          <a:ln/>
        </p:spPr>
        <p:txBody>
          <a:bodyPr wrap="square" lIns="0" tIns="0" rIns="0" bIns="0" rtlCol="0" anchor="ctr"/>
          <a:lstStyle/>
          <a:p>
            <a:pPr marL="0" indent="0">
              <a:buNone/>
            </a:pPr>
            <a:r>
              <a:rPr lang="en-US" sz="900" b="1" kern="0" spc="100" dirty="0">
                <a:solidFill>
                  <a:srgbClr val="17A9DB"/>
                </a:solidFill>
                <a:latin typeface="Segoe UI" pitchFamily="34" charset="0"/>
                <a:ea typeface="Segoe UI" pitchFamily="34" charset="-122"/>
                <a:cs typeface="Segoe UI" pitchFamily="34" charset="-120"/>
              </a:rPr>
              <a:t>MODULE 5</a:t>
            </a:r>
            <a:endParaRPr lang="en-US" sz="900" dirty="0"/>
          </a:p>
        </p:txBody>
      </p:sp>
      <p:sp>
        <p:nvSpPr>
          <p:cNvPr id="21" name="Text 19"/>
          <p:cNvSpPr/>
          <p:nvPr/>
        </p:nvSpPr>
        <p:spPr>
          <a:xfrm>
            <a:off x="4892040" y="2048256"/>
            <a:ext cx="3520440" cy="365760"/>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Persistent Storage for Applications</a:t>
            </a:r>
            <a:endParaRPr lang="en-US" sz="1200" dirty="0"/>
          </a:p>
        </p:txBody>
      </p:sp>
      <p:sp>
        <p:nvSpPr>
          <p:cNvPr id="22" name="Text 20"/>
          <p:cNvSpPr/>
          <p:nvPr/>
        </p:nvSpPr>
        <p:spPr>
          <a:xfrm>
            <a:off x="4892040" y="2505456"/>
            <a:ext cx="1005840" cy="219456"/>
          </a:xfrm>
          <a:prstGeom prst="rect">
            <a:avLst/>
          </a:prstGeom>
          <a:noFill/>
          <a:ln/>
        </p:spPr>
        <p:txBody>
          <a:bodyPr wrap="square" lIns="0" tIns="0" rIns="0" bIns="0" rtlCol="0" anchor="ctr"/>
          <a:lstStyle/>
          <a:p>
            <a:pPr marL="0" indent="0">
              <a:buNone/>
            </a:pPr>
            <a:r>
              <a:rPr lang="en-US" sz="900" b="1" kern="0" spc="100" dirty="0">
                <a:solidFill>
                  <a:srgbClr val="17A9DB"/>
                </a:solidFill>
                <a:latin typeface="Segoe UI" pitchFamily="34" charset="0"/>
                <a:ea typeface="Segoe UI" pitchFamily="34" charset="-122"/>
                <a:cs typeface="Segoe UI" pitchFamily="34" charset="-120"/>
              </a:rPr>
              <a:t>MODULE 6</a:t>
            </a:r>
            <a:endParaRPr lang="en-US" sz="900" dirty="0"/>
          </a:p>
        </p:txBody>
      </p:sp>
      <p:sp>
        <p:nvSpPr>
          <p:cNvPr id="23" name="Text 21"/>
          <p:cNvSpPr/>
          <p:nvPr/>
        </p:nvSpPr>
        <p:spPr>
          <a:xfrm>
            <a:off x="4892040" y="2706624"/>
            <a:ext cx="3520440" cy="365760"/>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Application Health Management</a:t>
            </a:r>
            <a:endParaRPr lang="en-US" sz="1200" dirty="0"/>
          </a:p>
        </p:txBody>
      </p:sp>
      <p:sp>
        <p:nvSpPr>
          <p:cNvPr id="24" name="Text 22"/>
          <p:cNvSpPr/>
          <p:nvPr/>
        </p:nvSpPr>
        <p:spPr>
          <a:xfrm>
            <a:off x="4892040" y="3310128"/>
            <a:ext cx="3520440" cy="1005840"/>
          </a:xfrm>
          <a:prstGeom prst="rect">
            <a:avLst/>
          </a:prstGeom>
          <a:noFill/>
          <a:ln/>
        </p:spPr>
        <p:txBody>
          <a:bodyPr wrap="square" lIns="0" tIns="0" rIns="0" bIns="0" rtlCol="0" anchor="t"/>
          <a:lstStyle/>
          <a:p>
            <a:pPr marL="0" indent="0">
              <a:lnSpc>
                <a:spcPct val="130000"/>
              </a:lnSpc>
              <a:buNone/>
            </a:pPr>
            <a:r>
              <a:rPr lang="en-US" sz="1100" dirty="0">
                <a:solidFill>
                  <a:srgbClr val="44566B"/>
                </a:solidFill>
                <a:latin typeface="Segoe UI" pitchFamily="34" charset="0"/>
                <a:ea typeface="Segoe UI" pitchFamily="34" charset="-122"/>
                <a:cs typeface="Segoe UI" pitchFamily="34" charset="-120"/>
              </a:rPr>
              <a:t>Each module pairs a concept walkthrough with the YAML you would write in practice, so the theory and the manifest are never separated.</a:t>
            </a:r>
            <a:endParaRPr lang="en-US" sz="11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background">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A2E4E"/>
          </a:solidFill>
          <a:ln w="12700">
            <a:solidFill>
              <a:srgbClr val="333333"/>
            </a:solidFill>
            <a:prstDash val="solid"/>
          </a:ln>
        </p:spPr>
        <p:txBody>
          <a:bodyPr/>
          <a:lstStyle/>
          <a:p>
            <a:endParaRPr lang="en-IN"/>
          </a:p>
        </p:txBody>
      </p:sp>
      <p:pic>
        <p:nvPicPr>
          <p:cNvPr id="3" name="Image 0" descr="Abstract technical illustration supporting the section theme"/>
          <p:cNvPicPr>
            <a:picLocks noChangeAspect="1"/>
          </p:cNvPicPr>
          <p:nvPr/>
        </p:nvPicPr>
        <p:blipFill>
          <a:blip r:embed="rId3">
            <a:alphaModFix amt="80000"/>
          </a:blip>
          <a:srcRect l="24987" r="24987"/>
          <a:stretch/>
        </p:blipFill>
        <p:spPr>
          <a:xfrm>
            <a:off x="4572000" y="0"/>
            <a:ext cx="4572000" cy="5143500"/>
          </a:xfrm>
          <a:prstGeom prst="rect">
            <a:avLst/>
          </a:prstGeom>
        </p:spPr>
      </p:pic>
      <p:sp>
        <p:nvSpPr>
          <p:cNvPr id="4" name="gradient blend">
            <a:extLst>
              <a:ext uri="{C183D7F6-B498-43B3-948B-1728B52AA6E4}">
                <adec:decorative xmlns:adec="http://schemas.microsoft.com/office/drawing/2017/decorative" val="1"/>
              </a:ext>
            </a:extLst>
          </p:cNvPr>
          <p:cNvSpPr/>
          <p:nvPr/>
        </p:nvSpPr>
        <p:spPr>
          <a:xfrm>
            <a:off x="4160520" y="0"/>
            <a:ext cx="420624" cy="5143500"/>
          </a:xfrm>
          <a:prstGeom prst="rect">
            <a:avLst/>
          </a:prstGeom>
          <a:solidFill>
            <a:srgbClr val="0A2E4E">
              <a:alpha val="55000"/>
            </a:srgbClr>
          </a:solidFill>
          <a:ln w="12700">
            <a:solidFill>
              <a:srgbClr val="333333"/>
            </a:solidFill>
            <a:prstDash val="solid"/>
          </a:ln>
        </p:spPr>
        <p:txBody>
          <a:bodyPr/>
          <a:lstStyle/>
          <a:p>
            <a:endParaRPr lang="en-IN"/>
          </a:p>
        </p:txBody>
      </p:sp>
      <p:sp>
        <p:nvSpPr>
          <p:cNvPr id="5" name="Text 2"/>
          <p:cNvSpPr/>
          <p:nvPr/>
        </p:nvSpPr>
        <p:spPr>
          <a:xfrm>
            <a:off x="640080" y="1600200"/>
            <a:ext cx="3657600" cy="228600"/>
          </a:xfrm>
          <a:prstGeom prst="rect">
            <a:avLst/>
          </a:prstGeom>
          <a:noFill/>
          <a:ln/>
        </p:spPr>
        <p:txBody>
          <a:bodyPr wrap="square" lIns="0" tIns="0" rIns="0" bIns="0" rtlCol="0" anchor="ctr"/>
          <a:lstStyle/>
          <a:p>
            <a:pPr marL="0" indent="0">
              <a:buNone/>
            </a:pPr>
            <a:r>
              <a:rPr lang="en-US" sz="1050" b="1" kern="0" spc="200" dirty="0">
                <a:solidFill>
                  <a:srgbClr val="17A9DB"/>
                </a:solidFill>
                <a:latin typeface="Segoe UI" pitchFamily="34" charset="0"/>
                <a:ea typeface="Segoe UI" pitchFamily="34" charset="-122"/>
                <a:cs typeface="Segoe UI" pitchFamily="34" charset="-120"/>
              </a:rPr>
              <a:t>SECTION 1</a:t>
            </a:r>
            <a:endParaRPr lang="en-US" sz="1050" dirty="0"/>
          </a:p>
        </p:txBody>
      </p:sp>
      <p:sp>
        <p:nvSpPr>
          <p:cNvPr id="6" name="Text 3"/>
          <p:cNvSpPr/>
          <p:nvPr/>
        </p:nvSpPr>
        <p:spPr>
          <a:xfrm>
            <a:off x="640080" y="1874520"/>
            <a:ext cx="3749040" cy="1005840"/>
          </a:xfrm>
          <a:prstGeom prst="rect">
            <a:avLst/>
          </a:prstGeom>
          <a:noFill/>
          <a:ln/>
        </p:spPr>
        <p:txBody>
          <a:bodyPr wrap="square" lIns="0" tIns="0" rIns="0" bIns="0" rtlCol="0" anchor="t"/>
          <a:lstStyle/>
          <a:p>
            <a:pPr marL="0" indent="0">
              <a:lnSpc>
                <a:spcPct val="98000"/>
              </a:lnSpc>
              <a:buNone/>
            </a:pPr>
            <a:r>
              <a:rPr lang="en-US" sz="2300" b="1" dirty="0">
                <a:solidFill>
                  <a:srgbClr val="FFFFFF"/>
                </a:solidFill>
                <a:latin typeface="Segoe UI" pitchFamily="34" charset="0"/>
                <a:ea typeface="Segoe UI" pitchFamily="34" charset="-122"/>
                <a:cs typeface="Segoe UI" pitchFamily="34" charset="-120"/>
              </a:rPr>
              <a:t>AKS Fundamentals for Application Teams</a:t>
            </a:r>
            <a:endParaRPr lang="en-US" sz="2300" dirty="0"/>
          </a:p>
        </p:txBody>
      </p:sp>
      <p:sp>
        <p:nvSpPr>
          <p:cNvPr id="7" name="rule">
            <a:extLst>
              <a:ext uri="{C183D7F6-B498-43B3-948B-1728B52AA6E4}">
                <adec:decorative xmlns:adec="http://schemas.microsoft.com/office/drawing/2017/decorative" val="1"/>
              </a:ext>
            </a:extLst>
          </p:cNvPr>
          <p:cNvSpPr/>
          <p:nvPr/>
        </p:nvSpPr>
        <p:spPr>
          <a:xfrm>
            <a:off x="640080" y="3017520"/>
            <a:ext cx="640080" cy="32004"/>
          </a:xfrm>
          <a:prstGeom prst="rect">
            <a:avLst/>
          </a:prstGeom>
          <a:solidFill>
            <a:srgbClr val="17A9DB"/>
          </a:solidFill>
          <a:ln w="12700">
            <a:solidFill>
              <a:srgbClr val="333333"/>
            </a:solidFill>
            <a:prstDash val="solid"/>
          </a:ln>
        </p:spPr>
        <p:txBody>
          <a:bodyPr/>
          <a:lstStyle/>
          <a:p>
            <a:endParaRPr lang="en-IN"/>
          </a:p>
        </p:txBody>
      </p:sp>
      <p:sp>
        <p:nvSpPr>
          <p:cNvPr id="8" name="Text 5"/>
          <p:cNvSpPr/>
          <p:nvPr/>
        </p:nvSpPr>
        <p:spPr>
          <a:xfrm>
            <a:off x="640080" y="3200400"/>
            <a:ext cx="3566160" cy="914400"/>
          </a:xfrm>
          <a:prstGeom prst="rect">
            <a:avLst/>
          </a:prstGeom>
          <a:noFill/>
          <a:ln/>
        </p:spPr>
        <p:txBody>
          <a:bodyPr wrap="square" lIns="0" tIns="0" rIns="0" bIns="0" rtlCol="0" anchor="ctr"/>
          <a:lstStyle/>
          <a:p>
            <a:pPr marL="0" indent="0">
              <a:lnSpc>
                <a:spcPct val="125000"/>
              </a:lnSpc>
              <a:buNone/>
            </a:pPr>
            <a:r>
              <a:rPr lang="en-US" sz="1200" dirty="0">
                <a:solidFill>
                  <a:srgbClr val="C7DAEC"/>
                </a:solidFill>
                <a:latin typeface="Segoe UI" pitchFamily="34" charset="0"/>
                <a:ea typeface="Segoe UI" pitchFamily="34" charset="-122"/>
                <a:cs typeface="Segoe UI" pitchFamily="34" charset="-120"/>
              </a:rPr>
              <a:t>Containers, Kubernetes and AKS concepts, then deploying, exposing and configuring an application.</a:t>
            </a:r>
            <a:endParaRPr lang="en-US" sz="12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100" b="1" dirty="0">
                <a:solidFill>
                  <a:srgbClr val="0E2233"/>
                </a:solidFill>
                <a:latin typeface="Segoe UI" pitchFamily="34" charset="0"/>
                <a:ea typeface="Segoe UI" pitchFamily="34" charset="-122"/>
                <a:cs typeface="Segoe UI" pitchFamily="34" charset="-120"/>
              </a:rPr>
              <a:t>Why containers for modern banking applications</a:t>
            </a:r>
            <a:endParaRPr lang="en-US" sz="21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7" name="card">
            <a:extLst>
              <a:ext uri="{C183D7F6-B498-43B3-948B-1728B52AA6E4}">
                <adec:decorative xmlns:adec="http://schemas.microsoft.com/office/drawing/2017/decorative" val="1"/>
              </a:ext>
            </a:extLst>
          </p:cNvPr>
          <p:cNvSpPr/>
          <p:nvPr/>
        </p:nvSpPr>
        <p:spPr>
          <a:xfrm>
            <a:off x="502920" y="1481328"/>
            <a:ext cx="3968496" cy="1133856"/>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3968496" cy="41148"/>
          </a:xfrm>
          <a:prstGeom prst="rect">
            <a:avLst/>
          </a:prstGeom>
          <a:solidFill>
            <a:srgbClr val="0B63CE"/>
          </a:solidFill>
          <a:ln w="12700">
            <a:solidFill>
              <a:srgbClr val="333333"/>
            </a:solidFill>
            <a:prstDash val="solid"/>
          </a:ln>
        </p:spPr>
        <p:txBody>
          <a:bodyPr/>
          <a:lstStyle/>
          <a:p>
            <a:endParaRPr lang="en-IN"/>
          </a:p>
        </p:txBody>
      </p:sp>
      <p:sp>
        <p:nvSpPr>
          <p:cNvPr id="9" name="Text 7"/>
          <p:cNvSpPr/>
          <p:nvPr/>
        </p:nvSpPr>
        <p:spPr>
          <a:xfrm>
            <a:off x="704088" y="1664208"/>
            <a:ext cx="3566160"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CONSISTENCY</a:t>
            </a:r>
            <a:endParaRPr lang="en-US" sz="900" dirty="0"/>
          </a:p>
        </p:txBody>
      </p:sp>
      <p:sp>
        <p:nvSpPr>
          <p:cNvPr id="10" name="Text 8"/>
          <p:cNvSpPr/>
          <p:nvPr/>
        </p:nvSpPr>
        <p:spPr>
          <a:xfrm>
            <a:off x="704088" y="1920240"/>
            <a:ext cx="3566160" cy="260604"/>
          </a:xfrm>
          <a:prstGeom prst="rect">
            <a:avLst/>
          </a:prstGeom>
          <a:noFill/>
          <a:ln/>
        </p:spPr>
        <p:txBody>
          <a:bodyPr wrap="square" lIns="0" tIns="0" rIns="0" bIns="0" rtlCol="0" anchor="t"/>
          <a:lstStyle/>
          <a:p>
            <a:pPr marL="0" indent="0">
              <a:lnSpc>
                <a:spcPct val="100000"/>
              </a:lnSpc>
              <a:buNone/>
            </a:pPr>
            <a:r>
              <a:rPr lang="en-US" sz="1350" b="1" dirty="0">
                <a:solidFill>
                  <a:srgbClr val="0E2233"/>
                </a:solidFill>
                <a:latin typeface="Segoe UI" pitchFamily="34" charset="0"/>
                <a:ea typeface="Segoe UI" pitchFamily="34" charset="-122"/>
                <a:cs typeface="Segoe UI" pitchFamily="34" charset="-120"/>
              </a:rPr>
              <a:t>Identical everywhere</a:t>
            </a:r>
            <a:endParaRPr lang="en-US" sz="1350" dirty="0"/>
          </a:p>
        </p:txBody>
      </p:sp>
      <p:sp>
        <p:nvSpPr>
          <p:cNvPr id="11" name="Text 9"/>
          <p:cNvSpPr/>
          <p:nvPr/>
        </p:nvSpPr>
        <p:spPr>
          <a:xfrm>
            <a:off x="704088" y="2244852"/>
            <a:ext cx="3566160" cy="187452"/>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The same image runs in dev, UAT and production. What was tested is exactly what is released — a strong evidence trail for change control.</a:t>
            </a:r>
            <a:endParaRPr lang="en-US" sz="900" dirty="0"/>
          </a:p>
        </p:txBody>
      </p:sp>
      <p:sp>
        <p:nvSpPr>
          <p:cNvPr id="12" name="card">
            <a:extLst>
              <a:ext uri="{C183D7F6-B498-43B3-948B-1728B52AA6E4}">
                <adec:decorative xmlns:adec="http://schemas.microsoft.com/office/drawing/2017/decorative" val="1"/>
              </a:ext>
            </a:extLst>
          </p:cNvPr>
          <p:cNvSpPr/>
          <p:nvPr/>
        </p:nvSpPr>
        <p:spPr>
          <a:xfrm>
            <a:off x="4672584" y="1481328"/>
            <a:ext cx="3968496" cy="1133856"/>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4672584" y="1481328"/>
            <a:ext cx="3968496" cy="41148"/>
          </a:xfrm>
          <a:prstGeom prst="rect">
            <a:avLst/>
          </a:prstGeom>
          <a:solidFill>
            <a:srgbClr val="17A9DB"/>
          </a:solidFill>
          <a:ln w="12700">
            <a:solidFill>
              <a:srgbClr val="333333"/>
            </a:solidFill>
            <a:prstDash val="solid"/>
          </a:ln>
        </p:spPr>
        <p:txBody>
          <a:bodyPr/>
          <a:lstStyle/>
          <a:p>
            <a:endParaRPr lang="en-IN"/>
          </a:p>
        </p:txBody>
      </p:sp>
      <p:sp>
        <p:nvSpPr>
          <p:cNvPr id="14" name="Text 12"/>
          <p:cNvSpPr/>
          <p:nvPr/>
        </p:nvSpPr>
        <p:spPr>
          <a:xfrm>
            <a:off x="4873752" y="1664208"/>
            <a:ext cx="3566160" cy="228600"/>
          </a:xfrm>
          <a:prstGeom prst="rect">
            <a:avLst/>
          </a:prstGeom>
          <a:noFill/>
          <a:ln/>
        </p:spPr>
        <p:txBody>
          <a:bodyPr wrap="square" lIns="0" tIns="0" rIns="0" bIns="0" rtlCol="0" anchor="ctr"/>
          <a:lstStyle/>
          <a:p>
            <a:pPr marL="0" indent="0">
              <a:buNone/>
            </a:pPr>
            <a:r>
              <a:rPr lang="en-US" sz="900" b="1" kern="0" spc="120" dirty="0">
                <a:solidFill>
                  <a:srgbClr val="17A9DB"/>
                </a:solidFill>
                <a:latin typeface="Segoe UI" pitchFamily="34" charset="0"/>
                <a:ea typeface="Segoe UI" pitchFamily="34" charset="-122"/>
                <a:cs typeface="Segoe UI" pitchFamily="34" charset="-120"/>
              </a:rPr>
              <a:t>SPEED</a:t>
            </a:r>
            <a:endParaRPr lang="en-US" sz="900" dirty="0"/>
          </a:p>
        </p:txBody>
      </p:sp>
      <p:sp>
        <p:nvSpPr>
          <p:cNvPr id="15" name="Text 13"/>
          <p:cNvSpPr/>
          <p:nvPr/>
        </p:nvSpPr>
        <p:spPr>
          <a:xfrm>
            <a:off x="4873752" y="1920240"/>
            <a:ext cx="3566160" cy="260604"/>
          </a:xfrm>
          <a:prstGeom prst="rect">
            <a:avLst/>
          </a:prstGeom>
          <a:noFill/>
          <a:ln/>
        </p:spPr>
        <p:txBody>
          <a:bodyPr wrap="square" lIns="0" tIns="0" rIns="0" bIns="0" rtlCol="0" anchor="t"/>
          <a:lstStyle/>
          <a:p>
            <a:pPr marL="0" indent="0">
              <a:lnSpc>
                <a:spcPct val="100000"/>
              </a:lnSpc>
              <a:buNone/>
            </a:pPr>
            <a:r>
              <a:rPr lang="en-US" sz="1350" b="1" dirty="0">
                <a:solidFill>
                  <a:srgbClr val="0E2233"/>
                </a:solidFill>
                <a:latin typeface="Segoe UI" pitchFamily="34" charset="0"/>
                <a:ea typeface="Segoe UI" pitchFamily="34" charset="-122"/>
                <a:cs typeface="Segoe UI" pitchFamily="34" charset="-120"/>
              </a:rPr>
              <a:t>Faster, smaller releases</a:t>
            </a:r>
            <a:endParaRPr lang="en-US" sz="1350" dirty="0"/>
          </a:p>
        </p:txBody>
      </p:sp>
      <p:sp>
        <p:nvSpPr>
          <p:cNvPr id="16" name="Text 14"/>
          <p:cNvSpPr/>
          <p:nvPr/>
        </p:nvSpPr>
        <p:spPr>
          <a:xfrm>
            <a:off x="4873752" y="2244852"/>
            <a:ext cx="3566160" cy="187452"/>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Independent services release on their own cadence instead of waiting for a quarterly platform window.</a:t>
            </a:r>
            <a:endParaRPr lang="en-US" sz="900" dirty="0"/>
          </a:p>
        </p:txBody>
      </p:sp>
      <p:sp>
        <p:nvSpPr>
          <p:cNvPr id="17" name="card">
            <a:extLst>
              <a:ext uri="{C183D7F6-B498-43B3-948B-1728B52AA6E4}">
                <adec:decorative xmlns:adec="http://schemas.microsoft.com/office/drawing/2017/decorative" val="1"/>
              </a:ext>
            </a:extLst>
          </p:cNvPr>
          <p:cNvSpPr/>
          <p:nvPr/>
        </p:nvSpPr>
        <p:spPr>
          <a:xfrm>
            <a:off x="502920" y="2816352"/>
            <a:ext cx="3968496" cy="1133856"/>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502920" y="2816352"/>
            <a:ext cx="3968496" cy="41148"/>
          </a:xfrm>
          <a:prstGeom prst="rect">
            <a:avLst/>
          </a:prstGeom>
          <a:solidFill>
            <a:srgbClr val="0B63CE"/>
          </a:solidFill>
          <a:ln w="12700">
            <a:solidFill>
              <a:srgbClr val="333333"/>
            </a:solidFill>
            <a:prstDash val="solid"/>
          </a:ln>
        </p:spPr>
        <p:txBody>
          <a:bodyPr/>
          <a:lstStyle/>
          <a:p>
            <a:endParaRPr lang="en-IN"/>
          </a:p>
        </p:txBody>
      </p:sp>
      <p:sp>
        <p:nvSpPr>
          <p:cNvPr id="19" name="Text 17"/>
          <p:cNvSpPr/>
          <p:nvPr/>
        </p:nvSpPr>
        <p:spPr>
          <a:xfrm>
            <a:off x="704088" y="2999232"/>
            <a:ext cx="3566160"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RESILIENCE</a:t>
            </a:r>
            <a:endParaRPr lang="en-US" sz="900" dirty="0"/>
          </a:p>
        </p:txBody>
      </p:sp>
      <p:sp>
        <p:nvSpPr>
          <p:cNvPr id="20" name="Text 18"/>
          <p:cNvSpPr/>
          <p:nvPr/>
        </p:nvSpPr>
        <p:spPr>
          <a:xfrm>
            <a:off x="704088" y="3255264"/>
            <a:ext cx="3566160" cy="260604"/>
          </a:xfrm>
          <a:prstGeom prst="rect">
            <a:avLst/>
          </a:prstGeom>
          <a:noFill/>
          <a:ln/>
        </p:spPr>
        <p:txBody>
          <a:bodyPr wrap="square" lIns="0" tIns="0" rIns="0" bIns="0" rtlCol="0" anchor="t"/>
          <a:lstStyle/>
          <a:p>
            <a:pPr marL="0" indent="0">
              <a:lnSpc>
                <a:spcPct val="100000"/>
              </a:lnSpc>
              <a:buNone/>
            </a:pPr>
            <a:r>
              <a:rPr lang="en-US" sz="1350" b="1" dirty="0">
                <a:solidFill>
                  <a:srgbClr val="0E2233"/>
                </a:solidFill>
                <a:latin typeface="Segoe UI" pitchFamily="34" charset="0"/>
                <a:ea typeface="Segoe UI" pitchFamily="34" charset="-122"/>
                <a:cs typeface="Segoe UI" pitchFamily="34" charset="-120"/>
              </a:rPr>
              <a:t>Failure is contained</a:t>
            </a:r>
            <a:endParaRPr lang="en-US" sz="1350" dirty="0"/>
          </a:p>
        </p:txBody>
      </p:sp>
      <p:sp>
        <p:nvSpPr>
          <p:cNvPr id="21" name="Text 19"/>
          <p:cNvSpPr/>
          <p:nvPr/>
        </p:nvSpPr>
        <p:spPr>
          <a:xfrm>
            <a:off x="704088" y="3579876"/>
            <a:ext cx="3566160" cy="187452"/>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A crashing service is restarted automatically and does not take a shared application server down with it.</a:t>
            </a:r>
            <a:endParaRPr lang="en-US" sz="900" dirty="0"/>
          </a:p>
        </p:txBody>
      </p:sp>
      <p:sp>
        <p:nvSpPr>
          <p:cNvPr id="22" name="card">
            <a:extLst>
              <a:ext uri="{C183D7F6-B498-43B3-948B-1728B52AA6E4}">
                <adec:decorative xmlns:adec="http://schemas.microsoft.com/office/drawing/2017/decorative" val="1"/>
              </a:ext>
            </a:extLst>
          </p:cNvPr>
          <p:cNvSpPr/>
          <p:nvPr/>
        </p:nvSpPr>
        <p:spPr>
          <a:xfrm>
            <a:off x="4672584" y="2816352"/>
            <a:ext cx="3968496" cy="1133856"/>
          </a:xfrm>
          <a:prstGeom prst="rect">
            <a:avLst/>
          </a:prstGeom>
          <a:solidFill>
            <a:srgbClr val="F6F9FD"/>
          </a:solidFill>
          <a:ln w="9525">
            <a:solidFill>
              <a:srgbClr val="D8E5F2"/>
            </a:solidFill>
            <a:prstDash val="solid"/>
          </a:ln>
        </p:spPr>
        <p:txBody>
          <a:bodyPr/>
          <a:lstStyle/>
          <a:p>
            <a:endParaRPr lang="en-IN"/>
          </a:p>
        </p:txBody>
      </p:sp>
      <p:sp>
        <p:nvSpPr>
          <p:cNvPr id="23" name="card accent">
            <a:extLst>
              <a:ext uri="{C183D7F6-B498-43B3-948B-1728B52AA6E4}">
                <adec:decorative xmlns:adec="http://schemas.microsoft.com/office/drawing/2017/decorative" val="1"/>
              </a:ext>
            </a:extLst>
          </p:cNvPr>
          <p:cNvSpPr/>
          <p:nvPr/>
        </p:nvSpPr>
        <p:spPr>
          <a:xfrm>
            <a:off x="4672584" y="2816352"/>
            <a:ext cx="3968496" cy="41148"/>
          </a:xfrm>
          <a:prstGeom prst="rect">
            <a:avLst/>
          </a:prstGeom>
          <a:solidFill>
            <a:srgbClr val="17A9DB"/>
          </a:solidFill>
          <a:ln w="12700">
            <a:solidFill>
              <a:srgbClr val="333333"/>
            </a:solidFill>
            <a:prstDash val="solid"/>
          </a:ln>
        </p:spPr>
        <p:txBody>
          <a:bodyPr/>
          <a:lstStyle/>
          <a:p>
            <a:endParaRPr lang="en-IN"/>
          </a:p>
        </p:txBody>
      </p:sp>
      <p:sp>
        <p:nvSpPr>
          <p:cNvPr id="24" name="Text 22"/>
          <p:cNvSpPr/>
          <p:nvPr/>
        </p:nvSpPr>
        <p:spPr>
          <a:xfrm>
            <a:off x="4873752" y="2999232"/>
            <a:ext cx="3566160" cy="228600"/>
          </a:xfrm>
          <a:prstGeom prst="rect">
            <a:avLst/>
          </a:prstGeom>
          <a:noFill/>
          <a:ln/>
        </p:spPr>
        <p:txBody>
          <a:bodyPr wrap="square" lIns="0" tIns="0" rIns="0" bIns="0" rtlCol="0" anchor="ctr"/>
          <a:lstStyle/>
          <a:p>
            <a:pPr marL="0" indent="0">
              <a:buNone/>
            </a:pPr>
            <a:r>
              <a:rPr lang="en-US" sz="900" b="1" kern="0" spc="120" dirty="0">
                <a:solidFill>
                  <a:srgbClr val="17A9DB"/>
                </a:solidFill>
                <a:latin typeface="Segoe UI" pitchFamily="34" charset="0"/>
                <a:ea typeface="Segoe UI" pitchFamily="34" charset="-122"/>
                <a:cs typeface="Segoe UI" pitchFamily="34" charset="-120"/>
              </a:rPr>
              <a:t>EFFICIENCY</a:t>
            </a:r>
            <a:endParaRPr lang="en-US" sz="900" dirty="0"/>
          </a:p>
        </p:txBody>
      </p:sp>
      <p:sp>
        <p:nvSpPr>
          <p:cNvPr id="25" name="Text 23"/>
          <p:cNvSpPr/>
          <p:nvPr/>
        </p:nvSpPr>
        <p:spPr>
          <a:xfrm>
            <a:off x="4873752" y="3255264"/>
            <a:ext cx="3566160" cy="260604"/>
          </a:xfrm>
          <a:prstGeom prst="rect">
            <a:avLst/>
          </a:prstGeom>
          <a:noFill/>
          <a:ln/>
        </p:spPr>
        <p:txBody>
          <a:bodyPr wrap="square" lIns="0" tIns="0" rIns="0" bIns="0" rtlCol="0" anchor="t"/>
          <a:lstStyle/>
          <a:p>
            <a:pPr marL="0" indent="0">
              <a:lnSpc>
                <a:spcPct val="100000"/>
              </a:lnSpc>
              <a:buNone/>
            </a:pPr>
            <a:r>
              <a:rPr lang="en-US" sz="1350" b="1" dirty="0">
                <a:solidFill>
                  <a:srgbClr val="0E2233"/>
                </a:solidFill>
                <a:latin typeface="Segoe UI" pitchFamily="34" charset="0"/>
                <a:ea typeface="Segoe UI" pitchFamily="34" charset="-122"/>
                <a:cs typeface="Segoe UI" pitchFamily="34" charset="-120"/>
              </a:rPr>
              <a:t>Denser use of estate</a:t>
            </a:r>
            <a:endParaRPr lang="en-US" sz="1350" dirty="0"/>
          </a:p>
        </p:txBody>
      </p:sp>
      <p:sp>
        <p:nvSpPr>
          <p:cNvPr id="26" name="Text 24"/>
          <p:cNvSpPr/>
          <p:nvPr/>
        </p:nvSpPr>
        <p:spPr>
          <a:xfrm>
            <a:off x="4873752" y="3579876"/>
            <a:ext cx="3566160" cy="187452"/>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Many workloads share the same nodes safely, reducing the cost of running non-production environments.</a:t>
            </a:r>
            <a:endParaRPr lang="en-US" sz="900" dirty="0"/>
          </a:p>
        </p:txBody>
      </p:sp>
      <p:sp>
        <p:nvSpPr>
          <p:cNvPr id="27"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8"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29" name="Text 2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Why it matters   </a:t>
            </a:r>
            <a:r>
              <a:rPr lang="en-US" sz="1050" dirty="0">
                <a:solidFill>
                  <a:srgbClr val="0E2233"/>
                </a:solidFill>
                <a:latin typeface="Segoe UI" pitchFamily="34" charset="0"/>
                <a:ea typeface="Segoe UI" pitchFamily="34" charset="-122"/>
                <a:cs typeface="Segoe UI" pitchFamily="34" charset="-120"/>
              </a:rPr>
              <a:t>In regulated environments the biggest single win is </a:t>
            </a:r>
            <a:r>
              <a:rPr lang="en-US" sz="1050" b="1" dirty="0">
                <a:solidFill>
                  <a:srgbClr val="0E2233"/>
                </a:solidFill>
                <a:latin typeface="Segoe UI" pitchFamily="34" charset="0"/>
                <a:ea typeface="Segoe UI" pitchFamily="34" charset="-122"/>
                <a:cs typeface="Segoe UI" pitchFamily="34" charset="-120"/>
              </a:rPr>
              <a:t>reproducibility</a:t>
            </a:r>
            <a:r>
              <a:rPr lang="en-US" sz="1050" dirty="0">
                <a:solidFill>
                  <a:srgbClr val="0E2233"/>
                </a:solidFill>
                <a:latin typeface="Segoe UI" pitchFamily="34" charset="0"/>
                <a:ea typeface="Segoe UI" pitchFamily="34" charset="-122"/>
                <a:cs typeface="Segoe UI" pitchFamily="34" charset="-120"/>
              </a:rPr>
              <a:t>: an immutable image plus a declarative manifest is auditable evidence of what ran and when.</a:t>
            </a:r>
            <a:endParaRPr lang="en-US" sz="1000" dirty="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Containerisation concepts and benefits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A container is a process on a shared kernel, isolated and constrained by the operating system.</a:t>
            </a:r>
            <a:endParaRPr lang="en-US" sz="1150" dirty="0"/>
          </a:p>
        </p:txBody>
      </p:sp>
      <p:sp>
        <p:nvSpPr>
          <p:cNvPr id="7" name="Text 5"/>
          <p:cNvSpPr/>
          <p:nvPr/>
        </p:nvSpPr>
        <p:spPr>
          <a:xfrm>
            <a:off x="502920" y="1536192"/>
            <a:ext cx="4023360" cy="2542032"/>
          </a:xfrm>
          <a:prstGeom prst="rect">
            <a:avLst/>
          </a:prstGeom>
          <a:noFill/>
          <a:ln/>
        </p:spPr>
        <p:txBody>
          <a:bodyPr wrap="square" lIns="0" tIns="0" rIns="0" bIns="0" rtlCol="0" anchor="t"/>
          <a:lstStyle/>
          <a:p>
            <a:pPr marL="342900" indent="-342900">
              <a:spcAft>
                <a:spcPts val="1200"/>
              </a:spcAft>
              <a:buSzPct val="100000"/>
              <a:buChar char="•"/>
            </a:pPr>
            <a:r>
              <a:rPr lang="en-US" sz="1100" b="1" dirty="0">
                <a:solidFill>
                  <a:srgbClr val="44566B"/>
                </a:solidFill>
                <a:latin typeface="Segoe UI" pitchFamily="34" charset="0"/>
                <a:ea typeface="Segoe UI" pitchFamily="34" charset="-122"/>
                <a:cs typeface="Segoe UI" pitchFamily="34" charset="-120"/>
              </a:rPr>
              <a:t>Image</a:t>
            </a:r>
            <a:r>
              <a:rPr lang="en-US" sz="1100" dirty="0">
                <a:solidFill>
                  <a:srgbClr val="44566B"/>
                </a:solidFill>
                <a:latin typeface="Segoe UI" pitchFamily="34" charset="0"/>
                <a:ea typeface="Segoe UI" pitchFamily="34" charset="-122"/>
                <a:cs typeface="Segoe UI" pitchFamily="34" charset="-120"/>
              </a:rPr>
              <a:t> — a read-only, layered package containing your application, its runtime and dependencies</a:t>
            </a:r>
            <a:endParaRPr lang="en-US" sz="1100" dirty="0"/>
          </a:p>
          <a:p>
            <a:pPr marL="342900" indent="-342900">
              <a:spcAft>
                <a:spcPts val="1200"/>
              </a:spcAft>
              <a:buSzPct val="100000"/>
              <a:buChar char="•"/>
            </a:pPr>
            <a:r>
              <a:rPr lang="en-US" sz="1100" b="1" dirty="0">
                <a:solidFill>
                  <a:srgbClr val="44566B"/>
                </a:solidFill>
                <a:latin typeface="Segoe UI" pitchFamily="34" charset="0"/>
                <a:ea typeface="Segoe UI" pitchFamily="34" charset="-122"/>
                <a:cs typeface="Segoe UI" pitchFamily="34" charset="-120"/>
              </a:rPr>
              <a:t>Container</a:t>
            </a:r>
            <a:r>
              <a:rPr lang="en-US" sz="1100" dirty="0">
                <a:solidFill>
                  <a:srgbClr val="44566B"/>
                </a:solidFill>
                <a:latin typeface="Segoe UI" pitchFamily="34" charset="0"/>
                <a:ea typeface="Segoe UI" pitchFamily="34" charset="-122"/>
                <a:cs typeface="Segoe UI" pitchFamily="34" charset="-120"/>
              </a:rPr>
              <a:t> — a running instance of an image, with its own filesystem view, network interface and process tree</a:t>
            </a:r>
            <a:endParaRPr lang="en-US" sz="1100" dirty="0"/>
          </a:p>
          <a:p>
            <a:pPr marL="342900" indent="-342900">
              <a:spcAft>
                <a:spcPts val="1200"/>
              </a:spcAft>
              <a:buSzPct val="100000"/>
              <a:buChar char="•"/>
            </a:pPr>
            <a:r>
              <a:rPr lang="en-US" sz="1100" b="1" dirty="0">
                <a:solidFill>
                  <a:srgbClr val="44566B"/>
                </a:solidFill>
                <a:latin typeface="Segoe UI" pitchFamily="34" charset="0"/>
                <a:ea typeface="Segoe UI" pitchFamily="34" charset="-122"/>
                <a:cs typeface="Segoe UI" pitchFamily="34" charset="-120"/>
              </a:rPr>
              <a:t>Registry</a:t>
            </a:r>
            <a:r>
              <a:rPr lang="en-US" sz="1100" dirty="0">
                <a:solidFill>
                  <a:srgbClr val="44566B"/>
                </a:solidFill>
                <a:latin typeface="Segoe UI" pitchFamily="34" charset="0"/>
                <a:ea typeface="Segoe UI" pitchFamily="34" charset="-122"/>
                <a:cs typeface="Segoe UI" pitchFamily="34" charset="-120"/>
              </a:rPr>
              <a:t> — where images are stored, versioned and pulled from; on Azure this is typically Azure Container Registry</a:t>
            </a:r>
            <a:endParaRPr lang="en-US" sz="1100" dirty="0"/>
          </a:p>
          <a:p>
            <a:pPr marL="342900" indent="-342900">
              <a:spcAft>
                <a:spcPts val="1200"/>
              </a:spcAft>
              <a:buSzPct val="100000"/>
              <a:buChar char="•"/>
            </a:pPr>
            <a:r>
              <a:rPr lang="en-US" sz="1100" b="1" dirty="0">
                <a:solidFill>
                  <a:srgbClr val="44566B"/>
                </a:solidFill>
                <a:latin typeface="Segoe UI" pitchFamily="34" charset="0"/>
                <a:ea typeface="Segoe UI" pitchFamily="34" charset="-122"/>
                <a:cs typeface="Segoe UI" pitchFamily="34" charset="-120"/>
              </a:rPr>
              <a:t>Namespaces</a:t>
            </a:r>
            <a:r>
              <a:rPr lang="en-US" sz="1100" dirty="0">
                <a:solidFill>
                  <a:srgbClr val="44566B"/>
                </a:solidFill>
                <a:latin typeface="Segoe UI" pitchFamily="34" charset="0"/>
                <a:ea typeface="Segoe UI" pitchFamily="34" charset="-122"/>
                <a:cs typeface="Segoe UI" pitchFamily="34" charset="-120"/>
              </a:rPr>
              <a:t> isolate what a process can see; Groups limit what it can consume (CPU and memory)</a:t>
            </a:r>
            <a:endParaRPr lang="en-US" sz="1100" dirty="0"/>
          </a:p>
        </p:txBody>
      </p:sp>
      <p:sp>
        <p:nvSpPr>
          <p:cNvPr id="8" name="diagram frame">
            <a:extLst>
              <a:ext uri="{C183D7F6-B498-43B3-948B-1728B52AA6E4}">
                <adec:decorative xmlns:adec="http://schemas.microsoft.com/office/drawing/2017/decorative" val="1"/>
              </a:ext>
            </a:extLst>
          </p:cNvPr>
          <p:cNvSpPr/>
          <p:nvPr/>
        </p:nvSpPr>
        <p:spPr>
          <a:xfrm>
            <a:off x="4800600" y="1481328"/>
            <a:ext cx="3840480" cy="2606040"/>
          </a:xfrm>
          <a:prstGeom prst="rect">
            <a:avLst/>
          </a:prstGeom>
          <a:solidFill>
            <a:srgbClr val="F6F9FD"/>
          </a:solidFill>
          <a:ln w="9525">
            <a:solidFill>
              <a:srgbClr val="D8E5F2"/>
            </a:solidFill>
            <a:prstDash val="solid"/>
          </a:ln>
        </p:spPr>
        <p:txBody>
          <a:bodyPr/>
          <a:lstStyle/>
          <a:p>
            <a:endParaRPr lang="en-IN"/>
          </a:p>
        </p:txBody>
      </p:sp>
      <p:sp>
        <p:nvSpPr>
          <p:cNvPr id="9" name="host layer">
            <a:extLst>
              <a:ext uri="{C183D7F6-B498-43B3-948B-1728B52AA6E4}">
                <adec:decorative xmlns:adec="http://schemas.microsoft.com/office/drawing/2017/decorative" val="1"/>
              </a:ext>
            </a:extLst>
          </p:cNvPr>
          <p:cNvSpPr/>
          <p:nvPr/>
        </p:nvSpPr>
        <p:spPr>
          <a:xfrm>
            <a:off x="4937760" y="3703320"/>
            <a:ext cx="3566160" cy="365760"/>
          </a:xfrm>
          <a:prstGeom prst="rect">
            <a:avLst/>
          </a:prstGeom>
          <a:solidFill>
            <a:srgbClr val="0A2E4E"/>
          </a:solidFill>
          <a:ln w="12700">
            <a:solidFill>
              <a:srgbClr val="333333"/>
            </a:solidFill>
            <a:prstDash val="solid"/>
          </a:ln>
        </p:spPr>
        <p:txBody>
          <a:bodyPr/>
          <a:lstStyle/>
          <a:p>
            <a:endParaRPr lang="en-IN"/>
          </a:p>
        </p:txBody>
      </p:sp>
      <p:sp>
        <p:nvSpPr>
          <p:cNvPr id="10" name="Text 8"/>
          <p:cNvSpPr/>
          <p:nvPr/>
        </p:nvSpPr>
        <p:spPr>
          <a:xfrm>
            <a:off x="4937760" y="3703320"/>
            <a:ext cx="35661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Host operating system and shared kernel</a:t>
            </a:r>
            <a:endParaRPr lang="en-US" sz="1000" dirty="0"/>
          </a:p>
        </p:txBody>
      </p:sp>
      <p:sp>
        <p:nvSpPr>
          <p:cNvPr id="11" name="runtime layer">
            <a:extLst>
              <a:ext uri="{C183D7F6-B498-43B3-948B-1728B52AA6E4}">
                <adec:decorative xmlns:adec="http://schemas.microsoft.com/office/drawing/2017/decorative" val="1"/>
              </a:ext>
            </a:extLst>
          </p:cNvPr>
          <p:cNvSpPr/>
          <p:nvPr/>
        </p:nvSpPr>
        <p:spPr>
          <a:xfrm>
            <a:off x="4937760" y="3246120"/>
            <a:ext cx="3566160" cy="384048"/>
          </a:xfrm>
          <a:prstGeom prst="rect">
            <a:avLst/>
          </a:prstGeom>
          <a:solidFill>
            <a:srgbClr val="0B63CE"/>
          </a:solidFill>
          <a:ln w="12700">
            <a:solidFill>
              <a:srgbClr val="333333"/>
            </a:solidFill>
            <a:prstDash val="solid"/>
          </a:ln>
        </p:spPr>
        <p:txBody>
          <a:bodyPr/>
          <a:lstStyle/>
          <a:p>
            <a:endParaRPr lang="en-IN"/>
          </a:p>
        </p:txBody>
      </p:sp>
      <p:sp>
        <p:nvSpPr>
          <p:cNvPr id="12" name="Text 10"/>
          <p:cNvSpPr/>
          <p:nvPr/>
        </p:nvSpPr>
        <p:spPr>
          <a:xfrm>
            <a:off x="4937760" y="3246120"/>
            <a:ext cx="356616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Container runtime  (containerd)</a:t>
            </a:r>
            <a:endParaRPr lang="en-US" sz="1000" dirty="0"/>
          </a:p>
        </p:txBody>
      </p:sp>
      <p:sp>
        <p:nvSpPr>
          <p:cNvPr id="13" name="container box">
            <a:extLst>
              <a:ext uri="{C183D7F6-B498-43B3-948B-1728B52AA6E4}">
                <adec:decorative xmlns:adec="http://schemas.microsoft.com/office/drawing/2017/decorative" val="1"/>
              </a:ext>
            </a:extLst>
          </p:cNvPr>
          <p:cNvSpPr/>
          <p:nvPr/>
        </p:nvSpPr>
        <p:spPr>
          <a:xfrm>
            <a:off x="4937760" y="1783080"/>
            <a:ext cx="1097280" cy="1325880"/>
          </a:xfrm>
          <a:prstGeom prst="rect">
            <a:avLst/>
          </a:prstGeom>
          <a:solidFill>
            <a:srgbClr val="FFFFFF"/>
          </a:solidFill>
          <a:ln w="12700">
            <a:solidFill>
              <a:srgbClr val="0B63CE"/>
            </a:solidFill>
            <a:prstDash val="solid"/>
          </a:ln>
        </p:spPr>
        <p:txBody>
          <a:bodyPr/>
          <a:lstStyle/>
          <a:p>
            <a:endParaRPr lang="en-IN"/>
          </a:p>
        </p:txBody>
      </p:sp>
      <p:sp>
        <p:nvSpPr>
          <p:cNvPr id="14" name="container accent">
            <a:extLst>
              <a:ext uri="{C183D7F6-B498-43B3-948B-1728B52AA6E4}">
                <adec:decorative xmlns:adec="http://schemas.microsoft.com/office/drawing/2017/decorative" val="1"/>
              </a:ext>
            </a:extLst>
          </p:cNvPr>
          <p:cNvSpPr/>
          <p:nvPr/>
        </p:nvSpPr>
        <p:spPr>
          <a:xfrm>
            <a:off x="4937760" y="1783080"/>
            <a:ext cx="1097280" cy="54864"/>
          </a:xfrm>
          <a:prstGeom prst="rect">
            <a:avLst/>
          </a:prstGeom>
          <a:solidFill>
            <a:srgbClr val="17A9DB"/>
          </a:solidFill>
          <a:ln w="12700">
            <a:solidFill>
              <a:srgbClr val="333333"/>
            </a:solidFill>
            <a:prstDash val="solid"/>
          </a:ln>
        </p:spPr>
        <p:txBody>
          <a:bodyPr/>
          <a:lstStyle/>
          <a:p>
            <a:endParaRPr lang="en-IN"/>
          </a:p>
        </p:txBody>
      </p:sp>
      <p:sp>
        <p:nvSpPr>
          <p:cNvPr id="15" name="Text 13"/>
          <p:cNvSpPr/>
          <p:nvPr/>
        </p:nvSpPr>
        <p:spPr>
          <a:xfrm>
            <a:off x="4983480" y="1938528"/>
            <a:ext cx="1005840" cy="365760"/>
          </a:xfrm>
          <a:prstGeom prst="rect">
            <a:avLst/>
          </a:prstGeom>
          <a:noFill/>
          <a:ln/>
        </p:spPr>
        <p:txBody>
          <a:bodyPr wrap="square" lIns="0" tIns="0" rIns="0" bIns="0" rtlCol="0" anchor="ctr"/>
          <a:lstStyle/>
          <a:p>
            <a:pPr marL="0" indent="0" algn="ctr">
              <a:buNone/>
            </a:pPr>
            <a:r>
              <a:rPr lang="en-US" sz="1000" b="1" dirty="0">
                <a:solidFill>
                  <a:srgbClr val="0E2233"/>
                </a:solidFill>
                <a:latin typeface="Segoe UI" pitchFamily="34" charset="0"/>
                <a:ea typeface="Segoe UI" pitchFamily="34" charset="-122"/>
                <a:cs typeface="Segoe UI" pitchFamily="34" charset="-120"/>
              </a:rPr>
              <a:t>Payments API</a:t>
            </a:r>
            <a:endParaRPr lang="en-US" sz="1000" dirty="0"/>
          </a:p>
        </p:txBody>
      </p:sp>
      <p:sp>
        <p:nvSpPr>
          <p:cNvPr id="16" name="Text 14"/>
          <p:cNvSpPr/>
          <p:nvPr/>
        </p:nvSpPr>
        <p:spPr>
          <a:xfrm>
            <a:off x="4983480" y="2286000"/>
            <a:ext cx="1005840" cy="731520"/>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app</a:t>
            </a:r>
            <a:endParaRPr lang="en-US" sz="850" dirty="0"/>
          </a:p>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 runtime</a:t>
            </a:r>
            <a:endParaRPr lang="en-US" sz="850" dirty="0"/>
          </a:p>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 libs</a:t>
            </a:r>
            <a:endParaRPr lang="en-US" sz="850" dirty="0"/>
          </a:p>
        </p:txBody>
      </p:sp>
      <p:sp>
        <p:nvSpPr>
          <p:cNvPr id="17" name="container box">
            <a:extLst>
              <a:ext uri="{C183D7F6-B498-43B3-948B-1728B52AA6E4}">
                <adec:decorative xmlns:adec="http://schemas.microsoft.com/office/drawing/2017/decorative" val="1"/>
              </a:ext>
            </a:extLst>
          </p:cNvPr>
          <p:cNvSpPr/>
          <p:nvPr/>
        </p:nvSpPr>
        <p:spPr>
          <a:xfrm>
            <a:off x="6172200" y="1783080"/>
            <a:ext cx="1097280" cy="1325880"/>
          </a:xfrm>
          <a:prstGeom prst="rect">
            <a:avLst/>
          </a:prstGeom>
          <a:solidFill>
            <a:srgbClr val="FFFFFF"/>
          </a:solidFill>
          <a:ln w="12700">
            <a:solidFill>
              <a:srgbClr val="0B63CE"/>
            </a:solidFill>
            <a:prstDash val="solid"/>
          </a:ln>
        </p:spPr>
        <p:txBody>
          <a:bodyPr/>
          <a:lstStyle/>
          <a:p>
            <a:endParaRPr lang="en-IN"/>
          </a:p>
        </p:txBody>
      </p:sp>
      <p:sp>
        <p:nvSpPr>
          <p:cNvPr id="18" name="container accent">
            <a:extLst>
              <a:ext uri="{C183D7F6-B498-43B3-948B-1728B52AA6E4}">
                <adec:decorative xmlns:adec="http://schemas.microsoft.com/office/drawing/2017/decorative" val="1"/>
              </a:ext>
            </a:extLst>
          </p:cNvPr>
          <p:cNvSpPr/>
          <p:nvPr/>
        </p:nvSpPr>
        <p:spPr>
          <a:xfrm>
            <a:off x="6172200" y="1783080"/>
            <a:ext cx="1097280" cy="54864"/>
          </a:xfrm>
          <a:prstGeom prst="rect">
            <a:avLst/>
          </a:prstGeom>
          <a:solidFill>
            <a:srgbClr val="17A9DB"/>
          </a:solidFill>
          <a:ln w="12700">
            <a:solidFill>
              <a:srgbClr val="333333"/>
            </a:solidFill>
            <a:prstDash val="solid"/>
          </a:ln>
        </p:spPr>
        <p:txBody>
          <a:bodyPr/>
          <a:lstStyle/>
          <a:p>
            <a:endParaRPr lang="en-IN"/>
          </a:p>
        </p:txBody>
      </p:sp>
      <p:sp>
        <p:nvSpPr>
          <p:cNvPr id="19" name="Text 17"/>
          <p:cNvSpPr/>
          <p:nvPr/>
        </p:nvSpPr>
        <p:spPr>
          <a:xfrm>
            <a:off x="6217920" y="1938528"/>
            <a:ext cx="1005840" cy="365760"/>
          </a:xfrm>
          <a:prstGeom prst="rect">
            <a:avLst/>
          </a:prstGeom>
          <a:noFill/>
          <a:ln/>
        </p:spPr>
        <p:txBody>
          <a:bodyPr wrap="square" lIns="0" tIns="0" rIns="0" bIns="0" rtlCol="0" anchor="ctr"/>
          <a:lstStyle/>
          <a:p>
            <a:pPr marL="0" indent="0" algn="ctr">
              <a:buNone/>
            </a:pPr>
            <a:r>
              <a:rPr lang="en-US" sz="1000" b="1" dirty="0">
                <a:solidFill>
                  <a:srgbClr val="0E2233"/>
                </a:solidFill>
                <a:latin typeface="Segoe UI" pitchFamily="34" charset="0"/>
                <a:ea typeface="Segoe UI" pitchFamily="34" charset="-122"/>
                <a:cs typeface="Segoe UI" pitchFamily="34" charset="-120"/>
              </a:rPr>
              <a:t>Statements</a:t>
            </a:r>
            <a:endParaRPr lang="en-US" sz="1000" dirty="0"/>
          </a:p>
        </p:txBody>
      </p:sp>
      <p:sp>
        <p:nvSpPr>
          <p:cNvPr id="20" name="Text 18"/>
          <p:cNvSpPr/>
          <p:nvPr/>
        </p:nvSpPr>
        <p:spPr>
          <a:xfrm>
            <a:off x="6217920" y="2286000"/>
            <a:ext cx="1005840" cy="731520"/>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app</a:t>
            </a:r>
            <a:endParaRPr lang="en-US" sz="850" dirty="0"/>
          </a:p>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 runtime</a:t>
            </a:r>
            <a:endParaRPr lang="en-US" sz="850" dirty="0"/>
          </a:p>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 libs</a:t>
            </a:r>
            <a:endParaRPr lang="en-US" sz="850" dirty="0"/>
          </a:p>
        </p:txBody>
      </p:sp>
      <p:sp>
        <p:nvSpPr>
          <p:cNvPr id="21" name="container box">
            <a:extLst>
              <a:ext uri="{C183D7F6-B498-43B3-948B-1728B52AA6E4}">
                <adec:decorative xmlns:adec="http://schemas.microsoft.com/office/drawing/2017/decorative" val="1"/>
              </a:ext>
            </a:extLst>
          </p:cNvPr>
          <p:cNvSpPr/>
          <p:nvPr/>
        </p:nvSpPr>
        <p:spPr>
          <a:xfrm>
            <a:off x="7406640" y="1783080"/>
            <a:ext cx="1097280" cy="1325880"/>
          </a:xfrm>
          <a:prstGeom prst="rect">
            <a:avLst/>
          </a:prstGeom>
          <a:solidFill>
            <a:srgbClr val="FFFFFF"/>
          </a:solidFill>
          <a:ln w="12700">
            <a:solidFill>
              <a:srgbClr val="0B63CE"/>
            </a:solidFill>
            <a:prstDash val="solid"/>
          </a:ln>
        </p:spPr>
        <p:txBody>
          <a:bodyPr/>
          <a:lstStyle/>
          <a:p>
            <a:endParaRPr lang="en-IN"/>
          </a:p>
        </p:txBody>
      </p:sp>
      <p:sp>
        <p:nvSpPr>
          <p:cNvPr id="22" name="container accent">
            <a:extLst>
              <a:ext uri="{C183D7F6-B498-43B3-948B-1728B52AA6E4}">
                <adec:decorative xmlns:adec="http://schemas.microsoft.com/office/drawing/2017/decorative" val="1"/>
              </a:ext>
            </a:extLst>
          </p:cNvPr>
          <p:cNvSpPr/>
          <p:nvPr/>
        </p:nvSpPr>
        <p:spPr>
          <a:xfrm>
            <a:off x="7406640" y="1783080"/>
            <a:ext cx="1097280" cy="54864"/>
          </a:xfrm>
          <a:prstGeom prst="rect">
            <a:avLst/>
          </a:prstGeom>
          <a:solidFill>
            <a:srgbClr val="17A9DB"/>
          </a:solidFill>
          <a:ln w="12700">
            <a:solidFill>
              <a:srgbClr val="333333"/>
            </a:solidFill>
            <a:prstDash val="solid"/>
          </a:ln>
        </p:spPr>
        <p:txBody>
          <a:bodyPr/>
          <a:lstStyle/>
          <a:p>
            <a:endParaRPr lang="en-IN"/>
          </a:p>
        </p:txBody>
      </p:sp>
      <p:sp>
        <p:nvSpPr>
          <p:cNvPr id="23" name="Text 21"/>
          <p:cNvSpPr/>
          <p:nvPr/>
        </p:nvSpPr>
        <p:spPr>
          <a:xfrm>
            <a:off x="7452360" y="1938528"/>
            <a:ext cx="1005840" cy="365760"/>
          </a:xfrm>
          <a:prstGeom prst="rect">
            <a:avLst/>
          </a:prstGeom>
          <a:noFill/>
          <a:ln/>
        </p:spPr>
        <p:txBody>
          <a:bodyPr wrap="square" lIns="0" tIns="0" rIns="0" bIns="0" rtlCol="0" anchor="ctr"/>
          <a:lstStyle/>
          <a:p>
            <a:pPr marL="0" indent="0" algn="ctr">
              <a:buNone/>
            </a:pPr>
            <a:r>
              <a:rPr lang="en-US" sz="1000" b="1" dirty="0">
                <a:solidFill>
                  <a:srgbClr val="0E2233"/>
                </a:solidFill>
                <a:latin typeface="Segoe UI" pitchFamily="34" charset="0"/>
                <a:ea typeface="Segoe UI" pitchFamily="34" charset="-122"/>
                <a:cs typeface="Segoe UI" pitchFamily="34" charset="-120"/>
              </a:rPr>
              <a:t>Notifier</a:t>
            </a:r>
            <a:endParaRPr lang="en-US" sz="1000" dirty="0"/>
          </a:p>
        </p:txBody>
      </p:sp>
      <p:sp>
        <p:nvSpPr>
          <p:cNvPr id="24" name="Text 22"/>
          <p:cNvSpPr/>
          <p:nvPr/>
        </p:nvSpPr>
        <p:spPr>
          <a:xfrm>
            <a:off x="7452360" y="2286000"/>
            <a:ext cx="1005840" cy="731520"/>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app</a:t>
            </a:r>
            <a:endParaRPr lang="en-US" sz="850" dirty="0"/>
          </a:p>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 runtime</a:t>
            </a:r>
            <a:endParaRPr lang="en-US" sz="850" dirty="0"/>
          </a:p>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 libs</a:t>
            </a:r>
            <a:endParaRPr lang="en-US" sz="850" dirty="0"/>
          </a:p>
        </p:txBody>
      </p:sp>
      <p:sp>
        <p:nvSpPr>
          <p:cNvPr id="25" name="Text 23"/>
          <p:cNvSpPr/>
          <p:nvPr/>
        </p:nvSpPr>
        <p:spPr>
          <a:xfrm>
            <a:off x="4937760" y="1554480"/>
            <a:ext cx="3566160" cy="201168"/>
          </a:xfrm>
          <a:prstGeom prst="rect">
            <a:avLst/>
          </a:prstGeom>
          <a:noFill/>
          <a:ln/>
        </p:spPr>
        <p:txBody>
          <a:bodyPr wrap="square" lIns="0" tIns="0" rIns="0" bIns="0" rtlCol="0" anchor="ctr"/>
          <a:lstStyle/>
          <a:p>
            <a:pPr marL="0" indent="0">
              <a:buNone/>
            </a:pPr>
            <a:r>
              <a:rPr lang="en-US" sz="900" b="1" kern="0" spc="100" dirty="0">
                <a:solidFill>
                  <a:srgbClr val="7C8FA3"/>
                </a:solidFill>
                <a:latin typeface="Segoe UI" pitchFamily="34" charset="0"/>
                <a:ea typeface="Segoe UI" pitchFamily="34" charset="-122"/>
                <a:cs typeface="Segoe UI" pitchFamily="34" charset="-120"/>
              </a:rPr>
              <a:t>Containers on one host</a:t>
            </a:r>
            <a:endParaRPr lang="en-US" sz="900" dirty="0"/>
          </a:p>
        </p:txBody>
      </p:sp>
      <p:sp>
        <p:nvSpPr>
          <p:cNvPr id="26"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7"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28" name="Text 26"/>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Remember   </a:t>
            </a:r>
            <a:r>
              <a:rPr lang="en-US" sz="1050" dirty="0">
                <a:solidFill>
                  <a:srgbClr val="0E2233"/>
                </a:solidFill>
                <a:latin typeface="Segoe UI" pitchFamily="34" charset="0"/>
                <a:ea typeface="Segoe UI" pitchFamily="34" charset="-122"/>
                <a:cs typeface="Segoe UI" pitchFamily="34" charset="-120"/>
              </a:rPr>
              <a:t>Each container carries its own dependencies but shares the host kernel — that is why it starts in milliseconds rather than minutes.</a:t>
            </a:r>
            <a:endParaRPr lang="en-US" sz="1000" dirty="0"/>
          </a:p>
        </p:txBody>
      </p:sp>
      <p:sp>
        <p:nvSpPr>
          <p:cNvPr id="29"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7</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Virtual machines and containers compared</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Both provide isolation. They differ in what is duplicated and therefore in weight and speed.</a:t>
            </a:r>
            <a:endParaRPr lang="en-US" sz="1150" dirty="0"/>
          </a:p>
        </p:txBody>
      </p:sp>
      <p:sp>
        <p:nvSpPr>
          <p:cNvPr id="7" name="stack frame">
            <a:extLst>
              <a:ext uri="{C183D7F6-B498-43B3-948B-1728B52AA6E4}">
                <adec:decorative xmlns:adec="http://schemas.microsoft.com/office/drawing/2017/decorative" val="1"/>
              </a:ext>
            </a:extLst>
          </p:cNvPr>
          <p:cNvSpPr/>
          <p:nvPr/>
        </p:nvSpPr>
        <p:spPr>
          <a:xfrm>
            <a:off x="502920" y="1481328"/>
            <a:ext cx="3886200" cy="2514600"/>
          </a:xfrm>
          <a:prstGeom prst="rect">
            <a:avLst/>
          </a:prstGeom>
          <a:solidFill>
            <a:srgbClr val="F6F9FD"/>
          </a:solidFill>
          <a:ln w="9525">
            <a:solidFill>
              <a:srgbClr val="D8E5F2"/>
            </a:solidFill>
            <a:prstDash val="solid"/>
          </a:ln>
        </p:spPr>
        <p:txBody>
          <a:bodyPr/>
          <a:lstStyle/>
          <a:p>
            <a:endParaRPr lang="en-IN"/>
          </a:p>
        </p:txBody>
      </p:sp>
      <p:sp>
        <p:nvSpPr>
          <p:cNvPr id="8" name="stack header">
            <a:extLst>
              <a:ext uri="{C183D7F6-B498-43B3-948B-1728B52AA6E4}">
                <adec:decorative xmlns:adec="http://schemas.microsoft.com/office/drawing/2017/decorative" val="1"/>
              </a:ext>
            </a:extLst>
          </p:cNvPr>
          <p:cNvSpPr/>
          <p:nvPr/>
        </p:nvSpPr>
        <p:spPr>
          <a:xfrm>
            <a:off x="502920" y="1481328"/>
            <a:ext cx="3886200" cy="365760"/>
          </a:xfrm>
          <a:prstGeom prst="rect">
            <a:avLst/>
          </a:prstGeom>
          <a:solidFill>
            <a:srgbClr val="7C8FA3"/>
          </a:solidFill>
          <a:ln w="12700">
            <a:solidFill>
              <a:srgbClr val="333333"/>
            </a:solidFill>
            <a:prstDash val="solid"/>
          </a:ln>
        </p:spPr>
        <p:txBody>
          <a:bodyPr/>
          <a:lstStyle/>
          <a:p>
            <a:endParaRPr lang="en-IN"/>
          </a:p>
        </p:txBody>
      </p:sp>
      <p:sp>
        <p:nvSpPr>
          <p:cNvPr id="9" name="Text 7"/>
          <p:cNvSpPr/>
          <p:nvPr/>
        </p:nvSpPr>
        <p:spPr>
          <a:xfrm>
            <a:off x="640080" y="1481328"/>
            <a:ext cx="3611880" cy="365760"/>
          </a:xfrm>
          <a:prstGeom prst="rect">
            <a:avLst/>
          </a:prstGeom>
          <a:noFill/>
          <a:ln/>
        </p:spPr>
        <p:txBody>
          <a:bodyPr wrap="square" lIns="0" tIns="0" rIns="0" bIns="0"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Virtual machines</a:t>
            </a:r>
            <a:endParaRPr lang="en-US" sz="1150" dirty="0"/>
          </a:p>
        </p:txBody>
      </p:sp>
      <p:sp>
        <p:nvSpPr>
          <p:cNvPr id="10" name="stack layer">
            <a:extLst>
              <a:ext uri="{C183D7F6-B498-43B3-948B-1728B52AA6E4}">
                <adec:decorative xmlns:adec="http://schemas.microsoft.com/office/drawing/2017/decorative" val="1"/>
              </a:ext>
            </a:extLst>
          </p:cNvPr>
          <p:cNvSpPr/>
          <p:nvPr/>
        </p:nvSpPr>
        <p:spPr>
          <a:xfrm>
            <a:off x="667512" y="1956816"/>
            <a:ext cx="3557016" cy="301752"/>
          </a:xfrm>
          <a:prstGeom prst="rect">
            <a:avLst/>
          </a:prstGeom>
          <a:solidFill>
            <a:srgbClr val="FFFFFF"/>
          </a:solidFill>
          <a:ln w="9525">
            <a:solidFill>
              <a:srgbClr val="D8E5F2"/>
            </a:solidFill>
            <a:prstDash val="solid"/>
          </a:ln>
        </p:spPr>
        <p:txBody>
          <a:bodyPr/>
          <a:lstStyle/>
          <a:p>
            <a:endParaRPr lang="en-IN"/>
          </a:p>
        </p:txBody>
      </p:sp>
      <p:sp>
        <p:nvSpPr>
          <p:cNvPr id="11" name="Text 9"/>
          <p:cNvSpPr/>
          <p:nvPr/>
        </p:nvSpPr>
        <p:spPr>
          <a:xfrm>
            <a:off x="704088" y="1956816"/>
            <a:ext cx="3483864" cy="301752"/>
          </a:xfrm>
          <a:prstGeom prst="rect">
            <a:avLst/>
          </a:prstGeom>
          <a:noFill/>
          <a:ln/>
        </p:spPr>
        <p:txBody>
          <a:bodyPr wrap="square" lIns="0" tIns="0" rIns="0" bIns="0" rtlCol="0" anchor="ctr"/>
          <a:lstStyle/>
          <a:p>
            <a:pPr marL="0" indent="0" algn="ctr">
              <a:buNone/>
            </a:pPr>
            <a:r>
              <a:rPr lang="en-US" sz="950" dirty="0">
                <a:solidFill>
                  <a:srgbClr val="0E2233"/>
                </a:solidFill>
                <a:latin typeface="Segoe UI" pitchFamily="34" charset="0"/>
                <a:ea typeface="Segoe UI" pitchFamily="34" charset="-122"/>
                <a:cs typeface="Segoe UI" pitchFamily="34" charset="-120"/>
              </a:rPr>
              <a:t>App A  +  App B  +  App C</a:t>
            </a:r>
            <a:endParaRPr lang="en-US" sz="950" dirty="0"/>
          </a:p>
        </p:txBody>
      </p:sp>
      <p:sp>
        <p:nvSpPr>
          <p:cNvPr id="12" name="stack layer">
            <a:extLst>
              <a:ext uri="{C183D7F6-B498-43B3-948B-1728B52AA6E4}">
                <adec:decorative xmlns:adec="http://schemas.microsoft.com/office/drawing/2017/decorative" val="1"/>
              </a:ext>
            </a:extLst>
          </p:cNvPr>
          <p:cNvSpPr/>
          <p:nvPr/>
        </p:nvSpPr>
        <p:spPr>
          <a:xfrm>
            <a:off x="667512" y="2322576"/>
            <a:ext cx="3557016" cy="384048"/>
          </a:xfrm>
          <a:prstGeom prst="rect">
            <a:avLst/>
          </a:prstGeom>
          <a:solidFill>
            <a:srgbClr val="FDEFE2"/>
          </a:solidFill>
          <a:ln w="9525">
            <a:solidFill>
              <a:srgbClr val="F2A93B"/>
            </a:solidFill>
            <a:prstDash val="solid"/>
          </a:ln>
        </p:spPr>
        <p:txBody>
          <a:bodyPr/>
          <a:lstStyle/>
          <a:p>
            <a:endParaRPr lang="en-IN"/>
          </a:p>
        </p:txBody>
      </p:sp>
      <p:sp>
        <p:nvSpPr>
          <p:cNvPr id="13" name="Text 11"/>
          <p:cNvSpPr/>
          <p:nvPr/>
        </p:nvSpPr>
        <p:spPr>
          <a:xfrm>
            <a:off x="704088" y="2322576"/>
            <a:ext cx="3483864" cy="384048"/>
          </a:xfrm>
          <a:prstGeom prst="rect">
            <a:avLst/>
          </a:prstGeom>
          <a:noFill/>
          <a:ln/>
        </p:spPr>
        <p:txBody>
          <a:bodyPr wrap="square" lIns="0" tIns="0" rIns="0" bIns="0" rtlCol="0" anchor="ctr"/>
          <a:lstStyle/>
          <a:p>
            <a:pPr marL="0" indent="0" algn="ctr">
              <a:buNone/>
            </a:pPr>
            <a:r>
              <a:rPr lang="en-US" sz="950" b="1" dirty="0">
                <a:solidFill>
                  <a:srgbClr val="9A6512"/>
                </a:solidFill>
                <a:latin typeface="Segoe UI" pitchFamily="34" charset="0"/>
                <a:ea typeface="Segoe UI" pitchFamily="34" charset="-122"/>
                <a:cs typeface="Segoe UI" pitchFamily="34" charset="-120"/>
              </a:rPr>
              <a:t>Guest OS   ·   Guest OS   ·   Guest OS</a:t>
            </a:r>
            <a:endParaRPr lang="en-US" sz="950" dirty="0"/>
          </a:p>
        </p:txBody>
      </p:sp>
      <p:sp>
        <p:nvSpPr>
          <p:cNvPr id="14" name="stack layer">
            <a:extLst>
              <a:ext uri="{C183D7F6-B498-43B3-948B-1728B52AA6E4}">
                <adec:decorative xmlns:adec="http://schemas.microsoft.com/office/drawing/2017/decorative" val="1"/>
              </a:ext>
            </a:extLst>
          </p:cNvPr>
          <p:cNvSpPr/>
          <p:nvPr/>
        </p:nvSpPr>
        <p:spPr>
          <a:xfrm>
            <a:off x="667512" y="2770632"/>
            <a:ext cx="3557016" cy="301752"/>
          </a:xfrm>
          <a:prstGeom prst="rect">
            <a:avLst/>
          </a:prstGeom>
          <a:solidFill>
            <a:srgbClr val="FFFFFF"/>
          </a:solidFill>
          <a:ln w="9525">
            <a:solidFill>
              <a:srgbClr val="D8E5F2"/>
            </a:solidFill>
            <a:prstDash val="solid"/>
          </a:ln>
        </p:spPr>
        <p:txBody>
          <a:bodyPr/>
          <a:lstStyle/>
          <a:p>
            <a:endParaRPr lang="en-IN"/>
          </a:p>
        </p:txBody>
      </p:sp>
      <p:sp>
        <p:nvSpPr>
          <p:cNvPr id="15" name="Text 13"/>
          <p:cNvSpPr/>
          <p:nvPr/>
        </p:nvSpPr>
        <p:spPr>
          <a:xfrm>
            <a:off x="704088" y="2770632"/>
            <a:ext cx="3483864" cy="301752"/>
          </a:xfrm>
          <a:prstGeom prst="rect">
            <a:avLst/>
          </a:prstGeom>
          <a:noFill/>
          <a:ln/>
        </p:spPr>
        <p:txBody>
          <a:bodyPr wrap="square" lIns="0" tIns="0" rIns="0" bIns="0" rtlCol="0" anchor="ctr"/>
          <a:lstStyle/>
          <a:p>
            <a:pPr marL="0" indent="0" algn="ctr">
              <a:buNone/>
            </a:pPr>
            <a:r>
              <a:rPr lang="en-US" sz="950" dirty="0">
                <a:solidFill>
                  <a:srgbClr val="0E2233"/>
                </a:solidFill>
                <a:latin typeface="Segoe UI" pitchFamily="34" charset="0"/>
                <a:ea typeface="Segoe UI" pitchFamily="34" charset="-122"/>
                <a:cs typeface="Segoe UI" pitchFamily="34" charset="-120"/>
              </a:rPr>
              <a:t>Hypervisor</a:t>
            </a:r>
            <a:endParaRPr lang="en-US" sz="950" dirty="0"/>
          </a:p>
        </p:txBody>
      </p:sp>
      <p:sp>
        <p:nvSpPr>
          <p:cNvPr id="16" name="stack layer">
            <a:extLst>
              <a:ext uri="{C183D7F6-B498-43B3-948B-1728B52AA6E4}">
                <adec:decorative xmlns:adec="http://schemas.microsoft.com/office/drawing/2017/decorative" val="1"/>
              </a:ext>
            </a:extLst>
          </p:cNvPr>
          <p:cNvSpPr/>
          <p:nvPr/>
        </p:nvSpPr>
        <p:spPr>
          <a:xfrm>
            <a:off x="667512" y="3136392"/>
            <a:ext cx="3557016" cy="329184"/>
          </a:xfrm>
          <a:prstGeom prst="rect">
            <a:avLst/>
          </a:prstGeom>
          <a:solidFill>
            <a:srgbClr val="0A2E4E"/>
          </a:solidFill>
          <a:ln w="9525">
            <a:solidFill>
              <a:srgbClr val="D8E5F2"/>
            </a:solidFill>
            <a:prstDash val="solid"/>
          </a:ln>
        </p:spPr>
        <p:txBody>
          <a:bodyPr/>
          <a:lstStyle/>
          <a:p>
            <a:endParaRPr lang="en-IN"/>
          </a:p>
        </p:txBody>
      </p:sp>
      <p:sp>
        <p:nvSpPr>
          <p:cNvPr id="17" name="Text 15"/>
          <p:cNvSpPr/>
          <p:nvPr/>
        </p:nvSpPr>
        <p:spPr>
          <a:xfrm>
            <a:off x="704088" y="3136392"/>
            <a:ext cx="348386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Host operating system and hardware</a:t>
            </a:r>
            <a:endParaRPr lang="en-US" sz="950" dirty="0"/>
          </a:p>
        </p:txBody>
      </p:sp>
      <p:sp>
        <p:nvSpPr>
          <p:cNvPr id="18" name="Text 16"/>
          <p:cNvSpPr/>
          <p:nvPr/>
        </p:nvSpPr>
        <p:spPr>
          <a:xfrm>
            <a:off x="667512" y="4069080"/>
            <a:ext cx="3557016" cy="274320"/>
          </a:xfrm>
          <a:prstGeom prst="rect">
            <a:avLst/>
          </a:prstGeom>
          <a:noFill/>
          <a:ln/>
        </p:spPr>
        <p:txBody>
          <a:bodyPr wrap="square" lIns="0" tIns="0" rIns="0" bIns="0" rtlCol="0" anchor="ctr"/>
          <a:lstStyle/>
          <a:p>
            <a:pPr marL="0" indent="0">
              <a:buNone/>
            </a:pPr>
            <a:r>
              <a:rPr lang="en-US" sz="1000" b="1" dirty="0">
                <a:solidFill>
                  <a:srgbClr val="7C8FA3"/>
                </a:solidFill>
                <a:latin typeface="Segoe UI" pitchFamily="34" charset="0"/>
                <a:ea typeface="Segoe UI" pitchFamily="34" charset="-122"/>
                <a:cs typeface="Segoe UI" pitchFamily="34" charset="-120"/>
              </a:rPr>
              <a:t>Boots in minutes  ·  gigabytes per instance</a:t>
            </a:r>
            <a:endParaRPr lang="en-US" sz="1000" dirty="0"/>
          </a:p>
        </p:txBody>
      </p:sp>
      <p:sp>
        <p:nvSpPr>
          <p:cNvPr id="19" name="stack frame">
            <a:extLst>
              <a:ext uri="{C183D7F6-B498-43B3-948B-1728B52AA6E4}">
                <adec:decorative xmlns:adec="http://schemas.microsoft.com/office/drawing/2017/decorative" val="1"/>
              </a:ext>
            </a:extLst>
          </p:cNvPr>
          <p:cNvSpPr/>
          <p:nvPr/>
        </p:nvSpPr>
        <p:spPr>
          <a:xfrm>
            <a:off x="4754880" y="1481328"/>
            <a:ext cx="3886200" cy="2514600"/>
          </a:xfrm>
          <a:prstGeom prst="rect">
            <a:avLst/>
          </a:prstGeom>
          <a:solidFill>
            <a:srgbClr val="F6F9FD"/>
          </a:solidFill>
          <a:ln w="9525">
            <a:solidFill>
              <a:srgbClr val="D8E5F2"/>
            </a:solidFill>
            <a:prstDash val="solid"/>
          </a:ln>
        </p:spPr>
        <p:txBody>
          <a:bodyPr/>
          <a:lstStyle/>
          <a:p>
            <a:endParaRPr lang="en-IN"/>
          </a:p>
        </p:txBody>
      </p:sp>
      <p:sp>
        <p:nvSpPr>
          <p:cNvPr id="20" name="stack header">
            <a:extLst>
              <a:ext uri="{C183D7F6-B498-43B3-948B-1728B52AA6E4}">
                <adec:decorative xmlns:adec="http://schemas.microsoft.com/office/drawing/2017/decorative" val="1"/>
              </a:ext>
            </a:extLst>
          </p:cNvPr>
          <p:cNvSpPr/>
          <p:nvPr/>
        </p:nvSpPr>
        <p:spPr>
          <a:xfrm>
            <a:off x="4754880" y="1481328"/>
            <a:ext cx="3886200" cy="365760"/>
          </a:xfrm>
          <a:prstGeom prst="rect">
            <a:avLst/>
          </a:prstGeom>
          <a:solidFill>
            <a:srgbClr val="0B63CE"/>
          </a:solidFill>
          <a:ln w="12700">
            <a:solidFill>
              <a:srgbClr val="333333"/>
            </a:solidFill>
            <a:prstDash val="solid"/>
          </a:ln>
        </p:spPr>
        <p:txBody>
          <a:bodyPr/>
          <a:lstStyle/>
          <a:p>
            <a:endParaRPr lang="en-IN"/>
          </a:p>
        </p:txBody>
      </p:sp>
      <p:sp>
        <p:nvSpPr>
          <p:cNvPr id="21" name="Text 19"/>
          <p:cNvSpPr/>
          <p:nvPr/>
        </p:nvSpPr>
        <p:spPr>
          <a:xfrm>
            <a:off x="4892040" y="1481328"/>
            <a:ext cx="3611880" cy="365760"/>
          </a:xfrm>
          <a:prstGeom prst="rect">
            <a:avLst/>
          </a:prstGeom>
          <a:noFill/>
          <a:ln/>
        </p:spPr>
        <p:txBody>
          <a:bodyPr wrap="square" lIns="0" tIns="0" rIns="0" bIns="0"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Containers</a:t>
            </a:r>
            <a:endParaRPr lang="en-US" sz="1150" dirty="0"/>
          </a:p>
        </p:txBody>
      </p:sp>
      <p:sp>
        <p:nvSpPr>
          <p:cNvPr id="22" name="stack layer">
            <a:extLst>
              <a:ext uri="{C183D7F6-B498-43B3-948B-1728B52AA6E4}">
                <adec:decorative xmlns:adec="http://schemas.microsoft.com/office/drawing/2017/decorative" val="1"/>
              </a:ext>
            </a:extLst>
          </p:cNvPr>
          <p:cNvSpPr/>
          <p:nvPr/>
        </p:nvSpPr>
        <p:spPr>
          <a:xfrm>
            <a:off x="4919472" y="1956816"/>
            <a:ext cx="3557016" cy="301752"/>
          </a:xfrm>
          <a:prstGeom prst="rect">
            <a:avLst/>
          </a:prstGeom>
          <a:solidFill>
            <a:srgbClr val="FFFFFF"/>
          </a:solidFill>
          <a:ln w="9525">
            <a:solidFill>
              <a:srgbClr val="D8E5F2"/>
            </a:solidFill>
            <a:prstDash val="solid"/>
          </a:ln>
        </p:spPr>
        <p:txBody>
          <a:bodyPr/>
          <a:lstStyle/>
          <a:p>
            <a:endParaRPr lang="en-IN"/>
          </a:p>
        </p:txBody>
      </p:sp>
      <p:sp>
        <p:nvSpPr>
          <p:cNvPr id="23" name="Text 21"/>
          <p:cNvSpPr/>
          <p:nvPr/>
        </p:nvSpPr>
        <p:spPr>
          <a:xfrm>
            <a:off x="4956048" y="1956816"/>
            <a:ext cx="3483864" cy="301752"/>
          </a:xfrm>
          <a:prstGeom prst="rect">
            <a:avLst/>
          </a:prstGeom>
          <a:noFill/>
          <a:ln/>
        </p:spPr>
        <p:txBody>
          <a:bodyPr wrap="square" lIns="0" tIns="0" rIns="0" bIns="0" rtlCol="0" anchor="ctr"/>
          <a:lstStyle/>
          <a:p>
            <a:pPr marL="0" indent="0" algn="ctr">
              <a:buNone/>
            </a:pPr>
            <a:r>
              <a:rPr lang="en-US" sz="950" dirty="0">
                <a:solidFill>
                  <a:srgbClr val="0E2233"/>
                </a:solidFill>
                <a:latin typeface="Segoe UI" pitchFamily="34" charset="0"/>
                <a:ea typeface="Segoe UI" pitchFamily="34" charset="-122"/>
                <a:cs typeface="Segoe UI" pitchFamily="34" charset="-120"/>
              </a:rPr>
              <a:t>App A  +  App B  +  App C</a:t>
            </a:r>
            <a:endParaRPr lang="en-US" sz="950" dirty="0"/>
          </a:p>
        </p:txBody>
      </p:sp>
      <p:sp>
        <p:nvSpPr>
          <p:cNvPr id="24" name="stack layer">
            <a:extLst>
              <a:ext uri="{C183D7F6-B498-43B3-948B-1728B52AA6E4}">
                <adec:decorative xmlns:adec="http://schemas.microsoft.com/office/drawing/2017/decorative" val="1"/>
              </a:ext>
            </a:extLst>
          </p:cNvPr>
          <p:cNvSpPr/>
          <p:nvPr/>
        </p:nvSpPr>
        <p:spPr>
          <a:xfrm>
            <a:off x="4919472" y="2322576"/>
            <a:ext cx="3557016" cy="384048"/>
          </a:xfrm>
          <a:prstGeom prst="rect">
            <a:avLst/>
          </a:prstGeom>
          <a:solidFill>
            <a:srgbClr val="E4F3FB"/>
          </a:solidFill>
          <a:ln w="9525">
            <a:solidFill>
              <a:srgbClr val="17A9DB"/>
            </a:solidFill>
            <a:prstDash val="solid"/>
          </a:ln>
        </p:spPr>
        <p:txBody>
          <a:bodyPr/>
          <a:lstStyle/>
          <a:p>
            <a:endParaRPr lang="en-IN"/>
          </a:p>
        </p:txBody>
      </p:sp>
      <p:sp>
        <p:nvSpPr>
          <p:cNvPr id="25" name="Text 23"/>
          <p:cNvSpPr/>
          <p:nvPr/>
        </p:nvSpPr>
        <p:spPr>
          <a:xfrm>
            <a:off x="4956048" y="2322576"/>
            <a:ext cx="3483864" cy="384048"/>
          </a:xfrm>
          <a:prstGeom prst="rect">
            <a:avLst/>
          </a:prstGeom>
          <a:noFill/>
          <a:ln/>
        </p:spPr>
        <p:txBody>
          <a:bodyPr wrap="square" lIns="0" tIns="0" rIns="0" bIns="0" rtlCol="0" anchor="ctr"/>
          <a:lstStyle/>
          <a:p>
            <a:pPr marL="0" indent="0" algn="ctr">
              <a:buNone/>
            </a:pPr>
            <a:r>
              <a:rPr lang="en-US" sz="950" b="1" dirty="0">
                <a:solidFill>
                  <a:srgbClr val="0A2E4E"/>
                </a:solidFill>
                <a:latin typeface="Segoe UI" pitchFamily="34" charset="0"/>
                <a:ea typeface="Segoe UI" pitchFamily="34" charset="-122"/>
                <a:cs typeface="Segoe UI" pitchFamily="34" charset="-120"/>
              </a:rPr>
              <a:t>Container runtime (shared kernel)</a:t>
            </a:r>
            <a:endParaRPr lang="en-US" sz="950" dirty="0"/>
          </a:p>
        </p:txBody>
      </p:sp>
      <p:sp>
        <p:nvSpPr>
          <p:cNvPr id="26" name="stack layer">
            <a:extLst>
              <a:ext uri="{C183D7F6-B498-43B3-948B-1728B52AA6E4}">
                <adec:decorative xmlns:adec="http://schemas.microsoft.com/office/drawing/2017/decorative" val="1"/>
              </a:ext>
            </a:extLst>
          </p:cNvPr>
          <p:cNvSpPr/>
          <p:nvPr/>
        </p:nvSpPr>
        <p:spPr>
          <a:xfrm>
            <a:off x="4919472" y="2770632"/>
            <a:ext cx="3557016" cy="301752"/>
          </a:xfrm>
          <a:prstGeom prst="rect">
            <a:avLst/>
          </a:prstGeom>
          <a:solidFill>
            <a:srgbClr val="FFFFFF"/>
          </a:solidFill>
          <a:ln w="9525">
            <a:solidFill>
              <a:srgbClr val="D8E5F2"/>
            </a:solidFill>
            <a:prstDash val="solid"/>
          </a:ln>
        </p:spPr>
        <p:txBody>
          <a:bodyPr/>
          <a:lstStyle/>
          <a:p>
            <a:endParaRPr lang="en-IN"/>
          </a:p>
        </p:txBody>
      </p:sp>
      <p:sp>
        <p:nvSpPr>
          <p:cNvPr id="27" name="Text 25"/>
          <p:cNvSpPr/>
          <p:nvPr/>
        </p:nvSpPr>
        <p:spPr>
          <a:xfrm>
            <a:off x="4956048" y="2770632"/>
            <a:ext cx="3483864" cy="301752"/>
          </a:xfrm>
          <a:prstGeom prst="rect">
            <a:avLst/>
          </a:prstGeom>
          <a:noFill/>
          <a:ln/>
        </p:spPr>
        <p:txBody>
          <a:bodyPr wrap="square" lIns="0" tIns="0" rIns="0" bIns="0" rtlCol="0" anchor="ctr"/>
          <a:lstStyle/>
          <a:p>
            <a:pPr marL="0" indent="0" algn="ctr">
              <a:buNone/>
            </a:pPr>
            <a:r>
              <a:rPr lang="en-US" sz="950" dirty="0">
                <a:solidFill>
                  <a:srgbClr val="0E2233"/>
                </a:solidFill>
                <a:latin typeface="Segoe UI" pitchFamily="34" charset="0"/>
                <a:ea typeface="Segoe UI" pitchFamily="34" charset="-122"/>
                <a:cs typeface="Segoe UI" pitchFamily="34" charset="-120"/>
              </a:rPr>
              <a:t>Host operating system</a:t>
            </a:r>
            <a:endParaRPr lang="en-US" sz="950" dirty="0"/>
          </a:p>
        </p:txBody>
      </p:sp>
      <p:sp>
        <p:nvSpPr>
          <p:cNvPr id="28" name="stack layer">
            <a:extLst>
              <a:ext uri="{C183D7F6-B498-43B3-948B-1728B52AA6E4}">
                <adec:decorative xmlns:adec="http://schemas.microsoft.com/office/drawing/2017/decorative" val="1"/>
              </a:ext>
            </a:extLst>
          </p:cNvPr>
          <p:cNvSpPr/>
          <p:nvPr/>
        </p:nvSpPr>
        <p:spPr>
          <a:xfrm>
            <a:off x="4919472" y="3136392"/>
            <a:ext cx="3557016" cy="329184"/>
          </a:xfrm>
          <a:prstGeom prst="rect">
            <a:avLst/>
          </a:prstGeom>
          <a:solidFill>
            <a:srgbClr val="0A2E4E"/>
          </a:solidFill>
          <a:ln w="9525">
            <a:solidFill>
              <a:srgbClr val="D8E5F2"/>
            </a:solidFill>
            <a:prstDash val="solid"/>
          </a:ln>
        </p:spPr>
        <p:txBody>
          <a:bodyPr/>
          <a:lstStyle/>
          <a:p>
            <a:endParaRPr lang="en-IN"/>
          </a:p>
        </p:txBody>
      </p:sp>
      <p:sp>
        <p:nvSpPr>
          <p:cNvPr id="29" name="Text 27"/>
          <p:cNvSpPr/>
          <p:nvPr/>
        </p:nvSpPr>
        <p:spPr>
          <a:xfrm>
            <a:off x="4956048" y="3136392"/>
            <a:ext cx="348386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Hardware or Azure virtual machine</a:t>
            </a:r>
            <a:endParaRPr lang="en-US" sz="950" dirty="0"/>
          </a:p>
        </p:txBody>
      </p:sp>
      <p:sp>
        <p:nvSpPr>
          <p:cNvPr id="30" name="Text 28"/>
          <p:cNvSpPr/>
          <p:nvPr/>
        </p:nvSpPr>
        <p:spPr>
          <a:xfrm>
            <a:off x="4919472" y="4069080"/>
            <a:ext cx="3557016" cy="27432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Starts in milliseconds  ·  megabytes per instance</a:t>
            </a:r>
            <a:endParaRPr lang="en-US" sz="1000" dirty="0"/>
          </a:p>
        </p:txBody>
      </p:sp>
      <p:sp>
        <p:nvSpPr>
          <p:cNvPr id="31"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2"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33" name="Text 31"/>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The difference   </a:t>
            </a:r>
            <a:r>
              <a:rPr lang="en-US" sz="1050" dirty="0">
                <a:solidFill>
                  <a:srgbClr val="0E2233"/>
                </a:solidFill>
                <a:latin typeface="Segoe UI" pitchFamily="34" charset="0"/>
                <a:ea typeface="Segoe UI" pitchFamily="34" charset="-122"/>
                <a:cs typeface="Segoe UI" pitchFamily="34" charset="-120"/>
              </a:rPr>
              <a:t>Containers remove the duplicated guest operating system. Everything else about the isolation model follows from that one difference.</a:t>
            </a:r>
            <a:endParaRPr lang="en-US" sz="1000" dirty="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8</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Docker architecture overview</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00" dirty="0">
                <a:solidFill>
                  <a:srgbClr val="44566B"/>
                </a:solidFill>
                <a:latin typeface="Segoe UI" pitchFamily="34" charset="0"/>
                <a:ea typeface="Segoe UI" pitchFamily="34" charset="-122"/>
                <a:cs typeface="Segoe UI" pitchFamily="34" charset="-120"/>
              </a:rPr>
              <a:t>A client sends commands to a daemon, which builds images, runs containers and talks to registries.</a:t>
            </a:r>
            <a:endParaRPr lang="en-US" sz="1100" dirty="0"/>
          </a:p>
        </p:txBody>
      </p:sp>
      <p:sp>
        <p:nvSpPr>
          <p:cNvPr id="7" name="component box">
            <a:extLst>
              <a:ext uri="{C183D7F6-B498-43B3-948B-1728B52AA6E4}">
                <adec:decorative xmlns:adec="http://schemas.microsoft.com/office/drawing/2017/decorative" val="1"/>
              </a:ext>
            </a:extLst>
          </p:cNvPr>
          <p:cNvSpPr/>
          <p:nvPr/>
        </p:nvSpPr>
        <p:spPr>
          <a:xfrm>
            <a:off x="502920" y="1600200"/>
            <a:ext cx="2286000" cy="1371600"/>
          </a:xfrm>
          <a:prstGeom prst="rect">
            <a:avLst/>
          </a:prstGeom>
          <a:solidFill>
            <a:srgbClr val="F6F9FD"/>
          </a:solidFill>
          <a:ln w="12700">
            <a:solidFill>
              <a:srgbClr val="D8E5F2"/>
            </a:solidFill>
            <a:prstDash val="solid"/>
          </a:ln>
        </p:spPr>
        <p:txBody>
          <a:bodyPr/>
          <a:lstStyle/>
          <a:p>
            <a:endParaRPr lang="en-IN"/>
          </a:p>
        </p:txBody>
      </p:sp>
      <p:sp>
        <p:nvSpPr>
          <p:cNvPr id="8" name="Text 6"/>
          <p:cNvSpPr/>
          <p:nvPr/>
        </p:nvSpPr>
        <p:spPr>
          <a:xfrm>
            <a:off x="612648" y="1728216"/>
            <a:ext cx="2066544" cy="274320"/>
          </a:xfrm>
          <a:prstGeom prst="rect">
            <a:avLst/>
          </a:prstGeom>
          <a:noFill/>
          <a:ln/>
        </p:spPr>
        <p:txBody>
          <a:bodyPr wrap="square" lIns="0" tIns="0" rIns="0" bIns="0" rtlCol="0" anchor="ctr"/>
          <a:lstStyle/>
          <a:p>
            <a:pPr marL="0" indent="0" algn="ctr">
              <a:buNone/>
            </a:pPr>
            <a:r>
              <a:rPr lang="en-US" sz="1150" b="1" dirty="0">
                <a:solidFill>
                  <a:srgbClr val="0E2233"/>
                </a:solidFill>
                <a:latin typeface="Segoe UI" pitchFamily="34" charset="0"/>
                <a:ea typeface="Segoe UI" pitchFamily="34" charset="-122"/>
                <a:cs typeface="Segoe UI" pitchFamily="34" charset="-120"/>
              </a:rPr>
              <a:t>Docker CLI</a:t>
            </a:r>
            <a:endParaRPr lang="en-US" sz="1150" dirty="0"/>
          </a:p>
        </p:txBody>
      </p:sp>
      <p:sp>
        <p:nvSpPr>
          <p:cNvPr id="9" name="Text 7"/>
          <p:cNvSpPr/>
          <p:nvPr/>
        </p:nvSpPr>
        <p:spPr>
          <a:xfrm>
            <a:off x="612648" y="2020824"/>
            <a:ext cx="2066544" cy="841248"/>
          </a:xfrm>
          <a:prstGeom prst="rect">
            <a:avLst/>
          </a:prstGeom>
          <a:noFill/>
          <a:ln/>
        </p:spPr>
        <p:txBody>
          <a:bodyPr wrap="square" lIns="0" tIns="0" rIns="0" bIns="0" rtlCol="0" anchor="t"/>
          <a:lstStyle/>
          <a:p>
            <a:pPr marL="0" indent="0" algn="ctr">
              <a:lnSpc>
                <a:spcPct val="115000"/>
              </a:lnSpc>
              <a:buNone/>
            </a:pPr>
            <a:r>
              <a:rPr lang="en-US" sz="950" dirty="0">
                <a:solidFill>
                  <a:srgbClr val="44566B"/>
                </a:solidFill>
                <a:latin typeface="Segoe UI" pitchFamily="34" charset="0"/>
                <a:ea typeface="Segoe UI" pitchFamily="34" charset="-122"/>
                <a:cs typeface="Segoe UI" pitchFamily="34" charset="-120"/>
              </a:rPr>
              <a:t>The client you type into.</a:t>
            </a:r>
            <a:endParaRPr lang="en-US" sz="950" dirty="0"/>
          </a:p>
          <a:p>
            <a:pPr marL="0" indent="0" algn="ctr">
              <a:lnSpc>
                <a:spcPct val="115000"/>
              </a:lnSpc>
              <a:buNone/>
            </a:pPr>
            <a:r>
              <a:rPr lang="en-US" sz="950" dirty="0">
                <a:solidFill>
                  <a:srgbClr val="44566B"/>
                </a:solidFill>
                <a:latin typeface="Segoe UI" pitchFamily="34" charset="0"/>
                <a:ea typeface="Segoe UI" pitchFamily="34" charset="-122"/>
                <a:cs typeface="Segoe UI" pitchFamily="34" charset="-120"/>
              </a:rPr>
              <a:t>docker build · docker run</a:t>
            </a:r>
            <a:endParaRPr lang="en-US" sz="950" dirty="0"/>
          </a:p>
          <a:p>
            <a:pPr marL="0" indent="0" algn="ctr">
              <a:lnSpc>
                <a:spcPct val="115000"/>
              </a:lnSpc>
              <a:buNone/>
            </a:pPr>
            <a:r>
              <a:rPr lang="en-US" sz="950" dirty="0">
                <a:solidFill>
                  <a:srgbClr val="44566B"/>
                </a:solidFill>
                <a:latin typeface="Segoe UI" pitchFamily="34" charset="0"/>
                <a:ea typeface="Segoe UI" pitchFamily="34" charset="-122"/>
                <a:cs typeface="Segoe UI" pitchFamily="34" charset="-120"/>
              </a:rPr>
              <a:t>docker push · docker pull</a:t>
            </a:r>
            <a:endParaRPr lang="en-US" sz="950" dirty="0"/>
          </a:p>
        </p:txBody>
      </p:sp>
      <p:sp>
        <p:nvSpPr>
          <p:cNvPr id="10" name="component box">
            <a:extLst>
              <a:ext uri="{C183D7F6-B498-43B3-948B-1728B52AA6E4}">
                <adec:decorative xmlns:adec="http://schemas.microsoft.com/office/drawing/2017/decorative" val="1"/>
              </a:ext>
            </a:extLst>
          </p:cNvPr>
          <p:cNvSpPr/>
          <p:nvPr/>
        </p:nvSpPr>
        <p:spPr>
          <a:xfrm>
            <a:off x="3429000" y="1600200"/>
            <a:ext cx="2286000" cy="1371600"/>
          </a:xfrm>
          <a:prstGeom prst="rect">
            <a:avLst/>
          </a:prstGeom>
          <a:solidFill>
            <a:srgbClr val="0A2E4E"/>
          </a:solidFill>
          <a:ln w="12700">
            <a:solidFill>
              <a:srgbClr val="0A2E4E"/>
            </a:solidFill>
            <a:prstDash val="solid"/>
          </a:ln>
        </p:spPr>
        <p:txBody>
          <a:bodyPr/>
          <a:lstStyle/>
          <a:p>
            <a:endParaRPr lang="en-IN"/>
          </a:p>
        </p:txBody>
      </p:sp>
      <p:sp>
        <p:nvSpPr>
          <p:cNvPr id="11" name="Text 9"/>
          <p:cNvSpPr/>
          <p:nvPr/>
        </p:nvSpPr>
        <p:spPr>
          <a:xfrm>
            <a:off x="3538728" y="1728216"/>
            <a:ext cx="2066544"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Segoe UI" pitchFamily="34" charset="0"/>
                <a:ea typeface="Segoe UI" pitchFamily="34" charset="-122"/>
                <a:cs typeface="Segoe UI" pitchFamily="34" charset="-120"/>
              </a:rPr>
              <a:t>Docker daemon</a:t>
            </a:r>
            <a:endParaRPr lang="en-US" sz="1150" dirty="0"/>
          </a:p>
        </p:txBody>
      </p:sp>
      <p:sp>
        <p:nvSpPr>
          <p:cNvPr id="12" name="Text 10"/>
          <p:cNvSpPr/>
          <p:nvPr/>
        </p:nvSpPr>
        <p:spPr>
          <a:xfrm>
            <a:off x="3538728" y="2020824"/>
            <a:ext cx="2066544" cy="841248"/>
          </a:xfrm>
          <a:prstGeom prst="rect">
            <a:avLst/>
          </a:prstGeom>
          <a:noFill/>
          <a:ln/>
        </p:spPr>
        <p:txBody>
          <a:bodyPr wrap="square" lIns="0" tIns="0" rIns="0" bIns="0" rtlCol="0" anchor="t"/>
          <a:lstStyle/>
          <a:p>
            <a:pPr marL="0" indent="0" algn="ctr">
              <a:lnSpc>
                <a:spcPct val="115000"/>
              </a:lnSpc>
              <a:buNone/>
            </a:pPr>
            <a:r>
              <a:rPr lang="en-US" sz="950" dirty="0">
                <a:solidFill>
                  <a:srgbClr val="D6E7F6"/>
                </a:solidFill>
                <a:latin typeface="Segoe UI" pitchFamily="34" charset="0"/>
                <a:ea typeface="Segoe UI" pitchFamily="34" charset="-122"/>
                <a:cs typeface="Segoe UI" pitchFamily="34" charset="-120"/>
              </a:rPr>
              <a:t>Builds images, creates</a:t>
            </a:r>
            <a:endParaRPr lang="en-US" sz="950" dirty="0"/>
          </a:p>
          <a:p>
            <a:pPr marL="0" indent="0" algn="ctr">
              <a:lnSpc>
                <a:spcPct val="115000"/>
              </a:lnSpc>
              <a:buNone/>
            </a:pPr>
            <a:r>
              <a:rPr lang="en-US" sz="950" dirty="0">
                <a:solidFill>
                  <a:srgbClr val="D6E7F6"/>
                </a:solidFill>
                <a:latin typeface="Segoe UI" pitchFamily="34" charset="0"/>
                <a:ea typeface="Segoe UI" pitchFamily="34" charset="-122"/>
                <a:cs typeface="Segoe UI" pitchFamily="34" charset="-120"/>
              </a:rPr>
              <a:t>containers, manages</a:t>
            </a:r>
            <a:endParaRPr lang="en-US" sz="950" dirty="0"/>
          </a:p>
          <a:p>
            <a:pPr marL="0" indent="0" algn="ctr">
              <a:lnSpc>
                <a:spcPct val="115000"/>
              </a:lnSpc>
              <a:buNone/>
            </a:pPr>
            <a:r>
              <a:rPr lang="en-US" sz="950" dirty="0">
                <a:solidFill>
                  <a:srgbClr val="D6E7F6"/>
                </a:solidFill>
                <a:latin typeface="Segoe UI" pitchFamily="34" charset="0"/>
                <a:ea typeface="Segoe UI" pitchFamily="34" charset="-122"/>
                <a:cs typeface="Segoe UI" pitchFamily="34" charset="-120"/>
              </a:rPr>
              <a:t>networks and volumes</a:t>
            </a:r>
            <a:endParaRPr lang="en-US" sz="950" dirty="0"/>
          </a:p>
        </p:txBody>
      </p:sp>
      <p:sp>
        <p:nvSpPr>
          <p:cNvPr id="13" name="component box">
            <a:extLst>
              <a:ext uri="{C183D7F6-B498-43B3-948B-1728B52AA6E4}">
                <adec:decorative xmlns:adec="http://schemas.microsoft.com/office/drawing/2017/decorative" val="1"/>
              </a:ext>
            </a:extLst>
          </p:cNvPr>
          <p:cNvSpPr/>
          <p:nvPr/>
        </p:nvSpPr>
        <p:spPr>
          <a:xfrm>
            <a:off x="6355080" y="1600200"/>
            <a:ext cx="2286000" cy="1371600"/>
          </a:xfrm>
          <a:prstGeom prst="rect">
            <a:avLst/>
          </a:prstGeom>
          <a:solidFill>
            <a:srgbClr val="F6F9FD"/>
          </a:solidFill>
          <a:ln w="12700">
            <a:solidFill>
              <a:srgbClr val="D8E5F2"/>
            </a:solidFill>
            <a:prstDash val="solid"/>
          </a:ln>
        </p:spPr>
        <p:txBody>
          <a:bodyPr/>
          <a:lstStyle/>
          <a:p>
            <a:endParaRPr lang="en-IN"/>
          </a:p>
        </p:txBody>
      </p:sp>
      <p:sp>
        <p:nvSpPr>
          <p:cNvPr id="14" name="Text 12"/>
          <p:cNvSpPr/>
          <p:nvPr/>
        </p:nvSpPr>
        <p:spPr>
          <a:xfrm>
            <a:off x="6464808" y="1728216"/>
            <a:ext cx="2066544" cy="274320"/>
          </a:xfrm>
          <a:prstGeom prst="rect">
            <a:avLst/>
          </a:prstGeom>
          <a:noFill/>
          <a:ln/>
        </p:spPr>
        <p:txBody>
          <a:bodyPr wrap="square" lIns="0" tIns="0" rIns="0" bIns="0" rtlCol="0" anchor="ctr"/>
          <a:lstStyle/>
          <a:p>
            <a:pPr marL="0" indent="0" algn="ctr">
              <a:buNone/>
            </a:pPr>
            <a:r>
              <a:rPr lang="en-US" sz="1150" b="1" dirty="0">
                <a:solidFill>
                  <a:srgbClr val="0E2233"/>
                </a:solidFill>
                <a:latin typeface="Segoe UI" pitchFamily="34" charset="0"/>
                <a:ea typeface="Segoe UI" pitchFamily="34" charset="-122"/>
                <a:cs typeface="Segoe UI" pitchFamily="34" charset="-120"/>
              </a:rPr>
              <a:t>Registry</a:t>
            </a:r>
            <a:endParaRPr lang="en-US" sz="1150" dirty="0"/>
          </a:p>
        </p:txBody>
      </p:sp>
      <p:sp>
        <p:nvSpPr>
          <p:cNvPr id="15" name="Text 13"/>
          <p:cNvSpPr/>
          <p:nvPr/>
        </p:nvSpPr>
        <p:spPr>
          <a:xfrm>
            <a:off x="6464808" y="2020824"/>
            <a:ext cx="2066544" cy="841248"/>
          </a:xfrm>
          <a:prstGeom prst="rect">
            <a:avLst/>
          </a:prstGeom>
          <a:noFill/>
          <a:ln/>
        </p:spPr>
        <p:txBody>
          <a:bodyPr wrap="square" lIns="0" tIns="0" rIns="0" bIns="0" rtlCol="0" anchor="t"/>
          <a:lstStyle/>
          <a:p>
            <a:pPr marL="0" indent="0" algn="ctr">
              <a:lnSpc>
                <a:spcPct val="115000"/>
              </a:lnSpc>
              <a:buNone/>
            </a:pPr>
            <a:r>
              <a:rPr lang="en-US" sz="950" dirty="0">
                <a:solidFill>
                  <a:srgbClr val="44566B"/>
                </a:solidFill>
                <a:latin typeface="Segoe UI" pitchFamily="34" charset="0"/>
                <a:ea typeface="Segoe UI" pitchFamily="34" charset="-122"/>
                <a:cs typeface="Segoe UI" pitchFamily="34" charset="-120"/>
              </a:rPr>
              <a:t>Azure Container Registry,</a:t>
            </a:r>
            <a:endParaRPr lang="en-US" sz="950" dirty="0"/>
          </a:p>
          <a:p>
            <a:pPr marL="0" indent="0" algn="ctr">
              <a:lnSpc>
                <a:spcPct val="115000"/>
              </a:lnSpc>
              <a:buNone/>
            </a:pPr>
            <a:r>
              <a:rPr lang="en-US" sz="950" dirty="0">
                <a:solidFill>
                  <a:srgbClr val="44566B"/>
                </a:solidFill>
                <a:latin typeface="Segoe UI" pitchFamily="34" charset="0"/>
                <a:ea typeface="Segoe UI" pitchFamily="34" charset="-122"/>
                <a:cs typeface="Segoe UI" pitchFamily="34" charset="-120"/>
              </a:rPr>
              <a:t>Docker Hub — stores and</a:t>
            </a:r>
            <a:endParaRPr lang="en-US" sz="950" dirty="0"/>
          </a:p>
          <a:p>
            <a:pPr marL="0" indent="0" algn="ctr">
              <a:lnSpc>
                <a:spcPct val="115000"/>
              </a:lnSpc>
              <a:buNone/>
            </a:pPr>
            <a:r>
              <a:rPr lang="en-US" sz="950" dirty="0">
                <a:solidFill>
                  <a:srgbClr val="44566B"/>
                </a:solidFill>
                <a:latin typeface="Segoe UI" pitchFamily="34" charset="0"/>
                <a:ea typeface="Segoe UI" pitchFamily="34" charset="-122"/>
                <a:cs typeface="Segoe UI" pitchFamily="34" charset="-120"/>
              </a:rPr>
              <a:t>versions your images</a:t>
            </a:r>
            <a:endParaRPr lang="en-US" sz="950" dirty="0"/>
          </a:p>
        </p:txBody>
      </p:sp>
      <p:sp>
        <p:nvSpPr>
          <p:cNvPr id="16" name="flow arrow">
            <a:extLst>
              <a:ext uri="{C183D7F6-B498-43B3-948B-1728B52AA6E4}">
                <adec:decorative xmlns:adec="http://schemas.microsoft.com/office/drawing/2017/decorative" val="1"/>
              </a:ext>
            </a:extLst>
          </p:cNvPr>
          <p:cNvSpPr/>
          <p:nvPr/>
        </p:nvSpPr>
        <p:spPr>
          <a:xfrm>
            <a:off x="2898648" y="2185416"/>
            <a:ext cx="420624" cy="201168"/>
          </a:xfrm>
          <a:prstGeom prst="rightArrow">
            <a:avLst/>
          </a:prstGeom>
          <a:solidFill>
            <a:srgbClr val="17A9DB"/>
          </a:solidFill>
          <a:ln w="12700">
            <a:solidFill>
              <a:srgbClr val="333333"/>
            </a:solidFill>
            <a:prstDash val="solid"/>
          </a:ln>
        </p:spPr>
        <p:txBody>
          <a:bodyPr/>
          <a:lstStyle/>
          <a:p>
            <a:endParaRPr lang="en-IN"/>
          </a:p>
        </p:txBody>
      </p:sp>
      <p:sp>
        <p:nvSpPr>
          <p:cNvPr id="17" name="flow arrow">
            <a:extLst>
              <a:ext uri="{C183D7F6-B498-43B3-948B-1728B52AA6E4}">
                <adec:decorative xmlns:adec="http://schemas.microsoft.com/office/drawing/2017/decorative" val="1"/>
              </a:ext>
            </a:extLst>
          </p:cNvPr>
          <p:cNvSpPr/>
          <p:nvPr/>
        </p:nvSpPr>
        <p:spPr>
          <a:xfrm>
            <a:off x="5824728" y="2185416"/>
            <a:ext cx="420624" cy="201168"/>
          </a:xfrm>
          <a:prstGeom prst="rightArrow">
            <a:avLst/>
          </a:prstGeom>
          <a:solidFill>
            <a:srgbClr val="17A9DB"/>
          </a:solidFill>
          <a:ln w="12700">
            <a:solidFill>
              <a:srgbClr val="333333"/>
            </a:solidFill>
            <a:prstDash val="solid"/>
          </a:ln>
        </p:spPr>
        <p:txBody>
          <a:bodyPr/>
          <a:lstStyle/>
          <a:p>
            <a:endParaRPr lang="en-IN"/>
          </a:p>
        </p:txBody>
      </p:sp>
      <p:sp>
        <p:nvSpPr>
          <p:cNvPr id="18" name="Text 16"/>
          <p:cNvSpPr/>
          <p:nvPr/>
        </p:nvSpPr>
        <p:spPr>
          <a:xfrm>
            <a:off x="2743200" y="2395728"/>
            <a:ext cx="777240" cy="201168"/>
          </a:xfrm>
          <a:prstGeom prst="rect">
            <a:avLst/>
          </a:prstGeom>
          <a:noFill/>
          <a:ln/>
        </p:spPr>
        <p:txBody>
          <a:bodyPr wrap="square" lIns="0" tIns="0" rIns="0" bIns="0" rtlCol="0" anchor="ctr"/>
          <a:lstStyle/>
          <a:p>
            <a:pPr marL="0" indent="0" algn="ctr">
              <a:buNone/>
            </a:pPr>
            <a:r>
              <a:rPr lang="en-US" sz="800" dirty="0">
                <a:solidFill>
                  <a:srgbClr val="7C8FA3"/>
                </a:solidFill>
                <a:latin typeface="Segoe UI" pitchFamily="34" charset="0"/>
                <a:ea typeface="Segoe UI" pitchFamily="34" charset="-122"/>
                <a:cs typeface="Segoe UI" pitchFamily="34" charset="-120"/>
              </a:rPr>
              <a:t>REST API</a:t>
            </a:r>
            <a:endParaRPr lang="en-US" sz="800" dirty="0"/>
          </a:p>
        </p:txBody>
      </p:sp>
      <p:sp>
        <p:nvSpPr>
          <p:cNvPr id="19" name="Text 17"/>
          <p:cNvSpPr/>
          <p:nvPr/>
        </p:nvSpPr>
        <p:spPr>
          <a:xfrm>
            <a:off x="5669280" y="2395728"/>
            <a:ext cx="777240" cy="201168"/>
          </a:xfrm>
          <a:prstGeom prst="rect">
            <a:avLst/>
          </a:prstGeom>
          <a:noFill/>
          <a:ln/>
        </p:spPr>
        <p:txBody>
          <a:bodyPr wrap="square" lIns="0" tIns="0" rIns="0" bIns="0" rtlCol="0" anchor="ctr"/>
          <a:lstStyle/>
          <a:p>
            <a:pPr marL="0" indent="0" algn="ctr">
              <a:buNone/>
            </a:pPr>
            <a:r>
              <a:rPr lang="en-US" sz="800" dirty="0">
                <a:solidFill>
                  <a:srgbClr val="7C8FA3"/>
                </a:solidFill>
                <a:latin typeface="Segoe UI" pitchFamily="34" charset="0"/>
                <a:ea typeface="Segoe UI" pitchFamily="34" charset="-122"/>
                <a:cs typeface="Segoe UI" pitchFamily="34" charset="-120"/>
              </a:rPr>
              <a:t>push / pull</a:t>
            </a:r>
            <a:endParaRPr lang="en-US" sz="800" dirty="0"/>
          </a:p>
        </p:txBody>
      </p:sp>
      <p:sp>
        <p:nvSpPr>
          <p:cNvPr id="20" name="local store box">
            <a:extLst>
              <a:ext uri="{C183D7F6-B498-43B3-948B-1728B52AA6E4}">
                <adec:decorative xmlns:adec="http://schemas.microsoft.com/office/drawing/2017/decorative" val="1"/>
              </a:ext>
            </a:extLst>
          </p:cNvPr>
          <p:cNvSpPr/>
          <p:nvPr/>
        </p:nvSpPr>
        <p:spPr>
          <a:xfrm>
            <a:off x="3429000" y="2743200"/>
            <a:ext cx="2286000" cy="384048"/>
          </a:xfrm>
          <a:prstGeom prst="rect">
            <a:avLst/>
          </a:prstGeom>
          <a:solidFill>
            <a:srgbClr val="EDF4FC"/>
          </a:solidFill>
          <a:ln w="9525">
            <a:solidFill>
              <a:srgbClr val="0B63CE"/>
            </a:solidFill>
            <a:prstDash val="dash"/>
          </a:ln>
        </p:spPr>
        <p:txBody>
          <a:bodyPr/>
          <a:lstStyle/>
          <a:p>
            <a:endParaRPr lang="en-IN"/>
          </a:p>
        </p:txBody>
      </p:sp>
      <p:sp>
        <p:nvSpPr>
          <p:cNvPr id="21" name="Text 19"/>
          <p:cNvSpPr/>
          <p:nvPr/>
        </p:nvSpPr>
        <p:spPr>
          <a:xfrm>
            <a:off x="3520440" y="2743200"/>
            <a:ext cx="2103120" cy="384048"/>
          </a:xfrm>
          <a:prstGeom prst="rect">
            <a:avLst/>
          </a:prstGeom>
          <a:noFill/>
          <a:ln/>
        </p:spPr>
        <p:txBody>
          <a:bodyPr wrap="square" lIns="0" tIns="0" rIns="0" bIns="0" rtlCol="0" anchor="ctr"/>
          <a:lstStyle/>
          <a:p>
            <a:pPr marL="0" indent="0" algn="ctr">
              <a:lnSpc>
                <a:spcPct val="115000"/>
              </a:lnSpc>
              <a:buNone/>
            </a:pPr>
            <a:r>
              <a:rPr lang="en-US" sz="900" dirty="0">
                <a:solidFill>
                  <a:srgbClr val="0A2E4E"/>
                </a:solidFill>
                <a:latin typeface="Segoe UI" pitchFamily="34" charset="0"/>
                <a:ea typeface="Segoe UI" pitchFamily="34" charset="-122"/>
                <a:cs typeface="Segoe UI" pitchFamily="34" charset="-120"/>
              </a:rPr>
              <a:t>Local image cache and containers</a:t>
            </a:r>
            <a:endParaRPr lang="en-US" sz="900" dirty="0"/>
          </a:p>
        </p:txBody>
      </p:sp>
      <p:sp>
        <p:nvSpPr>
          <p:cNvPr id="22"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3"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24" name="Text 22"/>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Build once</a:t>
            </a:r>
            <a:endParaRPr lang="en-US" sz="1100" dirty="0"/>
          </a:p>
        </p:txBody>
      </p:sp>
      <p:sp>
        <p:nvSpPr>
          <p:cNvPr id="25" name="Text 23"/>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docker build produces an immutable, tagged image</a:t>
            </a:r>
            <a:endParaRPr lang="en-US" sz="800" dirty="0"/>
          </a:p>
        </p:txBody>
      </p:sp>
      <p:sp>
        <p:nvSpPr>
          <p:cNvPr id="26"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28" name="Text 26"/>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Push to registry</a:t>
            </a:r>
            <a:endParaRPr lang="en-US" sz="1100" dirty="0"/>
          </a:p>
        </p:txBody>
      </p:sp>
      <p:sp>
        <p:nvSpPr>
          <p:cNvPr id="29" name="Text 27"/>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The image becomes the promotable artefact</a:t>
            </a:r>
            <a:endParaRPr lang="en-US" sz="800" dirty="0"/>
          </a:p>
        </p:txBody>
      </p:sp>
      <p:sp>
        <p:nvSpPr>
          <p:cNvPr id="30"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32" name="Text 30"/>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AKS pulls it</a:t>
            </a:r>
            <a:endParaRPr lang="en-US" sz="1100" dirty="0"/>
          </a:p>
        </p:txBody>
      </p:sp>
      <p:sp>
        <p:nvSpPr>
          <p:cNvPr id="33" name="Text 31"/>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Nodes pull the image; Docker is not needed on the cluster</a:t>
            </a:r>
            <a:endParaRPr lang="en-US" sz="800" dirty="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9</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Image building basics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A Dockerfile is an ordered recipe. Each instruction adds a cached, read-only layer.</a:t>
            </a:r>
            <a:endParaRPr lang="en-US" sz="1150" dirty="0"/>
          </a:p>
        </p:txBody>
      </p:sp>
      <p:sp>
        <p:nvSpPr>
          <p:cNvPr id="7" name="Text 5"/>
          <p:cNvSpPr/>
          <p:nvPr/>
        </p:nvSpPr>
        <p:spPr>
          <a:xfrm>
            <a:off x="502920" y="1481328"/>
            <a:ext cx="3931920" cy="2596896"/>
          </a:xfrm>
          <a:prstGeom prst="rect">
            <a:avLst/>
          </a:prstGeom>
          <a:noFill/>
          <a:ln/>
        </p:spPr>
        <p:txBody>
          <a:bodyPr wrap="square" lIns="0" tIns="0" rIns="0" bIns="0" rtlCol="0" anchor="t"/>
          <a:lstStyle/>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Order instructions from least to most frequently changing so dependency layers stay cached</a:t>
            </a:r>
            <a:endParaRPr lang="en-US" sz="1050" dirty="0"/>
          </a:p>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Use multi-stage builds: compile in a large build image, ship only the artefact in a small runtime image</a:t>
            </a:r>
            <a:endParaRPr lang="en-US" sz="1050" dirty="0"/>
          </a:p>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Pin base image versions rather than using latest, so builds are reproducible and auditable</a:t>
            </a:r>
            <a:endParaRPr lang="en-US" sz="1050" dirty="0"/>
          </a:p>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Run as a non-root user and keep the image minimal — fewer packages means a smaller attack surface</a:t>
            </a:r>
            <a:endParaRPr lang="en-US" sz="1050" dirty="0"/>
          </a:p>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Tag with an immutable identifier such as the commit hash, not a moving tag</a:t>
            </a:r>
            <a:endParaRPr lang="en-US" sz="1050" dirty="0"/>
          </a:p>
        </p:txBody>
      </p:sp>
      <p:sp>
        <p:nvSpPr>
          <p:cNvPr id="8" name="code panel">
            <a:extLst>
              <a:ext uri="{C183D7F6-B498-43B3-948B-1728B52AA6E4}">
                <adec:decorative xmlns:adec="http://schemas.microsoft.com/office/drawing/2017/decorative" val="1"/>
              </a:ext>
            </a:extLst>
          </p:cNvPr>
          <p:cNvSpPr/>
          <p:nvPr/>
        </p:nvSpPr>
        <p:spPr>
          <a:xfrm>
            <a:off x="4663440" y="1481328"/>
            <a:ext cx="397764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9" name="code panel header">
            <a:extLst>
              <a:ext uri="{C183D7F6-B498-43B3-948B-1728B52AA6E4}">
                <adec:decorative xmlns:adec="http://schemas.microsoft.com/office/drawing/2017/decorative" val="1"/>
              </a:ext>
            </a:extLst>
          </p:cNvPr>
          <p:cNvSpPr/>
          <p:nvPr/>
        </p:nvSpPr>
        <p:spPr>
          <a:xfrm>
            <a:off x="4663440" y="1481328"/>
            <a:ext cx="3977640" cy="256032"/>
          </a:xfrm>
          <a:prstGeom prst="rect">
            <a:avLst/>
          </a:prstGeom>
          <a:solidFill>
            <a:srgbClr val="0F3D66"/>
          </a:solidFill>
          <a:ln w="12700">
            <a:solidFill>
              <a:srgbClr val="333333"/>
            </a:solidFill>
            <a:prstDash val="solid"/>
          </a:ln>
        </p:spPr>
        <p:txBody>
          <a:bodyPr/>
          <a:lstStyle/>
          <a:p>
            <a:endParaRPr lang="en-IN"/>
          </a:p>
        </p:txBody>
      </p:sp>
      <p:sp>
        <p:nvSpPr>
          <p:cNvPr id="10" name="Text 8"/>
          <p:cNvSpPr/>
          <p:nvPr/>
        </p:nvSpPr>
        <p:spPr>
          <a:xfrm>
            <a:off x="4809744" y="1481328"/>
            <a:ext cx="368503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Dockerfile</a:t>
            </a:r>
            <a:endParaRPr lang="en-US" sz="850" dirty="0"/>
          </a:p>
        </p:txBody>
      </p:sp>
      <p:sp>
        <p:nvSpPr>
          <p:cNvPr id="11" name="Text 9"/>
          <p:cNvSpPr/>
          <p:nvPr/>
        </p:nvSpPr>
        <p:spPr>
          <a:xfrm>
            <a:off x="4809744" y="1810512"/>
            <a:ext cx="3685032" cy="2121408"/>
          </a:xfrm>
          <a:prstGeom prst="rect">
            <a:avLst/>
          </a:prstGeom>
          <a:noFill/>
          <a:ln/>
        </p:spPr>
        <p:txBody>
          <a:bodyPr wrap="square" lIns="0" tIns="0" rIns="0" bIns="0" rtlCol="0" anchor="t"/>
          <a:lstStyle/>
          <a:p>
            <a:pPr marL="0" indent="0">
              <a:lnSpc>
                <a:spcPct val="112000"/>
              </a:lnSpc>
              <a:buNone/>
            </a:pPr>
            <a:r>
              <a:rPr lang="en-US" sz="829" dirty="0">
                <a:solidFill>
                  <a:srgbClr val="7FA9C6"/>
                </a:solidFill>
                <a:latin typeface="Consolas" pitchFamily="34" charset="0"/>
                <a:ea typeface="Consolas" pitchFamily="34" charset="-122"/>
                <a:cs typeface="Consolas" pitchFamily="34" charset="-120"/>
              </a:rPr>
              <a:t># Stage 1 — build</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FROM mcr.microsoft.com/dotnet/sdk:8.0 AS build</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WORKDIR /src</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COPY *.csproj ./          # deps first: cached</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RUN dotnet restore</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COPY . ./                 # source changes often</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RUN dotnet publish -c Release -o /app</a:t>
            </a:r>
            <a:endParaRPr lang="en-US" sz="829" dirty="0"/>
          </a:p>
          <a:p>
            <a:pPr marL="0" indent="0">
              <a:lnSpc>
                <a:spcPct val="112000"/>
              </a:lnSpc>
              <a:buNone/>
            </a:pPr>
            <a:endParaRPr lang="en-US" sz="829" dirty="0"/>
          </a:p>
          <a:p>
            <a:pPr marL="0" indent="0">
              <a:lnSpc>
                <a:spcPct val="112000"/>
              </a:lnSpc>
              <a:buNone/>
            </a:pPr>
            <a:r>
              <a:rPr lang="en-US" sz="829" dirty="0">
                <a:solidFill>
                  <a:srgbClr val="7FA9C6"/>
                </a:solidFill>
                <a:latin typeface="Consolas" pitchFamily="34" charset="0"/>
                <a:ea typeface="Consolas" pitchFamily="34" charset="-122"/>
                <a:cs typeface="Consolas" pitchFamily="34" charset="-120"/>
              </a:rPr>
              <a:t># Stage 2 — runtime (small, no SDK)</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FROM mcr.microsoft.com/dotnet/aspnet:8.0</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WORKDIR /app</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COPY --from=build /app .</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USER 1000</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EXPOSE 8080</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ENTRYPOINT ["dotnet", "PaymentsApi.dll"]</a:t>
            </a:r>
            <a:endParaRPr lang="en-US" sz="829" dirty="0"/>
          </a:p>
        </p:txBody>
      </p:sp>
      <p:sp>
        <p:nvSpPr>
          <p:cNvPr id="12"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13"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Build and push   </a:t>
            </a:r>
            <a:r>
              <a:rPr lang="en-US" sz="1050" dirty="0">
                <a:solidFill>
                  <a:srgbClr val="0E2233"/>
                </a:solidFill>
                <a:latin typeface="Segoe UI" pitchFamily="34" charset="0"/>
                <a:ea typeface="Segoe UI" pitchFamily="34" charset="-122"/>
                <a:cs typeface="Segoe UI" pitchFamily="34" charset="-120"/>
              </a:rPr>
              <a:t>docker build -t myacr.azurecr.io/payments-api:9f3c21a .   then   docker push myacr.azurecr.io/payments-api:9f3c21a</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10</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1750" b="1" dirty="0">
                <a:solidFill>
                  <a:srgbClr val="0E2233"/>
                </a:solidFill>
                <a:latin typeface="Segoe UI" pitchFamily="34" charset="0"/>
                <a:ea typeface="Segoe UI" pitchFamily="34" charset="-122"/>
                <a:cs typeface="Segoe UI" pitchFamily="34" charset="-120"/>
              </a:rPr>
              <a:t>Kubernetes architecture from an application perspective</a:t>
            </a:r>
            <a:endParaRPr lang="en-US" sz="175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You declare desired state. Controllers continuously work to make actual state match it.</a:t>
            </a:r>
            <a:endParaRPr lang="en-US" sz="1150" dirty="0"/>
          </a:p>
        </p:txBody>
      </p:sp>
      <p:sp>
        <p:nvSpPr>
          <p:cNvPr id="7" name="control plane panel">
            <a:extLst>
              <a:ext uri="{C183D7F6-B498-43B3-948B-1728B52AA6E4}">
                <adec:decorative xmlns:adec="http://schemas.microsoft.com/office/drawing/2017/decorative" val="1"/>
              </a:ext>
            </a:extLst>
          </p:cNvPr>
          <p:cNvSpPr/>
          <p:nvPr/>
        </p:nvSpPr>
        <p:spPr>
          <a:xfrm>
            <a:off x="502920" y="1463040"/>
            <a:ext cx="3749040" cy="2514600"/>
          </a:xfrm>
          <a:prstGeom prst="rect">
            <a:avLst/>
          </a:prstGeom>
          <a:solidFill>
            <a:srgbClr val="0A2E4E"/>
          </a:solidFill>
          <a:ln w="12700">
            <a:solidFill>
              <a:srgbClr val="333333"/>
            </a:solidFill>
            <a:prstDash val="solid"/>
          </a:ln>
        </p:spPr>
        <p:txBody>
          <a:bodyPr/>
          <a:lstStyle/>
          <a:p>
            <a:endParaRPr lang="en-IN"/>
          </a:p>
        </p:txBody>
      </p:sp>
      <p:sp>
        <p:nvSpPr>
          <p:cNvPr id="8" name="Text 6"/>
          <p:cNvSpPr/>
          <p:nvPr/>
        </p:nvSpPr>
        <p:spPr>
          <a:xfrm>
            <a:off x="685800" y="1572768"/>
            <a:ext cx="3383280" cy="256032"/>
          </a:xfrm>
          <a:prstGeom prst="rect">
            <a:avLst/>
          </a:prstGeom>
          <a:noFill/>
          <a:ln/>
        </p:spPr>
        <p:txBody>
          <a:bodyPr wrap="square" lIns="0" tIns="0" rIns="0" bIns="0" rtlCol="0" anchor="ctr"/>
          <a:lstStyle/>
          <a:p>
            <a:pPr marL="0" indent="0">
              <a:buNone/>
            </a:pPr>
            <a:r>
              <a:rPr lang="en-US" sz="950" b="1" kern="0" spc="120" dirty="0">
                <a:solidFill>
                  <a:srgbClr val="17A9DB"/>
                </a:solidFill>
                <a:latin typeface="Segoe UI" pitchFamily="34" charset="0"/>
                <a:ea typeface="Segoe UI" pitchFamily="34" charset="-122"/>
                <a:cs typeface="Segoe UI" pitchFamily="34" charset="-120"/>
              </a:rPr>
              <a:t>CONTROL PLANE   ·   managed by Azure</a:t>
            </a:r>
            <a:endParaRPr lang="en-US" sz="950" dirty="0"/>
          </a:p>
        </p:txBody>
      </p:sp>
      <p:sp>
        <p:nvSpPr>
          <p:cNvPr id="9" name="component box">
            <a:extLst>
              <a:ext uri="{C183D7F6-B498-43B3-948B-1728B52AA6E4}">
                <adec:decorative xmlns:adec="http://schemas.microsoft.com/office/drawing/2017/decorative" val="1"/>
              </a:ext>
            </a:extLst>
          </p:cNvPr>
          <p:cNvSpPr/>
          <p:nvPr/>
        </p:nvSpPr>
        <p:spPr>
          <a:xfrm>
            <a:off x="685800" y="1901952"/>
            <a:ext cx="3383280" cy="429768"/>
          </a:xfrm>
          <a:prstGeom prst="rect">
            <a:avLst/>
          </a:prstGeom>
          <a:solidFill>
            <a:srgbClr val="123E64"/>
          </a:solidFill>
          <a:ln w="12700">
            <a:solidFill>
              <a:srgbClr val="333333"/>
            </a:solidFill>
            <a:prstDash val="solid"/>
          </a:ln>
        </p:spPr>
        <p:txBody>
          <a:bodyPr/>
          <a:lstStyle/>
          <a:p>
            <a:endParaRPr lang="en-IN"/>
          </a:p>
        </p:txBody>
      </p:sp>
      <p:sp>
        <p:nvSpPr>
          <p:cNvPr id="10" name="Text 8"/>
          <p:cNvSpPr/>
          <p:nvPr/>
        </p:nvSpPr>
        <p:spPr>
          <a:xfrm>
            <a:off x="804672" y="1929384"/>
            <a:ext cx="3200400" cy="182880"/>
          </a:xfrm>
          <a:prstGeom prst="rect">
            <a:avLst/>
          </a:prstGeom>
          <a:noFill/>
          <a:ln/>
        </p:spPr>
        <p:txBody>
          <a:bodyPr wrap="square" lIns="0" tIns="0" rIns="0" bIns="0"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API server</a:t>
            </a:r>
            <a:endParaRPr lang="en-US" sz="1050" dirty="0"/>
          </a:p>
        </p:txBody>
      </p:sp>
      <p:sp>
        <p:nvSpPr>
          <p:cNvPr id="11" name="Text 9"/>
          <p:cNvSpPr/>
          <p:nvPr/>
        </p:nvSpPr>
        <p:spPr>
          <a:xfrm>
            <a:off x="804672" y="2103120"/>
            <a:ext cx="3200400" cy="201168"/>
          </a:xfrm>
          <a:prstGeom prst="rect">
            <a:avLst/>
          </a:prstGeom>
          <a:noFill/>
          <a:ln/>
        </p:spPr>
        <p:txBody>
          <a:bodyPr wrap="square" lIns="0" tIns="0" rIns="0" bIns="0" rtlCol="0" anchor="ctr"/>
          <a:lstStyle/>
          <a:p>
            <a:pPr marL="0" indent="0">
              <a:buNone/>
            </a:pPr>
            <a:r>
              <a:rPr lang="en-US" sz="850" dirty="0">
                <a:solidFill>
                  <a:srgbClr val="A9C9E2"/>
                </a:solidFill>
                <a:latin typeface="Segoe UI" pitchFamily="34" charset="0"/>
                <a:ea typeface="Segoe UI" pitchFamily="34" charset="-122"/>
                <a:cs typeface="Segoe UI" pitchFamily="34" charset="-120"/>
              </a:rPr>
              <a:t>The single front door. Everything — kubectl, controllers, nodes — talks through it.</a:t>
            </a:r>
            <a:endParaRPr lang="en-US" sz="850" dirty="0"/>
          </a:p>
        </p:txBody>
      </p:sp>
      <p:sp>
        <p:nvSpPr>
          <p:cNvPr id="12" name="component box">
            <a:extLst>
              <a:ext uri="{C183D7F6-B498-43B3-948B-1728B52AA6E4}">
                <adec:decorative xmlns:adec="http://schemas.microsoft.com/office/drawing/2017/decorative" val="1"/>
              </a:ext>
            </a:extLst>
          </p:cNvPr>
          <p:cNvSpPr/>
          <p:nvPr/>
        </p:nvSpPr>
        <p:spPr>
          <a:xfrm>
            <a:off x="685800" y="2404872"/>
            <a:ext cx="3383280" cy="429768"/>
          </a:xfrm>
          <a:prstGeom prst="rect">
            <a:avLst/>
          </a:prstGeom>
          <a:solidFill>
            <a:srgbClr val="123E64"/>
          </a:solidFill>
          <a:ln w="12700">
            <a:solidFill>
              <a:srgbClr val="333333"/>
            </a:solidFill>
            <a:prstDash val="solid"/>
          </a:ln>
        </p:spPr>
        <p:txBody>
          <a:bodyPr/>
          <a:lstStyle/>
          <a:p>
            <a:endParaRPr lang="en-IN"/>
          </a:p>
        </p:txBody>
      </p:sp>
      <p:sp>
        <p:nvSpPr>
          <p:cNvPr id="13" name="Text 11"/>
          <p:cNvSpPr/>
          <p:nvPr/>
        </p:nvSpPr>
        <p:spPr>
          <a:xfrm>
            <a:off x="804672" y="2432304"/>
            <a:ext cx="3200400" cy="182880"/>
          </a:xfrm>
          <a:prstGeom prst="rect">
            <a:avLst/>
          </a:prstGeom>
          <a:noFill/>
          <a:ln/>
        </p:spPr>
        <p:txBody>
          <a:bodyPr wrap="square" lIns="0" tIns="0" rIns="0" bIns="0"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etcd</a:t>
            </a:r>
            <a:endParaRPr lang="en-US" sz="1050" dirty="0"/>
          </a:p>
        </p:txBody>
      </p:sp>
      <p:sp>
        <p:nvSpPr>
          <p:cNvPr id="14" name="Text 12"/>
          <p:cNvSpPr/>
          <p:nvPr/>
        </p:nvSpPr>
        <p:spPr>
          <a:xfrm>
            <a:off x="804672" y="2606040"/>
            <a:ext cx="3200400" cy="201168"/>
          </a:xfrm>
          <a:prstGeom prst="rect">
            <a:avLst/>
          </a:prstGeom>
          <a:noFill/>
          <a:ln/>
        </p:spPr>
        <p:txBody>
          <a:bodyPr wrap="square" lIns="0" tIns="0" rIns="0" bIns="0" rtlCol="0" anchor="ctr"/>
          <a:lstStyle/>
          <a:p>
            <a:pPr marL="0" indent="0">
              <a:buNone/>
            </a:pPr>
            <a:r>
              <a:rPr lang="en-US" sz="850" dirty="0">
                <a:solidFill>
                  <a:srgbClr val="A9C9E2"/>
                </a:solidFill>
                <a:latin typeface="Segoe UI" pitchFamily="34" charset="0"/>
                <a:ea typeface="Segoe UI" pitchFamily="34" charset="-122"/>
                <a:cs typeface="Segoe UI" pitchFamily="34" charset="-120"/>
              </a:rPr>
              <a:t>The store of record for desired state.</a:t>
            </a:r>
            <a:endParaRPr lang="en-US" sz="850" dirty="0"/>
          </a:p>
        </p:txBody>
      </p:sp>
      <p:sp>
        <p:nvSpPr>
          <p:cNvPr id="15" name="component box">
            <a:extLst>
              <a:ext uri="{C183D7F6-B498-43B3-948B-1728B52AA6E4}">
                <adec:decorative xmlns:adec="http://schemas.microsoft.com/office/drawing/2017/decorative" val="1"/>
              </a:ext>
            </a:extLst>
          </p:cNvPr>
          <p:cNvSpPr/>
          <p:nvPr/>
        </p:nvSpPr>
        <p:spPr>
          <a:xfrm>
            <a:off x="685800" y="2907792"/>
            <a:ext cx="3383280" cy="429768"/>
          </a:xfrm>
          <a:prstGeom prst="rect">
            <a:avLst/>
          </a:prstGeom>
          <a:solidFill>
            <a:srgbClr val="123E64"/>
          </a:solidFill>
          <a:ln w="12700">
            <a:solidFill>
              <a:srgbClr val="333333"/>
            </a:solidFill>
            <a:prstDash val="solid"/>
          </a:ln>
        </p:spPr>
        <p:txBody>
          <a:bodyPr/>
          <a:lstStyle/>
          <a:p>
            <a:endParaRPr lang="en-IN"/>
          </a:p>
        </p:txBody>
      </p:sp>
      <p:sp>
        <p:nvSpPr>
          <p:cNvPr id="16" name="Text 14"/>
          <p:cNvSpPr/>
          <p:nvPr/>
        </p:nvSpPr>
        <p:spPr>
          <a:xfrm>
            <a:off x="804672" y="2935224"/>
            <a:ext cx="3200400" cy="182880"/>
          </a:xfrm>
          <a:prstGeom prst="rect">
            <a:avLst/>
          </a:prstGeom>
          <a:noFill/>
          <a:ln/>
        </p:spPr>
        <p:txBody>
          <a:bodyPr wrap="square" lIns="0" tIns="0" rIns="0" bIns="0"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Scheduler</a:t>
            </a:r>
            <a:endParaRPr lang="en-US" sz="1050" dirty="0"/>
          </a:p>
        </p:txBody>
      </p:sp>
      <p:sp>
        <p:nvSpPr>
          <p:cNvPr id="17" name="Text 15"/>
          <p:cNvSpPr/>
          <p:nvPr/>
        </p:nvSpPr>
        <p:spPr>
          <a:xfrm>
            <a:off x="804672" y="3108960"/>
            <a:ext cx="3200400" cy="201168"/>
          </a:xfrm>
          <a:prstGeom prst="rect">
            <a:avLst/>
          </a:prstGeom>
          <a:noFill/>
          <a:ln/>
        </p:spPr>
        <p:txBody>
          <a:bodyPr wrap="square" lIns="0" tIns="0" rIns="0" bIns="0" rtlCol="0" anchor="ctr"/>
          <a:lstStyle/>
          <a:p>
            <a:pPr marL="0" indent="0">
              <a:buNone/>
            </a:pPr>
            <a:r>
              <a:rPr lang="en-US" sz="850" dirty="0">
                <a:solidFill>
                  <a:srgbClr val="A9C9E2"/>
                </a:solidFill>
                <a:latin typeface="Segoe UI" pitchFamily="34" charset="0"/>
                <a:ea typeface="Segoe UI" pitchFamily="34" charset="-122"/>
                <a:cs typeface="Segoe UI" pitchFamily="34" charset="-120"/>
              </a:rPr>
              <a:t>Decides which node each new Pod runs on.</a:t>
            </a:r>
            <a:endParaRPr lang="en-US" sz="850" dirty="0"/>
          </a:p>
        </p:txBody>
      </p:sp>
      <p:sp>
        <p:nvSpPr>
          <p:cNvPr id="18" name="component box">
            <a:extLst>
              <a:ext uri="{C183D7F6-B498-43B3-948B-1728B52AA6E4}">
                <adec:decorative xmlns:adec="http://schemas.microsoft.com/office/drawing/2017/decorative" val="1"/>
              </a:ext>
            </a:extLst>
          </p:cNvPr>
          <p:cNvSpPr/>
          <p:nvPr/>
        </p:nvSpPr>
        <p:spPr>
          <a:xfrm>
            <a:off x="685800" y="3410712"/>
            <a:ext cx="3383280" cy="429768"/>
          </a:xfrm>
          <a:prstGeom prst="rect">
            <a:avLst/>
          </a:prstGeom>
          <a:solidFill>
            <a:srgbClr val="123E64"/>
          </a:solidFill>
          <a:ln w="12700">
            <a:solidFill>
              <a:srgbClr val="333333"/>
            </a:solidFill>
            <a:prstDash val="solid"/>
          </a:ln>
        </p:spPr>
        <p:txBody>
          <a:bodyPr/>
          <a:lstStyle/>
          <a:p>
            <a:endParaRPr lang="en-IN"/>
          </a:p>
        </p:txBody>
      </p:sp>
      <p:sp>
        <p:nvSpPr>
          <p:cNvPr id="19" name="Text 17"/>
          <p:cNvSpPr/>
          <p:nvPr/>
        </p:nvSpPr>
        <p:spPr>
          <a:xfrm>
            <a:off x="804672" y="3438144"/>
            <a:ext cx="3200400" cy="182880"/>
          </a:xfrm>
          <a:prstGeom prst="rect">
            <a:avLst/>
          </a:prstGeom>
          <a:noFill/>
          <a:ln/>
        </p:spPr>
        <p:txBody>
          <a:bodyPr wrap="square" lIns="0" tIns="0" rIns="0" bIns="0" rtlCol="0" anchor="ctr"/>
          <a:lstStyle/>
          <a:p>
            <a:pPr marL="0" indent="0">
              <a:buNone/>
            </a:pPr>
            <a:r>
              <a:rPr lang="en-US" sz="1050" b="1" dirty="0">
                <a:solidFill>
                  <a:srgbClr val="FFFFFF"/>
                </a:solidFill>
                <a:latin typeface="Segoe UI" pitchFamily="34" charset="0"/>
                <a:ea typeface="Segoe UI" pitchFamily="34" charset="-122"/>
                <a:cs typeface="Segoe UI" pitchFamily="34" charset="-120"/>
              </a:rPr>
              <a:t>Controller manager</a:t>
            </a:r>
            <a:endParaRPr lang="en-US" sz="1050" dirty="0"/>
          </a:p>
        </p:txBody>
      </p:sp>
      <p:sp>
        <p:nvSpPr>
          <p:cNvPr id="20" name="Text 18"/>
          <p:cNvSpPr/>
          <p:nvPr/>
        </p:nvSpPr>
        <p:spPr>
          <a:xfrm>
            <a:off x="804672" y="3611880"/>
            <a:ext cx="3200400" cy="201168"/>
          </a:xfrm>
          <a:prstGeom prst="rect">
            <a:avLst/>
          </a:prstGeom>
          <a:noFill/>
          <a:ln/>
        </p:spPr>
        <p:txBody>
          <a:bodyPr wrap="square" lIns="0" tIns="0" rIns="0" bIns="0" rtlCol="0" anchor="ctr"/>
          <a:lstStyle/>
          <a:p>
            <a:pPr marL="0" indent="0">
              <a:buNone/>
            </a:pPr>
            <a:r>
              <a:rPr lang="en-US" sz="850" dirty="0">
                <a:solidFill>
                  <a:srgbClr val="A9C9E2"/>
                </a:solidFill>
                <a:latin typeface="Segoe UI" pitchFamily="34" charset="0"/>
                <a:ea typeface="Segoe UI" pitchFamily="34" charset="-122"/>
                <a:cs typeface="Segoe UI" pitchFamily="34" charset="-120"/>
              </a:rPr>
              <a:t>Watches state and drives reality towards the declaration.</a:t>
            </a:r>
            <a:endParaRPr lang="en-US" sz="850" dirty="0"/>
          </a:p>
        </p:txBody>
      </p:sp>
      <p:sp>
        <p:nvSpPr>
          <p:cNvPr id="21" name="node panel">
            <a:extLst>
              <a:ext uri="{C183D7F6-B498-43B3-948B-1728B52AA6E4}">
                <adec:decorative xmlns:adec="http://schemas.microsoft.com/office/drawing/2017/decorative" val="1"/>
              </a:ext>
            </a:extLst>
          </p:cNvPr>
          <p:cNvSpPr/>
          <p:nvPr/>
        </p:nvSpPr>
        <p:spPr>
          <a:xfrm>
            <a:off x="4892040" y="1463040"/>
            <a:ext cx="3749040" cy="2514600"/>
          </a:xfrm>
          <a:prstGeom prst="rect">
            <a:avLst/>
          </a:prstGeom>
          <a:solidFill>
            <a:srgbClr val="F6F9FD"/>
          </a:solidFill>
          <a:ln w="9525">
            <a:solidFill>
              <a:srgbClr val="D8E5F2"/>
            </a:solidFill>
            <a:prstDash val="solid"/>
          </a:ln>
        </p:spPr>
        <p:txBody>
          <a:bodyPr/>
          <a:lstStyle/>
          <a:p>
            <a:endParaRPr lang="en-IN"/>
          </a:p>
        </p:txBody>
      </p:sp>
      <p:sp>
        <p:nvSpPr>
          <p:cNvPr id="22" name="Text 20"/>
          <p:cNvSpPr/>
          <p:nvPr/>
        </p:nvSpPr>
        <p:spPr>
          <a:xfrm>
            <a:off x="5074920" y="1572768"/>
            <a:ext cx="3383280" cy="256032"/>
          </a:xfrm>
          <a:prstGeom prst="rect">
            <a:avLst/>
          </a:prstGeom>
          <a:noFill/>
          <a:ln/>
        </p:spPr>
        <p:txBody>
          <a:bodyPr wrap="square" lIns="0" tIns="0" rIns="0" bIns="0" rtlCol="0" anchor="ctr"/>
          <a:lstStyle/>
          <a:p>
            <a:pPr marL="0" indent="0">
              <a:buNone/>
            </a:pPr>
            <a:r>
              <a:rPr lang="en-US" sz="950" b="1" kern="0" spc="120" dirty="0">
                <a:solidFill>
                  <a:srgbClr val="0B63CE"/>
                </a:solidFill>
                <a:latin typeface="Segoe UI" pitchFamily="34" charset="0"/>
                <a:ea typeface="Segoe UI" pitchFamily="34" charset="-122"/>
                <a:cs typeface="Segoe UI" pitchFamily="34" charset="-120"/>
              </a:rPr>
              <a:t>AGENT NODES   ·   where your Pods run</a:t>
            </a:r>
            <a:endParaRPr lang="en-US" sz="950" dirty="0"/>
          </a:p>
        </p:txBody>
      </p:sp>
      <p:sp>
        <p:nvSpPr>
          <p:cNvPr id="23" name="node box">
            <a:extLst>
              <a:ext uri="{C183D7F6-B498-43B3-948B-1728B52AA6E4}">
                <adec:decorative xmlns:adec="http://schemas.microsoft.com/office/drawing/2017/decorative" val="1"/>
              </a:ext>
            </a:extLst>
          </p:cNvPr>
          <p:cNvSpPr/>
          <p:nvPr/>
        </p:nvSpPr>
        <p:spPr>
          <a:xfrm>
            <a:off x="5074920" y="1901952"/>
            <a:ext cx="1600200" cy="1874520"/>
          </a:xfrm>
          <a:prstGeom prst="rect">
            <a:avLst/>
          </a:prstGeom>
          <a:solidFill>
            <a:srgbClr val="FFFFFF"/>
          </a:solidFill>
          <a:ln w="12700">
            <a:solidFill>
              <a:srgbClr val="0B63CE"/>
            </a:solidFill>
            <a:prstDash val="solid"/>
          </a:ln>
        </p:spPr>
        <p:txBody>
          <a:bodyPr/>
          <a:lstStyle/>
          <a:p>
            <a:endParaRPr lang="en-IN"/>
          </a:p>
        </p:txBody>
      </p:sp>
      <p:sp>
        <p:nvSpPr>
          <p:cNvPr id="24" name="Text 22"/>
          <p:cNvSpPr/>
          <p:nvPr/>
        </p:nvSpPr>
        <p:spPr>
          <a:xfrm>
            <a:off x="5148072" y="1956816"/>
            <a:ext cx="1463040" cy="219456"/>
          </a:xfrm>
          <a:prstGeom prst="rect">
            <a:avLst/>
          </a:prstGeom>
          <a:noFill/>
          <a:ln/>
        </p:spPr>
        <p:txBody>
          <a:bodyPr wrap="square" lIns="0" tIns="0" rIns="0" bIns="0" rtlCol="0" anchor="ctr"/>
          <a:lstStyle/>
          <a:p>
            <a:pPr marL="0" indent="0" algn="ctr">
              <a:buNone/>
            </a:pPr>
            <a:r>
              <a:rPr lang="en-US" sz="1000" b="1" dirty="0">
                <a:solidFill>
                  <a:srgbClr val="0E2233"/>
                </a:solidFill>
                <a:latin typeface="Segoe UI" pitchFamily="34" charset="0"/>
                <a:ea typeface="Segoe UI" pitchFamily="34" charset="-122"/>
                <a:cs typeface="Segoe UI" pitchFamily="34" charset="-120"/>
              </a:rPr>
              <a:t>Node 1</a:t>
            </a:r>
            <a:endParaRPr lang="en-US" sz="1000" dirty="0"/>
          </a:p>
        </p:txBody>
      </p:sp>
      <p:sp>
        <p:nvSpPr>
          <p:cNvPr id="25" name="Text 23"/>
          <p:cNvSpPr/>
          <p:nvPr/>
        </p:nvSpPr>
        <p:spPr>
          <a:xfrm>
            <a:off x="5148072" y="2176272"/>
            <a:ext cx="1463040" cy="201168"/>
          </a:xfrm>
          <a:prstGeom prst="rect">
            <a:avLst/>
          </a:prstGeom>
          <a:noFill/>
          <a:ln/>
        </p:spPr>
        <p:txBody>
          <a:bodyPr wrap="square" lIns="0" tIns="0" rIns="0" bIns="0" rtlCol="0" anchor="ctr"/>
          <a:lstStyle/>
          <a:p>
            <a:pPr marL="0" indent="0" algn="ctr">
              <a:buNone/>
            </a:pPr>
            <a:r>
              <a:rPr lang="en-US" sz="800" dirty="0">
                <a:solidFill>
                  <a:srgbClr val="7C8FA3"/>
                </a:solidFill>
                <a:latin typeface="Segoe UI" pitchFamily="34" charset="0"/>
                <a:ea typeface="Segoe UI" pitchFamily="34" charset="-122"/>
                <a:cs typeface="Segoe UI" pitchFamily="34" charset="-120"/>
              </a:rPr>
              <a:t>kubelet  ·  kube-proxy</a:t>
            </a:r>
            <a:endParaRPr lang="en-US" sz="800" dirty="0"/>
          </a:p>
        </p:txBody>
      </p:sp>
      <p:sp>
        <p:nvSpPr>
          <p:cNvPr id="26" name="pod box">
            <a:extLst>
              <a:ext uri="{C183D7F6-B498-43B3-948B-1728B52AA6E4}">
                <adec:decorative xmlns:adec="http://schemas.microsoft.com/office/drawing/2017/decorative" val="1"/>
              </a:ext>
            </a:extLst>
          </p:cNvPr>
          <p:cNvSpPr/>
          <p:nvPr/>
        </p:nvSpPr>
        <p:spPr>
          <a:xfrm>
            <a:off x="5202936" y="2450592"/>
            <a:ext cx="1344168" cy="475488"/>
          </a:xfrm>
          <a:prstGeom prst="rect">
            <a:avLst/>
          </a:prstGeom>
          <a:solidFill>
            <a:srgbClr val="EDF4FC"/>
          </a:solidFill>
          <a:ln w="9525">
            <a:solidFill>
              <a:srgbClr val="17A9DB"/>
            </a:solidFill>
            <a:prstDash val="solid"/>
          </a:ln>
        </p:spPr>
        <p:txBody>
          <a:bodyPr/>
          <a:lstStyle/>
          <a:p>
            <a:endParaRPr lang="en-IN"/>
          </a:p>
        </p:txBody>
      </p:sp>
      <p:sp>
        <p:nvSpPr>
          <p:cNvPr id="27" name="Text 25"/>
          <p:cNvSpPr/>
          <p:nvPr/>
        </p:nvSpPr>
        <p:spPr>
          <a:xfrm>
            <a:off x="5202936" y="2450592"/>
            <a:ext cx="1344168" cy="475488"/>
          </a:xfrm>
          <a:prstGeom prst="rect">
            <a:avLst/>
          </a:prstGeom>
          <a:noFill/>
          <a:ln/>
        </p:spPr>
        <p:txBody>
          <a:bodyPr wrap="square" lIns="0" tIns="0" rIns="0" bIns="0" rtlCol="0" anchor="ctr"/>
          <a:lstStyle/>
          <a:p>
            <a:pPr marL="0" indent="0" algn="ctr">
              <a:buNone/>
            </a:pPr>
            <a:r>
              <a:rPr lang="en-US" sz="950" b="1" dirty="0">
                <a:solidFill>
                  <a:srgbClr val="0A2E4E"/>
                </a:solidFill>
                <a:latin typeface="Segoe UI" pitchFamily="34" charset="0"/>
                <a:ea typeface="Segoe UI" pitchFamily="34" charset="-122"/>
                <a:cs typeface="Segoe UI" pitchFamily="34" charset="-120"/>
              </a:rPr>
              <a:t>Pod</a:t>
            </a:r>
            <a:endParaRPr lang="en-US" sz="950" dirty="0"/>
          </a:p>
        </p:txBody>
      </p:sp>
      <p:sp>
        <p:nvSpPr>
          <p:cNvPr id="28" name="pod box">
            <a:extLst>
              <a:ext uri="{C183D7F6-B498-43B3-948B-1728B52AA6E4}">
                <adec:decorative xmlns:adec="http://schemas.microsoft.com/office/drawing/2017/decorative" val="1"/>
              </a:ext>
            </a:extLst>
          </p:cNvPr>
          <p:cNvSpPr/>
          <p:nvPr/>
        </p:nvSpPr>
        <p:spPr>
          <a:xfrm>
            <a:off x="5202936" y="3017520"/>
            <a:ext cx="1344168" cy="475488"/>
          </a:xfrm>
          <a:prstGeom prst="rect">
            <a:avLst/>
          </a:prstGeom>
          <a:solidFill>
            <a:srgbClr val="EDF4FC"/>
          </a:solidFill>
          <a:ln w="9525">
            <a:solidFill>
              <a:srgbClr val="17A9DB"/>
            </a:solidFill>
            <a:prstDash val="solid"/>
          </a:ln>
        </p:spPr>
        <p:txBody>
          <a:bodyPr/>
          <a:lstStyle/>
          <a:p>
            <a:endParaRPr lang="en-IN"/>
          </a:p>
        </p:txBody>
      </p:sp>
      <p:sp>
        <p:nvSpPr>
          <p:cNvPr id="29" name="Text 27"/>
          <p:cNvSpPr/>
          <p:nvPr/>
        </p:nvSpPr>
        <p:spPr>
          <a:xfrm>
            <a:off x="5202936" y="3017520"/>
            <a:ext cx="1344168" cy="475488"/>
          </a:xfrm>
          <a:prstGeom prst="rect">
            <a:avLst/>
          </a:prstGeom>
          <a:noFill/>
          <a:ln/>
        </p:spPr>
        <p:txBody>
          <a:bodyPr wrap="square" lIns="0" tIns="0" rIns="0" bIns="0" rtlCol="0" anchor="ctr"/>
          <a:lstStyle/>
          <a:p>
            <a:pPr marL="0" indent="0" algn="ctr">
              <a:buNone/>
            </a:pPr>
            <a:r>
              <a:rPr lang="en-US" sz="950" b="1" dirty="0">
                <a:solidFill>
                  <a:srgbClr val="0A2E4E"/>
                </a:solidFill>
                <a:latin typeface="Segoe UI" pitchFamily="34" charset="0"/>
                <a:ea typeface="Segoe UI" pitchFamily="34" charset="-122"/>
                <a:cs typeface="Segoe UI" pitchFamily="34" charset="-120"/>
              </a:rPr>
              <a:t>Pod</a:t>
            </a:r>
            <a:endParaRPr lang="en-US" sz="950" dirty="0"/>
          </a:p>
        </p:txBody>
      </p:sp>
      <p:sp>
        <p:nvSpPr>
          <p:cNvPr id="30" name="node box">
            <a:extLst>
              <a:ext uri="{C183D7F6-B498-43B3-948B-1728B52AA6E4}">
                <adec:decorative xmlns:adec="http://schemas.microsoft.com/office/drawing/2017/decorative" val="1"/>
              </a:ext>
            </a:extLst>
          </p:cNvPr>
          <p:cNvSpPr/>
          <p:nvPr/>
        </p:nvSpPr>
        <p:spPr>
          <a:xfrm>
            <a:off x="6812280" y="1901952"/>
            <a:ext cx="1600200" cy="1874520"/>
          </a:xfrm>
          <a:prstGeom prst="rect">
            <a:avLst/>
          </a:prstGeom>
          <a:solidFill>
            <a:srgbClr val="FFFFFF"/>
          </a:solidFill>
          <a:ln w="12700">
            <a:solidFill>
              <a:srgbClr val="0B63CE"/>
            </a:solidFill>
            <a:prstDash val="solid"/>
          </a:ln>
        </p:spPr>
        <p:txBody>
          <a:bodyPr/>
          <a:lstStyle/>
          <a:p>
            <a:endParaRPr lang="en-IN"/>
          </a:p>
        </p:txBody>
      </p:sp>
      <p:sp>
        <p:nvSpPr>
          <p:cNvPr id="31" name="Text 29"/>
          <p:cNvSpPr/>
          <p:nvPr/>
        </p:nvSpPr>
        <p:spPr>
          <a:xfrm>
            <a:off x="6885432" y="1956816"/>
            <a:ext cx="1463040" cy="219456"/>
          </a:xfrm>
          <a:prstGeom prst="rect">
            <a:avLst/>
          </a:prstGeom>
          <a:noFill/>
          <a:ln/>
        </p:spPr>
        <p:txBody>
          <a:bodyPr wrap="square" lIns="0" tIns="0" rIns="0" bIns="0" rtlCol="0" anchor="ctr"/>
          <a:lstStyle/>
          <a:p>
            <a:pPr marL="0" indent="0" algn="ctr">
              <a:buNone/>
            </a:pPr>
            <a:r>
              <a:rPr lang="en-US" sz="1000" b="1" dirty="0">
                <a:solidFill>
                  <a:srgbClr val="0E2233"/>
                </a:solidFill>
                <a:latin typeface="Segoe UI" pitchFamily="34" charset="0"/>
                <a:ea typeface="Segoe UI" pitchFamily="34" charset="-122"/>
                <a:cs typeface="Segoe UI" pitchFamily="34" charset="-120"/>
              </a:rPr>
              <a:t>Node 2</a:t>
            </a:r>
            <a:endParaRPr lang="en-US" sz="1000" dirty="0"/>
          </a:p>
        </p:txBody>
      </p:sp>
      <p:sp>
        <p:nvSpPr>
          <p:cNvPr id="32" name="Text 30"/>
          <p:cNvSpPr/>
          <p:nvPr/>
        </p:nvSpPr>
        <p:spPr>
          <a:xfrm>
            <a:off x="6885432" y="2176272"/>
            <a:ext cx="1463040" cy="201168"/>
          </a:xfrm>
          <a:prstGeom prst="rect">
            <a:avLst/>
          </a:prstGeom>
          <a:noFill/>
          <a:ln/>
        </p:spPr>
        <p:txBody>
          <a:bodyPr wrap="square" lIns="0" tIns="0" rIns="0" bIns="0" rtlCol="0" anchor="ctr"/>
          <a:lstStyle/>
          <a:p>
            <a:pPr marL="0" indent="0" algn="ctr">
              <a:buNone/>
            </a:pPr>
            <a:r>
              <a:rPr lang="en-US" sz="800" dirty="0">
                <a:solidFill>
                  <a:srgbClr val="7C8FA3"/>
                </a:solidFill>
                <a:latin typeface="Segoe UI" pitchFamily="34" charset="0"/>
                <a:ea typeface="Segoe UI" pitchFamily="34" charset="-122"/>
                <a:cs typeface="Segoe UI" pitchFamily="34" charset="-120"/>
              </a:rPr>
              <a:t>kubelet  ·  kube-proxy</a:t>
            </a:r>
            <a:endParaRPr lang="en-US" sz="800" dirty="0"/>
          </a:p>
        </p:txBody>
      </p:sp>
      <p:sp>
        <p:nvSpPr>
          <p:cNvPr id="33" name="pod box">
            <a:extLst>
              <a:ext uri="{C183D7F6-B498-43B3-948B-1728B52AA6E4}">
                <adec:decorative xmlns:adec="http://schemas.microsoft.com/office/drawing/2017/decorative" val="1"/>
              </a:ext>
            </a:extLst>
          </p:cNvPr>
          <p:cNvSpPr/>
          <p:nvPr/>
        </p:nvSpPr>
        <p:spPr>
          <a:xfrm>
            <a:off x="6940296" y="2450592"/>
            <a:ext cx="1344168" cy="475488"/>
          </a:xfrm>
          <a:prstGeom prst="rect">
            <a:avLst/>
          </a:prstGeom>
          <a:solidFill>
            <a:srgbClr val="EDF4FC"/>
          </a:solidFill>
          <a:ln w="9525">
            <a:solidFill>
              <a:srgbClr val="17A9DB"/>
            </a:solidFill>
            <a:prstDash val="solid"/>
          </a:ln>
        </p:spPr>
        <p:txBody>
          <a:bodyPr/>
          <a:lstStyle/>
          <a:p>
            <a:endParaRPr lang="en-IN"/>
          </a:p>
        </p:txBody>
      </p:sp>
      <p:sp>
        <p:nvSpPr>
          <p:cNvPr id="34" name="Text 32"/>
          <p:cNvSpPr/>
          <p:nvPr/>
        </p:nvSpPr>
        <p:spPr>
          <a:xfrm>
            <a:off x="6940296" y="2450592"/>
            <a:ext cx="1344168" cy="475488"/>
          </a:xfrm>
          <a:prstGeom prst="rect">
            <a:avLst/>
          </a:prstGeom>
          <a:noFill/>
          <a:ln/>
        </p:spPr>
        <p:txBody>
          <a:bodyPr wrap="square" lIns="0" tIns="0" rIns="0" bIns="0" rtlCol="0" anchor="ctr"/>
          <a:lstStyle/>
          <a:p>
            <a:pPr marL="0" indent="0" algn="ctr">
              <a:buNone/>
            </a:pPr>
            <a:r>
              <a:rPr lang="en-US" sz="950" b="1" dirty="0">
                <a:solidFill>
                  <a:srgbClr val="0A2E4E"/>
                </a:solidFill>
                <a:latin typeface="Segoe UI" pitchFamily="34" charset="0"/>
                <a:ea typeface="Segoe UI" pitchFamily="34" charset="-122"/>
                <a:cs typeface="Segoe UI" pitchFamily="34" charset="-120"/>
              </a:rPr>
              <a:t>Pod</a:t>
            </a:r>
            <a:endParaRPr lang="en-US" sz="950" dirty="0"/>
          </a:p>
        </p:txBody>
      </p:sp>
      <p:sp>
        <p:nvSpPr>
          <p:cNvPr id="35" name="pod box">
            <a:extLst>
              <a:ext uri="{C183D7F6-B498-43B3-948B-1728B52AA6E4}">
                <adec:decorative xmlns:adec="http://schemas.microsoft.com/office/drawing/2017/decorative" val="1"/>
              </a:ext>
            </a:extLst>
          </p:cNvPr>
          <p:cNvSpPr/>
          <p:nvPr/>
        </p:nvSpPr>
        <p:spPr>
          <a:xfrm>
            <a:off x="6940296" y="3017520"/>
            <a:ext cx="1344168" cy="475488"/>
          </a:xfrm>
          <a:prstGeom prst="rect">
            <a:avLst/>
          </a:prstGeom>
          <a:solidFill>
            <a:srgbClr val="EDF4FC"/>
          </a:solidFill>
          <a:ln w="9525">
            <a:solidFill>
              <a:srgbClr val="17A9DB"/>
            </a:solidFill>
            <a:prstDash val="solid"/>
          </a:ln>
        </p:spPr>
        <p:txBody>
          <a:bodyPr/>
          <a:lstStyle/>
          <a:p>
            <a:endParaRPr lang="en-IN"/>
          </a:p>
        </p:txBody>
      </p:sp>
      <p:sp>
        <p:nvSpPr>
          <p:cNvPr id="36" name="Text 34"/>
          <p:cNvSpPr/>
          <p:nvPr/>
        </p:nvSpPr>
        <p:spPr>
          <a:xfrm>
            <a:off x="6940296" y="3017520"/>
            <a:ext cx="1344168" cy="475488"/>
          </a:xfrm>
          <a:prstGeom prst="rect">
            <a:avLst/>
          </a:prstGeom>
          <a:noFill/>
          <a:ln/>
        </p:spPr>
        <p:txBody>
          <a:bodyPr wrap="square" lIns="0" tIns="0" rIns="0" bIns="0" rtlCol="0" anchor="ctr"/>
          <a:lstStyle/>
          <a:p>
            <a:pPr marL="0" indent="0" algn="ctr">
              <a:buNone/>
            </a:pPr>
            <a:r>
              <a:rPr lang="en-US" sz="950" b="1" dirty="0">
                <a:solidFill>
                  <a:srgbClr val="0A2E4E"/>
                </a:solidFill>
                <a:latin typeface="Segoe UI" pitchFamily="34" charset="0"/>
                <a:ea typeface="Segoe UI" pitchFamily="34" charset="-122"/>
                <a:cs typeface="Segoe UI" pitchFamily="34" charset="-120"/>
              </a:rPr>
              <a:t>Pod</a:t>
            </a:r>
            <a:endParaRPr lang="en-US" sz="950" dirty="0"/>
          </a:p>
        </p:txBody>
      </p:sp>
      <p:sp>
        <p:nvSpPr>
          <p:cNvPr id="37" name="flow arrow">
            <a:extLst>
              <a:ext uri="{C183D7F6-B498-43B3-948B-1728B52AA6E4}">
                <adec:decorative xmlns:adec="http://schemas.microsoft.com/office/drawing/2017/decorative" val="1"/>
              </a:ext>
            </a:extLst>
          </p:cNvPr>
          <p:cNvSpPr/>
          <p:nvPr/>
        </p:nvSpPr>
        <p:spPr>
          <a:xfrm>
            <a:off x="4297680" y="2606040"/>
            <a:ext cx="548640" cy="219456"/>
          </a:xfrm>
          <a:prstGeom prst="rightArrow">
            <a:avLst/>
          </a:prstGeom>
          <a:solidFill>
            <a:srgbClr val="17A9DB"/>
          </a:solidFill>
          <a:ln w="12700">
            <a:solidFill>
              <a:srgbClr val="333333"/>
            </a:solidFill>
            <a:prstDash val="solid"/>
          </a:ln>
        </p:spPr>
        <p:txBody>
          <a:bodyPr/>
          <a:lstStyle/>
          <a:p>
            <a:endParaRPr lang="en-IN"/>
          </a:p>
        </p:txBody>
      </p:sp>
      <p:sp>
        <p:nvSpPr>
          <p:cNvPr id="3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40" name="Text 38"/>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Your interaction   </a:t>
            </a:r>
            <a:r>
              <a:rPr lang="en-US" sz="1050" dirty="0">
                <a:solidFill>
                  <a:srgbClr val="0E2233"/>
                </a:solidFill>
                <a:latin typeface="Segoe UI" pitchFamily="34" charset="0"/>
                <a:ea typeface="Segoe UI" pitchFamily="34" charset="-122"/>
                <a:cs typeface="Segoe UI" pitchFamily="34" charset="-120"/>
              </a:rPr>
              <a:t>You submit a manifest to the API server. You never place Pods on nodes yourself — the scheduler does, and controllers keep it that way.</a:t>
            </a:r>
            <a:endParaRPr lang="en-US" sz="1000" dirty="0"/>
          </a:p>
        </p:txBody>
      </p:sp>
      <p:sp>
        <p:nvSpPr>
          <p:cNvPr id="41"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11</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200" b="1" dirty="0">
                <a:solidFill>
                  <a:srgbClr val="0E2233"/>
                </a:solidFill>
                <a:latin typeface="Segoe UI" pitchFamily="34" charset="0"/>
                <a:ea typeface="Segoe UI" pitchFamily="34" charset="-122"/>
                <a:cs typeface="Segoe UI" pitchFamily="34" charset="-120"/>
              </a:rPr>
              <a:t>AKS overview and managed Kubernetes concepts</a:t>
            </a:r>
            <a:endParaRPr lang="en-US" sz="22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00" dirty="0">
                <a:solidFill>
                  <a:srgbClr val="44566B"/>
                </a:solidFill>
                <a:latin typeface="Segoe UI" pitchFamily="34" charset="0"/>
                <a:ea typeface="Segoe UI" pitchFamily="34" charset="-122"/>
                <a:cs typeface="Segoe UI" pitchFamily="34" charset="-120"/>
              </a:rPr>
              <a:t>Azure runs and secures the control plane. You own the workloads and, with the platform team, the node pools.</a:t>
            </a:r>
            <a:endParaRPr lang="en-US" sz="1000" dirty="0"/>
          </a:p>
        </p:txBody>
      </p:sp>
      <p:sp>
        <p:nvSpPr>
          <p:cNvPr id="7" name="card">
            <a:extLst>
              <a:ext uri="{C183D7F6-B498-43B3-948B-1728B52AA6E4}">
                <adec:decorative xmlns:adec="http://schemas.microsoft.com/office/drawing/2017/decorative" val="1"/>
              </a:ext>
            </a:extLst>
          </p:cNvPr>
          <p:cNvSpPr/>
          <p:nvPr/>
        </p:nvSpPr>
        <p:spPr>
          <a:xfrm>
            <a:off x="502920" y="1481328"/>
            <a:ext cx="3968496" cy="1133856"/>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3968496" cy="41148"/>
          </a:xfrm>
          <a:prstGeom prst="rect">
            <a:avLst/>
          </a:prstGeom>
          <a:solidFill>
            <a:srgbClr val="0B63CE"/>
          </a:solidFill>
          <a:ln w="12700">
            <a:solidFill>
              <a:srgbClr val="333333"/>
            </a:solidFill>
            <a:prstDash val="solid"/>
          </a:ln>
        </p:spPr>
        <p:txBody>
          <a:bodyPr/>
          <a:lstStyle/>
          <a:p>
            <a:endParaRPr lang="en-IN"/>
          </a:p>
        </p:txBody>
      </p:sp>
      <p:sp>
        <p:nvSpPr>
          <p:cNvPr id="9" name="Text 7"/>
          <p:cNvSpPr/>
          <p:nvPr/>
        </p:nvSpPr>
        <p:spPr>
          <a:xfrm>
            <a:off x="704088" y="1664208"/>
            <a:ext cx="3566160"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MANAGED</a:t>
            </a:r>
            <a:endParaRPr lang="en-US" sz="900" dirty="0"/>
          </a:p>
        </p:txBody>
      </p:sp>
      <p:sp>
        <p:nvSpPr>
          <p:cNvPr id="10" name="Text 8"/>
          <p:cNvSpPr/>
          <p:nvPr/>
        </p:nvSpPr>
        <p:spPr>
          <a:xfrm>
            <a:off x="704088" y="1920240"/>
            <a:ext cx="3566160" cy="252984"/>
          </a:xfrm>
          <a:prstGeom prst="rect">
            <a:avLst/>
          </a:prstGeom>
          <a:noFill/>
          <a:ln/>
        </p:spPr>
        <p:txBody>
          <a:bodyPr wrap="square" lIns="0" tIns="0" rIns="0" bIns="0" rtlCol="0" anchor="t"/>
          <a:lstStyle/>
          <a:p>
            <a:pPr marL="0" indent="0">
              <a:lnSpc>
                <a:spcPct val="100000"/>
              </a:lnSpc>
              <a:buNone/>
            </a:pPr>
            <a:r>
              <a:rPr lang="en-US" sz="1300" b="1" dirty="0">
                <a:solidFill>
                  <a:srgbClr val="0E2233"/>
                </a:solidFill>
                <a:latin typeface="Segoe UI" pitchFamily="34" charset="0"/>
                <a:ea typeface="Segoe UI" pitchFamily="34" charset="-122"/>
                <a:cs typeface="Segoe UI" pitchFamily="34" charset="-120"/>
              </a:rPr>
              <a:t>Control plane is free and hosted</a:t>
            </a:r>
            <a:endParaRPr lang="en-US" sz="1300" dirty="0"/>
          </a:p>
        </p:txBody>
      </p:sp>
      <p:sp>
        <p:nvSpPr>
          <p:cNvPr id="11" name="Text 9"/>
          <p:cNvSpPr/>
          <p:nvPr/>
        </p:nvSpPr>
        <p:spPr>
          <a:xfrm>
            <a:off x="704088" y="2237232"/>
            <a:ext cx="3566160" cy="195072"/>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Azure operates the API server, etcd, scheduler and controllers, with SLA-backed availability. You do not patch or back them up.</a:t>
            </a:r>
            <a:endParaRPr lang="en-US" sz="900" dirty="0"/>
          </a:p>
        </p:txBody>
      </p:sp>
      <p:sp>
        <p:nvSpPr>
          <p:cNvPr id="12" name="card">
            <a:extLst>
              <a:ext uri="{C183D7F6-B498-43B3-948B-1728B52AA6E4}">
                <adec:decorative xmlns:adec="http://schemas.microsoft.com/office/drawing/2017/decorative" val="1"/>
              </a:ext>
            </a:extLst>
          </p:cNvPr>
          <p:cNvSpPr/>
          <p:nvPr/>
        </p:nvSpPr>
        <p:spPr>
          <a:xfrm>
            <a:off x="4672584" y="1481328"/>
            <a:ext cx="3968496" cy="1133856"/>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4672584" y="1481328"/>
            <a:ext cx="3968496" cy="41148"/>
          </a:xfrm>
          <a:prstGeom prst="rect">
            <a:avLst/>
          </a:prstGeom>
          <a:solidFill>
            <a:srgbClr val="17A9DB"/>
          </a:solidFill>
          <a:ln w="12700">
            <a:solidFill>
              <a:srgbClr val="333333"/>
            </a:solidFill>
            <a:prstDash val="solid"/>
          </a:ln>
        </p:spPr>
        <p:txBody>
          <a:bodyPr/>
          <a:lstStyle/>
          <a:p>
            <a:endParaRPr lang="en-IN"/>
          </a:p>
        </p:txBody>
      </p:sp>
      <p:sp>
        <p:nvSpPr>
          <p:cNvPr id="14" name="Text 12"/>
          <p:cNvSpPr/>
          <p:nvPr/>
        </p:nvSpPr>
        <p:spPr>
          <a:xfrm>
            <a:off x="4873752" y="1664208"/>
            <a:ext cx="3566160" cy="228600"/>
          </a:xfrm>
          <a:prstGeom prst="rect">
            <a:avLst/>
          </a:prstGeom>
          <a:noFill/>
          <a:ln/>
        </p:spPr>
        <p:txBody>
          <a:bodyPr wrap="square" lIns="0" tIns="0" rIns="0" bIns="0" rtlCol="0" anchor="ctr"/>
          <a:lstStyle/>
          <a:p>
            <a:pPr marL="0" indent="0">
              <a:buNone/>
            </a:pPr>
            <a:r>
              <a:rPr lang="en-US" sz="900" b="1" kern="0" spc="120" dirty="0">
                <a:solidFill>
                  <a:srgbClr val="17A9DB"/>
                </a:solidFill>
                <a:latin typeface="Segoe UI" pitchFamily="34" charset="0"/>
                <a:ea typeface="Segoe UI" pitchFamily="34" charset="-122"/>
                <a:cs typeface="Segoe UI" pitchFamily="34" charset="-120"/>
              </a:rPr>
              <a:t>ELASTIC</a:t>
            </a:r>
            <a:endParaRPr lang="en-US" sz="900" dirty="0"/>
          </a:p>
        </p:txBody>
      </p:sp>
      <p:sp>
        <p:nvSpPr>
          <p:cNvPr id="15" name="Text 13"/>
          <p:cNvSpPr/>
          <p:nvPr/>
        </p:nvSpPr>
        <p:spPr>
          <a:xfrm>
            <a:off x="4873752" y="1920240"/>
            <a:ext cx="3566160" cy="252984"/>
          </a:xfrm>
          <a:prstGeom prst="rect">
            <a:avLst/>
          </a:prstGeom>
          <a:noFill/>
          <a:ln/>
        </p:spPr>
        <p:txBody>
          <a:bodyPr wrap="square" lIns="0" tIns="0" rIns="0" bIns="0" rtlCol="0" anchor="t"/>
          <a:lstStyle/>
          <a:p>
            <a:pPr marL="0" indent="0">
              <a:lnSpc>
                <a:spcPct val="100000"/>
              </a:lnSpc>
              <a:buNone/>
            </a:pPr>
            <a:r>
              <a:rPr lang="en-US" sz="1300" b="1" dirty="0">
                <a:solidFill>
                  <a:srgbClr val="0E2233"/>
                </a:solidFill>
                <a:latin typeface="Segoe UI" pitchFamily="34" charset="0"/>
                <a:ea typeface="Segoe UI" pitchFamily="34" charset="-122"/>
                <a:cs typeface="Segoe UI" pitchFamily="34" charset="-120"/>
              </a:rPr>
              <a:t>Node pools you can size</a:t>
            </a:r>
            <a:endParaRPr lang="en-US" sz="1300" dirty="0"/>
          </a:p>
        </p:txBody>
      </p:sp>
      <p:sp>
        <p:nvSpPr>
          <p:cNvPr id="16" name="Text 14"/>
          <p:cNvSpPr/>
          <p:nvPr/>
        </p:nvSpPr>
        <p:spPr>
          <a:xfrm>
            <a:off x="4873752" y="2237232"/>
            <a:ext cx="3566160" cy="195072"/>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Agent nodes are Azure virtual machines grouped into pools, with the cluster autoscaler adding and removing nodes on demand.</a:t>
            </a:r>
            <a:endParaRPr lang="en-US" sz="900" dirty="0"/>
          </a:p>
        </p:txBody>
      </p:sp>
      <p:sp>
        <p:nvSpPr>
          <p:cNvPr id="17" name="card">
            <a:extLst>
              <a:ext uri="{C183D7F6-B498-43B3-948B-1728B52AA6E4}">
                <adec:decorative xmlns:adec="http://schemas.microsoft.com/office/drawing/2017/decorative" val="1"/>
              </a:ext>
            </a:extLst>
          </p:cNvPr>
          <p:cNvSpPr/>
          <p:nvPr/>
        </p:nvSpPr>
        <p:spPr>
          <a:xfrm>
            <a:off x="502920" y="2816352"/>
            <a:ext cx="3968496" cy="1133856"/>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502920" y="2816352"/>
            <a:ext cx="3968496" cy="41148"/>
          </a:xfrm>
          <a:prstGeom prst="rect">
            <a:avLst/>
          </a:prstGeom>
          <a:solidFill>
            <a:srgbClr val="0B63CE"/>
          </a:solidFill>
          <a:ln w="12700">
            <a:solidFill>
              <a:srgbClr val="333333"/>
            </a:solidFill>
            <a:prstDash val="solid"/>
          </a:ln>
        </p:spPr>
        <p:txBody>
          <a:bodyPr/>
          <a:lstStyle/>
          <a:p>
            <a:endParaRPr lang="en-IN"/>
          </a:p>
        </p:txBody>
      </p:sp>
      <p:sp>
        <p:nvSpPr>
          <p:cNvPr id="19" name="Text 17"/>
          <p:cNvSpPr/>
          <p:nvPr/>
        </p:nvSpPr>
        <p:spPr>
          <a:xfrm>
            <a:off x="704088" y="2999232"/>
            <a:ext cx="3566160"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INTEGRATED</a:t>
            </a:r>
            <a:endParaRPr lang="en-US" sz="900" dirty="0"/>
          </a:p>
        </p:txBody>
      </p:sp>
      <p:sp>
        <p:nvSpPr>
          <p:cNvPr id="20" name="Text 18"/>
          <p:cNvSpPr/>
          <p:nvPr/>
        </p:nvSpPr>
        <p:spPr>
          <a:xfrm>
            <a:off x="704088" y="3255264"/>
            <a:ext cx="3566160" cy="252984"/>
          </a:xfrm>
          <a:prstGeom prst="rect">
            <a:avLst/>
          </a:prstGeom>
          <a:noFill/>
          <a:ln/>
        </p:spPr>
        <p:txBody>
          <a:bodyPr wrap="square" lIns="0" tIns="0" rIns="0" bIns="0" rtlCol="0" anchor="t"/>
          <a:lstStyle/>
          <a:p>
            <a:pPr marL="0" indent="0">
              <a:lnSpc>
                <a:spcPct val="100000"/>
              </a:lnSpc>
              <a:buNone/>
            </a:pPr>
            <a:r>
              <a:rPr lang="en-US" sz="1300" b="1" dirty="0">
                <a:solidFill>
                  <a:srgbClr val="0E2233"/>
                </a:solidFill>
                <a:latin typeface="Segoe UI" pitchFamily="34" charset="0"/>
                <a:ea typeface="Segoe UI" pitchFamily="34" charset="-122"/>
                <a:cs typeface="Segoe UI" pitchFamily="34" charset="-120"/>
              </a:rPr>
              <a:t>Native Azure services</a:t>
            </a:r>
            <a:endParaRPr lang="en-US" sz="1300" dirty="0"/>
          </a:p>
        </p:txBody>
      </p:sp>
      <p:sp>
        <p:nvSpPr>
          <p:cNvPr id="21" name="Text 19"/>
          <p:cNvSpPr/>
          <p:nvPr/>
        </p:nvSpPr>
        <p:spPr>
          <a:xfrm>
            <a:off x="704088" y="3572256"/>
            <a:ext cx="3566160" cy="195072"/>
          </a:xfrm>
          <a:prstGeom prst="rect">
            <a:avLst/>
          </a:prstGeom>
          <a:noFill/>
          <a:ln/>
        </p:spPr>
        <p:txBody>
          <a:bodyPr wrap="square" lIns="0" tIns="0" rIns="0" bIns="0" rtlCol="0" anchor="t"/>
          <a:lstStyle/>
          <a:p>
            <a:pPr marL="0" indent="0">
              <a:lnSpc>
                <a:spcPct val="115000"/>
              </a:lnSpc>
              <a:buNone/>
            </a:pPr>
            <a:r>
              <a:rPr lang="en-US" sz="1000" dirty="0">
                <a:solidFill>
                  <a:srgbClr val="44566B"/>
                </a:solidFill>
                <a:latin typeface="Segoe UI" pitchFamily="34" charset="0"/>
                <a:ea typeface="Segoe UI" pitchFamily="34" charset="-122"/>
                <a:cs typeface="Segoe UI" pitchFamily="34" charset="-120"/>
              </a:rPr>
              <a:t>Microsoft Entra ID for identity, Azure Monitor for logs and metrics, ACR for images, Key Vault for secrets, Azure Disk and Files for storage.</a:t>
            </a:r>
            <a:endParaRPr lang="en-US" sz="1000" dirty="0"/>
          </a:p>
        </p:txBody>
      </p:sp>
      <p:sp>
        <p:nvSpPr>
          <p:cNvPr id="22" name="card">
            <a:extLst>
              <a:ext uri="{C183D7F6-B498-43B3-948B-1728B52AA6E4}">
                <adec:decorative xmlns:adec="http://schemas.microsoft.com/office/drawing/2017/decorative" val="1"/>
              </a:ext>
            </a:extLst>
          </p:cNvPr>
          <p:cNvSpPr/>
          <p:nvPr/>
        </p:nvSpPr>
        <p:spPr>
          <a:xfrm>
            <a:off x="4672584" y="2816352"/>
            <a:ext cx="3968496" cy="1133856"/>
          </a:xfrm>
          <a:prstGeom prst="rect">
            <a:avLst/>
          </a:prstGeom>
          <a:solidFill>
            <a:srgbClr val="F6F9FD"/>
          </a:solidFill>
          <a:ln w="9525">
            <a:solidFill>
              <a:srgbClr val="D8E5F2"/>
            </a:solidFill>
            <a:prstDash val="solid"/>
          </a:ln>
        </p:spPr>
        <p:txBody>
          <a:bodyPr/>
          <a:lstStyle/>
          <a:p>
            <a:endParaRPr lang="en-IN"/>
          </a:p>
        </p:txBody>
      </p:sp>
      <p:sp>
        <p:nvSpPr>
          <p:cNvPr id="23" name="card accent">
            <a:extLst>
              <a:ext uri="{C183D7F6-B498-43B3-948B-1728B52AA6E4}">
                <adec:decorative xmlns:adec="http://schemas.microsoft.com/office/drawing/2017/decorative" val="1"/>
              </a:ext>
            </a:extLst>
          </p:cNvPr>
          <p:cNvSpPr/>
          <p:nvPr/>
        </p:nvSpPr>
        <p:spPr>
          <a:xfrm>
            <a:off x="4672584" y="2816352"/>
            <a:ext cx="3968496" cy="41148"/>
          </a:xfrm>
          <a:prstGeom prst="rect">
            <a:avLst/>
          </a:prstGeom>
          <a:solidFill>
            <a:srgbClr val="17A9DB"/>
          </a:solidFill>
          <a:ln w="12700">
            <a:solidFill>
              <a:srgbClr val="333333"/>
            </a:solidFill>
            <a:prstDash val="solid"/>
          </a:ln>
        </p:spPr>
        <p:txBody>
          <a:bodyPr/>
          <a:lstStyle/>
          <a:p>
            <a:endParaRPr lang="en-IN"/>
          </a:p>
        </p:txBody>
      </p:sp>
      <p:sp>
        <p:nvSpPr>
          <p:cNvPr id="24" name="Text 22"/>
          <p:cNvSpPr/>
          <p:nvPr/>
        </p:nvSpPr>
        <p:spPr>
          <a:xfrm>
            <a:off x="4873752" y="2999232"/>
            <a:ext cx="3566160" cy="228600"/>
          </a:xfrm>
          <a:prstGeom prst="rect">
            <a:avLst/>
          </a:prstGeom>
          <a:noFill/>
          <a:ln/>
        </p:spPr>
        <p:txBody>
          <a:bodyPr wrap="square" lIns="0" tIns="0" rIns="0" bIns="0" rtlCol="0" anchor="ctr"/>
          <a:lstStyle/>
          <a:p>
            <a:pPr marL="0" indent="0">
              <a:buNone/>
            </a:pPr>
            <a:r>
              <a:rPr lang="en-US" sz="900" b="1" kern="0" spc="120" dirty="0">
                <a:solidFill>
                  <a:srgbClr val="17A9DB"/>
                </a:solidFill>
                <a:latin typeface="Segoe UI" pitchFamily="34" charset="0"/>
                <a:ea typeface="Segoe UI" pitchFamily="34" charset="-122"/>
                <a:cs typeface="Segoe UI" pitchFamily="34" charset="-120"/>
              </a:rPr>
              <a:t>STANDARD</a:t>
            </a:r>
            <a:endParaRPr lang="en-US" sz="900" dirty="0"/>
          </a:p>
        </p:txBody>
      </p:sp>
      <p:sp>
        <p:nvSpPr>
          <p:cNvPr id="25" name="Text 23"/>
          <p:cNvSpPr/>
          <p:nvPr/>
        </p:nvSpPr>
        <p:spPr>
          <a:xfrm>
            <a:off x="4873752" y="3255264"/>
            <a:ext cx="3566160" cy="252984"/>
          </a:xfrm>
          <a:prstGeom prst="rect">
            <a:avLst/>
          </a:prstGeom>
          <a:noFill/>
          <a:ln/>
        </p:spPr>
        <p:txBody>
          <a:bodyPr wrap="square" lIns="0" tIns="0" rIns="0" bIns="0" rtlCol="0" anchor="t"/>
          <a:lstStyle/>
          <a:p>
            <a:pPr marL="0" indent="0">
              <a:lnSpc>
                <a:spcPct val="100000"/>
              </a:lnSpc>
              <a:buNone/>
            </a:pPr>
            <a:r>
              <a:rPr lang="en-US" sz="1300" b="1" dirty="0">
                <a:solidFill>
                  <a:srgbClr val="0E2233"/>
                </a:solidFill>
                <a:latin typeface="Segoe UI" pitchFamily="34" charset="0"/>
                <a:ea typeface="Segoe UI" pitchFamily="34" charset="-122"/>
                <a:cs typeface="Segoe UI" pitchFamily="34" charset="-120"/>
              </a:rPr>
              <a:t>Plain, upstream Kubernetes</a:t>
            </a:r>
            <a:endParaRPr lang="en-US" sz="1300" dirty="0"/>
          </a:p>
        </p:txBody>
      </p:sp>
      <p:sp>
        <p:nvSpPr>
          <p:cNvPr id="26" name="Text 24"/>
          <p:cNvSpPr/>
          <p:nvPr/>
        </p:nvSpPr>
        <p:spPr>
          <a:xfrm>
            <a:off x="4873752" y="3572256"/>
            <a:ext cx="3566160" cy="195072"/>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The same API and manifests as any conformant cluster — your YAML is portable and your skills transfer.</a:t>
            </a:r>
            <a:endParaRPr lang="en-US" sz="900" dirty="0"/>
          </a:p>
        </p:txBody>
      </p:sp>
      <p:sp>
        <p:nvSpPr>
          <p:cNvPr id="27"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8"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29" name="Text 2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Commercial note   </a:t>
            </a:r>
            <a:r>
              <a:rPr lang="en-US" sz="1050" dirty="0">
                <a:solidFill>
                  <a:srgbClr val="0E2233"/>
                </a:solidFill>
                <a:latin typeface="Segoe UI" pitchFamily="34" charset="0"/>
                <a:ea typeface="Segoe UI" pitchFamily="34" charset="-122"/>
                <a:cs typeface="Segoe UI" pitchFamily="34" charset="-120"/>
              </a:rPr>
              <a:t>You pay for the agent nodes and the resources they consume, not for the managed control plane in the standard tier.</a:t>
            </a:r>
            <a:endParaRPr lang="en-US" sz="1000" dirty="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1 · INTRODUCTION TO CONTAINERS AND KUBERNETES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Who owns what on AKS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Knowing the boundary tells you who to call — and what you cannot blame the platform for.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3839203971"/>
              </p:ext>
            </p:extLst>
          </p:nvPr>
        </p:nvGraphicFramePr>
        <p:xfrm>
          <a:off x="512064" y="1399032"/>
          <a:ext cx="8138160" cy="2650888"/>
        </p:xfrm>
        <a:graphic>
          <a:graphicData uri="http://schemas.openxmlformats.org/drawingml/2006/table">
            <a:tbl>
              <a:tblPr/>
              <a:tblGrid>
                <a:gridCol w="16916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57922">
                <a:tc>
                  <a:txBody>
                    <a:bodyPr/>
                    <a:lstStyle/>
                    <a:p>
                      <a:pPr marL="0" indent="0" algn="l">
                        <a:buNone/>
                      </a:pPr>
                      <a:r>
                        <a:rPr lang="en-US" sz="1000" b="1" dirty="0">
                          <a:solidFill>
                            <a:srgbClr val="FFFFFF"/>
                          </a:solidFill>
                          <a:latin typeface="Segoe UI" pitchFamily="34" charset="0"/>
                          <a:ea typeface="Segoe UI" pitchFamily="34" charset="-122"/>
                          <a:cs typeface="Segoe UI" pitchFamily="34" charset="-120"/>
                        </a:rPr>
                        <a:t>Area</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1000" b="1" dirty="0">
                          <a:solidFill>
                            <a:srgbClr val="FFFFFF"/>
                          </a:solidFill>
                          <a:latin typeface="Segoe UI" pitchFamily="34" charset="0"/>
                          <a:ea typeface="Segoe UI" pitchFamily="34" charset="-122"/>
                          <a:cs typeface="Segoe UI" pitchFamily="34" charset="-120"/>
                        </a:rPr>
                        <a:t>Microsoft (Azure)</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1000" b="1" dirty="0">
                          <a:solidFill>
                            <a:srgbClr val="FFFFFF"/>
                          </a:solidFill>
                          <a:latin typeface="Segoe UI" pitchFamily="34" charset="0"/>
                          <a:ea typeface="Segoe UI" pitchFamily="34" charset="-122"/>
                          <a:cs typeface="Segoe UI" pitchFamily="34" charset="-120"/>
                        </a:rPr>
                        <a:t>Platform team</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1000" b="1" dirty="0">
                          <a:solidFill>
                            <a:srgbClr val="FFFFFF"/>
                          </a:solidFill>
                          <a:latin typeface="Segoe UI" pitchFamily="34" charset="0"/>
                          <a:ea typeface="Segoe UI" pitchFamily="34" charset="-122"/>
                          <a:cs typeface="Segoe UI" pitchFamily="34" charset="-120"/>
                        </a:rPr>
                        <a:t>Application team</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extLst>
                  <a:ext uri="{0D108BD9-81ED-4DB2-BD59-A6C34878D82A}">
                    <a16:rowId xmlns:a16="http://schemas.microsoft.com/office/drawing/2014/main" val="10000"/>
                  </a:ext>
                </a:extLst>
              </a:tr>
              <a:tr h="357922">
                <a:tc>
                  <a:txBody>
                    <a:bodyPr/>
                    <a:lstStyle/>
                    <a:p>
                      <a:pPr marL="0" indent="0" algn="l">
                        <a:buNone/>
                      </a:pPr>
                      <a:r>
                        <a:rPr lang="en-US" sz="1000" b="1" dirty="0">
                          <a:solidFill>
                            <a:srgbClr val="0E2233"/>
                          </a:solidFill>
                          <a:latin typeface="Segoe UI" pitchFamily="34" charset="0"/>
                          <a:ea typeface="Segoe UI" pitchFamily="34" charset="-122"/>
                          <a:cs typeface="Segoe UI" pitchFamily="34" charset="-120"/>
                        </a:rPr>
                        <a:t>Control plane</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Runs, patches, scales, backs up</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Chooses version and tier</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7922">
                <a:tc>
                  <a:txBody>
                    <a:bodyPr/>
                    <a:lstStyle/>
                    <a:p>
                      <a:pPr marL="0" indent="0" algn="l">
                        <a:buNone/>
                      </a:pPr>
                      <a:r>
                        <a:rPr lang="en-US" sz="1000" b="1" dirty="0">
                          <a:solidFill>
                            <a:srgbClr val="0E2233"/>
                          </a:solidFill>
                          <a:latin typeface="Segoe UI" pitchFamily="34" charset="0"/>
                          <a:ea typeface="Segoe UI" pitchFamily="34" charset="-122"/>
                          <a:cs typeface="Segoe UI" pitchFamily="34" charset="-120"/>
                        </a:rPr>
                        <a:t>Nodes and node pools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Provides VM images and upgrade tooling</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Sizes pools, schedules upgrades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Declares CPU and memory requests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2"/>
                  </a:ext>
                </a:extLst>
              </a:tr>
              <a:tr h="357922">
                <a:tc>
                  <a:txBody>
                    <a:bodyPr/>
                    <a:lstStyle/>
                    <a:p>
                      <a:pPr marL="0" indent="0" algn="l">
                        <a:buNone/>
                      </a:pPr>
                      <a:r>
                        <a:rPr lang="en-US" sz="1000" b="1" dirty="0">
                          <a:solidFill>
                            <a:srgbClr val="0E2233"/>
                          </a:solidFill>
                          <a:latin typeface="Segoe UI" pitchFamily="34" charset="0"/>
                          <a:ea typeface="Segoe UI" pitchFamily="34" charset="-122"/>
                          <a:cs typeface="Segoe UI" pitchFamily="34" charset="-120"/>
                        </a:rPr>
                        <a:t>Cluster networking</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Provides CNI and load balancer</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Designs subnets, policy, ingress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Chooses the right Service type</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7922">
                <a:tc>
                  <a:txBody>
                    <a:bodyPr/>
                    <a:lstStyle/>
                    <a:p>
                      <a:pPr marL="0" indent="0" algn="l">
                        <a:buNone/>
                      </a:pPr>
                      <a:r>
                        <a:rPr lang="en-US" sz="1000" b="1" dirty="0">
                          <a:solidFill>
                            <a:srgbClr val="0E2233"/>
                          </a:solidFill>
                          <a:latin typeface="Segoe UI" pitchFamily="34" charset="0"/>
                          <a:ea typeface="Segoe UI" pitchFamily="34" charset="-122"/>
                          <a:cs typeface="Segoe UI" pitchFamily="34" charset="-120"/>
                        </a:rPr>
                        <a:t>Identity and access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Provides Entra ID integration</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Grants namespace RBAC</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Uses least-privilege service accounts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4"/>
                  </a:ext>
                </a:extLst>
              </a:tr>
              <a:tr h="357922">
                <a:tc>
                  <a:txBody>
                    <a:bodyPr/>
                    <a:lstStyle/>
                    <a:p>
                      <a:pPr marL="0" indent="0" algn="l">
                        <a:buNone/>
                      </a:pPr>
                      <a:r>
                        <a:rPr lang="en-US" sz="1000" b="1" dirty="0">
                          <a:solidFill>
                            <a:srgbClr val="0E2233"/>
                          </a:solidFill>
                          <a:latin typeface="Segoe UI" pitchFamily="34" charset="0"/>
                          <a:ea typeface="Segoe UI" pitchFamily="34" charset="-122"/>
                          <a:cs typeface="Segoe UI" pitchFamily="34" charset="-120"/>
                        </a:rPr>
                        <a:t>Container images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Hosts ACR</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Sets scanning and retention policy</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Builds, patches and tags images</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7922">
                <a:tc>
                  <a:txBody>
                    <a:bodyPr/>
                    <a:lstStyle/>
                    <a:p>
                      <a:pPr marL="0" indent="0" algn="l">
                        <a:buNone/>
                      </a:pPr>
                      <a:r>
                        <a:rPr lang="en-US" sz="1000" b="1" dirty="0">
                          <a:solidFill>
                            <a:srgbClr val="0E2233"/>
                          </a:solidFill>
                          <a:latin typeface="Segoe UI" pitchFamily="34" charset="0"/>
                          <a:ea typeface="Segoe UI" pitchFamily="34" charset="-122"/>
                          <a:cs typeface="Segoe UI" pitchFamily="34" charset="-120"/>
                        </a:rPr>
                        <a:t>The application</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1000" dirty="0">
                          <a:solidFill>
                            <a:srgbClr val="44566B"/>
                          </a:solidFill>
                          <a:latin typeface="Segoe UI" pitchFamily="34" charset="0"/>
                          <a:ea typeface="Segoe UI" pitchFamily="34" charset="-122"/>
                          <a:cs typeface="Segoe UI" pitchFamily="34" charset="-120"/>
                        </a:rPr>
                        <a:t>Manifests, config, probes, storage, resilience</a:t>
                      </a:r>
                      <a:endParaRPr lang="en-US" sz="1000"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6"/>
                  </a:ext>
                </a:extLst>
              </a:tr>
            </a:tbl>
          </a:graphicData>
        </a:graphic>
      </p:graphicFrame>
      <p:sp>
        <p:nvSpPr>
          <p:cNvPr id="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0" name="Text 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Your column   </a:t>
            </a:r>
            <a:r>
              <a:rPr lang="en-US" sz="1050" dirty="0">
                <a:solidFill>
                  <a:srgbClr val="0E2233"/>
                </a:solidFill>
                <a:latin typeface="Segoe UI" pitchFamily="34" charset="0"/>
                <a:ea typeface="Segoe UI" pitchFamily="34" charset="-122"/>
                <a:cs typeface="Segoe UI" pitchFamily="34" charset="-120"/>
              </a:rPr>
              <a:t>Everything in the right-hand column is what the rest of this course teaches.</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13</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2 · APPLICATION DEPLOYMENT ON AKS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Kubernetes objects overview</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dirty="0">
                <a:solidFill>
                  <a:srgbClr val="44566B"/>
                </a:solidFill>
                <a:latin typeface="Segoe UI" pitchFamily="34" charset="0"/>
                <a:ea typeface="Segoe UI" pitchFamily="34" charset="-122"/>
                <a:cs typeface="Segoe UI" pitchFamily="34" charset="-120"/>
              </a:rPr>
              <a:t>Every object follows the same four-part shape, and almost every object is created the same way.</a:t>
            </a:r>
            <a:endParaRPr lang="en-US" sz="1125" dirty="0"/>
          </a:p>
        </p:txBody>
      </p:sp>
      <p:sp>
        <p:nvSpPr>
          <p:cNvPr id="7" name="code panel">
            <a:extLst>
              <a:ext uri="{C183D7F6-B498-43B3-948B-1728B52AA6E4}">
                <adec:decorative xmlns:adec="http://schemas.microsoft.com/office/drawing/2017/decorative" val="1"/>
              </a:ext>
            </a:extLst>
          </p:cNvPr>
          <p:cNvSpPr/>
          <p:nvPr/>
        </p:nvSpPr>
        <p:spPr>
          <a:xfrm>
            <a:off x="502920" y="1481328"/>
            <a:ext cx="4114800" cy="186537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11480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82219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The anatomy of every manifest</a:t>
            </a:r>
            <a:endParaRPr lang="en-US" sz="850" dirty="0"/>
          </a:p>
        </p:txBody>
      </p:sp>
      <p:sp>
        <p:nvSpPr>
          <p:cNvPr id="10" name="Text 8"/>
          <p:cNvSpPr/>
          <p:nvPr/>
        </p:nvSpPr>
        <p:spPr>
          <a:xfrm>
            <a:off x="649224" y="1810512"/>
            <a:ext cx="3822192" cy="1389888"/>
          </a:xfrm>
          <a:prstGeom prst="rect">
            <a:avLst/>
          </a:prstGeom>
          <a:noFill/>
          <a:ln/>
        </p:spPr>
        <p:txBody>
          <a:bodyPr wrap="square" lIns="0" tIns="0" rIns="0" bIns="0" rtlCol="0" anchor="t"/>
          <a:lstStyle/>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apiVersion: apps/v1        # which API group and version</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kind: Deployment           # what type of object</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metadata:</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name: payments-api       # identity</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labels:</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app: payments-api</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spec:                      # DESIRED state — you write this</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replicas: 3</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status:                    # ACTUAL — Kubernetes writes this</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readyReplicas: 3</a:t>
            </a:r>
            <a:endParaRPr lang="en-US" sz="814" dirty="0"/>
          </a:p>
        </p:txBody>
      </p:sp>
      <p:sp>
        <p:nvSpPr>
          <p:cNvPr id="11" name="card">
            <a:extLst>
              <a:ext uri="{C183D7F6-B498-43B3-948B-1728B52AA6E4}">
                <adec:decorative xmlns:adec="http://schemas.microsoft.com/office/drawing/2017/decorative" val="1"/>
              </a:ext>
            </a:extLst>
          </p:cNvPr>
          <p:cNvSpPr/>
          <p:nvPr/>
        </p:nvSpPr>
        <p:spPr>
          <a:xfrm>
            <a:off x="4800600" y="1481328"/>
            <a:ext cx="1837944" cy="850392"/>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4800600" y="1481328"/>
            <a:ext cx="1837944" cy="41148"/>
          </a:xfrm>
          <a:prstGeom prst="rect">
            <a:avLst/>
          </a:prstGeom>
          <a:solidFill>
            <a:srgbClr val="0B63CE"/>
          </a:solidFill>
          <a:ln w="12700">
            <a:solidFill>
              <a:srgbClr val="333333"/>
            </a:solidFill>
            <a:prstDash val="solid"/>
          </a:ln>
        </p:spPr>
        <p:txBody>
          <a:bodyPr/>
          <a:lstStyle/>
          <a:p>
            <a:endParaRPr lang="en-IN"/>
          </a:p>
        </p:txBody>
      </p:sp>
      <p:sp>
        <p:nvSpPr>
          <p:cNvPr id="13" name="Text 11"/>
          <p:cNvSpPr/>
          <p:nvPr/>
        </p:nvSpPr>
        <p:spPr>
          <a:xfrm>
            <a:off x="5001768" y="1591056"/>
            <a:ext cx="1435608" cy="23774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Workloads</a:t>
            </a:r>
            <a:endParaRPr lang="en-US" sz="1200" dirty="0"/>
          </a:p>
        </p:txBody>
      </p:sp>
      <p:sp>
        <p:nvSpPr>
          <p:cNvPr id="14" name="Text 12"/>
          <p:cNvSpPr/>
          <p:nvPr/>
        </p:nvSpPr>
        <p:spPr>
          <a:xfrm>
            <a:off x="5001768" y="1892808"/>
            <a:ext cx="1435608" cy="347472"/>
          </a:xfrm>
          <a:prstGeom prst="rect">
            <a:avLst/>
          </a:prstGeom>
          <a:noFill/>
          <a:ln/>
        </p:spPr>
        <p:txBody>
          <a:bodyPr wrap="square" lIns="0" tIns="0" rIns="0" bIns="0" rtlCol="0" anchor="t"/>
          <a:lstStyle/>
          <a:p>
            <a:pPr marL="0" indent="0">
              <a:lnSpc>
                <a:spcPct val="115000"/>
              </a:lnSpc>
              <a:buNone/>
            </a:pPr>
            <a:r>
              <a:rPr lang="en-US" sz="875" dirty="0">
                <a:solidFill>
                  <a:srgbClr val="44566B"/>
                </a:solidFill>
                <a:latin typeface="Segoe UI" pitchFamily="34" charset="0"/>
                <a:ea typeface="Segoe UI" pitchFamily="34" charset="-122"/>
                <a:cs typeface="Segoe UI" pitchFamily="34" charset="-120"/>
              </a:rPr>
              <a:t>Pod · ReplicaSet · Deployment · Job · DaemonSet</a:t>
            </a:r>
            <a:endParaRPr lang="en-US" sz="875" dirty="0"/>
          </a:p>
        </p:txBody>
      </p:sp>
      <p:sp>
        <p:nvSpPr>
          <p:cNvPr id="15" name="card">
            <a:extLst>
              <a:ext uri="{C183D7F6-B498-43B3-948B-1728B52AA6E4}">
                <adec:decorative xmlns:adec="http://schemas.microsoft.com/office/drawing/2017/decorative" val="1"/>
              </a:ext>
            </a:extLst>
          </p:cNvPr>
          <p:cNvSpPr/>
          <p:nvPr/>
        </p:nvSpPr>
        <p:spPr>
          <a:xfrm>
            <a:off x="6803136" y="1481328"/>
            <a:ext cx="1837944" cy="850392"/>
          </a:xfrm>
          <a:prstGeom prst="rect">
            <a:avLst/>
          </a:prstGeom>
          <a:solidFill>
            <a:srgbClr val="F6F9FD"/>
          </a:solidFill>
          <a:ln w="9525">
            <a:solidFill>
              <a:srgbClr val="D8E5F2"/>
            </a:solidFill>
            <a:prstDash val="solid"/>
          </a:ln>
        </p:spPr>
        <p:txBody>
          <a:bodyPr/>
          <a:lstStyle/>
          <a:p>
            <a:endParaRPr lang="en-IN"/>
          </a:p>
        </p:txBody>
      </p:sp>
      <p:sp>
        <p:nvSpPr>
          <p:cNvPr id="16" name="card accent">
            <a:extLst>
              <a:ext uri="{C183D7F6-B498-43B3-948B-1728B52AA6E4}">
                <adec:decorative xmlns:adec="http://schemas.microsoft.com/office/drawing/2017/decorative" val="1"/>
              </a:ext>
            </a:extLst>
          </p:cNvPr>
          <p:cNvSpPr/>
          <p:nvPr/>
        </p:nvSpPr>
        <p:spPr>
          <a:xfrm>
            <a:off x="6803136" y="1481328"/>
            <a:ext cx="1837944" cy="41148"/>
          </a:xfrm>
          <a:prstGeom prst="rect">
            <a:avLst/>
          </a:prstGeom>
          <a:solidFill>
            <a:srgbClr val="17A9DB"/>
          </a:solidFill>
          <a:ln w="12700">
            <a:solidFill>
              <a:srgbClr val="333333"/>
            </a:solidFill>
            <a:prstDash val="solid"/>
          </a:ln>
        </p:spPr>
        <p:txBody>
          <a:bodyPr/>
          <a:lstStyle/>
          <a:p>
            <a:endParaRPr lang="en-IN"/>
          </a:p>
        </p:txBody>
      </p:sp>
      <p:sp>
        <p:nvSpPr>
          <p:cNvPr id="17" name="Text 15"/>
          <p:cNvSpPr/>
          <p:nvPr/>
        </p:nvSpPr>
        <p:spPr>
          <a:xfrm>
            <a:off x="7004304" y="1591056"/>
            <a:ext cx="1435608" cy="23774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Networking</a:t>
            </a:r>
            <a:endParaRPr lang="en-US" sz="1200" dirty="0"/>
          </a:p>
        </p:txBody>
      </p:sp>
      <p:sp>
        <p:nvSpPr>
          <p:cNvPr id="18" name="Text 16"/>
          <p:cNvSpPr/>
          <p:nvPr/>
        </p:nvSpPr>
        <p:spPr>
          <a:xfrm>
            <a:off x="7004304" y="1892808"/>
            <a:ext cx="1435608" cy="347472"/>
          </a:xfrm>
          <a:prstGeom prst="rect">
            <a:avLst/>
          </a:prstGeom>
          <a:noFill/>
          <a:ln/>
        </p:spPr>
        <p:txBody>
          <a:bodyPr wrap="square" lIns="0" tIns="0" rIns="0" bIns="0" rtlCol="0" anchor="t"/>
          <a:lstStyle/>
          <a:p>
            <a:pPr marL="0" indent="0">
              <a:lnSpc>
                <a:spcPct val="115000"/>
              </a:lnSpc>
              <a:buNone/>
            </a:pPr>
            <a:r>
              <a:rPr lang="en-US" sz="875" dirty="0">
                <a:solidFill>
                  <a:srgbClr val="44566B"/>
                </a:solidFill>
                <a:latin typeface="Segoe UI" pitchFamily="34" charset="0"/>
                <a:ea typeface="Segoe UI" pitchFamily="34" charset="-122"/>
                <a:cs typeface="Segoe UI" pitchFamily="34" charset="-120"/>
              </a:rPr>
              <a:t>Service · Ingress · NetworkPolicy</a:t>
            </a:r>
            <a:endParaRPr lang="en-US" sz="875" dirty="0"/>
          </a:p>
        </p:txBody>
      </p:sp>
      <p:sp>
        <p:nvSpPr>
          <p:cNvPr id="19" name="card">
            <a:extLst>
              <a:ext uri="{C183D7F6-B498-43B3-948B-1728B52AA6E4}">
                <adec:decorative xmlns:adec="http://schemas.microsoft.com/office/drawing/2017/decorative" val="1"/>
              </a:ext>
            </a:extLst>
          </p:cNvPr>
          <p:cNvSpPr/>
          <p:nvPr/>
        </p:nvSpPr>
        <p:spPr>
          <a:xfrm>
            <a:off x="4800600" y="2496312"/>
            <a:ext cx="1837944" cy="850392"/>
          </a:xfrm>
          <a:prstGeom prst="rect">
            <a:avLst/>
          </a:prstGeom>
          <a:solidFill>
            <a:srgbClr val="F6F9FD"/>
          </a:solidFill>
          <a:ln w="9525">
            <a:solidFill>
              <a:srgbClr val="D8E5F2"/>
            </a:solidFill>
            <a:prstDash val="solid"/>
          </a:ln>
        </p:spPr>
        <p:txBody>
          <a:bodyPr/>
          <a:lstStyle/>
          <a:p>
            <a:endParaRPr lang="en-IN"/>
          </a:p>
        </p:txBody>
      </p:sp>
      <p:sp>
        <p:nvSpPr>
          <p:cNvPr id="20" name="card accent">
            <a:extLst>
              <a:ext uri="{C183D7F6-B498-43B3-948B-1728B52AA6E4}">
                <adec:decorative xmlns:adec="http://schemas.microsoft.com/office/drawing/2017/decorative" val="1"/>
              </a:ext>
            </a:extLst>
          </p:cNvPr>
          <p:cNvSpPr/>
          <p:nvPr/>
        </p:nvSpPr>
        <p:spPr>
          <a:xfrm>
            <a:off x="4800600" y="2496312"/>
            <a:ext cx="1837944" cy="41148"/>
          </a:xfrm>
          <a:prstGeom prst="rect">
            <a:avLst/>
          </a:prstGeom>
          <a:solidFill>
            <a:srgbClr val="0B63CE"/>
          </a:solidFill>
          <a:ln w="12700">
            <a:solidFill>
              <a:srgbClr val="333333"/>
            </a:solidFill>
            <a:prstDash val="solid"/>
          </a:ln>
        </p:spPr>
        <p:txBody>
          <a:bodyPr/>
          <a:lstStyle/>
          <a:p>
            <a:endParaRPr lang="en-IN"/>
          </a:p>
        </p:txBody>
      </p:sp>
      <p:sp>
        <p:nvSpPr>
          <p:cNvPr id="21" name="Text 19"/>
          <p:cNvSpPr/>
          <p:nvPr/>
        </p:nvSpPr>
        <p:spPr>
          <a:xfrm>
            <a:off x="5001768" y="2606040"/>
            <a:ext cx="1435608" cy="23774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Configuration</a:t>
            </a:r>
            <a:endParaRPr lang="en-US" sz="1200" dirty="0"/>
          </a:p>
        </p:txBody>
      </p:sp>
      <p:sp>
        <p:nvSpPr>
          <p:cNvPr id="22" name="Text 20"/>
          <p:cNvSpPr/>
          <p:nvPr/>
        </p:nvSpPr>
        <p:spPr>
          <a:xfrm>
            <a:off x="5001768" y="2907792"/>
            <a:ext cx="1435608" cy="347472"/>
          </a:xfrm>
          <a:prstGeom prst="rect">
            <a:avLst/>
          </a:prstGeom>
          <a:noFill/>
          <a:ln/>
        </p:spPr>
        <p:txBody>
          <a:bodyPr wrap="square" lIns="0" tIns="0" rIns="0" bIns="0" rtlCol="0" anchor="t"/>
          <a:lstStyle/>
          <a:p>
            <a:pPr marL="0" indent="0">
              <a:lnSpc>
                <a:spcPct val="115000"/>
              </a:lnSpc>
              <a:buNone/>
            </a:pPr>
            <a:r>
              <a:rPr lang="en-US" sz="875" dirty="0">
                <a:solidFill>
                  <a:srgbClr val="44566B"/>
                </a:solidFill>
                <a:latin typeface="Segoe UI" pitchFamily="34" charset="0"/>
                <a:ea typeface="Segoe UI" pitchFamily="34" charset="-122"/>
                <a:cs typeface="Segoe UI" pitchFamily="34" charset="-120"/>
              </a:rPr>
              <a:t>ConfigMap · Secret</a:t>
            </a:r>
            <a:endParaRPr lang="en-US" sz="875" dirty="0"/>
          </a:p>
        </p:txBody>
      </p:sp>
      <p:sp>
        <p:nvSpPr>
          <p:cNvPr id="23" name="card">
            <a:extLst>
              <a:ext uri="{C183D7F6-B498-43B3-948B-1728B52AA6E4}">
                <adec:decorative xmlns:adec="http://schemas.microsoft.com/office/drawing/2017/decorative" val="1"/>
              </a:ext>
            </a:extLst>
          </p:cNvPr>
          <p:cNvSpPr/>
          <p:nvPr/>
        </p:nvSpPr>
        <p:spPr>
          <a:xfrm>
            <a:off x="6803136" y="2496312"/>
            <a:ext cx="1837944" cy="850392"/>
          </a:xfrm>
          <a:prstGeom prst="rect">
            <a:avLst/>
          </a:prstGeom>
          <a:solidFill>
            <a:srgbClr val="F6F9FD"/>
          </a:solidFill>
          <a:ln w="9525">
            <a:solidFill>
              <a:srgbClr val="D8E5F2"/>
            </a:solidFill>
            <a:prstDash val="solid"/>
          </a:ln>
        </p:spPr>
        <p:txBody>
          <a:bodyPr/>
          <a:lstStyle/>
          <a:p>
            <a:endParaRPr lang="en-IN"/>
          </a:p>
        </p:txBody>
      </p:sp>
      <p:sp>
        <p:nvSpPr>
          <p:cNvPr id="24" name="card accent">
            <a:extLst>
              <a:ext uri="{C183D7F6-B498-43B3-948B-1728B52AA6E4}">
                <adec:decorative xmlns:adec="http://schemas.microsoft.com/office/drawing/2017/decorative" val="1"/>
              </a:ext>
            </a:extLst>
          </p:cNvPr>
          <p:cNvSpPr/>
          <p:nvPr/>
        </p:nvSpPr>
        <p:spPr>
          <a:xfrm>
            <a:off x="6803136" y="2496312"/>
            <a:ext cx="1837944" cy="41148"/>
          </a:xfrm>
          <a:prstGeom prst="rect">
            <a:avLst/>
          </a:prstGeom>
          <a:solidFill>
            <a:srgbClr val="17A9DB"/>
          </a:solidFill>
          <a:ln w="12700">
            <a:solidFill>
              <a:srgbClr val="333333"/>
            </a:solidFill>
            <a:prstDash val="solid"/>
          </a:ln>
        </p:spPr>
        <p:txBody>
          <a:bodyPr/>
          <a:lstStyle/>
          <a:p>
            <a:endParaRPr lang="en-IN"/>
          </a:p>
        </p:txBody>
      </p:sp>
      <p:sp>
        <p:nvSpPr>
          <p:cNvPr id="25" name="Text 23"/>
          <p:cNvSpPr/>
          <p:nvPr/>
        </p:nvSpPr>
        <p:spPr>
          <a:xfrm>
            <a:off x="7004304" y="2606040"/>
            <a:ext cx="1435608" cy="23774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Storage</a:t>
            </a:r>
            <a:endParaRPr lang="en-US" sz="1200" dirty="0"/>
          </a:p>
        </p:txBody>
      </p:sp>
      <p:sp>
        <p:nvSpPr>
          <p:cNvPr id="26" name="Text 24"/>
          <p:cNvSpPr/>
          <p:nvPr/>
        </p:nvSpPr>
        <p:spPr>
          <a:xfrm>
            <a:off x="7004304" y="2907792"/>
            <a:ext cx="1435608" cy="347472"/>
          </a:xfrm>
          <a:prstGeom prst="rect">
            <a:avLst/>
          </a:prstGeom>
          <a:noFill/>
          <a:ln/>
        </p:spPr>
        <p:txBody>
          <a:bodyPr wrap="square" lIns="0" tIns="0" rIns="0" bIns="0" rtlCol="0" anchor="t"/>
          <a:lstStyle/>
          <a:p>
            <a:pPr marL="0" indent="0">
              <a:lnSpc>
                <a:spcPct val="115000"/>
              </a:lnSpc>
              <a:buNone/>
            </a:pPr>
            <a:r>
              <a:rPr lang="en-US" sz="875" dirty="0">
                <a:solidFill>
                  <a:srgbClr val="44566B"/>
                </a:solidFill>
                <a:latin typeface="Segoe UI" pitchFamily="34" charset="0"/>
                <a:ea typeface="Segoe UI" pitchFamily="34" charset="-122"/>
                <a:cs typeface="Segoe UI" pitchFamily="34" charset="-120"/>
              </a:rPr>
              <a:t>PersistentVolume · PersistentVolumeClaim</a:t>
            </a:r>
            <a:endParaRPr lang="en-US" sz="875" dirty="0"/>
          </a:p>
        </p:txBody>
      </p:sp>
      <p:sp>
        <p:nvSpPr>
          <p:cNvPr id="27"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8"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29" name="Text 27"/>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kubectl apply -f app.yaml</a:t>
            </a:r>
            <a:endParaRPr lang="en-US" sz="1100" dirty="0"/>
          </a:p>
        </p:txBody>
      </p:sp>
      <p:sp>
        <p:nvSpPr>
          <p:cNvPr id="30" name="Text 28"/>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Create or update — the declarative verb you should use</a:t>
            </a:r>
            <a:endParaRPr lang="en-US" sz="800" dirty="0"/>
          </a:p>
        </p:txBody>
      </p:sp>
      <p:sp>
        <p:nvSpPr>
          <p:cNvPr id="31"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2"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33" name="Text 31"/>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kubectl get / describe</a:t>
            </a:r>
            <a:endParaRPr lang="en-US" sz="1100" dirty="0"/>
          </a:p>
        </p:txBody>
      </p:sp>
      <p:sp>
        <p:nvSpPr>
          <p:cNvPr id="34" name="Text 32"/>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Inspect desired state and the events behind actual state</a:t>
            </a:r>
            <a:endParaRPr lang="en-US" sz="800" dirty="0"/>
          </a:p>
        </p:txBody>
      </p:sp>
      <p:sp>
        <p:nvSpPr>
          <p:cNvPr id="35"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6"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37" name="Text 35"/>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kubectl delete -f app.yaml</a:t>
            </a:r>
            <a:endParaRPr lang="en-US" sz="1100" dirty="0"/>
          </a:p>
        </p:txBody>
      </p:sp>
      <p:sp>
        <p:nvSpPr>
          <p:cNvPr id="38" name="Text 36"/>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75" dirty="0">
                <a:solidFill>
                  <a:srgbClr val="44566B"/>
                </a:solidFill>
                <a:latin typeface="Segoe UI" pitchFamily="34" charset="0"/>
                <a:ea typeface="Segoe UI" pitchFamily="34" charset="-122"/>
                <a:cs typeface="Segoe UI" pitchFamily="34" charset="-120"/>
              </a:rPr>
              <a:t>Remove the objects defined in the file</a:t>
            </a:r>
            <a:endParaRPr lang="en-US" sz="875" dirty="0"/>
          </a:p>
        </p:txBody>
      </p:sp>
      <p:sp>
        <p:nvSpPr>
          <p:cNvPr id="39"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14</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2 · APPLICATION DEPLOYMENT ON AKS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Pods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975" dirty="0">
                <a:solidFill>
                  <a:srgbClr val="44566B"/>
                </a:solidFill>
                <a:latin typeface="Segoe UI" pitchFamily="34" charset="0"/>
                <a:ea typeface="Segoe UI" pitchFamily="34" charset="-122"/>
                <a:cs typeface="Segoe UI" pitchFamily="34" charset="-120"/>
              </a:rPr>
              <a:t>The Pod is the smallest deployable unit — one or more containers that share a network identity and lifecycle.</a:t>
            </a:r>
            <a:endParaRPr lang="en-US" sz="975" dirty="0"/>
          </a:p>
        </p:txBody>
      </p:sp>
      <p:sp>
        <p:nvSpPr>
          <p:cNvPr id="7" name="Text 5"/>
          <p:cNvSpPr/>
          <p:nvPr/>
        </p:nvSpPr>
        <p:spPr>
          <a:xfrm>
            <a:off x="502920" y="1481328"/>
            <a:ext cx="4023360" cy="2194560"/>
          </a:xfrm>
          <a:prstGeom prst="rect">
            <a:avLst/>
          </a:prstGeom>
          <a:noFill/>
          <a:ln/>
        </p:spPr>
        <p:txBody>
          <a:bodyPr wrap="square" lIns="0" tIns="0" rIns="0" bIns="0" rtlCol="0" anchor="t"/>
          <a:lstStyle/>
          <a:p>
            <a:pPr marL="342900" indent="-342900">
              <a:spcAft>
                <a:spcPts val="1100"/>
              </a:spcAft>
              <a:buSzPct val="100000"/>
              <a:buChar char="•"/>
            </a:pPr>
            <a:r>
              <a:rPr lang="en-US" sz="1150" dirty="0">
                <a:solidFill>
                  <a:srgbClr val="44566B"/>
                </a:solidFill>
                <a:latin typeface="Segoe UI" pitchFamily="34" charset="0"/>
                <a:ea typeface="Segoe UI" pitchFamily="34" charset="-122"/>
                <a:cs typeface="Segoe UI" pitchFamily="34" charset="-120"/>
              </a:rPr>
              <a:t>All containers in a Pod share one IP address and can reach each other on localhost</a:t>
            </a:r>
            <a:endParaRPr lang="en-US" sz="1150" dirty="0"/>
          </a:p>
          <a:p>
            <a:pPr marL="342900" indent="-342900">
              <a:spcAft>
                <a:spcPts val="1100"/>
              </a:spcAft>
              <a:buSzPct val="100000"/>
              <a:buChar char="•"/>
            </a:pPr>
            <a:r>
              <a:rPr lang="en-US" sz="1150" dirty="0">
                <a:solidFill>
                  <a:srgbClr val="44566B"/>
                </a:solidFill>
                <a:latin typeface="Segoe UI" pitchFamily="34" charset="0"/>
                <a:ea typeface="Segoe UI" pitchFamily="34" charset="-122"/>
                <a:cs typeface="Segoe UI" pitchFamily="34" charset="-120"/>
              </a:rPr>
              <a:t>They can share storage volumes, and they are always scheduled onto the same node</a:t>
            </a:r>
            <a:endParaRPr lang="en-US" sz="1150" dirty="0"/>
          </a:p>
          <a:p>
            <a:pPr marL="342900" indent="-342900">
              <a:spcAft>
                <a:spcPts val="1100"/>
              </a:spcAft>
              <a:buSzPct val="100000"/>
              <a:buChar char="•"/>
            </a:pPr>
            <a:r>
              <a:rPr lang="en-US" sz="1150" dirty="0">
                <a:solidFill>
                  <a:srgbClr val="44566B"/>
                </a:solidFill>
                <a:latin typeface="Segoe UI" pitchFamily="34" charset="0"/>
                <a:ea typeface="Segoe UI" pitchFamily="34" charset="-122"/>
                <a:cs typeface="Segoe UI" pitchFamily="34" charset="-120"/>
              </a:rPr>
              <a:t>Pods are mortal and disposable — a replaced Pod gets a new name and a new IP address</a:t>
            </a:r>
            <a:endParaRPr lang="en-US" sz="1150" dirty="0"/>
          </a:p>
          <a:p>
            <a:pPr marL="342900" indent="-342900">
              <a:spcAft>
                <a:spcPts val="1100"/>
              </a:spcAft>
              <a:buSzPct val="100000"/>
              <a:buChar char="•"/>
            </a:pPr>
            <a:r>
              <a:rPr lang="en-US" sz="1150" dirty="0">
                <a:solidFill>
                  <a:srgbClr val="44566B"/>
                </a:solidFill>
                <a:latin typeface="Segoe UI" pitchFamily="34" charset="0"/>
                <a:ea typeface="Segoe UI" pitchFamily="34" charset="-122"/>
                <a:cs typeface="Segoe UI" pitchFamily="34" charset="-120"/>
              </a:rPr>
              <a:t>You rarely create a bare Pod; a controller such as a Deployment creates them for you</a:t>
            </a:r>
            <a:endParaRPr lang="en-US" sz="1150" dirty="0"/>
          </a:p>
        </p:txBody>
      </p:sp>
      <p:sp>
        <p:nvSpPr>
          <p:cNvPr id="8" name="pod frame">
            <a:extLst>
              <a:ext uri="{C183D7F6-B498-43B3-948B-1728B52AA6E4}">
                <adec:decorative xmlns:adec="http://schemas.microsoft.com/office/drawing/2017/decorative" val="1"/>
              </a:ext>
            </a:extLst>
          </p:cNvPr>
          <p:cNvSpPr/>
          <p:nvPr/>
        </p:nvSpPr>
        <p:spPr>
          <a:xfrm>
            <a:off x="502920" y="3657600"/>
            <a:ext cx="4023360" cy="960120"/>
          </a:xfrm>
          <a:prstGeom prst="rect">
            <a:avLst/>
          </a:prstGeom>
          <a:solidFill>
            <a:srgbClr val="EDF4FC"/>
          </a:solidFill>
          <a:ln w="12700">
            <a:solidFill>
              <a:srgbClr val="17A9DB"/>
            </a:solidFill>
            <a:prstDash val="solid"/>
          </a:ln>
        </p:spPr>
        <p:txBody>
          <a:bodyPr/>
          <a:lstStyle/>
          <a:p>
            <a:endParaRPr lang="en-IN"/>
          </a:p>
        </p:txBody>
      </p:sp>
      <p:sp>
        <p:nvSpPr>
          <p:cNvPr id="9" name="Text 7"/>
          <p:cNvSpPr/>
          <p:nvPr/>
        </p:nvSpPr>
        <p:spPr>
          <a:xfrm>
            <a:off x="630936" y="3712464"/>
            <a:ext cx="2011680" cy="219456"/>
          </a:xfrm>
          <a:prstGeom prst="rect">
            <a:avLst/>
          </a:prstGeom>
          <a:noFill/>
          <a:ln/>
        </p:spPr>
        <p:txBody>
          <a:bodyPr wrap="square" lIns="0" tIns="0" rIns="0" bIns="0" rtlCol="0" anchor="ctr"/>
          <a:lstStyle/>
          <a:p>
            <a:pPr marL="0" indent="0">
              <a:buNone/>
            </a:pPr>
            <a:r>
              <a:rPr lang="en-US" sz="950" b="1" dirty="0">
                <a:solidFill>
                  <a:srgbClr val="0A2E4E"/>
                </a:solidFill>
                <a:latin typeface="Segoe UI" pitchFamily="34" charset="0"/>
                <a:ea typeface="Segoe UI" pitchFamily="34" charset="-122"/>
                <a:cs typeface="Segoe UI" pitchFamily="34" charset="-120"/>
              </a:rPr>
              <a:t>Pod   10.244.1.17</a:t>
            </a:r>
            <a:endParaRPr lang="en-US" sz="950" dirty="0"/>
          </a:p>
        </p:txBody>
      </p:sp>
      <p:sp>
        <p:nvSpPr>
          <p:cNvPr id="10" name="container box">
            <a:extLst>
              <a:ext uri="{C183D7F6-B498-43B3-948B-1728B52AA6E4}">
                <adec:decorative xmlns:adec="http://schemas.microsoft.com/office/drawing/2017/decorative" val="1"/>
              </a:ext>
            </a:extLst>
          </p:cNvPr>
          <p:cNvSpPr/>
          <p:nvPr/>
        </p:nvSpPr>
        <p:spPr>
          <a:xfrm>
            <a:off x="64922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1" name="Text 9"/>
          <p:cNvSpPr/>
          <p:nvPr/>
        </p:nvSpPr>
        <p:spPr>
          <a:xfrm>
            <a:off x="704088" y="4005072"/>
            <a:ext cx="1719072" cy="219456"/>
          </a:xfrm>
          <a:prstGeom prst="rect">
            <a:avLst/>
          </a:prstGeom>
          <a:noFill/>
          <a:ln/>
        </p:spPr>
        <p:txBody>
          <a:bodyPr wrap="square" lIns="0" tIns="0" rIns="0" bIns="0" rtlCol="0" anchor="ctr"/>
          <a:lstStyle/>
          <a:p>
            <a:pPr marL="0" indent="0" algn="ctr">
              <a:buNone/>
            </a:pPr>
            <a:r>
              <a:rPr lang="en-US" sz="950" b="1" dirty="0">
                <a:solidFill>
                  <a:srgbClr val="0E2233"/>
                </a:solidFill>
                <a:latin typeface="Segoe UI" pitchFamily="34" charset="0"/>
                <a:ea typeface="Segoe UI" pitchFamily="34" charset="-122"/>
                <a:cs typeface="Segoe UI" pitchFamily="34" charset="-120"/>
              </a:rPr>
              <a:t>app container</a:t>
            </a:r>
            <a:endParaRPr lang="en-US" sz="950" dirty="0"/>
          </a:p>
        </p:txBody>
      </p:sp>
      <p:sp>
        <p:nvSpPr>
          <p:cNvPr id="12" name="Text 10"/>
          <p:cNvSpPr/>
          <p:nvPr/>
        </p:nvSpPr>
        <p:spPr>
          <a:xfrm>
            <a:off x="704088" y="4224528"/>
            <a:ext cx="1719072" cy="219456"/>
          </a:xfrm>
          <a:prstGeom prst="rect">
            <a:avLst/>
          </a:prstGeom>
          <a:noFill/>
          <a:ln/>
        </p:spPr>
        <p:txBody>
          <a:bodyPr wrap="square" lIns="0" tIns="0" rIns="0" bIns="0" rtlCol="0" anchor="ctr"/>
          <a:lstStyle/>
          <a:p>
            <a:pPr marL="0" indent="0" algn="ctr">
              <a:buNone/>
            </a:pPr>
            <a:r>
              <a:rPr lang="en-US" sz="850" dirty="0">
                <a:solidFill>
                  <a:srgbClr val="7C8FA3"/>
                </a:solidFill>
                <a:latin typeface="Segoe UI" pitchFamily="34" charset="0"/>
                <a:ea typeface="Segoe UI" pitchFamily="34" charset="-122"/>
                <a:cs typeface="Segoe UI" pitchFamily="34" charset="-120"/>
              </a:rPr>
              <a:t>port 8080</a:t>
            </a:r>
            <a:endParaRPr lang="en-US" sz="850" dirty="0"/>
          </a:p>
        </p:txBody>
      </p:sp>
      <p:sp>
        <p:nvSpPr>
          <p:cNvPr id="13" name="container box">
            <a:extLst>
              <a:ext uri="{C183D7F6-B498-43B3-948B-1728B52AA6E4}">
                <adec:decorative xmlns:adec="http://schemas.microsoft.com/office/drawing/2017/decorative" val="1"/>
              </a:ext>
            </a:extLst>
          </p:cNvPr>
          <p:cNvSpPr/>
          <p:nvPr/>
        </p:nvSpPr>
        <p:spPr>
          <a:xfrm>
            <a:off x="256946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4" name="Text 12"/>
          <p:cNvSpPr/>
          <p:nvPr/>
        </p:nvSpPr>
        <p:spPr>
          <a:xfrm>
            <a:off x="2624328" y="4005072"/>
            <a:ext cx="1719072" cy="219456"/>
          </a:xfrm>
          <a:prstGeom prst="rect">
            <a:avLst/>
          </a:prstGeom>
          <a:noFill/>
          <a:ln/>
        </p:spPr>
        <p:txBody>
          <a:bodyPr wrap="square" lIns="0" tIns="0" rIns="0" bIns="0" rtlCol="0" anchor="ctr"/>
          <a:lstStyle/>
          <a:p>
            <a:pPr marL="0" indent="0" algn="ctr">
              <a:buNone/>
            </a:pPr>
            <a:r>
              <a:rPr lang="en-US" sz="950" b="1" dirty="0">
                <a:solidFill>
                  <a:srgbClr val="0E2233"/>
                </a:solidFill>
                <a:latin typeface="Segoe UI" pitchFamily="34" charset="0"/>
                <a:ea typeface="Segoe UI" pitchFamily="34" charset="-122"/>
                <a:cs typeface="Segoe UI" pitchFamily="34" charset="-120"/>
              </a:rPr>
              <a:t>log sidecar</a:t>
            </a:r>
            <a:endParaRPr lang="en-US" sz="950" dirty="0"/>
          </a:p>
        </p:txBody>
      </p:sp>
      <p:sp>
        <p:nvSpPr>
          <p:cNvPr id="15" name="Text 13"/>
          <p:cNvSpPr/>
          <p:nvPr/>
        </p:nvSpPr>
        <p:spPr>
          <a:xfrm>
            <a:off x="2624328" y="4224528"/>
            <a:ext cx="1719072" cy="219456"/>
          </a:xfrm>
          <a:prstGeom prst="rect">
            <a:avLst/>
          </a:prstGeom>
          <a:noFill/>
          <a:ln/>
        </p:spPr>
        <p:txBody>
          <a:bodyPr wrap="square" lIns="0" tIns="0" rIns="0" bIns="0" rtlCol="0" anchor="ctr"/>
          <a:lstStyle/>
          <a:p>
            <a:pPr marL="0" indent="0" algn="ctr">
              <a:buNone/>
            </a:pPr>
            <a:r>
              <a:rPr lang="en-US" sz="850" dirty="0">
                <a:solidFill>
                  <a:srgbClr val="7C8FA3"/>
                </a:solidFill>
                <a:latin typeface="Segoe UI" pitchFamily="34" charset="0"/>
                <a:ea typeface="Segoe UI" pitchFamily="34" charset="-122"/>
                <a:cs typeface="Segoe UI" pitchFamily="34" charset="-120"/>
              </a:rPr>
              <a:t>shares volume</a:t>
            </a:r>
            <a:endParaRPr lang="en-US" sz="850" dirty="0"/>
          </a:p>
        </p:txBody>
      </p:sp>
      <p:sp>
        <p:nvSpPr>
          <p:cNvPr id="16" name="code panel">
            <a:extLst>
              <a:ext uri="{C183D7F6-B498-43B3-948B-1728B52AA6E4}">
                <adec:decorative xmlns:adec="http://schemas.microsoft.com/office/drawing/2017/decorative" val="1"/>
              </a:ext>
            </a:extLst>
          </p:cNvPr>
          <p:cNvSpPr/>
          <p:nvPr/>
        </p:nvSpPr>
        <p:spPr>
          <a:xfrm>
            <a:off x="4754880" y="1481328"/>
            <a:ext cx="388620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17" name="code panel header">
            <a:extLst>
              <a:ext uri="{C183D7F6-B498-43B3-948B-1728B52AA6E4}">
                <adec:decorative xmlns:adec="http://schemas.microsoft.com/office/drawing/2017/decorative" val="1"/>
              </a:ext>
            </a:extLst>
          </p:cNvPr>
          <p:cNvSpPr/>
          <p:nvPr/>
        </p:nvSpPr>
        <p:spPr>
          <a:xfrm>
            <a:off x="4754880" y="1481328"/>
            <a:ext cx="3886200" cy="256032"/>
          </a:xfrm>
          <a:prstGeom prst="rect">
            <a:avLst/>
          </a:prstGeom>
          <a:solidFill>
            <a:srgbClr val="0F3D66"/>
          </a:solidFill>
          <a:ln w="12700">
            <a:solidFill>
              <a:srgbClr val="333333"/>
            </a:solidFill>
            <a:prstDash val="solid"/>
          </a:ln>
        </p:spPr>
        <p:txBody>
          <a:bodyPr/>
          <a:lstStyle/>
          <a:p>
            <a:endParaRPr lang="en-IN"/>
          </a:p>
        </p:txBody>
      </p:sp>
      <p:sp>
        <p:nvSpPr>
          <p:cNvPr id="18" name="Text 16"/>
          <p:cNvSpPr/>
          <p:nvPr/>
        </p:nvSpPr>
        <p:spPr>
          <a:xfrm>
            <a:off x="4901184" y="1481328"/>
            <a:ext cx="359359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pod.yaml</a:t>
            </a:r>
            <a:endParaRPr lang="en-US" sz="850" dirty="0"/>
          </a:p>
        </p:txBody>
      </p:sp>
      <p:sp>
        <p:nvSpPr>
          <p:cNvPr id="19" name="Text 17"/>
          <p:cNvSpPr/>
          <p:nvPr/>
        </p:nvSpPr>
        <p:spPr>
          <a:xfrm>
            <a:off x="4901184" y="1810512"/>
            <a:ext cx="3593592" cy="2121408"/>
          </a:xfrm>
          <a:prstGeom prst="rect">
            <a:avLst/>
          </a:prstGeom>
          <a:noFill/>
          <a:ln/>
        </p:spPr>
        <p:txBody>
          <a:bodyPr wrap="square" lIns="0" tIns="0" rIns="0" bIns="0" rtlCol="0" anchor="t"/>
          <a:lstStyle/>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apiVersion: v1</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kind: Pod</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metadata:</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name: payments-api</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labels:</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app: payments-api</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spec:</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containers:</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 name: api</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image: myacr.azurecr.io/payments-api:9f3c21a</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ports:</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 containerPort: 8080</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resources:</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requests: { cpu: 100m, memory: 256Mi }</a:t>
            </a:r>
            <a:endParaRPr lang="en-US" sz="829" dirty="0"/>
          </a:p>
          <a:p>
            <a:pPr marL="0" indent="0">
              <a:lnSpc>
                <a:spcPct val="112000"/>
              </a:lnSpc>
              <a:buNone/>
            </a:pPr>
            <a:r>
              <a:rPr lang="en-US" sz="829" dirty="0">
                <a:solidFill>
                  <a:srgbClr val="D7ECF8"/>
                </a:solidFill>
                <a:latin typeface="Consolas" pitchFamily="34" charset="0"/>
                <a:ea typeface="Consolas" pitchFamily="34" charset="-122"/>
                <a:cs typeface="Consolas" pitchFamily="34" charset="-120"/>
              </a:rPr>
              <a:t>        limits:   { cpu: 500m, memory: 512Mi }</a:t>
            </a:r>
            <a:endParaRPr lang="en-US" sz="829"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15</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2 · APPLICATION DEPLOYMENT ON AKS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Multi-container Pods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00" dirty="0">
                <a:solidFill>
                  <a:srgbClr val="44566B"/>
                </a:solidFill>
                <a:latin typeface="Segoe UI" pitchFamily="34" charset="0"/>
                <a:ea typeface="Segoe UI" pitchFamily="34" charset="-122"/>
                <a:cs typeface="Segoe UI" pitchFamily="34" charset="-120"/>
              </a:rPr>
              <a:t>Use a second container only when it must share the lifecycle, network or filesystem of the first.</a:t>
            </a:r>
            <a:endParaRPr lang="en-US" sz="1100" dirty="0"/>
          </a:p>
        </p:txBody>
      </p:sp>
      <p:sp>
        <p:nvSpPr>
          <p:cNvPr id="7" name="card">
            <a:extLst>
              <a:ext uri="{C183D7F6-B498-43B3-948B-1728B52AA6E4}">
                <adec:decorative xmlns:adec="http://schemas.microsoft.com/office/drawing/2017/decorative" val="1"/>
              </a:ext>
            </a:extLst>
          </p:cNvPr>
          <p:cNvSpPr/>
          <p:nvPr/>
        </p:nvSpPr>
        <p:spPr>
          <a:xfrm>
            <a:off x="502920" y="1481328"/>
            <a:ext cx="1888236" cy="1197864"/>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1888236" cy="41148"/>
          </a:xfrm>
          <a:prstGeom prst="rect">
            <a:avLst/>
          </a:prstGeom>
          <a:solidFill>
            <a:srgbClr val="0B63CE"/>
          </a:solidFill>
          <a:ln w="12700">
            <a:solidFill>
              <a:srgbClr val="333333"/>
            </a:solidFill>
            <a:prstDash val="solid"/>
          </a:ln>
        </p:spPr>
        <p:txBody>
          <a:bodyPr/>
          <a:lstStyle/>
          <a:p>
            <a:endParaRPr lang="en-IN"/>
          </a:p>
        </p:txBody>
      </p:sp>
      <p:sp>
        <p:nvSpPr>
          <p:cNvPr id="9" name="Text 7"/>
          <p:cNvSpPr/>
          <p:nvPr/>
        </p:nvSpPr>
        <p:spPr>
          <a:xfrm>
            <a:off x="704088" y="1664208"/>
            <a:ext cx="1485900"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SIDECAR</a:t>
            </a:r>
            <a:endParaRPr lang="en-US" sz="900" dirty="0"/>
          </a:p>
        </p:txBody>
      </p:sp>
      <p:sp>
        <p:nvSpPr>
          <p:cNvPr id="10" name="Text 8"/>
          <p:cNvSpPr/>
          <p:nvPr/>
        </p:nvSpPr>
        <p:spPr>
          <a:xfrm>
            <a:off x="704088" y="1920240"/>
            <a:ext cx="1485900" cy="321564"/>
          </a:xfrm>
          <a:prstGeom prst="rect">
            <a:avLst/>
          </a:prstGeom>
          <a:noFill/>
          <a:ln/>
        </p:spPr>
        <p:txBody>
          <a:bodyPr wrap="square" lIns="0" tIns="0" rIns="0" bIns="0" rtlCol="0" anchor="t"/>
          <a:lstStyle/>
          <a:p>
            <a:pPr marL="0" indent="0">
              <a:lnSpc>
                <a:spcPct val="100000"/>
              </a:lnSpc>
              <a:buNone/>
            </a:pPr>
            <a:r>
              <a:rPr lang="en-US" sz="875" b="1" dirty="0">
                <a:solidFill>
                  <a:srgbClr val="0E2233"/>
                </a:solidFill>
                <a:latin typeface="Segoe UI" pitchFamily="34" charset="0"/>
                <a:ea typeface="Segoe UI" pitchFamily="34" charset="-122"/>
                <a:cs typeface="Segoe UI" pitchFamily="34" charset="-120"/>
              </a:rPr>
              <a:t>Extends the main container</a:t>
            </a:r>
            <a:endParaRPr lang="en-US" sz="875" dirty="0"/>
          </a:p>
        </p:txBody>
      </p:sp>
      <p:sp>
        <p:nvSpPr>
          <p:cNvPr id="11" name="Text 9"/>
          <p:cNvSpPr/>
          <p:nvPr/>
        </p:nvSpPr>
        <p:spPr>
          <a:xfrm>
            <a:off x="690372" y="2122170"/>
            <a:ext cx="1485900" cy="190500"/>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Ships logs, exports metrics, or terminates TLS alongside the application without changing its code.</a:t>
            </a:r>
            <a:endParaRPr lang="en-US" sz="900" dirty="0"/>
          </a:p>
        </p:txBody>
      </p:sp>
      <p:sp>
        <p:nvSpPr>
          <p:cNvPr id="12" name="card">
            <a:extLst>
              <a:ext uri="{C183D7F6-B498-43B3-948B-1728B52AA6E4}">
                <adec:decorative xmlns:adec="http://schemas.microsoft.com/office/drawing/2017/decorative" val="1"/>
              </a:ext>
            </a:extLst>
          </p:cNvPr>
          <p:cNvSpPr/>
          <p:nvPr/>
        </p:nvSpPr>
        <p:spPr>
          <a:xfrm>
            <a:off x="2592324" y="1481328"/>
            <a:ext cx="1888236" cy="1197864"/>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2592324" y="1481328"/>
            <a:ext cx="1888236" cy="41148"/>
          </a:xfrm>
          <a:prstGeom prst="rect">
            <a:avLst/>
          </a:prstGeom>
          <a:solidFill>
            <a:srgbClr val="17A9DB"/>
          </a:solidFill>
          <a:ln w="12700">
            <a:solidFill>
              <a:srgbClr val="333333"/>
            </a:solidFill>
            <a:prstDash val="solid"/>
          </a:ln>
        </p:spPr>
        <p:txBody>
          <a:bodyPr/>
          <a:lstStyle/>
          <a:p>
            <a:endParaRPr lang="en-IN"/>
          </a:p>
        </p:txBody>
      </p:sp>
      <p:sp>
        <p:nvSpPr>
          <p:cNvPr id="14" name="Text 12"/>
          <p:cNvSpPr/>
          <p:nvPr/>
        </p:nvSpPr>
        <p:spPr>
          <a:xfrm>
            <a:off x="2793492" y="1664208"/>
            <a:ext cx="1485900" cy="228600"/>
          </a:xfrm>
          <a:prstGeom prst="rect">
            <a:avLst/>
          </a:prstGeom>
          <a:noFill/>
          <a:ln/>
        </p:spPr>
        <p:txBody>
          <a:bodyPr wrap="square" lIns="0" tIns="0" rIns="0" bIns="0" rtlCol="0" anchor="ctr"/>
          <a:lstStyle/>
          <a:p>
            <a:pPr marL="0" indent="0">
              <a:buNone/>
            </a:pPr>
            <a:r>
              <a:rPr lang="en-US" sz="900" b="1" kern="0" spc="120" dirty="0">
                <a:solidFill>
                  <a:srgbClr val="17A9DB"/>
                </a:solidFill>
                <a:latin typeface="Segoe UI" pitchFamily="34" charset="0"/>
                <a:ea typeface="Segoe UI" pitchFamily="34" charset="-122"/>
                <a:cs typeface="Segoe UI" pitchFamily="34" charset="-120"/>
              </a:rPr>
              <a:t>ADAPTER</a:t>
            </a:r>
            <a:endParaRPr lang="en-US" sz="900" dirty="0"/>
          </a:p>
        </p:txBody>
      </p:sp>
      <p:sp>
        <p:nvSpPr>
          <p:cNvPr id="15" name="Text 13"/>
          <p:cNvSpPr/>
          <p:nvPr/>
        </p:nvSpPr>
        <p:spPr>
          <a:xfrm>
            <a:off x="2793492" y="1920240"/>
            <a:ext cx="1485900" cy="321564"/>
          </a:xfrm>
          <a:prstGeom prst="rect">
            <a:avLst/>
          </a:prstGeom>
          <a:noFill/>
          <a:ln/>
        </p:spPr>
        <p:txBody>
          <a:bodyPr wrap="square" lIns="0" tIns="0" rIns="0" bIns="0" rtlCol="0" anchor="t"/>
          <a:lstStyle/>
          <a:p>
            <a:pPr marL="0" indent="0">
              <a:lnSpc>
                <a:spcPct val="100000"/>
              </a:lnSpc>
              <a:buNone/>
            </a:pPr>
            <a:r>
              <a:rPr lang="en-US" sz="875" b="1" dirty="0">
                <a:solidFill>
                  <a:srgbClr val="0E2233"/>
                </a:solidFill>
                <a:latin typeface="Segoe UI" pitchFamily="34" charset="0"/>
                <a:ea typeface="Segoe UI" pitchFamily="34" charset="-122"/>
                <a:cs typeface="Segoe UI" pitchFamily="34" charset="-120"/>
              </a:rPr>
              <a:t>Normalises output</a:t>
            </a:r>
            <a:endParaRPr lang="en-US" sz="875" dirty="0"/>
          </a:p>
        </p:txBody>
      </p:sp>
      <p:sp>
        <p:nvSpPr>
          <p:cNvPr id="16" name="Text 14"/>
          <p:cNvSpPr/>
          <p:nvPr/>
        </p:nvSpPr>
        <p:spPr>
          <a:xfrm>
            <a:off x="2793492" y="2083308"/>
            <a:ext cx="1485900" cy="190500"/>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Reformats the application's logs or metrics into the shape the platform's tooling expects.</a:t>
            </a:r>
            <a:endParaRPr lang="en-US" sz="900" dirty="0"/>
          </a:p>
        </p:txBody>
      </p:sp>
      <p:sp>
        <p:nvSpPr>
          <p:cNvPr id="17" name="card">
            <a:extLst>
              <a:ext uri="{C183D7F6-B498-43B3-948B-1728B52AA6E4}">
                <adec:decorative xmlns:adec="http://schemas.microsoft.com/office/drawing/2017/decorative" val="1"/>
              </a:ext>
            </a:extLst>
          </p:cNvPr>
          <p:cNvSpPr/>
          <p:nvPr/>
        </p:nvSpPr>
        <p:spPr>
          <a:xfrm>
            <a:off x="502920" y="2880360"/>
            <a:ext cx="1888236" cy="1197864"/>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502920" y="2880360"/>
            <a:ext cx="1888236" cy="41148"/>
          </a:xfrm>
          <a:prstGeom prst="rect">
            <a:avLst/>
          </a:prstGeom>
          <a:solidFill>
            <a:srgbClr val="0B63CE"/>
          </a:solidFill>
          <a:ln w="12700">
            <a:solidFill>
              <a:srgbClr val="333333"/>
            </a:solidFill>
            <a:prstDash val="solid"/>
          </a:ln>
        </p:spPr>
        <p:txBody>
          <a:bodyPr/>
          <a:lstStyle/>
          <a:p>
            <a:endParaRPr lang="en-IN"/>
          </a:p>
        </p:txBody>
      </p:sp>
      <p:sp>
        <p:nvSpPr>
          <p:cNvPr id="19" name="Text 17"/>
          <p:cNvSpPr/>
          <p:nvPr/>
        </p:nvSpPr>
        <p:spPr>
          <a:xfrm>
            <a:off x="704088" y="3063240"/>
            <a:ext cx="1485900"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AMBASSADOR</a:t>
            </a:r>
            <a:endParaRPr lang="en-US" sz="900" dirty="0"/>
          </a:p>
        </p:txBody>
      </p:sp>
      <p:sp>
        <p:nvSpPr>
          <p:cNvPr id="20" name="Text 18"/>
          <p:cNvSpPr/>
          <p:nvPr/>
        </p:nvSpPr>
        <p:spPr>
          <a:xfrm>
            <a:off x="704088" y="3319272"/>
            <a:ext cx="1485900" cy="321564"/>
          </a:xfrm>
          <a:prstGeom prst="rect">
            <a:avLst/>
          </a:prstGeom>
          <a:noFill/>
          <a:ln/>
        </p:spPr>
        <p:txBody>
          <a:bodyPr wrap="square" lIns="0" tIns="0" rIns="0" bIns="0" rtlCol="0" anchor="t"/>
          <a:lstStyle/>
          <a:p>
            <a:pPr marL="0" indent="0">
              <a:lnSpc>
                <a:spcPct val="100000"/>
              </a:lnSpc>
              <a:buNone/>
            </a:pPr>
            <a:r>
              <a:rPr lang="en-US" sz="875" b="1" dirty="0">
                <a:solidFill>
                  <a:srgbClr val="0E2233"/>
                </a:solidFill>
                <a:latin typeface="Segoe UI" pitchFamily="34" charset="0"/>
                <a:ea typeface="Segoe UI" pitchFamily="34" charset="-122"/>
                <a:cs typeface="Segoe UI" pitchFamily="34" charset="-120"/>
              </a:rPr>
              <a:t>Proxies outbound calls</a:t>
            </a:r>
            <a:endParaRPr lang="en-US" sz="875" dirty="0"/>
          </a:p>
        </p:txBody>
      </p:sp>
      <p:sp>
        <p:nvSpPr>
          <p:cNvPr id="21" name="Text 19"/>
          <p:cNvSpPr/>
          <p:nvPr/>
        </p:nvSpPr>
        <p:spPr>
          <a:xfrm>
            <a:off x="704088" y="3496056"/>
            <a:ext cx="1485900" cy="190500"/>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Presents a simple local endpoint while handling retries, routing or connection pooling to a remote system.</a:t>
            </a:r>
            <a:endParaRPr lang="en-US" sz="900" dirty="0"/>
          </a:p>
        </p:txBody>
      </p:sp>
      <p:sp>
        <p:nvSpPr>
          <p:cNvPr id="22" name="card">
            <a:extLst>
              <a:ext uri="{C183D7F6-B498-43B3-948B-1728B52AA6E4}">
                <adec:decorative xmlns:adec="http://schemas.microsoft.com/office/drawing/2017/decorative" val="1"/>
              </a:ext>
            </a:extLst>
          </p:cNvPr>
          <p:cNvSpPr/>
          <p:nvPr/>
        </p:nvSpPr>
        <p:spPr>
          <a:xfrm>
            <a:off x="2592324" y="2880360"/>
            <a:ext cx="1888236" cy="1197864"/>
          </a:xfrm>
          <a:prstGeom prst="rect">
            <a:avLst/>
          </a:prstGeom>
          <a:solidFill>
            <a:srgbClr val="F6F9FD"/>
          </a:solidFill>
          <a:ln w="9525">
            <a:solidFill>
              <a:srgbClr val="D8E5F2"/>
            </a:solidFill>
            <a:prstDash val="solid"/>
          </a:ln>
        </p:spPr>
        <p:txBody>
          <a:bodyPr/>
          <a:lstStyle/>
          <a:p>
            <a:endParaRPr lang="en-IN"/>
          </a:p>
        </p:txBody>
      </p:sp>
      <p:sp>
        <p:nvSpPr>
          <p:cNvPr id="23" name="card accent">
            <a:extLst>
              <a:ext uri="{C183D7F6-B498-43B3-948B-1728B52AA6E4}">
                <adec:decorative xmlns:adec="http://schemas.microsoft.com/office/drawing/2017/decorative" val="1"/>
              </a:ext>
            </a:extLst>
          </p:cNvPr>
          <p:cNvSpPr/>
          <p:nvPr/>
        </p:nvSpPr>
        <p:spPr>
          <a:xfrm>
            <a:off x="2592324" y="2880360"/>
            <a:ext cx="1888236" cy="41148"/>
          </a:xfrm>
          <a:prstGeom prst="rect">
            <a:avLst/>
          </a:prstGeom>
          <a:solidFill>
            <a:srgbClr val="17A9DB"/>
          </a:solidFill>
          <a:ln w="12700">
            <a:solidFill>
              <a:srgbClr val="333333"/>
            </a:solidFill>
            <a:prstDash val="solid"/>
          </a:ln>
        </p:spPr>
        <p:txBody>
          <a:bodyPr/>
          <a:lstStyle/>
          <a:p>
            <a:endParaRPr lang="en-IN"/>
          </a:p>
        </p:txBody>
      </p:sp>
      <p:sp>
        <p:nvSpPr>
          <p:cNvPr id="24" name="Text 22"/>
          <p:cNvSpPr/>
          <p:nvPr/>
        </p:nvSpPr>
        <p:spPr>
          <a:xfrm>
            <a:off x="2793492" y="3063240"/>
            <a:ext cx="1485900" cy="228600"/>
          </a:xfrm>
          <a:prstGeom prst="rect">
            <a:avLst/>
          </a:prstGeom>
          <a:noFill/>
          <a:ln/>
        </p:spPr>
        <p:txBody>
          <a:bodyPr wrap="square" lIns="0" tIns="0" rIns="0" bIns="0" rtlCol="0" anchor="ctr"/>
          <a:lstStyle/>
          <a:p>
            <a:pPr marL="0" indent="0">
              <a:buNone/>
            </a:pPr>
            <a:r>
              <a:rPr lang="en-US" sz="900" b="1" kern="0" spc="120" dirty="0">
                <a:solidFill>
                  <a:srgbClr val="17A9DB"/>
                </a:solidFill>
                <a:latin typeface="Segoe UI" pitchFamily="34" charset="0"/>
                <a:ea typeface="Segoe UI" pitchFamily="34" charset="-122"/>
                <a:cs typeface="Segoe UI" pitchFamily="34" charset="-120"/>
              </a:rPr>
              <a:t>INIT</a:t>
            </a:r>
            <a:endParaRPr lang="en-US" sz="900" dirty="0"/>
          </a:p>
        </p:txBody>
      </p:sp>
      <p:sp>
        <p:nvSpPr>
          <p:cNvPr id="25" name="Text 23"/>
          <p:cNvSpPr/>
          <p:nvPr/>
        </p:nvSpPr>
        <p:spPr>
          <a:xfrm>
            <a:off x="2793492" y="3319272"/>
            <a:ext cx="1485900" cy="321564"/>
          </a:xfrm>
          <a:prstGeom prst="rect">
            <a:avLst/>
          </a:prstGeom>
          <a:noFill/>
          <a:ln/>
        </p:spPr>
        <p:txBody>
          <a:bodyPr wrap="square" lIns="0" tIns="0" rIns="0" bIns="0" rtlCol="0" anchor="t"/>
          <a:lstStyle/>
          <a:p>
            <a:pPr marL="0" indent="0">
              <a:lnSpc>
                <a:spcPct val="100000"/>
              </a:lnSpc>
              <a:buNone/>
            </a:pPr>
            <a:r>
              <a:rPr lang="en-US" sz="875" b="1" dirty="0">
                <a:solidFill>
                  <a:srgbClr val="0E2233"/>
                </a:solidFill>
                <a:latin typeface="Segoe UI" pitchFamily="34" charset="0"/>
                <a:ea typeface="Segoe UI" pitchFamily="34" charset="-122"/>
                <a:cs typeface="Segoe UI" pitchFamily="34" charset="-120"/>
              </a:rPr>
              <a:t>Runs first, then exits</a:t>
            </a:r>
            <a:endParaRPr lang="en-US" sz="875" dirty="0"/>
          </a:p>
        </p:txBody>
      </p:sp>
      <p:sp>
        <p:nvSpPr>
          <p:cNvPr id="26" name="Text 24"/>
          <p:cNvSpPr/>
          <p:nvPr/>
        </p:nvSpPr>
        <p:spPr>
          <a:xfrm>
            <a:off x="2793492" y="3496056"/>
            <a:ext cx="1485900" cy="190500"/>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Prepares the Pod — waits for a dependency, fetches a certificate, runs a schema migration — before the app starts.</a:t>
            </a:r>
            <a:endParaRPr lang="en-US" sz="900" dirty="0"/>
          </a:p>
        </p:txBody>
      </p:sp>
      <p:sp>
        <p:nvSpPr>
          <p:cNvPr id="27" name="code panel">
            <a:extLst>
              <a:ext uri="{C183D7F6-B498-43B3-948B-1728B52AA6E4}">
                <adec:decorative xmlns:adec="http://schemas.microsoft.com/office/drawing/2017/decorative" val="1"/>
              </a:ext>
            </a:extLst>
          </p:cNvPr>
          <p:cNvSpPr/>
          <p:nvPr/>
        </p:nvSpPr>
        <p:spPr>
          <a:xfrm>
            <a:off x="4709160" y="1481328"/>
            <a:ext cx="393192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8" name="code panel header">
            <a:extLst>
              <a:ext uri="{C183D7F6-B498-43B3-948B-1728B52AA6E4}">
                <adec:decorative xmlns:adec="http://schemas.microsoft.com/office/drawing/2017/decorative" val="1"/>
              </a:ext>
            </a:extLst>
          </p:cNvPr>
          <p:cNvSpPr/>
          <p:nvPr/>
        </p:nvSpPr>
        <p:spPr>
          <a:xfrm>
            <a:off x="4709160" y="1481328"/>
            <a:ext cx="3931920" cy="256032"/>
          </a:xfrm>
          <a:prstGeom prst="rect">
            <a:avLst/>
          </a:prstGeom>
          <a:solidFill>
            <a:srgbClr val="0F3D66"/>
          </a:solidFill>
          <a:ln w="12700">
            <a:solidFill>
              <a:srgbClr val="333333"/>
            </a:solidFill>
            <a:prstDash val="solid"/>
          </a:ln>
        </p:spPr>
        <p:txBody>
          <a:bodyPr/>
          <a:lstStyle/>
          <a:p>
            <a:endParaRPr lang="en-IN"/>
          </a:p>
        </p:txBody>
      </p:sp>
      <p:sp>
        <p:nvSpPr>
          <p:cNvPr id="29" name="Text 27"/>
          <p:cNvSpPr/>
          <p:nvPr/>
        </p:nvSpPr>
        <p:spPr>
          <a:xfrm>
            <a:off x="4855464" y="1481328"/>
            <a:ext cx="36393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Init container and sidecar sharing a volume</a:t>
            </a:r>
            <a:endParaRPr lang="en-US" sz="850" dirty="0"/>
          </a:p>
        </p:txBody>
      </p:sp>
      <p:sp>
        <p:nvSpPr>
          <p:cNvPr id="30" name="Text 28"/>
          <p:cNvSpPr/>
          <p:nvPr/>
        </p:nvSpPr>
        <p:spPr>
          <a:xfrm>
            <a:off x="4855464" y="1810512"/>
            <a:ext cx="3639312" cy="2121408"/>
          </a:xfrm>
          <a:prstGeom prst="rect">
            <a:avLst/>
          </a:prstGeom>
          <a:noFill/>
          <a:ln/>
        </p:spPr>
        <p:txBody>
          <a:bodyPr wrap="square" lIns="0" tIns="0" rIns="0" bIns="0" rtlCol="0" anchor="t"/>
          <a:lstStyle/>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spec:</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initContainers: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wait-for-db</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image: busybox:1.36</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command: ['sh','-c','until nc -z db 5432; do sleep 2; done']</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containers: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api                 # the application</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volumeMounts: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applogs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mountPath: /var/log/app</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log-shipper         # the sidecar</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volumeMounts: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applogs         # same volume</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mountPath: /var/log/app</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volumes: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applogs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emptyDir: {}              # lives with the Pod</a:t>
            </a:r>
            <a:endParaRPr lang="en-US" sz="731" dirty="0"/>
          </a:p>
        </p:txBody>
      </p:sp>
      <p:sp>
        <p:nvSpPr>
          <p:cNvPr id="31"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16</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2 · APPLICATION DEPLOYMENT ON AKS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ReplicaSets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The controller that keeps a stated number of identical Pods running at all times.</a:t>
            </a:r>
            <a:endParaRPr lang="en-US" sz="1150" dirty="0"/>
          </a:p>
        </p:txBody>
      </p:sp>
      <p:sp>
        <p:nvSpPr>
          <p:cNvPr id="7" name="Text 5"/>
          <p:cNvSpPr/>
          <p:nvPr/>
        </p:nvSpPr>
        <p:spPr>
          <a:xfrm>
            <a:off x="502920" y="1481328"/>
            <a:ext cx="3977640" cy="1737360"/>
          </a:xfrm>
          <a:prstGeom prst="rect">
            <a:avLst/>
          </a:prstGeom>
          <a:noFill/>
          <a:ln/>
        </p:spPr>
        <p:txBody>
          <a:bodyPr wrap="square" lIns="0" tIns="0" rIns="0" bIns="0" rtlCol="0" anchor="t"/>
          <a:lstStyle/>
          <a:p>
            <a:pPr marL="342900" indent="-342900">
              <a:spcAft>
                <a:spcPts val="1100"/>
              </a:spcAft>
              <a:buSzPct val="100000"/>
              <a:buChar char="•"/>
            </a:pPr>
            <a:r>
              <a:rPr lang="en-US" sz="925" dirty="0">
                <a:solidFill>
                  <a:srgbClr val="44566B"/>
                </a:solidFill>
                <a:latin typeface="Segoe UI" pitchFamily="34" charset="0"/>
                <a:ea typeface="Segoe UI" pitchFamily="34" charset="-122"/>
                <a:cs typeface="Segoe UI" pitchFamily="34" charset="-120"/>
              </a:rPr>
              <a:t>A ReplicaSet watches Pods matching its selector and counts them</a:t>
            </a:r>
            <a:endParaRPr lang="en-US" sz="925" dirty="0"/>
          </a:p>
          <a:p>
            <a:pPr marL="342900" indent="-342900">
              <a:spcAft>
                <a:spcPts val="1100"/>
              </a:spcAft>
              <a:buSzPct val="100000"/>
              <a:buChar char="•"/>
            </a:pPr>
            <a:r>
              <a:rPr lang="en-US" sz="925" dirty="0">
                <a:solidFill>
                  <a:srgbClr val="44566B"/>
                </a:solidFill>
                <a:latin typeface="Segoe UI" pitchFamily="34" charset="0"/>
                <a:ea typeface="Segoe UI" pitchFamily="34" charset="-122"/>
                <a:cs typeface="Segoe UI" pitchFamily="34" charset="-120"/>
              </a:rPr>
              <a:t>Too few — it creates more. Too many — it deletes the surplus</a:t>
            </a:r>
            <a:endParaRPr lang="en-US" sz="925" dirty="0"/>
          </a:p>
          <a:p>
            <a:pPr marL="342900" indent="-342900">
              <a:spcAft>
                <a:spcPts val="1100"/>
              </a:spcAft>
              <a:buSzPct val="100000"/>
              <a:buChar char="•"/>
            </a:pPr>
            <a:r>
              <a:rPr lang="en-US" sz="925" dirty="0">
                <a:solidFill>
                  <a:srgbClr val="44566B"/>
                </a:solidFill>
                <a:latin typeface="Segoe UI" pitchFamily="34" charset="0"/>
                <a:ea typeface="Segoe UI" pitchFamily="34" charset="-122"/>
                <a:cs typeface="Segoe UI" pitchFamily="34" charset="-120"/>
              </a:rPr>
              <a:t>This is what makes a node failure a non-event for a stateless application</a:t>
            </a:r>
            <a:endParaRPr lang="en-US" sz="925" dirty="0"/>
          </a:p>
          <a:p>
            <a:pPr marL="342900" indent="-342900">
              <a:spcAft>
                <a:spcPts val="1100"/>
              </a:spcAft>
              <a:buSzPct val="100000"/>
              <a:buChar char="•"/>
            </a:pPr>
            <a:r>
              <a:rPr lang="en-US" sz="925" dirty="0">
                <a:solidFill>
                  <a:srgbClr val="44566B"/>
                </a:solidFill>
                <a:latin typeface="Segoe UI" pitchFamily="34" charset="0"/>
                <a:ea typeface="Segoe UI" pitchFamily="34" charset="-122"/>
                <a:cs typeface="Segoe UI" pitchFamily="34" charset="-120"/>
              </a:rPr>
              <a:t>You almost never create one directly; a Deployment creates and manages ReplicaSets for you</a:t>
            </a:r>
            <a:endParaRPr lang="en-US" sz="925" dirty="0"/>
          </a:p>
        </p:txBody>
      </p:sp>
      <p:sp>
        <p:nvSpPr>
          <p:cNvPr id="8" name="step box">
            <a:extLst>
              <a:ext uri="{C183D7F6-B498-43B3-948B-1728B52AA6E4}">
                <adec:decorative xmlns:adec="http://schemas.microsoft.com/office/drawing/2017/decorative" val="1"/>
              </a:ext>
            </a:extLst>
          </p:cNvPr>
          <p:cNvSpPr/>
          <p:nvPr/>
        </p:nvSpPr>
        <p:spPr>
          <a:xfrm>
            <a:off x="502920" y="3401568"/>
            <a:ext cx="1801368" cy="676656"/>
          </a:xfrm>
          <a:prstGeom prst="rect">
            <a:avLst/>
          </a:prstGeom>
          <a:solidFill>
            <a:srgbClr val="EDF4FC"/>
          </a:solidFill>
          <a:ln w="12700">
            <a:solidFill>
              <a:srgbClr val="0B63CE"/>
            </a:solidFill>
            <a:prstDash val="solid"/>
          </a:ln>
        </p:spPr>
        <p:txBody>
          <a:bodyPr/>
          <a:lstStyle/>
          <a:p>
            <a:endParaRPr lang="en-IN"/>
          </a:p>
        </p:txBody>
      </p:sp>
      <p:sp>
        <p:nvSpPr>
          <p:cNvPr id="9" name="Text 7"/>
          <p:cNvSpPr/>
          <p:nvPr/>
        </p:nvSpPr>
        <p:spPr>
          <a:xfrm>
            <a:off x="594360" y="3511296"/>
            <a:ext cx="1618488" cy="310896"/>
          </a:xfrm>
          <a:prstGeom prst="rect">
            <a:avLst/>
          </a:prstGeom>
          <a:noFill/>
          <a:ln/>
        </p:spPr>
        <p:txBody>
          <a:bodyPr wrap="square" lIns="0" tIns="0" rIns="0" bIns="0" rtlCol="0" anchor="ctr"/>
          <a:lstStyle/>
          <a:p>
            <a:pPr marL="0" indent="0" algn="ctr">
              <a:buNone/>
            </a:pPr>
            <a:r>
              <a:rPr lang="en-US" sz="1150" b="1" dirty="0">
                <a:solidFill>
                  <a:srgbClr val="0E2233"/>
                </a:solidFill>
                <a:latin typeface="Segoe UI" pitchFamily="34" charset="0"/>
                <a:ea typeface="Segoe UI" pitchFamily="34" charset="-122"/>
                <a:cs typeface="Segoe UI" pitchFamily="34" charset="-120"/>
              </a:rPr>
              <a:t>Desired: 3</a:t>
            </a:r>
            <a:endParaRPr lang="en-US" sz="1150" dirty="0"/>
          </a:p>
        </p:txBody>
      </p:sp>
      <p:sp>
        <p:nvSpPr>
          <p:cNvPr id="10" name="Text 8"/>
          <p:cNvSpPr/>
          <p:nvPr/>
        </p:nvSpPr>
        <p:spPr>
          <a:xfrm>
            <a:off x="612648" y="3822192"/>
            <a:ext cx="1581912" cy="164592"/>
          </a:xfrm>
          <a:prstGeom prst="rect">
            <a:avLst/>
          </a:prstGeom>
          <a:noFill/>
          <a:ln/>
        </p:spPr>
        <p:txBody>
          <a:bodyPr wrap="square" lIns="0" tIns="0" rIns="0" bIns="0" rtlCol="0" anchor="t"/>
          <a:lstStyle/>
          <a:p>
            <a:pPr marL="0" indent="0" algn="ctr">
              <a:lnSpc>
                <a:spcPct val="110000"/>
              </a:lnSpc>
              <a:buNone/>
            </a:pPr>
            <a:r>
              <a:rPr lang="en-US" sz="750" dirty="0">
                <a:solidFill>
                  <a:srgbClr val="44566B"/>
                </a:solidFill>
                <a:latin typeface="Segoe UI" pitchFamily="34" charset="0"/>
                <a:ea typeface="Segoe UI" pitchFamily="34" charset="-122"/>
                <a:cs typeface="Segoe UI" pitchFamily="34" charset="-120"/>
              </a:rPr>
              <a:t>declared in the ReplicaSet spec</a:t>
            </a:r>
            <a:endParaRPr lang="en-US" sz="750" dirty="0"/>
          </a:p>
        </p:txBody>
      </p:sp>
      <p:sp>
        <p:nvSpPr>
          <p:cNvPr id="11" name="flow arrow">
            <a:extLst>
              <a:ext uri="{C183D7F6-B498-43B3-948B-1728B52AA6E4}">
                <adec:decorative xmlns:adec="http://schemas.microsoft.com/office/drawing/2017/decorative" val="1"/>
              </a:ext>
            </a:extLst>
          </p:cNvPr>
          <p:cNvSpPr/>
          <p:nvPr/>
        </p:nvSpPr>
        <p:spPr>
          <a:xfrm>
            <a:off x="2359152" y="3639312"/>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2" name="step box">
            <a:extLst>
              <a:ext uri="{C183D7F6-B498-43B3-948B-1728B52AA6E4}">
                <adec:decorative xmlns:adec="http://schemas.microsoft.com/office/drawing/2017/decorative" val="1"/>
              </a:ext>
            </a:extLst>
          </p:cNvPr>
          <p:cNvSpPr/>
          <p:nvPr/>
        </p:nvSpPr>
        <p:spPr>
          <a:xfrm>
            <a:off x="2615184" y="3401568"/>
            <a:ext cx="1801368" cy="676656"/>
          </a:xfrm>
          <a:prstGeom prst="rect">
            <a:avLst/>
          </a:prstGeom>
          <a:solidFill>
            <a:srgbClr val="FDEFE2"/>
          </a:solidFill>
          <a:ln w="12700">
            <a:solidFill>
              <a:srgbClr val="F2A93B"/>
            </a:solidFill>
            <a:prstDash val="solid"/>
          </a:ln>
        </p:spPr>
        <p:txBody>
          <a:bodyPr/>
          <a:lstStyle/>
          <a:p>
            <a:endParaRPr lang="en-IN"/>
          </a:p>
        </p:txBody>
      </p:sp>
      <p:sp>
        <p:nvSpPr>
          <p:cNvPr id="13" name="Text 11"/>
          <p:cNvSpPr/>
          <p:nvPr/>
        </p:nvSpPr>
        <p:spPr>
          <a:xfrm>
            <a:off x="2706624" y="3511296"/>
            <a:ext cx="1618488" cy="310896"/>
          </a:xfrm>
          <a:prstGeom prst="rect">
            <a:avLst/>
          </a:prstGeom>
          <a:noFill/>
          <a:ln/>
        </p:spPr>
        <p:txBody>
          <a:bodyPr wrap="square" lIns="0" tIns="0" rIns="0" bIns="0" rtlCol="0" anchor="ctr"/>
          <a:lstStyle/>
          <a:p>
            <a:pPr marL="0" indent="0" algn="ctr">
              <a:buNone/>
            </a:pPr>
            <a:r>
              <a:rPr lang="en-US" sz="1150" b="1" dirty="0">
                <a:solidFill>
                  <a:srgbClr val="0E2233"/>
                </a:solidFill>
                <a:latin typeface="Segoe UI" pitchFamily="34" charset="0"/>
                <a:ea typeface="Segoe UI" pitchFamily="34" charset="-122"/>
                <a:cs typeface="Segoe UI" pitchFamily="34" charset="-120"/>
              </a:rPr>
              <a:t>Node fails</a:t>
            </a:r>
            <a:endParaRPr lang="en-US" sz="1150" dirty="0"/>
          </a:p>
        </p:txBody>
      </p:sp>
      <p:sp>
        <p:nvSpPr>
          <p:cNvPr id="14" name="Text 12"/>
          <p:cNvSpPr/>
          <p:nvPr/>
        </p:nvSpPr>
        <p:spPr>
          <a:xfrm>
            <a:off x="2724912" y="3822192"/>
            <a:ext cx="1581912" cy="164592"/>
          </a:xfrm>
          <a:prstGeom prst="rect">
            <a:avLst/>
          </a:prstGeom>
          <a:noFill/>
          <a:ln/>
        </p:spPr>
        <p:txBody>
          <a:bodyPr wrap="square" lIns="0" tIns="0" rIns="0" bIns="0" rtlCol="0" anchor="t"/>
          <a:lstStyle/>
          <a:p>
            <a:pPr marL="0" indent="0" algn="ctr">
              <a:lnSpc>
                <a:spcPct val="110000"/>
              </a:lnSpc>
              <a:buNone/>
            </a:pPr>
            <a:r>
              <a:rPr lang="en-US" sz="675" dirty="0">
                <a:solidFill>
                  <a:srgbClr val="44566B"/>
                </a:solidFill>
                <a:latin typeface="Segoe UI" pitchFamily="34" charset="0"/>
                <a:ea typeface="Segoe UI" pitchFamily="34" charset="-122"/>
                <a:cs typeface="Segoe UI" pitchFamily="34" charset="-120"/>
              </a:rPr>
              <a:t>one Pod is lost, actual drops to 2</a:t>
            </a:r>
            <a:endParaRPr lang="en-US" sz="675" dirty="0"/>
          </a:p>
        </p:txBody>
      </p:sp>
      <p:sp>
        <p:nvSpPr>
          <p:cNvPr id="15" name="flow arrow">
            <a:extLst>
              <a:ext uri="{C183D7F6-B498-43B3-948B-1728B52AA6E4}">
                <adec:decorative xmlns:adec="http://schemas.microsoft.com/office/drawing/2017/decorative" val="1"/>
              </a:ext>
            </a:extLst>
          </p:cNvPr>
          <p:cNvSpPr/>
          <p:nvPr/>
        </p:nvSpPr>
        <p:spPr>
          <a:xfrm>
            <a:off x="4471416" y="3639312"/>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6" name="step box">
            <a:extLst>
              <a:ext uri="{C183D7F6-B498-43B3-948B-1728B52AA6E4}">
                <adec:decorative xmlns:adec="http://schemas.microsoft.com/office/drawing/2017/decorative" val="1"/>
              </a:ext>
            </a:extLst>
          </p:cNvPr>
          <p:cNvSpPr/>
          <p:nvPr/>
        </p:nvSpPr>
        <p:spPr>
          <a:xfrm>
            <a:off x="4727448" y="3401568"/>
            <a:ext cx="1801368" cy="676656"/>
          </a:xfrm>
          <a:prstGeom prst="rect">
            <a:avLst/>
          </a:prstGeom>
          <a:solidFill>
            <a:srgbClr val="EDF4FC"/>
          </a:solidFill>
          <a:ln w="12700">
            <a:solidFill>
              <a:srgbClr val="0B63CE"/>
            </a:solidFill>
            <a:prstDash val="solid"/>
          </a:ln>
        </p:spPr>
        <p:txBody>
          <a:bodyPr/>
          <a:lstStyle/>
          <a:p>
            <a:endParaRPr lang="en-IN"/>
          </a:p>
        </p:txBody>
      </p:sp>
      <p:sp>
        <p:nvSpPr>
          <p:cNvPr id="17" name="Text 15"/>
          <p:cNvSpPr/>
          <p:nvPr/>
        </p:nvSpPr>
        <p:spPr>
          <a:xfrm>
            <a:off x="4818888" y="3511296"/>
            <a:ext cx="1618488" cy="310896"/>
          </a:xfrm>
          <a:prstGeom prst="rect">
            <a:avLst/>
          </a:prstGeom>
          <a:noFill/>
          <a:ln/>
        </p:spPr>
        <p:txBody>
          <a:bodyPr wrap="square" lIns="0" tIns="0" rIns="0" bIns="0" rtlCol="0" anchor="ctr"/>
          <a:lstStyle/>
          <a:p>
            <a:pPr marL="0" indent="0" algn="ctr">
              <a:buNone/>
            </a:pPr>
            <a:r>
              <a:rPr lang="en-US" sz="1150" b="1" dirty="0">
                <a:solidFill>
                  <a:srgbClr val="0E2233"/>
                </a:solidFill>
                <a:latin typeface="Segoe UI" pitchFamily="34" charset="0"/>
                <a:ea typeface="Segoe UI" pitchFamily="34" charset="-122"/>
                <a:cs typeface="Segoe UI" pitchFamily="34" charset="-120"/>
              </a:rPr>
              <a:t>Controller acts</a:t>
            </a:r>
            <a:endParaRPr lang="en-US" sz="1150" dirty="0"/>
          </a:p>
        </p:txBody>
      </p:sp>
      <p:sp>
        <p:nvSpPr>
          <p:cNvPr id="18" name="Text 16"/>
          <p:cNvSpPr/>
          <p:nvPr/>
        </p:nvSpPr>
        <p:spPr>
          <a:xfrm>
            <a:off x="4837176" y="3822192"/>
            <a:ext cx="1581912" cy="164592"/>
          </a:xfrm>
          <a:prstGeom prst="rect">
            <a:avLst/>
          </a:prstGeom>
          <a:noFill/>
          <a:ln/>
        </p:spPr>
        <p:txBody>
          <a:bodyPr wrap="square" lIns="0" tIns="0" rIns="0" bIns="0" rtlCol="0" anchor="t"/>
          <a:lstStyle/>
          <a:p>
            <a:pPr marL="0" indent="0" algn="ctr">
              <a:lnSpc>
                <a:spcPct val="110000"/>
              </a:lnSpc>
              <a:buNone/>
            </a:pPr>
            <a:r>
              <a:rPr lang="en-US" sz="700" dirty="0">
                <a:solidFill>
                  <a:srgbClr val="44566B"/>
                </a:solidFill>
                <a:latin typeface="Segoe UI" pitchFamily="34" charset="0"/>
                <a:ea typeface="Segoe UI" pitchFamily="34" charset="-122"/>
                <a:cs typeface="Segoe UI" pitchFamily="34" charset="-120"/>
              </a:rPr>
              <a:t>observes the gap, creates one Pod</a:t>
            </a:r>
            <a:endParaRPr lang="en-US" sz="700" dirty="0"/>
          </a:p>
        </p:txBody>
      </p:sp>
      <p:sp>
        <p:nvSpPr>
          <p:cNvPr id="19" name="flow arrow">
            <a:extLst>
              <a:ext uri="{C183D7F6-B498-43B3-948B-1728B52AA6E4}">
                <adec:decorative xmlns:adec="http://schemas.microsoft.com/office/drawing/2017/decorative" val="1"/>
              </a:ext>
            </a:extLst>
          </p:cNvPr>
          <p:cNvSpPr/>
          <p:nvPr/>
        </p:nvSpPr>
        <p:spPr>
          <a:xfrm>
            <a:off x="6583680" y="3639312"/>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20" name="step box">
            <a:extLst>
              <a:ext uri="{C183D7F6-B498-43B3-948B-1728B52AA6E4}">
                <adec:decorative xmlns:adec="http://schemas.microsoft.com/office/drawing/2017/decorative" val="1"/>
              </a:ext>
            </a:extLst>
          </p:cNvPr>
          <p:cNvSpPr/>
          <p:nvPr/>
        </p:nvSpPr>
        <p:spPr>
          <a:xfrm>
            <a:off x="6839712" y="3401568"/>
            <a:ext cx="1801368" cy="676656"/>
          </a:xfrm>
          <a:prstGeom prst="rect">
            <a:avLst/>
          </a:prstGeom>
          <a:solidFill>
            <a:srgbClr val="E8F6EF"/>
          </a:solidFill>
          <a:ln w="12700">
            <a:solidFill>
              <a:srgbClr val="2E9E6B"/>
            </a:solidFill>
            <a:prstDash val="solid"/>
          </a:ln>
        </p:spPr>
        <p:txBody>
          <a:bodyPr/>
          <a:lstStyle/>
          <a:p>
            <a:endParaRPr lang="en-IN"/>
          </a:p>
        </p:txBody>
      </p:sp>
      <p:sp>
        <p:nvSpPr>
          <p:cNvPr id="21" name="Text 19"/>
          <p:cNvSpPr/>
          <p:nvPr/>
        </p:nvSpPr>
        <p:spPr>
          <a:xfrm>
            <a:off x="6931152" y="3511296"/>
            <a:ext cx="1618488" cy="310896"/>
          </a:xfrm>
          <a:prstGeom prst="rect">
            <a:avLst/>
          </a:prstGeom>
          <a:noFill/>
          <a:ln/>
        </p:spPr>
        <p:txBody>
          <a:bodyPr wrap="square" lIns="0" tIns="0" rIns="0" bIns="0" rtlCol="0" anchor="ctr"/>
          <a:lstStyle/>
          <a:p>
            <a:pPr marL="0" indent="0" algn="ctr">
              <a:buNone/>
            </a:pPr>
            <a:r>
              <a:rPr lang="en-US" sz="1150" b="1" dirty="0">
                <a:solidFill>
                  <a:srgbClr val="0E2233"/>
                </a:solidFill>
                <a:latin typeface="Segoe UI" pitchFamily="34" charset="0"/>
                <a:ea typeface="Segoe UI" pitchFamily="34" charset="-122"/>
                <a:cs typeface="Segoe UI" pitchFamily="34" charset="-120"/>
              </a:rPr>
              <a:t>Actual: 3</a:t>
            </a:r>
            <a:endParaRPr lang="en-US" sz="1150" dirty="0"/>
          </a:p>
        </p:txBody>
      </p:sp>
      <p:sp>
        <p:nvSpPr>
          <p:cNvPr id="22" name="Text 20"/>
          <p:cNvSpPr/>
          <p:nvPr/>
        </p:nvSpPr>
        <p:spPr>
          <a:xfrm>
            <a:off x="6949440" y="3822192"/>
            <a:ext cx="1581912" cy="164592"/>
          </a:xfrm>
          <a:prstGeom prst="rect">
            <a:avLst/>
          </a:prstGeom>
          <a:noFill/>
          <a:ln/>
        </p:spPr>
        <p:txBody>
          <a:bodyPr wrap="square" lIns="0" tIns="0" rIns="0" bIns="0" rtlCol="0" anchor="t"/>
          <a:lstStyle/>
          <a:p>
            <a:pPr marL="0" indent="0" algn="ctr">
              <a:lnSpc>
                <a:spcPct val="110000"/>
              </a:lnSpc>
              <a:buNone/>
            </a:pPr>
            <a:r>
              <a:rPr lang="en-US" sz="650" dirty="0">
                <a:solidFill>
                  <a:srgbClr val="44566B"/>
                </a:solidFill>
                <a:latin typeface="Segoe UI" pitchFamily="34" charset="0"/>
                <a:ea typeface="Segoe UI" pitchFamily="34" charset="-122"/>
                <a:cs typeface="Segoe UI" pitchFamily="34" charset="-120"/>
              </a:rPr>
              <a:t>state matches the declaration again</a:t>
            </a:r>
            <a:endParaRPr lang="en-US" sz="650" dirty="0"/>
          </a:p>
        </p:txBody>
      </p:sp>
      <p:sp>
        <p:nvSpPr>
          <p:cNvPr id="23" name="code panel">
            <a:extLst>
              <a:ext uri="{C183D7F6-B498-43B3-948B-1728B52AA6E4}">
                <adec:decorative xmlns:adec="http://schemas.microsoft.com/office/drawing/2017/decorative" val="1"/>
              </a:ext>
            </a:extLst>
          </p:cNvPr>
          <p:cNvSpPr/>
          <p:nvPr/>
        </p:nvSpPr>
        <p:spPr>
          <a:xfrm>
            <a:off x="4709160" y="1481328"/>
            <a:ext cx="3931920" cy="173736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4" name="code panel header">
            <a:extLst>
              <a:ext uri="{C183D7F6-B498-43B3-948B-1728B52AA6E4}">
                <adec:decorative xmlns:adec="http://schemas.microsoft.com/office/drawing/2017/decorative" val="1"/>
              </a:ext>
            </a:extLst>
          </p:cNvPr>
          <p:cNvSpPr/>
          <p:nvPr/>
        </p:nvSpPr>
        <p:spPr>
          <a:xfrm>
            <a:off x="4709160" y="1481328"/>
            <a:ext cx="3931920" cy="256032"/>
          </a:xfrm>
          <a:prstGeom prst="rect">
            <a:avLst/>
          </a:prstGeom>
          <a:solidFill>
            <a:srgbClr val="0F3D66"/>
          </a:solidFill>
          <a:ln w="12700">
            <a:solidFill>
              <a:srgbClr val="333333"/>
            </a:solidFill>
            <a:prstDash val="solid"/>
          </a:ln>
        </p:spPr>
        <p:txBody>
          <a:bodyPr/>
          <a:lstStyle/>
          <a:p>
            <a:endParaRPr lang="en-IN"/>
          </a:p>
        </p:txBody>
      </p:sp>
      <p:sp>
        <p:nvSpPr>
          <p:cNvPr id="25" name="Text 23"/>
          <p:cNvSpPr/>
          <p:nvPr/>
        </p:nvSpPr>
        <p:spPr>
          <a:xfrm>
            <a:off x="4855464" y="1481328"/>
            <a:ext cx="36393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replicaset.yaml</a:t>
            </a:r>
            <a:endParaRPr lang="en-US" sz="850" dirty="0"/>
          </a:p>
        </p:txBody>
      </p:sp>
      <p:sp>
        <p:nvSpPr>
          <p:cNvPr id="26" name="Text 24"/>
          <p:cNvSpPr/>
          <p:nvPr/>
        </p:nvSpPr>
        <p:spPr>
          <a:xfrm>
            <a:off x="4855464" y="1810512"/>
            <a:ext cx="3639312" cy="1261872"/>
          </a:xfrm>
          <a:prstGeom prst="rect">
            <a:avLst/>
          </a:prstGeom>
          <a:noFill/>
          <a:ln/>
        </p:spPr>
        <p:txBody>
          <a:bodyPr wrap="square" lIns="0" tIns="0" rIns="0" bIns="0" rtlCol="0" anchor="t"/>
          <a:lstStyle/>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kind: ReplicaSet</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metadata:</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name: payments-api</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spec:</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replicas: 3</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selector:</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matchLabels:</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app: payments-api   # which Pods do I own?</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template: ...         # labels MUST match selector</a:t>
            </a:r>
            <a:endParaRPr lang="en-US" sz="800" dirty="0"/>
          </a:p>
        </p:txBody>
      </p:sp>
      <p:sp>
        <p:nvSpPr>
          <p:cNvPr id="27"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8"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29" name="Text 2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D0483C"/>
                </a:solidFill>
                <a:latin typeface="Segoe UI" pitchFamily="34" charset="0"/>
                <a:ea typeface="Segoe UI" pitchFamily="34" charset="-122"/>
                <a:cs typeface="Segoe UI" pitchFamily="34" charset="-120"/>
              </a:rPr>
              <a:t>Classic mistake   </a:t>
            </a:r>
            <a:r>
              <a:rPr lang="en-US" sz="1050" dirty="0">
                <a:solidFill>
                  <a:srgbClr val="0E2233"/>
                </a:solidFill>
                <a:latin typeface="Segoe UI" pitchFamily="34" charset="0"/>
                <a:ea typeface="Segoe UI" pitchFamily="34" charset="-122"/>
                <a:cs typeface="Segoe UI" pitchFamily="34" charset="-120"/>
              </a:rPr>
              <a:t>The selector is the contract. If the template labels do not match the selector, the ReplicaSet creates Pods it does not recognise and loops forever.</a:t>
            </a:r>
            <a:endParaRPr lang="en-US" sz="1000" dirty="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17</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2 · APPLICATION DEPLOYMENT ON AKS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Deployments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75" dirty="0">
                <a:solidFill>
                  <a:srgbClr val="44566B"/>
                </a:solidFill>
                <a:latin typeface="Segoe UI" pitchFamily="34" charset="0"/>
                <a:ea typeface="Segoe UI" pitchFamily="34" charset="-122"/>
                <a:cs typeface="Segoe UI" pitchFamily="34" charset="-120"/>
              </a:rPr>
              <a:t>A Deployment manages ReplicaSets over time, which is what gives you versioned, reversible releases.</a:t>
            </a:r>
            <a:endParaRPr lang="en-US" sz="1075" dirty="0"/>
          </a:p>
        </p:txBody>
      </p:sp>
      <p:sp>
        <p:nvSpPr>
          <p:cNvPr id="7" name="deployment box">
            <a:extLst>
              <a:ext uri="{C183D7F6-B498-43B3-948B-1728B52AA6E4}">
                <adec:decorative xmlns:adec="http://schemas.microsoft.com/office/drawing/2017/decorative" val="1"/>
              </a:ext>
            </a:extLst>
          </p:cNvPr>
          <p:cNvSpPr/>
          <p:nvPr/>
        </p:nvSpPr>
        <p:spPr>
          <a:xfrm>
            <a:off x="502920" y="1481328"/>
            <a:ext cx="8138160" cy="566928"/>
          </a:xfrm>
          <a:prstGeom prst="rect">
            <a:avLst/>
          </a:prstGeom>
          <a:solidFill>
            <a:srgbClr val="0A2E4E"/>
          </a:solidFill>
          <a:ln w="12700">
            <a:solidFill>
              <a:srgbClr val="333333"/>
            </a:solidFill>
            <a:prstDash val="solid"/>
          </a:ln>
        </p:spPr>
        <p:txBody>
          <a:bodyPr/>
          <a:lstStyle/>
          <a:p>
            <a:endParaRPr lang="en-IN"/>
          </a:p>
        </p:txBody>
      </p:sp>
      <p:sp>
        <p:nvSpPr>
          <p:cNvPr id="8" name="Text 6"/>
          <p:cNvSpPr/>
          <p:nvPr/>
        </p:nvSpPr>
        <p:spPr>
          <a:xfrm>
            <a:off x="685800" y="1536192"/>
            <a:ext cx="4572000" cy="237744"/>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Deployment  ·  payments-api</a:t>
            </a:r>
            <a:endParaRPr lang="en-US" sz="1200" dirty="0"/>
          </a:p>
        </p:txBody>
      </p:sp>
      <p:sp>
        <p:nvSpPr>
          <p:cNvPr id="9" name="Text 7"/>
          <p:cNvSpPr/>
          <p:nvPr/>
        </p:nvSpPr>
        <p:spPr>
          <a:xfrm>
            <a:off x="685800" y="1773936"/>
            <a:ext cx="7772400" cy="219456"/>
          </a:xfrm>
          <a:prstGeom prst="rect">
            <a:avLst/>
          </a:prstGeom>
          <a:noFill/>
          <a:ln/>
        </p:spPr>
        <p:txBody>
          <a:bodyPr wrap="square" lIns="0" tIns="0" rIns="0" bIns="0" rtlCol="0" anchor="ctr"/>
          <a:lstStyle/>
          <a:p>
            <a:pPr marL="0" indent="0">
              <a:buNone/>
            </a:pPr>
            <a:r>
              <a:rPr lang="en-US" sz="950" dirty="0">
                <a:solidFill>
                  <a:srgbClr val="A9C9E2"/>
                </a:solidFill>
                <a:latin typeface="Segoe UI" pitchFamily="34" charset="0"/>
                <a:ea typeface="Segoe UI" pitchFamily="34" charset="-122"/>
                <a:cs typeface="Segoe UI" pitchFamily="34" charset="-120"/>
              </a:rPr>
              <a:t>Owns the rollout strategy, the revision history and the desired version</a:t>
            </a:r>
            <a:endParaRPr lang="en-US" sz="950" dirty="0"/>
          </a:p>
        </p:txBody>
      </p:sp>
      <p:sp>
        <p:nvSpPr>
          <p:cNvPr id="10" name="replicaset box">
            <a:extLst>
              <a:ext uri="{C183D7F6-B498-43B3-948B-1728B52AA6E4}">
                <adec:decorative xmlns:adec="http://schemas.microsoft.com/office/drawing/2017/decorative" val="1"/>
              </a:ext>
            </a:extLst>
          </p:cNvPr>
          <p:cNvSpPr/>
          <p:nvPr/>
        </p:nvSpPr>
        <p:spPr>
          <a:xfrm>
            <a:off x="502920" y="2304288"/>
            <a:ext cx="3977640" cy="1051560"/>
          </a:xfrm>
          <a:prstGeom prst="rect">
            <a:avLst/>
          </a:prstGeom>
          <a:solidFill>
            <a:srgbClr val="EDF4FC"/>
          </a:solidFill>
          <a:ln w="12700">
            <a:solidFill>
              <a:srgbClr val="0B63CE"/>
            </a:solidFill>
            <a:prstDash val="solid"/>
          </a:ln>
        </p:spPr>
        <p:txBody>
          <a:bodyPr/>
          <a:lstStyle/>
          <a:p>
            <a:endParaRPr lang="en-IN"/>
          </a:p>
        </p:txBody>
      </p:sp>
      <p:sp>
        <p:nvSpPr>
          <p:cNvPr id="11" name="Text 9"/>
          <p:cNvSpPr/>
          <p:nvPr/>
        </p:nvSpPr>
        <p:spPr>
          <a:xfrm>
            <a:off x="649224" y="2377440"/>
            <a:ext cx="3657600"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ReplicaSet  ·  revision 4</a:t>
            </a:r>
            <a:endParaRPr lang="en-US" sz="1100" dirty="0"/>
          </a:p>
        </p:txBody>
      </p:sp>
      <p:sp>
        <p:nvSpPr>
          <p:cNvPr id="12" name="Text 10"/>
          <p:cNvSpPr/>
          <p:nvPr/>
        </p:nvSpPr>
        <p:spPr>
          <a:xfrm>
            <a:off x="649224" y="2615184"/>
            <a:ext cx="3657600" cy="219456"/>
          </a:xfrm>
          <a:prstGeom prst="rect">
            <a:avLst/>
          </a:prstGeom>
          <a:noFill/>
          <a:ln/>
        </p:spPr>
        <p:txBody>
          <a:bodyPr wrap="square" lIns="0" tIns="0" rIns="0" bIns="0" rtlCol="0" anchor="ctr"/>
          <a:lstStyle/>
          <a:p>
            <a:pPr marL="0" indent="0">
              <a:buNone/>
            </a:pPr>
            <a:r>
              <a:rPr lang="en-US" sz="950" dirty="0">
                <a:solidFill>
                  <a:srgbClr val="0B63CE"/>
                </a:solidFill>
                <a:latin typeface="Consolas" pitchFamily="34" charset="0"/>
                <a:ea typeface="Consolas" pitchFamily="34" charset="-122"/>
                <a:cs typeface="Consolas" pitchFamily="34" charset="-120"/>
              </a:rPr>
              <a:t>image :9f3c21a</a:t>
            </a:r>
            <a:endParaRPr lang="en-US" sz="950" dirty="0"/>
          </a:p>
        </p:txBody>
      </p:sp>
      <p:sp>
        <p:nvSpPr>
          <p:cNvPr id="13" name="Text 11"/>
          <p:cNvSpPr/>
          <p:nvPr/>
        </p:nvSpPr>
        <p:spPr>
          <a:xfrm>
            <a:off x="649224" y="2852928"/>
            <a:ext cx="3657600" cy="219456"/>
          </a:xfrm>
          <a:prstGeom prst="rect">
            <a:avLst/>
          </a:prstGeom>
          <a:noFill/>
          <a:ln/>
        </p:spPr>
        <p:txBody>
          <a:bodyPr wrap="square" lIns="0" tIns="0" rIns="0" bIns="0" rtlCol="0" anchor="ctr"/>
          <a:lstStyle/>
          <a:p>
            <a:pPr marL="0" indent="0">
              <a:buNone/>
            </a:pPr>
            <a:r>
              <a:rPr lang="en-US" sz="950" dirty="0">
                <a:solidFill>
                  <a:srgbClr val="44566B"/>
                </a:solidFill>
                <a:latin typeface="Segoe UI" pitchFamily="34" charset="0"/>
                <a:ea typeface="Segoe UI" pitchFamily="34" charset="-122"/>
                <a:cs typeface="Segoe UI" pitchFamily="34" charset="-120"/>
              </a:rPr>
              <a:t>3 Pods · active</a:t>
            </a:r>
            <a:endParaRPr lang="en-US" sz="950" dirty="0"/>
          </a:p>
        </p:txBody>
      </p:sp>
      <p:sp>
        <p:nvSpPr>
          <p:cNvPr id="14" name="pod marker">
            <a:extLst>
              <a:ext uri="{C183D7F6-B498-43B3-948B-1728B52AA6E4}">
                <adec:decorative xmlns:adec="http://schemas.microsoft.com/office/drawing/2017/decorative" val="1"/>
              </a:ext>
            </a:extLst>
          </p:cNvPr>
          <p:cNvSpPr/>
          <p:nvPr/>
        </p:nvSpPr>
        <p:spPr>
          <a:xfrm>
            <a:off x="649224" y="3108960"/>
            <a:ext cx="502920" cy="182880"/>
          </a:xfrm>
          <a:prstGeom prst="rect">
            <a:avLst/>
          </a:prstGeom>
          <a:solidFill>
            <a:srgbClr val="17A9DB"/>
          </a:solidFill>
          <a:ln w="12700">
            <a:solidFill>
              <a:srgbClr val="333333"/>
            </a:solidFill>
            <a:prstDash val="solid"/>
          </a:ln>
        </p:spPr>
        <p:txBody>
          <a:bodyPr/>
          <a:lstStyle/>
          <a:p>
            <a:endParaRPr lang="en-IN"/>
          </a:p>
        </p:txBody>
      </p:sp>
      <p:sp>
        <p:nvSpPr>
          <p:cNvPr id="15" name="pod marker">
            <a:extLst>
              <a:ext uri="{C183D7F6-B498-43B3-948B-1728B52AA6E4}">
                <adec:decorative xmlns:adec="http://schemas.microsoft.com/office/drawing/2017/decorative" val="1"/>
              </a:ext>
            </a:extLst>
          </p:cNvPr>
          <p:cNvSpPr/>
          <p:nvPr/>
        </p:nvSpPr>
        <p:spPr>
          <a:xfrm>
            <a:off x="1216152" y="3108960"/>
            <a:ext cx="502920" cy="182880"/>
          </a:xfrm>
          <a:prstGeom prst="rect">
            <a:avLst/>
          </a:prstGeom>
          <a:solidFill>
            <a:srgbClr val="17A9DB"/>
          </a:solidFill>
          <a:ln w="12700">
            <a:solidFill>
              <a:srgbClr val="333333"/>
            </a:solidFill>
            <a:prstDash val="solid"/>
          </a:ln>
        </p:spPr>
        <p:txBody>
          <a:bodyPr/>
          <a:lstStyle/>
          <a:p>
            <a:endParaRPr lang="en-IN"/>
          </a:p>
        </p:txBody>
      </p:sp>
      <p:sp>
        <p:nvSpPr>
          <p:cNvPr id="16" name="pod marker">
            <a:extLst>
              <a:ext uri="{C183D7F6-B498-43B3-948B-1728B52AA6E4}">
                <adec:decorative xmlns:adec="http://schemas.microsoft.com/office/drawing/2017/decorative" val="1"/>
              </a:ext>
            </a:extLst>
          </p:cNvPr>
          <p:cNvSpPr/>
          <p:nvPr/>
        </p:nvSpPr>
        <p:spPr>
          <a:xfrm>
            <a:off x="1783080" y="3108960"/>
            <a:ext cx="502920" cy="182880"/>
          </a:xfrm>
          <a:prstGeom prst="rect">
            <a:avLst/>
          </a:prstGeom>
          <a:solidFill>
            <a:srgbClr val="17A9DB"/>
          </a:solidFill>
          <a:ln w="12700">
            <a:solidFill>
              <a:srgbClr val="333333"/>
            </a:solidFill>
            <a:prstDash val="solid"/>
          </a:ln>
        </p:spPr>
        <p:txBody>
          <a:bodyPr/>
          <a:lstStyle/>
          <a:p>
            <a:endParaRPr lang="en-IN"/>
          </a:p>
        </p:txBody>
      </p:sp>
      <p:sp>
        <p:nvSpPr>
          <p:cNvPr id="17" name="Text 15"/>
          <p:cNvSpPr/>
          <p:nvPr/>
        </p:nvSpPr>
        <p:spPr>
          <a:xfrm>
            <a:off x="2478024" y="3108960"/>
            <a:ext cx="1920240" cy="182880"/>
          </a:xfrm>
          <a:prstGeom prst="rect">
            <a:avLst/>
          </a:prstGeom>
          <a:noFill/>
          <a:ln/>
        </p:spPr>
        <p:txBody>
          <a:bodyPr wrap="square" lIns="0" tIns="0" rIns="0" bIns="0" rtlCol="0" anchor="ctr"/>
          <a:lstStyle/>
          <a:p>
            <a:pPr marL="0" indent="0">
              <a:buNone/>
            </a:pPr>
            <a:r>
              <a:rPr lang="en-US" sz="850" dirty="0">
                <a:solidFill>
                  <a:srgbClr val="7C8FA3"/>
                </a:solidFill>
                <a:latin typeface="Segoe UI" pitchFamily="34" charset="0"/>
                <a:ea typeface="Segoe UI" pitchFamily="34" charset="-122"/>
                <a:cs typeface="Segoe UI" pitchFamily="34" charset="-120"/>
              </a:rPr>
              <a:t>3 running Pods</a:t>
            </a:r>
            <a:endParaRPr lang="en-US" sz="850" dirty="0"/>
          </a:p>
        </p:txBody>
      </p:sp>
      <p:sp>
        <p:nvSpPr>
          <p:cNvPr id="18" name="replicaset box">
            <a:extLst>
              <a:ext uri="{C183D7F6-B498-43B3-948B-1728B52AA6E4}">
                <adec:decorative xmlns:adec="http://schemas.microsoft.com/office/drawing/2017/decorative" val="1"/>
              </a:ext>
            </a:extLst>
          </p:cNvPr>
          <p:cNvSpPr/>
          <p:nvPr/>
        </p:nvSpPr>
        <p:spPr>
          <a:xfrm>
            <a:off x="4663440" y="2304288"/>
            <a:ext cx="3977640" cy="1051560"/>
          </a:xfrm>
          <a:prstGeom prst="rect">
            <a:avLst/>
          </a:prstGeom>
          <a:solidFill>
            <a:srgbClr val="F6F9FD"/>
          </a:solidFill>
          <a:ln w="12700">
            <a:solidFill>
              <a:srgbClr val="7C8FA3"/>
            </a:solidFill>
            <a:prstDash val="solid"/>
          </a:ln>
        </p:spPr>
        <p:txBody>
          <a:bodyPr/>
          <a:lstStyle/>
          <a:p>
            <a:endParaRPr lang="en-IN"/>
          </a:p>
        </p:txBody>
      </p:sp>
      <p:sp>
        <p:nvSpPr>
          <p:cNvPr id="19" name="Text 17"/>
          <p:cNvSpPr/>
          <p:nvPr/>
        </p:nvSpPr>
        <p:spPr>
          <a:xfrm>
            <a:off x="4809744" y="2377440"/>
            <a:ext cx="3657600"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ReplicaSet  ·  revision 3</a:t>
            </a:r>
            <a:endParaRPr lang="en-US" sz="1100" dirty="0"/>
          </a:p>
        </p:txBody>
      </p:sp>
      <p:sp>
        <p:nvSpPr>
          <p:cNvPr id="20" name="Text 18"/>
          <p:cNvSpPr/>
          <p:nvPr/>
        </p:nvSpPr>
        <p:spPr>
          <a:xfrm>
            <a:off x="4809744" y="2615184"/>
            <a:ext cx="3657600" cy="219456"/>
          </a:xfrm>
          <a:prstGeom prst="rect">
            <a:avLst/>
          </a:prstGeom>
          <a:noFill/>
          <a:ln/>
        </p:spPr>
        <p:txBody>
          <a:bodyPr wrap="square" lIns="0" tIns="0" rIns="0" bIns="0" rtlCol="0" anchor="ctr"/>
          <a:lstStyle/>
          <a:p>
            <a:pPr marL="0" indent="0">
              <a:buNone/>
            </a:pPr>
            <a:r>
              <a:rPr lang="en-US" sz="950" dirty="0">
                <a:solidFill>
                  <a:srgbClr val="7C8FA3"/>
                </a:solidFill>
                <a:latin typeface="Consolas" pitchFamily="34" charset="0"/>
                <a:ea typeface="Consolas" pitchFamily="34" charset="-122"/>
                <a:cs typeface="Consolas" pitchFamily="34" charset="-120"/>
              </a:rPr>
              <a:t>image :7a1b09e</a:t>
            </a:r>
            <a:endParaRPr lang="en-US" sz="950" dirty="0"/>
          </a:p>
        </p:txBody>
      </p:sp>
      <p:sp>
        <p:nvSpPr>
          <p:cNvPr id="21" name="Text 19"/>
          <p:cNvSpPr/>
          <p:nvPr/>
        </p:nvSpPr>
        <p:spPr>
          <a:xfrm>
            <a:off x="4809744" y="2852928"/>
            <a:ext cx="3657600" cy="219456"/>
          </a:xfrm>
          <a:prstGeom prst="rect">
            <a:avLst/>
          </a:prstGeom>
          <a:noFill/>
          <a:ln/>
        </p:spPr>
        <p:txBody>
          <a:bodyPr wrap="square" lIns="0" tIns="0" rIns="0" bIns="0" rtlCol="0" anchor="ctr"/>
          <a:lstStyle/>
          <a:p>
            <a:pPr marL="0" indent="0">
              <a:buNone/>
            </a:pPr>
            <a:r>
              <a:rPr lang="en-US" sz="950" dirty="0">
                <a:solidFill>
                  <a:srgbClr val="44566B"/>
                </a:solidFill>
                <a:latin typeface="Segoe UI" pitchFamily="34" charset="0"/>
                <a:ea typeface="Segoe UI" pitchFamily="34" charset="-122"/>
                <a:cs typeface="Segoe UI" pitchFamily="34" charset="-120"/>
              </a:rPr>
              <a:t>0 Pods · retained for rollback</a:t>
            </a:r>
            <a:endParaRPr lang="en-US" sz="950" dirty="0"/>
          </a:p>
        </p:txBody>
      </p:sp>
      <p:sp>
        <p:nvSpPr>
          <p:cNvPr id="22" name="pod marker">
            <a:extLst>
              <a:ext uri="{C183D7F6-B498-43B3-948B-1728B52AA6E4}">
                <adec:decorative xmlns:adec="http://schemas.microsoft.com/office/drawing/2017/decorative" val="1"/>
              </a:ext>
            </a:extLst>
          </p:cNvPr>
          <p:cNvSpPr/>
          <p:nvPr/>
        </p:nvSpPr>
        <p:spPr>
          <a:xfrm>
            <a:off x="4809744" y="3108960"/>
            <a:ext cx="502920" cy="182880"/>
          </a:xfrm>
          <a:prstGeom prst="rect">
            <a:avLst/>
          </a:prstGeom>
          <a:solidFill>
            <a:srgbClr val="D9E2EA"/>
          </a:solidFill>
          <a:ln w="12700">
            <a:solidFill>
              <a:srgbClr val="333333"/>
            </a:solidFill>
            <a:prstDash val="solid"/>
          </a:ln>
        </p:spPr>
        <p:txBody>
          <a:bodyPr/>
          <a:lstStyle/>
          <a:p>
            <a:endParaRPr lang="en-IN"/>
          </a:p>
        </p:txBody>
      </p:sp>
      <p:sp>
        <p:nvSpPr>
          <p:cNvPr id="23" name="pod marker">
            <a:extLst>
              <a:ext uri="{C183D7F6-B498-43B3-948B-1728B52AA6E4}">
                <adec:decorative xmlns:adec="http://schemas.microsoft.com/office/drawing/2017/decorative" val="1"/>
              </a:ext>
            </a:extLst>
          </p:cNvPr>
          <p:cNvSpPr/>
          <p:nvPr/>
        </p:nvSpPr>
        <p:spPr>
          <a:xfrm>
            <a:off x="5376672" y="3108960"/>
            <a:ext cx="502920" cy="182880"/>
          </a:xfrm>
          <a:prstGeom prst="rect">
            <a:avLst/>
          </a:prstGeom>
          <a:solidFill>
            <a:srgbClr val="D9E2EA"/>
          </a:solidFill>
          <a:ln w="12700">
            <a:solidFill>
              <a:srgbClr val="333333"/>
            </a:solidFill>
            <a:prstDash val="solid"/>
          </a:ln>
        </p:spPr>
        <p:txBody>
          <a:bodyPr/>
          <a:lstStyle/>
          <a:p>
            <a:endParaRPr lang="en-IN"/>
          </a:p>
        </p:txBody>
      </p:sp>
      <p:sp>
        <p:nvSpPr>
          <p:cNvPr id="24" name="pod marker">
            <a:extLst>
              <a:ext uri="{C183D7F6-B498-43B3-948B-1728B52AA6E4}">
                <adec:decorative xmlns:adec="http://schemas.microsoft.com/office/drawing/2017/decorative" val="1"/>
              </a:ext>
            </a:extLst>
          </p:cNvPr>
          <p:cNvSpPr/>
          <p:nvPr/>
        </p:nvSpPr>
        <p:spPr>
          <a:xfrm>
            <a:off x="5943600" y="3108960"/>
            <a:ext cx="502920" cy="182880"/>
          </a:xfrm>
          <a:prstGeom prst="rect">
            <a:avLst/>
          </a:prstGeom>
          <a:solidFill>
            <a:srgbClr val="D9E2EA"/>
          </a:solidFill>
          <a:ln w="12700">
            <a:solidFill>
              <a:srgbClr val="333333"/>
            </a:solidFill>
            <a:prstDash val="solid"/>
          </a:ln>
        </p:spPr>
        <p:txBody>
          <a:bodyPr/>
          <a:lstStyle/>
          <a:p>
            <a:endParaRPr lang="en-IN"/>
          </a:p>
        </p:txBody>
      </p:sp>
      <p:sp>
        <p:nvSpPr>
          <p:cNvPr id="25" name="Text 23"/>
          <p:cNvSpPr/>
          <p:nvPr/>
        </p:nvSpPr>
        <p:spPr>
          <a:xfrm>
            <a:off x="6638544" y="3108960"/>
            <a:ext cx="1920240" cy="182880"/>
          </a:xfrm>
          <a:prstGeom prst="rect">
            <a:avLst/>
          </a:prstGeom>
          <a:noFill/>
          <a:ln/>
        </p:spPr>
        <p:txBody>
          <a:bodyPr wrap="square" lIns="0" tIns="0" rIns="0" bIns="0" rtlCol="0" anchor="ctr"/>
          <a:lstStyle/>
          <a:p>
            <a:pPr marL="0" indent="0">
              <a:buNone/>
            </a:pPr>
            <a:r>
              <a:rPr lang="en-US" sz="850" dirty="0">
                <a:solidFill>
                  <a:srgbClr val="7C8FA3"/>
                </a:solidFill>
                <a:latin typeface="Segoe UI" pitchFamily="34" charset="0"/>
                <a:ea typeface="Segoe UI" pitchFamily="34" charset="-122"/>
                <a:cs typeface="Segoe UI" pitchFamily="34" charset="-120"/>
              </a:rPr>
              <a:t>no running Pods</a:t>
            </a:r>
            <a:endParaRPr lang="en-US" sz="850" dirty="0"/>
          </a:p>
        </p:txBody>
      </p:sp>
      <p:sp>
        <p:nvSpPr>
          <p:cNvPr id="26"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28" name="Text 26"/>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Change the image tag</a:t>
            </a:r>
            <a:endParaRPr lang="en-US" sz="1100" dirty="0"/>
          </a:p>
        </p:txBody>
      </p:sp>
      <p:sp>
        <p:nvSpPr>
          <p:cNvPr id="29" name="Text 27"/>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A new ReplicaSet is created and scaled up gradually</a:t>
            </a:r>
            <a:endParaRPr lang="en-US" sz="800" dirty="0"/>
          </a:p>
        </p:txBody>
      </p:sp>
      <p:sp>
        <p:nvSpPr>
          <p:cNvPr id="30"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32" name="Text 30"/>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Old ReplicaSet is kept</a:t>
            </a:r>
            <a:endParaRPr lang="en-US" sz="1100" dirty="0"/>
          </a:p>
        </p:txBody>
      </p:sp>
      <p:sp>
        <p:nvSpPr>
          <p:cNvPr id="33" name="Text 31"/>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Scaled to zero, retained as revision history</a:t>
            </a:r>
            <a:endParaRPr lang="en-US" sz="800" dirty="0"/>
          </a:p>
        </p:txBody>
      </p:sp>
      <p:sp>
        <p:nvSpPr>
          <p:cNvPr id="34"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5"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2E9E6B"/>
          </a:solidFill>
          <a:ln w="12700">
            <a:solidFill>
              <a:srgbClr val="333333"/>
            </a:solidFill>
            <a:prstDash val="solid"/>
          </a:ln>
        </p:spPr>
        <p:txBody>
          <a:bodyPr/>
          <a:lstStyle/>
          <a:p>
            <a:endParaRPr lang="en-IN"/>
          </a:p>
        </p:txBody>
      </p:sp>
      <p:sp>
        <p:nvSpPr>
          <p:cNvPr id="36" name="Text 34"/>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Rollback is instant</a:t>
            </a:r>
            <a:endParaRPr lang="en-US" sz="1100" dirty="0"/>
          </a:p>
        </p:txBody>
      </p:sp>
      <p:sp>
        <p:nvSpPr>
          <p:cNvPr id="37" name="Text 35"/>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The previous ReplicaSet is simply scaled back up</a:t>
            </a:r>
            <a:endParaRPr lang="en-US" sz="800" dirty="0"/>
          </a:p>
        </p:txBody>
      </p:sp>
      <p:sp>
        <p:nvSpPr>
          <p:cNvPr id="38" name="callout band">
            <a:extLst>
              <a:ext uri="{C183D7F6-B498-43B3-948B-1728B52AA6E4}">
                <adec:decorative xmlns:adec="http://schemas.microsoft.com/office/drawing/2017/decorative" val="1"/>
              </a:ext>
            </a:extLst>
          </p:cNvPr>
          <p:cNvSpPr/>
          <p:nvPr/>
        </p:nvSpPr>
        <p:spPr>
          <a:xfrm>
            <a:off x="502920" y="4178808"/>
            <a:ext cx="8138160" cy="411480"/>
          </a:xfrm>
          <a:prstGeom prst="rect">
            <a:avLst/>
          </a:prstGeom>
          <a:solidFill>
            <a:srgbClr val="EDF4FC"/>
          </a:solidFill>
          <a:ln w="12700">
            <a:solidFill>
              <a:srgbClr val="333333"/>
            </a:solidFill>
            <a:prstDash val="solid"/>
          </a:ln>
        </p:spPr>
        <p:txBody>
          <a:bodyPr/>
          <a:lstStyle/>
          <a:p>
            <a:endParaRPr lang="en-IN"/>
          </a:p>
        </p:txBody>
      </p:sp>
      <p:sp>
        <p:nvSpPr>
          <p:cNvPr id="39" name="callout accent">
            <a:extLst>
              <a:ext uri="{C183D7F6-B498-43B3-948B-1728B52AA6E4}">
                <adec:decorative xmlns:adec="http://schemas.microsoft.com/office/drawing/2017/decorative" val="1"/>
              </a:ext>
            </a:extLst>
          </p:cNvPr>
          <p:cNvSpPr/>
          <p:nvPr/>
        </p:nvSpPr>
        <p:spPr>
          <a:xfrm>
            <a:off x="502920" y="4178808"/>
            <a:ext cx="45720" cy="411480"/>
          </a:xfrm>
          <a:prstGeom prst="rect">
            <a:avLst/>
          </a:prstGeom>
          <a:solidFill>
            <a:srgbClr val="0B63CE"/>
          </a:solidFill>
          <a:ln w="12700">
            <a:solidFill>
              <a:srgbClr val="333333"/>
            </a:solidFill>
            <a:prstDash val="solid"/>
          </a:ln>
        </p:spPr>
        <p:txBody>
          <a:bodyPr/>
          <a:lstStyle/>
          <a:p>
            <a:endParaRPr lang="en-IN"/>
          </a:p>
        </p:txBody>
      </p:sp>
      <p:sp>
        <p:nvSpPr>
          <p:cNvPr id="40" name="Text 38"/>
          <p:cNvSpPr/>
          <p:nvPr/>
        </p:nvSpPr>
        <p:spPr>
          <a:xfrm>
            <a:off x="704088" y="4178808"/>
            <a:ext cx="7754112" cy="41148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Commands   </a:t>
            </a:r>
            <a:r>
              <a:rPr lang="en-US" sz="1050" dirty="0">
                <a:solidFill>
                  <a:srgbClr val="0E2233"/>
                </a:solidFill>
                <a:latin typeface="Segoe UI" pitchFamily="34" charset="0"/>
                <a:ea typeface="Segoe UI" pitchFamily="34" charset="-122"/>
                <a:cs typeface="Segoe UI" pitchFamily="34" charset="-120"/>
              </a:rPr>
              <a:t>kubectl apply -f deployment.yaml   ·   kubectl rollout status deploy/payments-api   ·   kubectl get rs</a:t>
            </a:r>
            <a:endParaRPr lang="en-US" sz="1000" dirty="0"/>
          </a:p>
        </p:txBody>
      </p:sp>
      <p:sp>
        <p:nvSpPr>
          <p:cNvPr id="41"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18</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2 · APPLICATION DEPLOYMENT ON AKS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Rolling updates and rollbacks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dirty="0">
                <a:solidFill>
                  <a:srgbClr val="44566B"/>
                </a:solidFill>
                <a:latin typeface="Segoe UI" pitchFamily="34" charset="0"/>
                <a:ea typeface="Segoe UI" pitchFamily="34" charset="-122"/>
                <a:cs typeface="Segoe UI" pitchFamily="34" charset="-120"/>
              </a:rPr>
              <a:t>New Pods must become ready before old Pods are removed, so capacity never dips below your floor.</a:t>
            </a:r>
            <a:endParaRPr lang="en-US" sz="1125" dirty="0"/>
          </a:p>
        </p:txBody>
      </p:sp>
      <p:sp>
        <p:nvSpPr>
          <p:cNvPr id="7" name="step box">
            <a:extLst>
              <a:ext uri="{C183D7F6-B498-43B3-948B-1728B52AA6E4}">
                <adec:decorative xmlns:adec="http://schemas.microsoft.com/office/drawing/2017/decorative" val="1"/>
              </a:ext>
            </a:extLst>
          </p:cNvPr>
          <p:cNvSpPr/>
          <p:nvPr/>
        </p:nvSpPr>
        <p:spPr>
          <a:xfrm>
            <a:off x="502920" y="1508760"/>
            <a:ext cx="1378915" cy="960120"/>
          </a:xfrm>
          <a:prstGeom prst="rect">
            <a:avLst/>
          </a:prstGeom>
          <a:solidFill>
            <a:srgbClr val="EDF4FC"/>
          </a:solidFill>
          <a:ln w="12700">
            <a:solidFill>
              <a:srgbClr val="0B63CE"/>
            </a:solidFill>
            <a:prstDash val="solid"/>
          </a:ln>
        </p:spPr>
        <p:txBody>
          <a:bodyPr/>
          <a:lstStyle/>
          <a:p>
            <a:endParaRPr lang="en-IN"/>
          </a:p>
        </p:txBody>
      </p:sp>
      <p:sp>
        <p:nvSpPr>
          <p:cNvPr id="8" name="Text 6"/>
          <p:cNvSpPr/>
          <p:nvPr/>
        </p:nvSpPr>
        <p:spPr>
          <a:xfrm>
            <a:off x="594360" y="1618488"/>
            <a:ext cx="1196035"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v1 · 3 Pods</a:t>
            </a:r>
            <a:endParaRPr lang="en-US" sz="1100" dirty="0"/>
          </a:p>
        </p:txBody>
      </p:sp>
      <p:sp>
        <p:nvSpPr>
          <p:cNvPr id="9" name="Text 7"/>
          <p:cNvSpPr/>
          <p:nvPr/>
        </p:nvSpPr>
        <p:spPr>
          <a:xfrm>
            <a:off x="612648" y="1929384"/>
            <a:ext cx="1159459" cy="44805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steady state</a:t>
            </a:r>
            <a:endParaRPr lang="en-US" sz="850" dirty="0"/>
          </a:p>
        </p:txBody>
      </p:sp>
      <p:sp>
        <p:nvSpPr>
          <p:cNvPr id="10" name="flow arrow">
            <a:extLst>
              <a:ext uri="{C183D7F6-B498-43B3-948B-1728B52AA6E4}">
                <adec:decorative xmlns:adec="http://schemas.microsoft.com/office/drawing/2017/decorative" val="1"/>
              </a:ext>
            </a:extLst>
          </p:cNvPr>
          <p:cNvSpPr/>
          <p:nvPr/>
        </p:nvSpPr>
        <p:spPr>
          <a:xfrm>
            <a:off x="1936699"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1" name="step box">
            <a:extLst>
              <a:ext uri="{C183D7F6-B498-43B3-948B-1728B52AA6E4}">
                <adec:decorative xmlns:adec="http://schemas.microsoft.com/office/drawing/2017/decorative" val="1"/>
              </a:ext>
            </a:extLst>
          </p:cNvPr>
          <p:cNvSpPr/>
          <p:nvPr/>
        </p:nvSpPr>
        <p:spPr>
          <a:xfrm>
            <a:off x="2192731" y="1508760"/>
            <a:ext cx="1378915" cy="960120"/>
          </a:xfrm>
          <a:prstGeom prst="rect">
            <a:avLst/>
          </a:prstGeom>
          <a:solidFill>
            <a:srgbClr val="E4F3FB"/>
          </a:solidFill>
          <a:ln w="12700">
            <a:solidFill>
              <a:srgbClr val="17A9DB"/>
            </a:solidFill>
            <a:prstDash val="solid"/>
          </a:ln>
        </p:spPr>
        <p:txBody>
          <a:bodyPr/>
          <a:lstStyle/>
          <a:p>
            <a:endParaRPr lang="en-IN"/>
          </a:p>
        </p:txBody>
      </p:sp>
      <p:sp>
        <p:nvSpPr>
          <p:cNvPr id="12" name="Text 10"/>
          <p:cNvSpPr/>
          <p:nvPr/>
        </p:nvSpPr>
        <p:spPr>
          <a:xfrm>
            <a:off x="2284171" y="1618488"/>
            <a:ext cx="1196035"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Surge</a:t>
            </a:r>
            <a:endParaRPr lang="en-US" sz="1100" dirty="0"/>
          </a:p>
        </p:txBody>
      </p:sp>
      <p:sp>
        <p:nvSpPr>
          <p:cNvPr id="13" name="Text 11"/>
          <p:cNvSpPr/>
          <p:nvPr/>
        </p:nvSpPr>
        <p:spPr>
          <a:xfrm>
            <a:off x="2302459" y="1929384"/>
            <a:ext cx="1159459" cy="44805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a v2 Pod is added, 4 total</a:t>
            </a:r>
            <a:endParaRPr lang="en-US" sz="850" dirty="0"/>
          </a:p>
        </p:txBody>
      </p:sp>
      <p:sp>
        <p:nvSpPr>
          <p:cNvPr id="14" name="flow arrow">
            <a:extLst>
              <a:ext uri="{C183D7F6-B498-43B3-948B-1728B52AA6E4}">
                <adec:decorative xmlns:adec="http://schemas.microsoft.com/office/drawing/2017/decorative" val="1"/>
              </a:ext>
            </a:extLst>
          </p:cNvPr>
          <p:cNvSpPr/>
          <p:nvPr/>
        </p:nvSpPr>
        <p:spPr>
          <a:xfrm>
            <a:off x="3626510"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5" name="step box">
            <a:extLst>
              <a:ext uri="{C183D7F6-B498-43B3-948B-1728B52AA6E4}">
                <adec:decorative xmlns:adec="http://schemas.microsoft.com/office/drawing/2017/decorative" val="1"/>
              </a:ext>
            </a:extLst>
          </p:cNvPr>
          <p:cNvSpPr/>
          <p:nvPr/>
        </p:nvSpPr>
        <p:spPr>
          <a:xfrm>
            <a:off x="3882542" y="1508760"/>
            <a:ext cx="1378915" cy="960120"/>
          </a:xfrm>
          <a:prstGeom prst="rect">
            <a:avLst/>
          </a:prstGeom>
          <a:solidFill>
            <a:srgbClr val="E4F3FB"/>
          </a:solidFill>
          <a:ln w="12700">
            <a:solidFill>
              <a:srgbClr val="17A9DB"/>
            </a:solidFill>
            <a:prstDash val="solid"/>
          </a:ln>
        </p:spPr>
        <p:txBody>
          <a:bodyPr/>
          <a:lstStyle/>
          <a:p>
            <a:endParaRPr lang="en-IN"/>
          </a:p>
        </p:txBody>
      </p:sp>
      <p:sp>
        <p:nvSpPr>
          <p:cNvPr id="16" name="Text 14"/>
          <p:cNvSpPr/>
          <p:nvPr/>
        </p:nvSpPr>
        <p:spPr>
          <a:xfrm>
            <a:off x="3973982" y="1618488"/>
            <a:ext cx="1196035"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Ready check</a:t>
            </a:r>
            <a:endParaRPr lang="en-US" sz="1100" dirty="0"/>
          </a:p>
        </p:txBody>
      </p:sp>
      <p:sp>
        <p:nvSpPr>
          <p:cNvPr id="17" name="Text 15"/>
          <p:cNvSpPr/>
          <p:nvPr/>
        </p:nvSpPr>
        <p:spPr>
          <a:xfrm>
            <a:off x="3992270" y="1929384"/>
            <a:ext cx="1159459" cy="44805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v2 passes readiness, a v1 Pod is removed</a:t>
            </a:r>
            <a:endParaRPr lang="en-US" sz="850" dirty="0"/>
          </a:p>
        </p:txBody>
      </p:sp>
      <p:sp>
        <p:nvSpPr>
          <p:cNvPr id="18" name="flow arrow">
            <a:extLst>
              <a:ext uri="{C183D7F6-B498-43B3-948B-1728B52AA6E4}">
                <adec:decorative xmlns:adec="http://schemas.microsoft.com/office/drawing/2017/decorative" val="1"/>
              </a:ext>
            </a:extLst>
          </p:cNvPr>
          <p:cNvSpPr/>
          <p:nvPr/>
        </p:nvSpPr>
        <p:spPr>
          <a:xfrm>
            <a:off x="5316322"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9" name="step box">
            <a:extLst>
              <a:ext uri="{C183D7F6-B498-43B3-948B-1728B52AA6E4}">
                <adec:decorative xmlns:adec="http://schemas.microsoft.com/office/drawing/2017/decorative" val="1"/>
              </a:ext>
            </a:extLst>
          </p:cNvPr>
          <p:cNvSpPr/>
          <p:nvPr/>
        </p:nvSpPr>
        <p:spPr>
          <a:xfrm>
            <a:off x="5572354" y="1508760"/>
            <a:ext cx="1378915" cy="960120"/>
          </a:xfrm>
          <a:prstGeom prst="rect">
            <a:avLst/>
          </a:prstGeom>
          <a:solidFill>
            <a:srgbClr val="EDF4FC"/>
          </a:solidFill>
          <a:ln w="12700">
            <a:solidFill>
              <a:srgbClr val="0B63CE"/>
            </a:solidFill>
            <a:prstDash val="solid"/>
          </a:ln>
        </p:spPr>
        <p:txBody>
          <a:bodyPr/>
          <a:lstStyle/>
          <a:p>
            <a:endParaRPr lang="en-IN"/>
          </a:p>
        </p:txBody>
      </p:sp>
      <p:sp>
        <p:nvSpPr>
          <p:cNvPr id="20" name="Text 18"/>
          <p:cNvSpPr/>
          <p:nvPr/>
        </p:nvSpPr>
        <p:spPr>
          <a:xfrm>
            <a:off x="5663794" y="1618488"/>
            <a:ext cx="1196035"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Repeat</a:t>
            </a:r>
            <a:endParaRPr lang="en-US" sz="1100" dirty="0"/>
          </a:p>
        </p:txBody>
      </p:sp>
      <p:sp>
        <p:nvSpPr>
          <p:cNvPr id="21" name="Text 19"/>
          <p:cNvSpPr/>
          <p:nvPr/>
        </p:nvSpPr>
        <p:spPr>
          <a:xfrm>
            <a:off x="5682082" y="1929384"/>
            <a:ext cx="1159459" cy="44805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one at a time until all are v2</a:t>
            </a:r>
            <a:endParaRPr lang="en-US" sz="850" dirty="0"/>
          </a:p>
        </p:txBody>
      </p:sp>
      <p:sp>
        <p:nvSpPr>
          <p:cNvPr id="22" name="flow arrow">
            <a:extLst>
              <a:ext uri="{C183D7F6-B498-43B3-948B-1728B52AA6E4}">
                <adec:decorative xmlns:adec="http://schemas.microsoft.com/office/drawing/2017/decorative" val="1"/>
              </a:ext>
            </a:extLst>
          </p:cNvPr>
          <p:cNvSpPr/>
          <p:nvPr/>
        </p:nvSpPr>
        <p:spPr>
          <a:xfrm>
            <a:off x="7006133"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23" name="step box">
            <a:extLst>
              <a:ext uri="{C183D7F6-B498-43B3-948B-1728B52AA6E4}">
                <adec:decorative xmlns:adec="http://schemas.microsoft.com/office/drawing/2017/decorative" val="1"/>
              </a:ext>
            </a:extLst>
          </p:cNvPr>
          <p:cNvSpPr/>
          <p:nvPr/>
        </p:nvSpPr>
        <p:spPr>
          <a:xfrm>
            <a:off x="7262165" y="1508760"/>
            <a:ext cx="1378915" cy="960120"/>
          </a:xfrm>
          <a:prstGeom prst="rect">
            <a:avLst/>
          </a:prstGeom>
          <a:solidFill>
            <a:srgbClr val="E8F6EF"/>
          </a:solidFill>
          <a:ln w="12700">
            <a:solidFill>
              <a:srgbClr val="2E9E6B"/>
            </a:solidFill>
            <a:prstDash val="solid"/>
          </a:ln>
        </p:spPr>
        <p:txBody>
          <a:bodyPr/>
          <a:lstStyle/>
          <a:p>
            <a:endParaRPr lang="en-IN"/>
          </a:p>
        </p:txBody>
      </p:sp>
      <p:sp>
        <p:nvSpPr>
          <p:cNvPr id="24" name="Text 22"/>
          <p:cNvSpPr/>
          <p:nvPr/>
        </p:nvSpPr>
        <p:spPr>
          <a:xfrm>
            <a:off x="7353605" y="1618488"/>
            <a:ext cx="1196035"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v2 · 3 Pods</a:t>
            </a:r>
            <a:endParaRPr lang="en-US" sz="1100" dirty="0"/>
          </a:p>
        </p:txBody>
      </p:sp>
      <p:sp>
        <p:nvSpPr>
          <p:cNvPr id="25" name="Text 23"/>
          <p:cNvSpPr/>
          <p:nvPr/>
        </p:nvSpPr>
        <p:spPr>
          <a:xfrm>
            <a:off x="7371893" y="1929384"/>
            <a:ext cx="1159459" cy="44805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rollout complete</a:t>
            </a:r>
            <a:endParaRPr lang="en-US" sz="850" dirty="0"/>
          </a:p>
        </p:txBody>
      </p:sp>
      <p:sp>
        <p:nvSpPr>
          <p:cNvPr id="26" name="code panel">
            <a:extLst>
              <a:ext uri="{C183D7F6-B498-43B3-948B-1728B52AA6E4}">
                <adec:decorative xmlns:adec="http://schemas.microsoft.com/office/drawing/2017/decorative" val="1"/>
              </a:ext>
            </a:extLst>
          </p:cNvPr>
          <p:cNvSpPr/>
          <p:nvPr/>
        </p:nvSpPr>
        <p:spPr>
          <a:xfrm>
            <a:off x="502920" y="2606040"/>
            <a:ext cx="4572000" cy="146304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7" name="code panel header">
            <a:extLst>
              <a:ext uri="{C183D7F6-B498-43B3-948B-1728B52AA6E4}">
                <adec:decorative xmlns:adec="http://schemas.microsoft.com/office/drawing/2017/decorative" val="1"/>
              </a:ext>
            </a:extLst>
          </p:cNvPr>
          <p:cNvSpPr/>
          <p:nvPr/>
        </p:nvSpPr>
        <p:spPr>
          <a:xfrm>
            <a:off x="502920" y="2606040"/>
            <a:ext cx="4572000" cy="256032"/>
          </a:xfrm>
          <a:prstGeom prst="rect">
            <a:avLst/>
          </a:prstGeom>
          <a:solidFill>
            <a:srgbClr val="0F3D66"/>
          </a:solidFill>
          <a:ln w="12700">
            <a:solidFill>
              <a:srgbClr val="333333"/>
            </a:solidFill>
            <a:prstDash val="solid"/>
          </a:ln>
        </p:spPr>
        <p:txBody>
          <a:bodyPr/>
          <a:lstStyle/>
          <a:p>
            <a:endParaRPr lang="en-IN"/>
          </a:p>
        </p:txBody>
      </p:sp>
      <p:sp>
        <p:nvSpPr>
          <p:cNvPr id="28" name="Text 26"/>
          <p:cNvSpPr/>
          <p:nvPr/>
        </p:nvSpPr>
        <p:spPr>
          <a:xfrm>
            <a:off x="649224" y="2606040"/>
            <a:ext cx="427939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Rollout strategy</a:t>
            </a:r>
            <a:endParaRPr lang="en-US" sz="850" dirty="0"/>
          </a:p>
        </p:txBody>
      </p:sp>
      <p:sp>
        <p:nvSpPr>
          <p:cNvPr id="29" name="Text 27"/>
          <p:cNvSpPr/>
          <p:nvPr/>
        </p:nvSpPr>
        <p:spPr>
          <a:xfrm>
            <a:off x="649224" y="2935224"/>
            <a:ext cx="4279392" cy="987552"/>
          </a:xfrm>
          <a:prstGeom prst="rect">
            <a:avLst/>
          </a:prstGeom>
          <a:noFill/>
          <a:ln/>
        </p:spPr>
        <p:txBody>
          <a:bodyPr wrap="square" lIns="0" tIns="0" rIns="0" bIns="0" rtlCol="0" anchor="t"/>
          <a:lstStyle/>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spec:</a:t>
            </a:r>
            <a:endParaRPr lang="en-US" sz="723" dirty="0"/>
          </a:p>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  replicas: 3</a:t>
            </a:r>
            <a:endParaRPr lang="en-US" sz="723" dirty="0"/>
          </a:p>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  strategy:</a:t>
            </a:r>
            <a:endParaRPr lang="en-US" sz="723" dirty="0"/>
          </a:p>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    type: RollingUpdate</a:t>
            </a:r>
            <a:endParaRPr lang="en-US" sz="723" dirty="0"/>
          </a:p>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    rollingUpdate:</a:t>
            </a:r>
            <a:endParaRPr lang="en-US" sz="723" dirty="0"/>
          </a:p>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      maxSurge: 1          # extra Pods allowed above replicas</a:t>
            </a:r>
            <a:endParaRPr lang="en-US" sz="723" dirty="0"/>
          </a:p>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      maxUnavailable: 0    # never drop below 3 serving</a:t>
            </a:r>
            <a:endParaRPr lang="en-US" sz="723" dirty="0"/>
          </a:p>
          <a:p>
            <a:pPr marL="0" indent="0">
              <a:lnSpc>
                <a:spcPct val="112000"/>
              </a:lnSpc>
              <a:buNone/>
            </a:pPr>
            <a:r>
              <a:rPr lang="en-US" sz="723" dirty="0">
                <a:solidFill>
                  <a:srgbClr val="D7ECF8"/>
                </a:solidFill>
                <a:latin typeface="Consolas" pitchFamily="34" charset="0"/>
                <a:ea typeface="Consolas" pitchFamily="34" charset="-122"/>
                <a:cs typeface="Consolas" pitchFamily="34" charset="-120"/>
              </a:rPr>
              <a:t>  minReadySeconds: 10      # settle time before ready</a:t>
            </a:r>
            <a:endParaRPr lang="en-US" sz="723" dirty="0"/>
          </a:p>
        </p:txBody>
      </p:sp>
      <p:sp>
        <p:nvSpPr>
          <p:cNvPr id="30" name="Text 28"/>
          <p:cNvSpPr/>
          <p:nvPr/>
        </p:nvSpPr>
        <p:spPr>
          <a:xfrm>
            <a:off x="5257800" y="2788920"/>
            <a:ext cx="3383280" cy="1289304"/>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0A2E4E"/>
                </a:solidFill>
                <a:latin typeface="Segoe UI" pitchFamily="34" charset="0"/>
                <a:ea typeface="Segoe UI" pitchFamily="34" charset="-122"/>
                <a:cs typeface="Segoe UI" pitchFamily="34" charset="-120"/>
              </a:rPr>
              <a:t>kubectl rollout status deploy/payments-api</a:t>
            </a:r>
            <a:endParaRPr lang="en-US" sz="1050" dirty="0"/>
          </a:p>
          <a:p>
            <a:pPr marL="342900" indent="-342900">
              <a:spcAft>
                <a:spcPts val="800"/>
              </a:spcAft>
              <a:buSzPct val="100000"/>
              <a:buChar char="•"/>
            </a:pPr>
            <a:r>
              <a:rPr lang="en-US" sz="1050" dirty="0">
                <a:solidFill>
                  <a:srgbClr val="0A2E4E"/>
                </a:solidFill>
                <a:latin typeface="Segoe UI" pitchFamily="34" charset="0"/>
                <a:ea typeface="Segoe UI" pitchFamily="34" charset="-122"/>
                <a:cs typeface="Segoe UI" pitchFamily="34" charset="-120"/>
              </a:rPr>
              <a:t>kubectl rollout undo deploy/payments-api</a:t>
            </a:r>
            <a:endParaRPr lang="en-US" sz="1050" dirty="0"/>
          </a:p>
          <a:p>
            <a:pPr marL="342900" indent="-342900">
              <a:spcAft>
                <a:spcPts val="800"/>
              </a:spcAft>
              <a:buSzPct val="100000"/>
              <a:buChar char="•"/>
            </a:pPr>
            <a:r>
              <a:rPr lang="en-US" sz="1050" dirty="0">
                <a:solidFill>
                  <a:srgbClr val="0A2E4E"/>
                </a:solidFill>
                <a:latin typeface="Segoe UI" pitchFamily="34" charset="0"/>
                <a:ea typeface="Segoe UI" pitchFamily="34" charset="-122"/>
                <a:cs typeface="Segoe UI" pitchFamily="34" charset="-120"/>
              </a:rPr>
              <a:t>kubectl rollout undo --to-revision=3</a:t>
            </a:r>
            <a:endParaRPr lang="en-US" sz="1050" dirty="0"/>
          </a:p>
          <a:p>
            <a:pPr marL="342900" indent="-342900">
              <a:spcAft>
                <a:spcPts val="800"/>
              </a:spcAft>
              <a:buSzPct val="100000"/>
              <a:buChar char="•"/>
            </a:pPr>
            <a:r>
              <a:rPr lang="en-US" sz="1050" dirty="0">
                <a:solidFill>
                  <a:srgbClr val="0A2E4E"/>
                </a:solidFill>
                <a:latin typeface="Segoe UI" pitchFamily="34" charset="0"/>
                <a:ea typeface="Segoe UI" pitchFamily="34" charset="-122"/>
                <a:cs typeface="Segoe UI" pitchFamily="34" charset="-120"/>
              </a:rPr>
              <a:t>kubectl rollout history deploy/payments-api</a:t>
            </a:r>
            <a:endParaRPr lang="en-US" sz="1050" dirty="0"/>
          </a:p>
        </p:txBody>
      </p:sp>
      <p:sp>
        <p:nvSpPr>
          <p:cNvPr id="31"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2"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33" name="Text 31"/>
          <p:cNvSpPr/>
          <p:nvPr/>
        </p:nvSpPr>
        <p:spPr>
          <a:xfrm>
            <a:off x="704088" y="4133088"/>
            <a:ext cx="7754112" cy="457200"/>
          </a:xfrm>
          <a:prstGeom prst="rect">
            <a:avLst/>
          </a:prstGeom>
          <a:noFill/>
          <a:ln/>
        </p:spPr>
        <p:txBody>
          <a:bodyPr wrap="square" lIns="0" tIns="0" rIns="0" bIns="0" rtlCol="0" anchor="ctr"/>
          <a:lstStyle/>
          <a:p>
            <a:pPr marL="0" indent="0">
              <a:buNone/>
            </a:pPr>
            <a:r>
              <a:rPr lang="en-US" sz="1050" dirty="0">
                <a:solidFill>
                  <a:srgbClr val="0E2233"/>
                </a:solidFill>
                <a:latin typeface="Segoe UI" pitchFamily="34" charset="0"/>
                <a:ea typeface="Segoe UI" pitchFamily="34" charset="-122"/>
                <a:cs typeface="Segoe UI" pitchFamily="34" charset="-120"/>
              </a:rPr>
              <a:t>A rolling update is only safe if readiness probes are accurate — without them Kubernetes assumes a started Pod is a working Pod.</a:t>
            </a:r>
            <a:endParaRPr lang="en-US" sz="1000" dirty="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19</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2 · APPLICATION DEPLOYMENT ON AKS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Labels and selectors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925" dirty="0">
                <a:solidFill>
                  <a:srgbClr val="44566B"/>
                </a:solidFill>
                <a:latin typeface="Segoe UI" pitchFamily="34" charset="0"/>
                <a:ea typeface="Segoe UI" pitchFamily="34" charset="-122"/>
                <a:cs typeface="Segoe UI" pitchFamily="34" charset="-120"/>
              </a:rPr>
              <a:t>Labels are key-value tags on objects. Selectors are queries over those labels — this is how objects find each other.</a:t>
            </a:r>
            <a:endParaRPr lang="en-US" sz="925" dirty="0"/>
          </a:p>
        </p:txBody>
      </p:sp>
      <p:sp>
        <p:nvSpPr>
          <p:cNvPr id="7" name="code panel">
            <a:extLst>
              <a:ext uri="{C183D7F6-B498-43B3-948B-1728B52AA6E4}">
                <adec:decorative xmlns:adec="http://schemas.microsoft.com/office/drawing/2017/decorative" val="1"/>
              </a:ext>
            </a:extLst>
          </p:cNvPr>
          <p:cNvSpPr/>
          <p:nvPr/>
        </p:nvSpPr>
        <p:spPr>
          <a:xfrm>
            <a:off x="502920" y="1481328"/>
            <a:ext cx="4069080" cy="187452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06908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77647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Labelling and selecting</a:t>
            </a:r>
            <a:endParaRPr lang="en-US" sz="850" dirty="0"/>
          </a:p>
        </p:txBody>
      </p:sp>
      <p:sp>
        <p:nvSpPr>
          <p:cNvPr id="10" name="Text 8"/>
          <p:cNvSpPr/>
          <p:nvPr/>
        </p:nvSpPr>
        <p:spPr>
          <a:xfrm>
            <a:off x="649224" y="1810512"/>
            <a:ext cx="3776472" cy="1399032"/>
          </a:xfrm>
          <a:prstGeom prst="rect">
            <a:avLst/>
          </a:prstGeom>
          <a:noFill/>
          <a:ln/>
        </p:spPr>
        <p:txBody>
          <a:bodyPr wrap="square" lIns="0" tIns="0" rIns="0" bIns="0" rtlCol="0" anchor="t"/>
          <a:lstStyle/>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metadata:</a:t>
            </a: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  labels:</a:t>
            </a: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    app: payments-api      # what it is</a:t>
            </a: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    tier: backend          # where it sits</a:t>
            </a: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    env: prod              # which environment</a:t>
            </a:r>
            <a:endParaRPr lang="en-US" sz="820" dirty="0"/>
          </a:p>
          <a:p>
            <a:pPr marL="0" indent="0">
              <a:lnSpc>
                <a:spcPct val="112000"/>
              </a:lnSpc>
              <a:buNone/>
            </a:pP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spec:                      # a Service selects Pods</a:t>
            </a: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  selector:</a:t>
            </a: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    app: payments-api</a:t>
            </a:r>
            <a:endParaRPr lang="en-US" sz="820" dirty="0"/>
          </a:p>
          <a:p>
            <a:pPr marL="0" indent="0">
              <a:lnSpc>
                <a:spcPct val="112000"/>
              </a:lnSpc>
              <a:buNone/>
            </a:pPr>
            <a:r>
              <a:rPr lang="en-US" sz="820" dirty="0">
                <a:solidFill>
                  <a:srgbClr val="D7ECF8"/>
                </a:solidFill>
                <a:latin typeface="Consolas" pitchFamily="34" charset="0"/>
                <a:ea typeface="Consolas" pitchFamily="34" charset="-122"/>
                <a:cs typeface="Consolas" pitchFamily="34" charset="-120"/>
              </a:rPr>
              <a:t>    env: prod</a:t>
            </a:r>
            <a:endParaRPr lang="en-US" sz="820" dirty="0"/>
          </a:p>
        </p:txBody>
      </p:sp>
      <p:sp>
        <p:nvSpPr>
          <p:cNvPr id="11" name="card">
            <a:extLst>
              <a:ext uri="{C183D7F6-B498-43B3-948B-1728B52AA6E4}">
                <adec:decorative xmlns:adec="http://schemas.microsoft.com/office/drawing/2017/decorative" val="1"/>
              </a:ext>
            </a:extLst>
          </p:cNvPr>
          <p:cNvSpPr/>
          <p:nvPr/>
        </p:nvSpPr>
        <p:spPr>
          <a:xfrm>
            <a:off x="4754880" y="1444752"/>
            <a:ext cx="3886200" cy="512064"/>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4754880" y="1444752"/>
            <a:ext cx="3886200" cy="41148"/>
          </a:xfrm>
          <a:prstGeom prst="rect">
            <a:avLst/>
          </a:prstGeom>
          <a:solidFill>
            <a:srgbClr val="0B63CE"/>
          </a:solidFill>
          <a:ln w="12700">
            <a:solidFill>
              <a:srgbClr val="333333"/>
            </a:solidFill>
            <a:prstDash val="solid"/>
          </a:ln>
        </p:spPr>
        <p:txBody>
          <a:bodyPr/>
          <a:lstStyle/>
          <a:p>
            <a:endParaRPr lang="en-IN"/>
          </a:p>
        </p:txBody>
      </p:sp>
      <p:sp>
        <p:nvSpPr>
          <p:cNvPr id="13" name="Text 11"/>
          <p:cNvSpPr/>
          <p:nvPr/>
        </p:nvSpPr>
        <p:spPr>
          <a:xfrm>
            <a:off x="4956048" y="1554480"/>
            <a:ext cx="3483864"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Deployment → Pods</a:t>
            </a:r>
            <a:endParaRPr lang="en-US" sz="850" dirty="0"/>
          </a:p>
        </p:txBody>
      </p:sp>
      <p:sp>
        <p:nvSpPr>
          <p:cNvPr id="14" name="Text 12"/>
          <p:cNvSpPr/>
          <p:nvPr/>
        </p:nvSpPr>
        <p:spPr>
          <a:xfrm>
            <a:off x="4956048" y="1802892"/>
            <a:ext cx="3483864" cy="146304"/>
          </a:xfrm>
          <a:prstGeom prst="rect">
            <a:avLst/>
          </a:prstGeom>
          <a:noFill/>
          <a:ln/>
        </p:spPr>
        <p:txBody>
          <a:bodyPr wrap="square" lIns="0" tIns="0" rIns="0" bIns="0" rtlCol="0" anchor="t"/>
          <a:lstStyle/>
          <a:p>
            <a:pPr marL="0" indent="0">
              <a:lnSpc>
                <a:spcPct val="115000"/>
              </a:lnSpc>
              <a:buNone/>
            </a:pPr>
            <a:r>
              <a:rPr lang="en-US" sz="825" dirty="0">
                <a:solidFill>
                  <a:srgbClr val="44566B"/>
                </a:solidFill>
                <a:latin typeface="Segoe UI" pitchFamily="34" charset="0"/>
                <a:ea typeface="Segoe UI" pitchFamily="34" charset="-122"/>
                <a:cs typeface="Segoe UI" pitchFamily="34" charset="-120"/>
              </a:rPr>
              <a:t>The ReplicaSet selector decides which Pods it owns</a:t>
            </a:r>
            <a:endParaRPr lang="en-US" sz="825" dirty="0"/>
          </a:p>
        </p:txBody>
      </p:sp>
      <p:sp>
        <p:nvSpPr>
          <p:cNvPr id="15" name="card">
            <a:extLst>
              <a:ext uri="{C183D7F6-B498-43B3-948B-1728B52AA6E4}">
                <adec:decorative xmlns:adec="http://schemas.microsoft.com/office/drawing/2017/decorative" val="1"/>
              </a:ext>
            </a:extLst>
          </p:cNvPr>
          <p:cNvSpPr/>
          <p:nvPr/>
        </p:nvSpPr>
        <p:spPr>
          <a:xfrm>
            <a:off x="4754880" y="2103120"/>
            <a:ext cx="3886200" cy="512064"/>
          </a:xfrm>
          <a:prstGeom prst="rect">
            <a:avLst/>
          </a:prstGeom>
          <a:solidFill>
            <a:srgbClr val="F6F9FD"/>
          </a:solidFill>
          <a:ln w="9525">
            <a:solidFill>
              <a:srgbClr val="D8E5F2"/>
            </a:solidFill>
            <a:prstDash val="solid"/>
          </a:ln>
        </p:spPr>
        <p:txBody>
          <a:bodyPr/>
          <a:lstStyle/>
          <a:p>
            <a:endParaRPr lang="en-IN"/>
          </a:p>
        </p:txBody>
      </p:sp>
      <p:sp>
        <p:nvSpPr>
          <p:cNvPr id="16" name="card accent">
            <a:extLst>
              <a:ext uri="{C183D7F6-B498-43B3-948B-1728B52AA6E4}">
                <adec:decorative xmlns:adec="http://schemas.microsoft.com/office/drawing/2017/decorative" val="1"/>
              </a:ext>
            </a:extLst>
          </p:cNvPr>
          <p:cNvSpPr/>
          <p:nvPr/>
        </p:nvSpPr>
        <p:spPr>
          <a:xfrm>
            <a:off x="4754880" y="2103120"/>
            <a:ext cx="3886200" cy="41148"/>
          </a:xfrm>
          <a:prstGeom prst="rect">
            <a:avLst/>
          </a:prstGeom>
          <a:solidFill>
            <a:srgbClr val="17A9DB"/>
          </a:solidFill>
          <a:ln w="12700">
            <a:solidFill>
              <a:srgbClr val="333333"/>
            </a:solidFill>
            <a:prstDash val="solid"/>
          </a:ln>
        </p:spPr>
        <p:txBody>
          <a:bodyPr/>
          <a:lstStyle/>
          <a:p>
            <a:endParaRPr lang="en-IN"/>
          </a:p>
        </p:txBody>
      </p:sp>
      <p:sp>
        <p:nvSpPr>
          <p:cNvPr id="17" name="Text 15"/>
          <p:cNvSpPr/>
          <p:nvPr/>
        </p:nvSpPr>
        <p:spPr>
          <a:xfrm>
            <a:off x="4956048" y="2212848"/>
            <a:ext cx="3483864"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Service → Pods</a:t>
            </a:r>
            <a:endParaRPr lang="en-US" sz="850" dirty="0"/>
          </a:p>
        </p:txBody>
      </p:sp>
      <p:sp>
        <p:nvSpPr>
          <p:cNvPr id="18" name="Text 16"/>
          <p:cNvSpPr/>
          <p:nvPr/>
        </p:nvSpPr>
        <p:spPr>
          <a:xfrm>
            <a:off x="4956048" y="2461260"/>
            <a:ext cx="3483864" cy="146304"/>
          </a:xfrm>
          <a:prstGeom prst="rect">
            <a:avLst/>
          </a:prstGeom>
          <a:noFill/>
          <a:ln/>
        </p:spPr>
        <p:txBody>
          <a:bodyPr wrap="square" lIns="0" tIns="0" rIns="0" bIns="0" rtlCol="0" anchor="t"/>
          <a:lstStyle/>
          <a:p>
            <a:pPr marL="0" indent="0">
              <a:lnSpc>
                <a:spcPct val="115000"/>
              </a:lnSpc>
              <a:buNone/>
            </a:pPr>
            <a:r>
              <a:rPr lang="en-US" sz="825" dirty="0">
                <a:solidFill>
                  <a:srgbClr val="44566B"/>
                </a:solidFill>
                <a:latin typeface="Segoe UI" pitchFamily="34" charset="0"/>
                <a:ea typeface="Segoe UI" pitchFamily="34" charset="-122"/>
                <a:cs typeface="Segoe UI" pitchFamily="34" charset="-120"/>
              </a:rPr>
              <a:t>The selector decides which Pods receive traffic</a:t>
            </a:r>
            <a:endParaRPr lang="en-US" sz="825" dirty="0"/>
          </a:p>
        </p:txBody>
      </p:sp>
      <p:sp>
        <p:nvSpPr>
          <p:cNvPr id="19" name="card">
            <a:extLst>
              <a:ext uri="{C183D7F6-B498-43B3-948B-1728B52AA6E4}">
                <adec:decorative xmlns:adec="http://schemas.microsoft.com/office/drawing/2017/decorative" val="1"/>
              </a:ext>
            </a:extLst>
          </p:cNvPr>
          <p:cNvSpPr/>
          <p:nvPr/>
        </p:nvSpPr>
        <p:spPr>
          <a:xfrm>
            <a:off x="4754880" y="2761488"/>
            <a:ext cx="3886200" cy="512064"/>
          </a:xfrm>
          <a:prstGeom prst="rect">
            <a:avLst/>
          </a:prstGeom>
          <a:solidFill>
            <a:srgbClr val="F6F9FD"/>
          </a:solidFill>
          <a:ln w="9525">
            <a:solidFill>
              <a:srgbClr val="D8E5F2"/>
            </a:solidFill>
            <a:prstDash val="solid"/>
          </a:ln>
        </p:spPr>
        <p:txBody>
          <a:bodyPr/>
          <a:lstStyle/>
          <a:p>
            <a:endParaRPr lang="en-IN"/>
          </a:p>
        </p:txBody>
      </p:sp>
      <p:sp>
        <p:nvSpPr>
          <p:cNvPr id="20" name="card accent">
            <a:extLst>
              <a:ext uri="{C183D7F6-B498-43B3-948B-1728B52AA6E4}">
                <adec:decorative xmlns:adec="http://schemas.microsoft.com/office/drawing/2017/decorative" val="1"/>
              </a:ext>
            </a:extLst>
          </p:cNvPr>
          <p:cNvSpPr/>
          <p:nvPr/>
        </p:nvSpPr>
        <p:spPr>
          <a:xfrm>
            <a:off x="4754880" y="2761488"/>
            <a:ext cx="3886200" cy="41148"/>
          </a:xfrm>
          <a:prstGeom prst="rect">
            <a:avLst/>
          </a:prstGeom>
          <a:solidFill>
            <a:srgbClr val="0B63CE"/>
          </a:solidFill>
          <a:ln w="12700">
            <a:solidFill>
              <a:srgbClr val="333333"/>
            </a:solidFill>
            <a:prstDash val="solid"/>
          </a:ln>
        </p:spPr>
        <p:txBody>
          <a:bodyPr/>
          <a:lstStyle/>
          <a:p>
            <a:endParaRPr lang="en-IN"/>
          </a:p>
        </p:txBody>
      </p:sp>
      <p:sp>
        <p:nvSpPr>
          <p:cNvPr id="21" name="Text 19"/>
          <p:cNvSpPr/>
          <p:nvPr/>
        </p:nvSpPr>
        <p:spPr>
          <a:xfrm>
            <a:off x="4956048" y="2871216"/>
            <a:ext cx="3483864"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Operators → anything</a:t>
            </a:r>
            <a:endParaRPr lang="en-US" sz="850" dirty="0"/>
          </a:p>
        </p:txBody>
      </p:sp>
      <p:sp>
        <p:nvSpPr>
          <p:cNvPr id="22" name="Text 20"/>
          <p:cNvSpPr/>
          <p:nvPr/>
        </p:nvSpPr>
        <p:spPr>
          <a:xfrm>
            <a:off x="4956048" y="3119628"/>
            <a:ext cx="3483864" cy="146304"/>
          </a:xfrm>
          <a:prstGeom prst="rect">
            <a:avLst/>
          </a:prstGeom>
          <a:noFill/>
          <a:ln/>
        </p:spPr>
        <p:txBody>
          <a:bodyPr wrap="square" lIns="0" tIns="0" rIns="0" bIns="0" rtlCol="0" anchor="t"/>
          <a:lstStyle/>
          <a:p>
            <a:pPr marL="0" indent="0">
              <a:lnSpc>
                <a:spcPct val="115000"/>
              </a:lnSpc>
              <a:buNone/>
            </a:pPr>
            <a:r>
              <a:rPr lang="en-US" sz="825" dirty="0">
                <a:solidFill>
                  <a:srgbClr val="44566B"/>
                </a:solidFill>
                <a:latin typeface="Segoe UI" pitchFamily="34" charset="0"/>
                <a:ea typeface="Segoe UI" pitchFamily="34" charset="-122"/>
                <a:cs typeface="Segoe UI" pitchFamily="34" charset="-120"/>
              </a:rPr>
              <a:t>Monitoring and policy tools select by label</a:t>
            </a:r>
            <a:endParaRPr lang="en-US" sz="825" dirty="0"/>
          </a:p>
        </p:txBody>
      </p:sp>
      <p:sp>
        <p:nvSpPr>
          <p:cNvPr id="23"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4"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25" name="Text 23"/>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Labels</a:t>
            </a:r>
            <a:endParaRPr lang="en-US" sz="1100" dirty="0"/>
          </a:p>
        </p:txBody>
      </p:sp>
      <p:sp>
        <p:nvSpPr>
          <p:cNvPr id="26" name="Text 24"/>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Identifying and selectable — keep them few, stable and meaningful</a:t>
            </a:r>
            <a:endParaRPr lang="en-US" sz="800" dirty="0"/>
          </a:p>
        </p:txBody>
      </p:sp>
      <p:sp>
        <p:nvSpPr>
          <p:cNvPr id="27"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8"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29" name="Text 27"/>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Annotations</a:t>
            </a:r>
            <a:endParaRPr lang="en-US" sz="1100" dirty="0"/>
          </a:p>
        </p:txBody>
      </p:sp>
      <p:sp>
        <p:nvSpPr>
          <p:cNvPr id="30" name="Text 28"/>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Non-identifying metadata for tools and humans — never used for selection</a:t>
            </a:r>
            <a:endParaRPr lang="en-US" sz="800" dirty="0"/>
          </a:p>
        </p:txBody>
      </p:sp>
      <p:sp>
        <p:nvSpPr>
          <p:cNvPr id="31"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2"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0A2E4E"/>
          </a:solidFill>
          <a:ln w="12700">
            <a:solidFill>
              <a:srgbClr val="333333"/>
            </a:solidFill>
            <a:prstDash val="solid"/>
          </a:ln>
        </p:spPr>
        <p:txBody>
          <a:bodyPr/>
          <a:lstStyle/>
          <a:p>
            <a:endParaRPr lang="en-IN"/>
          </a:p>
        </p:txBody>
      </p:sp>
      <p:sp>
        <p:nvSpPr>
          <p:cNvPr id="33" name="Text 31"/>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Namespaces</a:t>
            </a:r>
            <a:endParaRPr lang="en-US" sz="1100" dirty="0"/>
          </a:p>
        </p:txBody>
      </p:sp>
      <p:sp>
        <p:nvSpPr>
          <p:cNvPr id="34" name="Text 32"/>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A hard boundary for names, quotas and access, not a label</a:t>
            </a:r>
            <a:endParaRPr lang="en-US" sz="800" dirty="0"/>
          </a:p>
        </p:txBody>
      </p:sp>
      <p:sp>
        <p:nvSpPr>
          <p:cNvPr id="35" name="callout band">
            <a:extLst>
              <a:ext uri="{C183D7F6-B498-43B3-948B-1728B52AA6E4}">
                <adec:decorative xmlns:adec="http://schemas.microsoft.com/office/drawing/2017/decorative" val="1"/>
              </a:ext>
            </a:extLst>
          </p:cNvPr>
          <p:cNvSpPr/>
          <p:nvPr/>
        </p:nvSpPr>
        <p:spPr>
          <a:xfrm>
            <a:off x="502920" y="4206240"/>
            <a:ext cx="8138160" cy="384048"/>
          </a:xfrm>
          <a:prstGeom prst="rect">
            <a:avLst/>
          </a:prstGeom>
          <a:solidFill>
            <a:srgbClr val="EDF4FC"/>
          </a:solidFill>
          <a:ln w="12700">
            <a:solidFill>
              <a:srgbClr val="333333"/>
            </a:solidFill>
            <a:prstDash val="solid"/>
          </a:ln>
        </p:spPr>
        <p:txBody>
          <a:bodyPr/>
          <a:lstStyle/>
          <a:p>
            <a:endParaRPr lang="en-IN"/>
          </a:p>
        </p:txBody>
      </p:sp>
      <p:sp>
        <p:nvSpPr>
          <p:cNvPr id="36" name="callout accent">
            <a:extLst>
              <a:ext uri="{C183D7F6-B498-43B3-948B-1728B52AA6E4}">
                <adec:decorative xmlns:adec="http://schemas.microsoft.com/office/drawing/2017/decorative" val="1"/>
              </a:ext>
            </a:extLst>
          </p:cNvPr>
          <p:cNvSpPr/>
          <p:nvPr/>
        </p:nvSpPr>
        <p:spPr>
          <a:xfrm>
            <a:off x="502920" y="4206240"/>
            <a:ext cx="45720" cy="384048"/>
          </a:xfrm>
          <a:prstGeom prst="rect">
            <a:avLst/>
          </a:prstGeom>
          <a:solidFill>
            <a:srgbClr val="F2A93B"/>
          </a:solidFill>
          <a:ln w="12700">
            <a:solidFill>
              <a:srgbClr val="333333"/>
            </a:solidFill>
            <a:prstDash val="solid"/>
          </a:ln>
        </p:spPr>
        <p:txBody>
          <a:bodyPr/>
          <a:lstStyle/>
          <a:p>
            <a:endParaRPr lang="en-IN"/>
          </a:p>
        </p:txBody>
      </p:sp>
      <p:sp>
        <p:nvSpPr>
          <p:cNvPr id="37" name="Text 35"/>
          <p:cNvSpPr/>
          <p:nvPr/>
        </p:nvSpPr>
        <p:spPr>
          <a:xfrm>
            <a:off x="704088" y="4206240"/>
            <a:ext cx="7754112" cy="384048"/>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Do this early   </a:t>
            </a:r>
            <a:r>
              <a:rPr lang="en-US" sz="1050" dirty="0">
                <a:solidFill>
                  <a:srgbClr val="0E2233"/>
                </a:solidFill>
                <a:latin typeface="Segoe UI" pitchFamily="34" charset="0"/>
                <a:ea typeface="Segoe UI" pitchFamily="34" charset="-122"/>
                <a:cs typeface="Segoe UI" pitchFamily="34" charset="-120"/>
              </a:rPr>
              <a:t>Agree a labelling convention across teams before your first production deployment — retrofitting labels means changing selectors, which means recreating objects.</a:t>
            </a:r>
            <a:endParaRPr lang="en-US" sz="1000" dirty="0"/>
          </a:p>
        </p:txBody>
      </p:sp>
      <p:sp>
        <p:nvSpPr>
          <p:cNvPr id="38"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20</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3 · APPLICATION EXPOSURE AND CONNECTIVITY</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Services overview</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Pods come and go with changing IP addresses. A Service is the stable address in front of them.</a:t>
            </a:r>
            <a:endParaRPr lang="en-US" sz="1150" dirty="0"/>
          </a:p>
        </p:txBody>
      </p:sp>
      <p:sp>
        <p:nvSpPr>
          <p:cNvPr id="7" name="client box">
            <a:extLst>
              <a:ext uri="{C183D7F6-B498-43B3-948B-1728B52AA6E4}">
                <adec:decorative xmlns:adec="http://schemas.microsoft.com/office/drawing/2017/decorative" val="1"/>
              </a:ext>
            </a:extLst>
          </p:cNvPr>
          <p:cNvSpPr/>
          <p:nvPr/>
        </p:nvSpPr>
        <p:spPr>
          <a:xfrm>
            <a:off x="502920" y="1737360"/>
            <a:ext cx="1737360" cy="868680"/>
          </a:xfrm>
          <a:prstGeom prst="rect">
            <a:avLst/>
          </a:prstGeom>
          <a:solidFill>
            <a:srgbClr val="F6F9FD"/>
          </a:solidFill>
          <a:ln w="12700">
            <a:solidFill>
              <a:srgbClr val="D8E5F2"/>
            </a:solidFill>
            <a:prstDash val="solid"/>
          </a:ln>
        </p:spPr>
        <p:txBody>
          <a:bodyPr/>
          <a:lstStyle/>
          <a:p>
            <a:endParaRPr lang="en-IN"/>
          </a:p>
        </p:txBody>
      </p:sp>
      <p:sp>
        <p:nvSpPr>
          <p:cNvPr id="8" name="Text 6"/>
          <p:cNvSpPr/>
          <p:nvPr/>
        </p:nvSpPr>
        <p:spPr>
          <a:xfrm>
            <a:off x="502920" y="1810512"/>
            <a:ext cx="1737360" cy="274320"/>
          </a:xfrm>
          <a:prstGeom prst="rect">
            <a:avLst/>
          </a:prstGeom>
          <a:noFill/>
          <a:ln/>
        </p:spPr>
        <p:txBody>
          <a:bodyPr wrap="square" lIns="0" tIns="0" rIns="0" bIns="0" rtlCol="0" anchor="ctr"/>
          <a:lstStyle/>
          <a:p>
            <a:pPr marL="0" indent="0" algn="ctr">
              <a:buNone/>
            </a:pPr>
            <a:r>
              <a:rPr lang="en-US" sz="1200" b="1" dirty="0">
                <a:solidFill>
                  <a:srgbClr val="0E2233"/>
                </a:solidFill>
                <a:latin typeface="Segoe UI" pitchFamily="34" charset="0"/>
                <a:ea typeface="Segoe UI" pitchFamily="34" charset="-122"/>
                <a:cs typeface="Segoe UI" pitchFamily="34" charset="-120"/>
              </a:rPr>
              <a:t>Client</a:t>
            </a:r>
            <a:endParaRPr lang="en-US" sz="1200" dirty="0"/>
          </a:p>
        </p:txBody>
      </p:sp>
      <p:sp>
        <p:nvSpPr>
          <p:cNvPr id="9" name="Text 7"/>
          <p:cNvSpPr/>
          <p:nvPr/>
        </p:nvSpPr>
        <p:spPr>
          <a:xfrm>
            <a:off x="548640" y="2084832"/>
            <a:ext cx="1645920" cy="457200"/>
          </a:xfrm>
          <a:prstGeom prst="rect">
            <a:avLst/>
          </a:prstGeom>
          <a:noFill/>
          <a:ln/>
        </p:spPr>
        <p:txBody>
          <a:bodyPr wrap="square" lIns="0" tIns="0" rIns="0" bIns="0" rtlCol="0" anchor="t"/>
          <a:lstStyle/>
          <a:p>
            <a:pPr marL="0" indent="0" algn="ctr">
              <a:buNone/>
            </a:pPr>
            <a:r>
              <a:rPr lang="en-US" sz="900" dirty="0">
                <a:solidFill>
                  <a:srgbClr val="44566B"/>
                </a:solidFill>
                <a:latin typeface="Segoe UI" pitchFamily="34" charset="0"/>
                <a:ea typeface="Segoe UI" pitchFamily="34" charset="-122"/>
                <a:cs typeface="Segoe UI" pitchFamily="34" charset="-120"/>
              </a:rPr>
              <a:t>another Pod, or</a:t>
            </a:r>
            <a:endParaRPr lang="en-US" sz="900" dirty="0"/>
          </a:p>
          <a:p>
            <a:pPr marL="0" indent="0" algn="ctr">
              <a:buNone/>
            </a:pPr>
            <a:r>
              <a:rPr lang="en-US" sz="900" dirty="0">
                <a:solidFill>
                  <a:srgbClr val="44566B"/>
                </a:solidFill>
                <a:latin typeface="Segoe UI" pitchFamily="34" charset="0"/>
                <a:ea typeface="Segoe UI" pitchFamily="34" charset="-122"/>
                <a:cs typeface="Segoe UI" pitchFamily="34" charset="-120"/>
              </a:rPr>
              <a:t>an external caller</a:t>
            </a:r>
            <a:endParaRPr lang="en-US" sz="900" dirty="0"/>
          </a:p>
        </p:txBody>
      </p:sp>
      <p:sp>
        <p:nvSpPr>
          <p:cNvPr id="10" name="flow arrow">
            <a:extLst>
              <a:ext uri="{C183D7F6-B498-43B3-948B-1728B52AA6E4}">
                <adec:decorative xmlns:adec="http://schemas.microsoft.com/office/drawing/2017/decorative" val="1"/>
              </a:ext>
            </a:extLst>
          </p:cNvPr>
          <p:cNvSpPr/>
          <p:nvPr/>
        </p:nvSpPr>
        <p:spPr>
          <a:xfrm>
            <a:off x="2331720" y="2084832"/>
            <a:ext cx="548640" cy="201168"/>
          </a:xfrm>
          <a:prstGeom prst="rightArrow">
            <a:avLst/>
          </a:prstGeom>
          <a:solidFill>
            <a:srgbClr val="17A9DB"/>
          </a:solidFill>
          <a:ln w="12700">
            <a:solidFill>
              <a:srgbClr val="333333"/>
            </a:solidFill>
            <a:prstDash val="solid"/>
          </a:ln>
        </p:spPr>
        <p:txBody>
          <a:bodyPr/>
          <a:lstStyle/>
          <a:p>
            <a:endParaRPr lang="en-IN"/>
          </a:p>
        </p:txBody>
      </p:sp>
      <p:sp>
        <p:nvSpPr>
          <p:cNvPr id="11" name="service box">
            <a:extLst>
              <a:ext uri="{C183D7F6-B498-43B3-948B-1728B52AA6E4}">
                <adec:decorative xmlns:adec="http://schemas.microsoft.com/office/drawing/2017/decorative" val="1"/>
              </a:ext>
            </a:extLst>
          </p:cNvPr>
          <p:cNvSpPr/>
          <p:nvPr/>
        </p:nvSpPr>
        <p:spPr>
          <a:xfrm>
            <a:off x="2971800" y="1600200"/>
            <a:ext cx="2377440" cy="1417320"/>
          </a:xfrm>
          <a:prstGeom prst="rect">
            <a:avLst/>
          </a:prstGeom>
          <a:solidFill>
            <a:srgbClr val="0A2E4E"/>
          </a:solidFill>
          <a:ln w="12700">
            <a:solidFill>
              <a:srgbClr val="333333"/>
            </a:solidFill>
            <a:prstDash val="solid"/>
          </a:ln>
        </p:spPr>
        <p:txBody>
          <a:bodyPr/>
          <a:lstStyle/>
          <a:p>
            <a:endParaRPr lang="en-IN"/>
          </a:p>
        </p:txBody>
      </p:sp>
      <p:sp>
        <p:nvSpPr>
          <p:cNvPr id="12" name="Text 10"/>
          <p:cNvSpPr/>
          <p:nvPr/>
        </p:nvSpPr>
        <p:spPr>
          <a:xfrm>
            <a:off x="2971800" y="1691640"/>
            <a:ext cx="237744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Service</a:t>
            </a:r>
            <a:endParaRPr lang="en-US" sz="1300" dirty="0"/>
          </a:p>
        </p:txBody>
      </p:sp>
      <p:sp>
        <p:nvSpPr>
          <p:cNvPr id="13" name="Text 11"/>
          <p:cNvSpPr/>
          <p:nvPr/>
        </p:nvSpPr>
        <p:spPr>
          <a:xfrm>
            <a:off x="2971800" y="1965960"/>
            <a:ext cx="2377440" cy="237744"/>
          </a:xfrm>
          <a:prstGeom prst="rect">
            <a:avLst/>
          </a:prstGeom>
          <a:noFill/>
          <a:ln/>
        </p:spPr>
        <p:txBody>
          <a:bodyPr wrap="square" lIns="0" tIns="0" rIns="0" bIns="0" rtlCol="0" anchor="ctr"/>
          <a:lstStyle/>
          <a:p>
            <a:pPr marL="0" indent="0" algn="ctr">
              <a:buNone/>
            </a:pPr>
            <a:r>
              <a:rPr lang="en-US" sz="1000" dirty="0">
                <a:solidFill>
                  <a:srgbClr val="17A9DB"/>
                </a:solidFill>
                <a:latin typeface="Consolas" pitchFamily="34" charset="0"/>
                <a:ea typeface="Consolas" pitchFamily="34" charset="-122"/>
                <a:cs typeface="Consolas" pitchFamily="34" charset="-120"/>
              </a:rPr>
              <a:t>payments-api</a:t>
            </a:r>
            <a:endParaRPr lang="en-US" sz="1000" dirty="0"/>
          </a:p>
        </p:txBody>
      </p:sp>
      <p:sp>
        <p:nvSpPr>
          <p:cNvPr id="14" name="Text 12"/>
          <p:cNvSpPr/>
          <p:nvPr/>
        </p:nvSpPr>
        <p:spPr>
          <a:xfrm>
            <a:off x="3063240" y="2212848"/>
            <a:ext cx="2194560" cy="731520"/>
          </a:xfrm>
          <a:prstGeom prst="rect">
            <a:avLst/>
          </a:prstGeom>
          <a:noFill/>
          <a:ln/>
        </p:spPr>
        <p:txBody>
          <a:bodyPr wrap="square" lIns="0" tIns="0" rIns="0" bIns="0" rtlCol="0" anchor="t"/>
          <a:lstStyle/>
          <a:p>
            <a:pPr marL="0" indent="0" algn="ctr">
              <a:lnSpc>
                <a:spcPct val="110000"/>
              </a:lnSpc>
              <a:buNone/>
            </a:pPr>
            <a:r>
              <a:rPr lang="en-US" sz="900" dirty="0">
                <a:solidFill>
                  <a:srgbClr val="A9C9E2"/>
                </a:solidFill>
                <a:latin typeface="Segoe UI" pitchFamily="34" charset="0"/>
                <a:ea typeface="Segoe UI" pitchFamily="34" charset="-122"/>
                <a:cs typeface="Segoe UI" pitchFamily="34" charset="-120"/>
              </a:rPr>
              <a:t>Stable virtual IP</a:t>
            </a:r>
            <a:endParaRPr lang="en-US" sz="900" dirty="0"/>
          </a:p>
          <a:p>
            <a:pPr marL="0" indent="0" algn="ctr">
              <a:lnSpc>
                <a:spcPct val="110000"/>
              </a:lnSpc>
              <a:buNone/>
            </a:pPr>
            <a:r>
              <a:rPr lang="en-US" sz="900" dirty="0">
                <a:solidFill>
                  <a:srgbClr val="A9C9E2"/>
                </a:solidFill>
                <a:latin typeface="Segoe UI" pitchFamily="34" charset="0"/>
                <a:ea typeface="Segoe UI" pitchFamily="34" charset="-122"/>
                <a:cs typeface="Segoe UI" pitchFamily="34" charset="-120"/>
              </a:rPr>
              <a:t>Stable DNS name</a:t>
            </a:r>
            <a:endParaRPr lang="en-US" sz="900" dirty="0"/>
          </a:p>
          <a:p>
            <a:pPr marL="0" indent="0" algn="ctr">
              <a:lnSpc>
                <a:spcPct val="110000"/>
              </a:lnSpc>
              <a:buNone/>
            </a:pPr>
            <a:r>
              <a:rPr lang="en-US" sz="900" dirty="0">
                <a:solidFill>
                  <a:srgbClr val="A9C9E2"/>
                </a:solidFill>
                <a:latin typeface="Segoe UI" pitchFamily="34" charset="0"/>
                <a:ea typeface="Segoe UI" pitchFamily="34" charset="-122"/>
                <a:cs typeface="Segoe UI" pitchFamily="34" charset="-120"/>
              </a:rPr>
              <a:t>Load balances across</a:t>
            </a:r>
            <a:endParaRPr lang="en-US" sz="900" dirty="0"/>
          </a:p>
          <a:p>
            <a:pPr marL="0" indent="0" algn="ctr">
              <a:lnSpc>
                <a:spcPct val="110000"/>
              </a:lnSpc>
              <a:buNone/>
            </a:pPr>
            <a:r>
              <a:rPr lang="en-US" sz="900" dirty="0">
                <a:solidFill>
                  <a:srgbClr val="A9C9E2"/>
                </a:solidFill>
                <a:latin typeface="Segoe UI" pitchFamily="34" charset="0"/>
                <a:ea typeface="Segoe UI" pitchFamily="34" charset="-122"/>
                <a:cs typeface="Segoe UI" pitchFamily="34" charset="-120"/>
              </a:rPr>
              <a:t>all matching Pods</a:t>
            </a:r>
            <a:endParaRPr lang="en-US" sz="900" dirty="0"/>
          </a:p>
        </p:txBody>
      </p:sp>
      <p:sp>
        <p:nvSpPr>
          <p:cNvPr id="15" name="flow arrow">
            <a:extLst>
              <a:ext uri="{C183D7F6-B498-43B3-948B-1728B52AA6E4}">
                <adec:decorative xmlns:adec="http://schemas.microsoft.com/office/drawing/2017/decorative" val="1"/>
              </a:ext>
            </a:extLst>
          </p:cNvPr>
          <p:cNvSpPr/>
          <p:nvPr/>
        </p:nvSpPr>
        <p:spPr>
          <a:xfrm>
            <a:off x="5440680" y="2084832"/>
            <a:ext cx="502920" cy="201168"/>
          </a:xfrm>
          <a:prstGeom prst="rightArrow">
            <a:avLst/>
          </a:prstGeom>
          <a:solidFill>
            <a:srgbClr val="17A9DB"/>
          </a:solidFill>
          <a:ln w="12700">
            <a:solidFill>
              <a:srgbClr val="333333"/>
            </a:solidFill>
            <a:prstDash val="solid"/>
          </a:ln>
        </p:spPr>
        <p:txBody>
          <a:bodyPr/>
          <a:lstStyle/>
          <a:p>
            <a:endParaRPr lang="en-IN"/>
          </a:p>
        </p:txBody>
      </p:sp>
      <p:sp>
        <p:nvSpPr>
          <p:cNvPr id="16" name="pod box">
            <a:extLst>
              <a:ext uri="{C183D7F6-B498-43B3-948B-1728B52AA6E4}">
                <adec:decorative xmlns:adec="http://schemas.microsoft.com/office/drawing/2017/decorative" val="1"/>
              </a:ext>
            </a:extLst>
          </p:cNvPr>
          <p:cNvSpPr/>
          <p:nvPr/>
        </p:nvSpPr>
        <p:spPr>
          <a:xfrm>
            <a:off x="6035040" y="1572768"/>
            <a:ext cx="2606040" cy="420624"/>
          </a:xfrm>
          <a:prstGeom prst="rect">
            <a:avLst/>
          </a:prstGeom>
          <a:solidFill>
            <a:srgbClr val="EDF4FC"/>
          </a:solidFill>
          <a:ln w="9525">
            <a:solidFill>
              <a:srgbClr val="0B63CE"/>
            </a:solidFill>
            <a:prstDash val="solid"/>
          </a:ln>
        </p:spPr>
        <p:txBody>
          <a:bodyPr/>
          <a:lstStyle/>
          <a:p>
            <a:endParaRPr lang="en-IN"/>
          </a:p>
        </p:txBody>
      </p:sp>
      <p:sp>
        <p:nvSpPr>
          <p:cNvPr id="17" name="Text 15"/>
          <p:cNvSpPr/>
          <p:nvPr/>
        </p:nvSpPr>
        <p:spPr>
          <a:xfrm>
            <a:off x="6126480" y="1572768"/>
            <a:ext cx="2423160" cy="420624"/>
          </a:xfrm>
          <a:prstGeom prst="rect">
            <a:avLst/>
          </a:prstGeom>
          <a:noFill/>
          <a:ln/>
        </p:spPr>
        <p:txBody>
          <a:bodyPr wrap="square" lIns="0" tIns="0" rIns="0" bIns="0" rtlCol="0" anchor="ctr"/>
          <a:lstStyle/>
          <a:p>
            <a:pPr marL="0" indent="0">
              <a:buNone/>
            </a:pPr>
            <a:r>
              <a:rPr lang="en-US" sz="950" dirty="0">
                <a:solidFill>
                  <a:srgbClr val="0A2E4E"/>
                </a:solidFill>
                <a:latin typeface="Segoe UI" pitchFamily="34" charset="0"/>
                <a:ea typeface="Segoe UI" pitchFamily="34" charset="-122"/>
                <a:cs typeface="Segoe UI" pitchFamily="34" charset="-120"/>
              </a:rPr>
              <a:t>Pod  app=payments-api</a:t>
            </a:r>
            <a:endParaRPr lang="en-US" sz="950" dirty="0"/>
          </a:p>
        </p:txBody>
      </p:sp>
      <p:sp>
        <p:nvSpPr>
          <p:cNvPr id="18" name="pod box">
            <a:extLst>
              <a:ext uri="{C183D7F6-B498-43B3-948B-1728B52AA6E4}">
                <adec:decorative xmlns:adec="http://schemas.microsoft.com/office/drawing/2017/decorative" val="1"/>
              </a:ext>
            </a:extLst>
          </p:cNvPr>
          <p:cNvSpPr/>
          <p:nvPr/>
        </p:nvSpPr>
        <p:spPr>
          <a:xfrm>
            <a:off x="6035040" y="2084832"/>
            <a:ext cx="2606040" cy="420624"/>
          </a:xfrm>
          <a:prstGeom prst="rect">
            <a:avLst/>
          </a:prstGeom>
          <a:solidFill>
            <a:srgbClr val="EDF4FC"/>
          </a:solidFill>
          <a:ln w="9525">
            <a:solidFill>
              <a:srgbClr val="0B63CE"/>
            </a:solidFill>
            <a:prstDash val="solid"/>
          </a:ln>
        </p:spPr>
        <p:txBody>
          <a:bodyPr/>
          <a:lstStyle/>
          <a:p>
            <a:endParaRPr lang="en-IN"/>
          </a:p>
        </p:txBody>
      </p:sp>
      <p:sp>
        <p:nvSpPr>
          <p:cNvPr id="19" name="Text 17"/>
          <p:cNvSpPr/>
          <p:nvPr/>
        </p:nvSpPr>
        <p:spPr>
          <a:xfrm>
            <a:off x="6126480" y="2084832"/>
            <a:ext cx="2423160" cy="420624"/>
          </a:xfrm>
          <a:prstGeom prst="rect">
            <a:avLst/>
          </a:prstGeom>
          <a:noFill/>
          <a:ln/>
        </p:spPr>
        <p:txBody>
          <a:bodyPr wrap="square" lIns="0" tIns="0" rIns="0" bIns="0" rtlCol="0" anchor="ctr"/>
          <a:lstStyle/>
          <a:p>
            <a:pPr marL="0" indent="0">
              <a:buNone/>
            </a:pPr>
            <a:r>
              <a:rPr lang="en-US" sz="950" dirty="0">
                <a:solidFill>
                  <a:srgbClr val="0A2E4E"/>
                </a:solidFill>
                <a:latin typeface="Segoe UI" pitchFamily="34" charset="0"/>
                <a:ea typeface="Segoe UI" pitchFamily="34" charset="-122"/>
                <a:cs typeface="Segoe UI" pitchFamily="34" charset="-120"/>
              </a:rPr>
              <a:t>Pod  app=payments-api</a:t>
            </a:r>
            <a:endParaRPr lang="en-US" sz="950" dirty="0"/>
          </a:p>
        </p:txBody>
      </p:sp>
      <p:sp>
        <p:nvSpPr>
          <p:cNvPr id="20" name="pod box">
            <a:extLst>
              <a:ext uri="{C183D7F6-B498-43B3-948B-1728B52AA6E4}">
                <adec:decorative xmlns:adec="http://schemas.microsoft.com/office/drawing/2017/decorative" val="1"/>
              </a:ext>
            </a:extLst>
          </p:cNvPr>
          <p:cNvSpPr/>
          <p:nvPr/>
        </p:nvSpPr>
        <p:spPr>
          <a:xfrm>
            <a:off x="6035040" y="2596896"/>
            <a:ext cx="2606040" cy="420624"/>
          </a:xfrm>
          <a:prstGeom prst="rect">
            <a:avLst/>
          </a:prstGeom>
          <a:solidFill>
            <a:srgbClr val="EDF4FC"/>
          </a:solidFill>
          <a:ln w="9525">
            <a:solidFill>
              <a:srgbClr val="0B63CE"/>
            </a:solidFill>
            <a:prstDash val="solid"/>
          </a:ln>
        </p:spPr>
        <p:txBody>
          <a:bodyPr/>
          <a:lstStyle/>
          <a:p>
            <a:endParaRPr lang="en-IN"/>
          </a:p>
        </p:txBody>
      </p:sp>
      <p:sp>
        <p:nvSpPr>
          <p:cNvPr id="21" name="Text 19"/>
          <p:cNvSpPr/>
          <p:nvPr/>
        </p:nvSpPr>
        <p:spPr>
          <a:xfrm>
            <a:off x="6126480" y="2596896"/>
            <a:ext cx="2423160" cy="420624"/>
          </a:xfrm>
          <a:prstGeom prst="rect">
            <a:avLst/>
          </a:prstGeom>
          <a:noFill/>
          <a:ln/>
        </p:spPr>
        <p:txBody>
          <a:bodyPr wrap="square" lIns="0" tIns="0" rIns="0" bIns="0" rtlCol="0" anchor="ctr"/>
          <a:lstStyle/>
          <a:p>
            <a:pPr marL="0" indent="0">
              <a:buNone/>
            </a:pPr>
            <a:r>
              <a:rPr lang="en-US" sz="950" dirty="0">
                <a:solidFill>
                  <a:srgbClr val="0A2E4E"/>
                </a:solidFill>
                <a:latin typeface="Segoe UI" pitchFamily="34" charset="0"/>
                <a:ea typeface="Segoe UI" pitchFamily="34" charset="-122"/>
                <a:cs typeface="Segoe UI" pitchFamily="34" charset="-120"/>
              </a:rPr>
              <a:t>Pod  app=payments-api</a:t>
            </a:r>
            <a:endParaRPr lang="en-US" sz="950" dirty="0"/>
          </a:p>
        </p:txBody>
      </p:sp>
      <p:sp>
        <p:nvSpPr>
          <p:cNvPr id="22" name="stat block">
            <a:extLst>
              <a:ext uri="{C183D7F6-B498-43B3-948B-1728B52AA6E4}">
                <adec:decorative xmlns:adec="http://schemas.microsoft.com/office/drawing/2017/decorative" val="1"/>
              </a:ext>
            </a:extLst>
          </p:cNvPr>
          <p:cNvSpPr/>
          <p:nvPr/>
        </p:nvSpPr>
        <p:spPr>
          <a:xfrm>
            <a:off x="502920"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3" name="stat accent">
            <a:extLst>
              <a:ext uri="{C183D7F6-B498-43B3-948B-1728B52AA6E4}">
                <adec:decorative xmlns:adec="http://schemas.microsoft.com/office/drawing/2017/decorative" val="1"/>
              </a:ext>
            </a:extLst>
          </p:cNvPr>
          <p:cNvSpPr/>
          <p:nvPr/>
        </p:nvSpPr>
        <p:spPr>
          <a:xfrm>
            <a:off x="502920" y="3246120"/>
            <a:ext cx="45720" cy="621792"/>
          </a:xfrm>
          <a:prstGeom prst="rect">
            <a:avLst/>
          </a:prstGeom>
          <a:solidFill>
            <a:srgbClr val="0B63CE"/>
          </a:solidFill>
          <a:ln w="12700">
            <a:solidFill>
              <a:srgbClr val="333333"/>
            </a:solidFill>
            <a:prstDash val="solid"/>
          </a:ln>
        </p:spPr>
        <p:txBody>
          <a:bodyPr/>
          <a:lstStyle/>
          <a:p>
            <a:endParaRPr lang="en-IN"/>
          </a:p>
        </p:txBody>
      </p:sp>
      <p:sp>
        <p:nvSpPr>
          <p:cNvPr id="24" name="Text 22"/>
          <p:cNvSpPr/>
          <p:nvPr/>
        </p:nvSpPr>
        <p:spPr>
          <a:xfrm>
            <a:off x="685800" y="3319272"/>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ClusterIP</a:t>
            </a:r>
            <a:endParaRPr lang="en-US" sz="1100" dirty="0"/>
          </a:p>
        </p:txBody>
      </p:sp>
      <p:sp>
        <p:nvSpPr>
          <p:cNvPr id="25" name="Text 23"/>
          <p:cNvSpPr/>
          <p:nvPr/>
        </p:nvSpPr>
        <p:spPr>
          <a:xfrm>
            <a:off x="685800" y="3557016"/>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Internal only. The default and the right answer most of the time.</a:t>
            </a:r>
            <a:endParaRPr lang="en-US" sz="800" dirty="0"/>
          </a:p>
        </p:txBody>
      </p:sp>
      <p:sp>
        <p:nvSpPr>
          <p:cNvPr id="26" name="stat block">
            <a:extLst>
              <a:ext uri="{C183D7F6-B498-43B3-948B-1728B52AA6E4}">
                <adec:decorative xmlns:adec="http://schemas.microsoft.com/office/drawing/2017/decorative" val="1"/>
              </a:ext>
            </a:extLst>
          </p:cNvPr>
          <p:cNvSpPr/>
          <p:nvPr/>
        </p:nvSpPr>
        <p:spPr>
          <a:xfrm>
            <a:off x="3282696"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3282696" y="3246120"/>
            <a:ext cx="45720" cy="621792"/>
          </a:xfrm>
          <a:prstGeom prst="rect">
            <a:avLst/>
          </a:prstGeom>
          <a:solidFill>
            <a:srgbClr val="F2A93B"/>
          </a:solidFill>
          <a:ln w="12700">
            <a:solidFill>
              <a:srgbClr val="333333"/>
            </a:solidFill>
            <a:prstDash val="solid"/>
          </a:ln>
        </p:spPr>
        <p:txBody>
          <a:bodyPr/>
          <a:lstStyle/>
          <a:p>
            <a:endParaRPr lang="en-IN"/>
          </a:p>
        </p:txBody>
      </p:sp>
      <p:sp>
        <p:nvSpPr>
          <p:cNvPr id="28" name="Text 26"/>
          <p:cNvSpPr/>
          <p:nvPr/>
        </p:nvSpPr>
        <p:spPr>
          <a:xfrm>
            <a:off x="3465576" y="3319272"/>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NodePort</a:t>
            </a:r>
            <a:endParaRPr lang="en-US" sz="1100" dirty="0"/>
          </a:p>
        </p:txBody>
      </p:sp>
      <p:sp>
        <p:nvSpPr>
          <p:cNvPr id="29" name="Text 27"/>
          <p:cNvSpPr/>
          <p:nvPr/>
        </p:nvSpPr>
        <p:spPr>
          <a:xfrm>
            <a:off x="3465576" y="3557016"/>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Opens a port on every node. Rarely used directly in production.</a:t>
            </a:r>
            <a:endParaRPr lang="en-US" sz="800" dirty="0"/>
          </a:p>
        </p:txBody>
      </p:sp>
      <p:sp>
        <p:nvSpPr>
          <p:cNvPr id="30" name="stat block">
            <a:extLst>
              <a:ext uri="{C183D7F6-B498-43B3-948B-1728B52AA6E4}">
                <adec:decorative xmlns:adec="http://schemas.microsoft.com/office/drawing/2017/decorative" val="1"/>
              </a:ext>
            </a:extLst>
          </p:cNvPr>
          <p:cNvSpPr/>
          <p:nvPr/>
        </p:nvSpPr>
        <p:spPr>
          <a:xfrm>
            <a:off x="6062472"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6062472" y="3246120"/>
            <a:ext cx="45720" cy="621792"/>
          </a:xfrm>
          <a:prstGeom prst="rect">
            <a:avLst/>
          </a:prstGeom>
          <a:solidFill>
            <a:srgbClr val="17A9DB"/>
          </a:solidFill>
          <a:ln w="12700">
            <a:solidFill>
              <a:srgbClr val="333333"/>
            </a:solidFill>
            <a:prstDash val="solid"/>
          </a:ln>
        </p:spPr>
        <p:txBody>
          <a:bodyPr/>
          <a:lstStyle/>
          <a:p>
            <a:endParaRPr lang="en-IN"/>
          </a:p>
        </p:txBody>
      </p:sp>
      <p:sp>
        <p:nvSpPr>
          <p:cNvPr id="32" name="Text 30"/>
          <p:cNvSpPr/>
          <p:nvPr/>
        </p:nvSpPr>
        <p:spPr>
          <a:xfrm>
            <a:off x="6245352" y="3319272"/>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LoadBalancer</a:t>
            </a:r>
            <a:endParaRPr lang="en-US" sz="1100" dirty="0"/>
          </a:p>
        </p:txBody>
      </p:sp>
      <p:sp>
        <p:nvSpPr>
          <p:cNvPr id="33" name="Text 31"/>
          <p:cNvSpPr/>
          <p:nvPr/>
        </p:nvSpPr>
        <p:spPr>
          <a:xfrm>
            <a:off x="6245352" y="3557016"/>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Provisions an Azure load balancer, internal or public.</a:t>
            </a:r>
            <a:endParaRPr lang="en-US" sz="800" dirty="0"/>
          </a:p>
        </p:txBody>
      </p:sp>
      <p:sp>
        <p:nvSpPr>
          <p:cNvPr id="34"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5"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36" name="Text 34"/>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Mental model   </a:t>
            </a:r>
            <a:r>
              <a:rPr lang="en-US" sz="1050" dirty="0">
                <a:solidFill>
                  <a:srgbClr val="0E2233"/>
                </a:solidFill>
                <a:latin typeface="Segoe UI" pitchFamily="34" charset="0"/>
                <a:ea typeface="Segoe UI" pitchFamily="34" charset="-122"/>
                <a:cs typeface="Segoe UI" pitchFamily="34" charset="-120"/>
              </a:rPr>
              <a:t>The three types are cumulative: LoadBalancer builds on NodePort, which builds on ClusterIP. Every Service has an internal cluster IP.</a:t>
            </a:r>
            <a:endParaRPr lang="en-US" sz="1000" dirty="0"/>
          </a:p>
        </p:txBody>
      </p:sp>
      <p:sp>
        <p:nvSpPr>
          <p:cNvPr id="3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21</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3 · APPLICATION EXPOSURE AND CONNECTIVITY</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ClusterIP</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dirty="0">
                <a:solidFill>
                  <a:srgbClr val="44566B"/>
                </a:solidFill>
                <a:latin typeface="Segoe UI" pitchFamily="34" charset="0"/>
                <a:ea typeface="Segoe UI" pitchFamily="34" charset="-122"/>
                <a:cs typeface="Segoe UI" pitchFamily="34" charset="-120"/>
              </a:rPr>
              <a:t>The default type. Reachable only from inside the cluster — and that is what most services need.</a:t>
            </a:r>
            <a:endParaRPr lang="en-US" sz="1125" dirty="0"/>
          </a:p>
        </p:txBody>
      </p:sp>
      <p:sp>
        <p:nvSpPr>
          <p:cNvPr id="7" name="Text 5"/>
          <p:cNvSpPr/>
          <p:nvPr/>
        </p:nvSpPr>
        <p:spPr>
          <a:xfrm>
            <a:off x="502920" y="1481328"/>
            <a:ext cx="4114802" cy="1828800"/>
          </a:xfrm>
          <a:prstGeom prst="rect">
            <a:avLst/>
          </a:prstGeom>
          <a:noFill/>
          <a:ln/>
        </p:spPr>
        <p:txBody>
          <a:bodyPr wrap="square" lIns="0" tIns="0" rIns="0" bIns="0" rtlCol="0" anchor="t"/>
          <a:lstStyle/>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Allocates a virtual IP from the cluster's service range, plus a DNS name</a:t>
            </a:r>
            <a:endParaRPr lang="en-US" sz="1050" dirty="0"/>
          </a:p>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Nothing outside the cluster can reach it — no firewall rule, no public exposure</a:t>
            </a:r>
            <a:endParaRPr lang="en-US" sz="1050" dirty="0"/>
          </a:p>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The correct choice for internal APIs, databases, caches and backend tiers</a:t>
            </a:r>
            <a:endParaRPr lang="en-US" sz="1050" dirty="0"/>
          </a:p>
          <a:p>
            <a:pPr marL="342900" indent="-342900">
              <a:spcAft>
                <a:spcPts val="1100"/>
              </a:spcAft>
              <a:buSzPct val="100000"/>
              <a:buChar char="•"/>
            </a:pPr>
            <a:r>
              <a:rPr lang="en-US" sz="1050" dirty="0">
                <a:solidFill>
                  <a:srgbClr val="44566B"/>
                </a:solidFill>
                <a:latin typeface="Segoe UI" pitchFamily="34" charset="0"/>
                <a:ea typeface="Segoe UI" pitchFamily="34" charset="-122"/>
                <a:cs typeface="Segoe UI" pitchFamily="34" charset="-120"/>
              </a:rPr>
              <a:t>Use a headless Service (clusterIP: None) when a client needs the individual Pod addresses</a:t>
            </a:r>
            <a:endParaRPr lang="en-US" sz="1050" dirty="0"/>
          </a:p>
        </p:txBody>
      </p:sp>
      <p:sp>
        <p:nvSpPr>
          <p:cNvPr id="8" name="code panel">
            <a:extLst>
              <a:ext uri="{C183D7F6-B498-43B3-948B-1728B52AA6E4}">
                <adec:decorative xmlns:adec="http://schemas.microsoft.com/office/drawing/2017/decorative" val="1"/>
              </a:ext>
            </a:extLst>
          </p:cNvPr>
          <p:cNvSpPr/>
          <p:nvPr/>
        </p:nvSpPr>
        <p:spPr>
          <a:xfrm>
            <a:off x="4709160" y="1481328"/>
            <a:ext cx="3931920" cy="233172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9" name="code panel header">
            <a:extLst>
              <a:ext uri="{C183D7F6-B498-43B3-948B-1728B52AA6E4}">
                <adec:decorative xmlns:adec="http://schemas.microsoft.com/office/drawing/2017/decorative" val="1"/>
              </a:ext>
            </a:extLst>
          </p:cNvPr>
          <p:cNvSpPr/>
          <p:nvPr/>
        </p:nvSpPr>
        <p:spPr>
          <a:xfrm>
            <a:off x="4709160" y="1481328"/>
            <a:ext cx="3931920" cy="256032"/>
          </a:xfrm>
          <a:prstGeom prst="rect">
            <a:avLst/>
          </a:prstGeom>
          <a:solidFill>
            <a:srgbClr val="0F3D66"/>
          </a:solidFill>
          <a:ln w="12700">
            <a:solidFill>
              <a:srgbClr val="333333"/>
            </a:solidFill>
            <a:prstDash val="solid"/>
          </a:ln>
        </p:spPr>
        <p:txBody>
          <a:bodyPr/>
          <a:lstStyle/>
          <a:p>
            <a:endParaRPr lang="en-IN"/>
          </a:p>
        </p:txBody>
      </p:sp>
      <p:sp>
        <p:nvSpPr>
          <p:cNvPr id="10" name="Text 8"/>
          <p:cNvSpPr/>
          <p:nvPr/>
        </p:nvSpPr>
        <p:spPr>
          <a:xfrm>
            <a:off x="4855464" y="1481328"/>
            <a:ext cx="36393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service-clusterip.yaml</a:t>
            </a:r>
            <a:endParaRPr lang="en-US" sz="850" dirty="0"/>
          </a:p>
        </p:txBody>
      </p:sp>
      <p:sp>
        <p:nvSpPr>
          <p:cNvPr id="11" name="Text 9"/>
          <p:cNvSpPr/>
          <p:nvPr/>
        </p:nvSpPr>
        <p:spPr>
          <a:xfrm>
            <a:off x="4855464" y="1810512"/>
            <a:ext cx="3639312" cy="1856232"/>
          </a:xfrm>
          <a:prstGeom prst="rect">
            <a:avLst/>
          </a:prstGeom>
          <a:noFill/>
          <a:ln/>
        </p:spPr>
        <p:txBody>
          <a:bodyPr wrap="square" lIns="0" tIns="0" rIns="0" bIns="0" rtlCol="0" anchor="t"/>
          <a:lstStyle/>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apiVersion: v1</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kind: Service</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metadata:</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name: payments-api</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namespace: payments</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spec:</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type: ClusterIP        # the default; may be omitted</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selector:</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app: payments-api    # matches the Pod labels</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ports:</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 port: 80           # the Service port callers use</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targetPort: 8080   # the container port</a:t>
            </a:r>
            <a:endParaRPr lang="en-US" sz="837" dirty="0"/>
          </a:p>
          <a:p>
            <a:pPr marL="0" indent="0">
              <a:lnSpc>
                <a:spcPct val="112000"/>
              </a:lnSpc>
              <a:buNone/>
            </a:pPr>
            <a:r>
              <a:rPr lang="en-US" sz="837" dirty="0">
                <a:solidFill>
                  <a:srgbClr val="D7ECF8"/>
                </a:solidFill>
                <a:latin typeface="Consolas" pitchFamily="34" charset="0"/>
                <a:ea typeface="Consolas" pitchFamily="34" charset="-122"/>
                <a:cs typeface="Consolas" pitchFamily="34" charset="-120"/>
              </a:rPr>
              <a:t>      protocol: TCP</a:t>
            </a:r>
            <a:endParaRPr lang="en-US" sz="837" dirty="0"/>
          </a:p>
        </p:txBody>
      </p:sp>
      <p:sp>
        <p:nvSpPr>
          <p:cNvPr id="12" name="cluster boundary">
            <a:extLst>
              <a:ext uri="{C183D7F6-B498-43B3-948B-1728B52AA6E4}">
                <adec:decorative xmlns:adec="http://schemas.microsoft.com/office/drawing/2017/decorative" val="1"/>
              </a:ext>
            </a:extLst>
          </p:cNvPr>
          <p:cNvSpPr/>
          <p:nvPr/>
        </p:nvSpPr>
        <p:spPr>
          <a:xfrm>
            <a:off x="502920" y="3200400"/>
            <a:ext cx="4023360" cy="877824"/>
          </a:xfrm>
          <a:prstGeom prst="rect">
            <a:avLst/>
          </a:prstGeom>
          <a:solidFill>
            <a:srgbClr val="F6F9FD"/>
          </a:solidFill>
          <a:ln w="9525">
            <a:solidFill>
              <a:srgbClr val="D8E5F2"/>
            </a:solidFill>
            <a:prstDash val="solid"/>
          </a:ln>
        </p:spPr>
        <p:txBody>
          <a:bodyPr/>
          <a:lstStyle/>
          <a:p>
            <a:endParaRPr lang="en-IN"/>
          </a:p>
        </p:txBody>
      </p:sp>
      <p:sp>
        <p:nvSpPr>
          <p:cNvPr id="13" name="Text 11"/>
          <p:cNvSpPr/>
          <p:nvPr/>
        </p:nvSpPr>
        <p:spPr>
          <a:xfrm>
            <a:off x="621792" y="3236976"/>
            <a:ext cx="2286000" cy="219456"/>
          </a:xfrm>
          <a:prstGeom prst="rect">
            <a:avLst/>
          </a:prstGeom>
          <a:noFill/>
          <a:ln/>
        </p:spPr>
        <p:txBody>
          <a:bodyPr wrap="square" lIns="0" tIns="0" rIns="0" bIns="0" rtlCol="0" anchor="ctr"/>
          <a:lstStyle/>
          <a:p>
            <a:pPr marL="0" indent="0">
              <a:buNone/>
            </a:pPr>
            <a:r>
              <a:rPr lang="en-US" sz="850" b="1" kern="0" spc="100" dirty="0">
                <a:solidFill>
                  <a:srgbClr val="7C8FA3"/>
                </a:solidFill>
                <a:latin typeface="Segoe UI" pitchFamily="34" charset="0"/>
                <a:ea typeface="Segoe UI" pitchFamily="34" charset="-122"/>
                <a:cs typeface="Segoe UI" pitchFamily="34" charset="-120"/>
              </a:rPr>
              <a:t>AKS cluster boundary</a:t>
            </a:r>
            <a:endParaRPr lang="en-US" sz="850" dirty="0"/>
          </a:p>
        </p:txBody>
      </p:sp>
      <p:sp>
        <p:nvSpPr>
          <p:cNvPr id="14" name="caller pod">
            <a:extLst>
              <a:ext uri="{C183D7F6-B498-43B3-948B-1728B52AA6E4}">
                <adec:decorative xmlns:adec="http://schemas.microsoft.com/office/drawing/2017/decorative" val="1"/>
              </a:ext>
            </a:extLst>
          </p:cNvPr>
          <p:cNvSpPr/>
          <p:nvPr/>
        </p:nvSpPr>
        <p:spPr>
          <a:xfrm>
            <a:off x="685800" y="3493008"/>
            <a:ext cx="1554480" cy="502920"/>
          </a:xfrm>
          <a:prstGeom prst="rect">
            <a:avLst/>
          </a:prstGeom>
          <a:solidFill>
            <a:srgbClr val="FFFFFF"/>
          </a:solidFill>
          <a:ln w="9525">
            <a:solidFill>
              <a:srgbClr val="0B63CE"/>
            </a:solidFill>
            <a:prstDash val="solid"/>
          </a:ln>
        </p:spPr>
        <p:txBody>
          <a:bodyPr/>
          <a:lstStyle/>
          <a:p>
            <a:endParaRPr lang="en-IN"/>
          </a:p>
        </p:txBody>
      </p:sp>
      <p:sp>
        <p:nvSpPr>
          <p:cNvPr id="15" name="Text 13"/>
          <p:cNvSpPr/>
          <p:nvPr/>
        </p:nvSpPr>
        <p:spPr>
          <a:xfrm>
            <a:off x="685800" y="3493008"/>
            <a:ext cx="1554480" cy="502920"/>
          </a:xfrm>
          <a:prstGeom prst="rect">
            <a:avLst/>
          </a:prstGeom>
          <a:noFill/>
          <a:ln/>
        </p:spPr>
        <p:txBody>
          <a:bodyPr wrap="square" lIns="0" tIns="0" rIns="0" bIns="0" rtlCol="0" anchor="ctr"/>
          <a:lstStyle/>
          <a:p>
            <a:pPr marL="0" indent="0" algn="ctr">
              <a:buNone/>
            </a:pPr>
            <a:r>
              <a:rPr lang="en-US" sz="900" dirty="0">
                <a:solidFill>
                  <a:srgbClr val="0E2233"/>
                </a:solidFill>
                <a:latin typeface="Segoe UI" pitchFamily="34" charset="0"/>
                <a:ea typeface="Segoe UI" pitchFamily="34" charset="-122"/>
                <a:cs typeface="Segoe UI" pitchFamily="34" charset="-120"/>
              </a:rPr>
              <a:t>Frontend Pod</a:t>
            </a:r>
            <a:endParaRPr lang="en-US" sz="900" dirty="0"/>
          </a:p>
        </p:txBody>
      </p:sp>
      <p:sp>
        <p:nvSpPr>
          <p:cNvPr id="16" name="allowed path">
            <a:extLst>
              <a:ext uri="{C183D7F6-B498-43B3-948B-1728B52AA6E4}">
                <adec:decorative xmlns:adec="http://schemas.microsoft.com/office/drawing/2017/decorative" val="1"/>
              </a:ext>
            </a:extLst>
          </p:cNvPr>
          <p:cNvSpPr/>
          <p:nvPr/>
        </p:nvSpPr>
        <p:spPr>
          <a:xfrm>
            <a:off x="2331720" y="3657600"/>
            <a:ext cx="457200" cy="164592"/>
          </a:xfrm>
          <a:prstGeom prst="rightArrow">
            <a:avLst/>
          </a:prstGeom>
          <a:solidFill>
            <a:srgbClr val="2E9E6B"/>
          </a:solidFill>
          <a:ln w="12700">
            <a:solidFill>
              <a:srgbClr val="333333"/>
            </a:solidFill>
            <a:prstDash val="solid"/>
          </a:ln>
        </p:spPr>
        <p:txBody>
          <a:bodyPr/>
          <a:lstStyle/>
          <a:p>
            <a:endParaRPr lang="en-IN"/>
          </a:p>
        </p:txBody>
      </p:sp>
      <p:sp>
        <p:nvSpPr>
          <p:cNvPr id="17" name="service box">
            <a:extLst>
              <a:ext uri="{C183D7F6-B498-43B3-948B-1728B52AA6E4}">
                <adec:decorative xmlns:adec="http://schemas.microsoft.com/office/drawing/2017/decorative" val="1"/>
              </a:ext>
            </a:extLst>
          </p:cNvPr>
          <p:cNvSpPr/>
          <p:nvPr/>
        </p:nvSpPr>
        <p:spPr>
          <a:xfrm>
            <a:off x="2880360" y="3493008"/>
            <a:ext cx="1508760" cy="502920"/>
          </a:xfrm>
          <a:prstGeom prst="rect">
            <a:avLst/>
          </a:prstGeom>
          <a:solidFill>
            <a:srgbClr val="EDF4FC"/>
          </a:solidFill>
          <a:ln w="9525">
            <a:solidFill>
              <a:srgbClr val="17A9DB"/>
            </a:solidFill>
            <a:prstDash val="solid"/>
          </a:ln>
        </p:spPr>
        <p:txBody>
          <a:bodyPr/>
          <a:lstStyle/>
          <a:p>
            <a:endParaRPr lang="en-IN"/>
          </a:p>
        </p:txBody>
      </p:sp>
      <p:sp>
        <p:nvSpPr>
          <p:cNvPr id="18" name="Text 16"/>
          <p:cNvSpPr/>
          <p:nvPr/>
        </p:nvSpPr>
        <p:spPr>
          <a:xfrm>
            <a:off x="2880360" y="3493008"/>
            <a:ext cx="1508760" cy="502920"/>
          </a:xfrm>
          <a:prstGeom prst="rect">
            <a:avLst/>
          </a:prstGeom>
          <a:noFill/>
          <a:ln/>
        </p:spPr>
        <p:txBody>
          <a:bodyPr wrap="square" lIns="0" tIns="0" rIns="0" bIns="0" rtlCol="0" anchor="ctr"/>
          <a:lstStyle/>
          <a:p>
            <a:pPr marL="0" indent="0" algn="ctr">
              <a:buNone/>
            </a:pPr>
            <a:r>
              <a:rPr lang="en-US" sz="900" dirty="0">
                <a:solidFill>
                  <a:srgbClr val="0A2E4E"/>
                </a:solidFill>
                <a:latin typeface="Segoe UI" pitchFamily="34" charset="0"/>
                <a:ea typeface="Segoe UI" pitchFamily="34" charset="-122"/>
                <a:cs typeface="Segoe UI" pitchFamily="34" charset="-120"/>
              </a:rPr>
              <a:t>ClusterIP Service</a:t>
            </a:r>
            <a:endParaRPr lang="en-US" sz="900" dirty="0"/>
          </a:p>
        </p:txBody>
      </p:sp>
      <p:sp>
        <p:nvSpPr>
          <p:cNvPr id="20" name="callout band">
            <a:extLst>
              <a:ext uri="{C183D7F6-B498-43B3-948B-1728B52AA6E4}">
                <adec:decorative xmlns:adec="http://schemas.microsoft.com/office/drawing/2017/decorative" val="1"/>
              </a:ext>
            </a:extLst>
          </p:cNvPr>
          <p:cNvSpPr/>
          <p:nvPr/>
        </p:nvSpPr>
        <p:spPr>
          <a:xfrm>
            <a:off x="502920" y="4178808"/>
            <a:ext cx="8138160" cy="411480"/>
          </a:xfrm>
          <a:prstGeom prst="rect">
            <a:avLst/>
          </a:prstGeom>
          <a:solidFill>
            <a:srgbClr val="EDF4FC"/>
          </a:solidFill>
          <a:ln w="12700">
            <a:solidFill>
              <a:srgbClr val="333333"/>
            </a:solidFill>
            <a:prstDash val="solid"/>
          </a:ln>
        </p:spPr>
        <p:txBody>
          <a:bodyPr/>
          <a:lstStyle/>
          <a:p>
            <a:endParaRPr lang="en-IN"/>
          </a:p>
        </p:txBody>
      </p:sp>
      <p:sp>
        <p:nvSpPr>
          <p:cNvPr id="21" name="callout accent">
            <a:extLst>
              <a:ext uri="{C183D7F6-B498-43B3-948B-1728B52AA6E4}">
                <adec:decorative xmlns:adec="http://schemas.microsoft.com/office/drawing/2017/decorative" val="1"/>
              </a:ext>
            </a:extLst>
          </p:cNvPr>
          <p:cNvSpPr/>
          <p:nvPr/>
        </p:nvSpPr>
        <p:spPr>
          <a:xfrm>
            <a:off x="502920" y="4178808"/>
            <a:ext cx="45720" cy="411480"/>
          </a:xfrm>
          <a:prstGeom prst="rect">
            <a:avLst/>
          </a:prstGeom>
          <a:solidFill>
            <a:srgbClr val="0B63CE"/>
          </a:solidFill>
          <a:ln w="12700">
            <a:solidFill>
              <a:srgbClr val="333333"/>
            </a:solidFill>
            <a:prstDash val="solid"/>
          </a:ln>
        </p:spPr>
        <p:txBody>
          <a:bodyPr/>
          <a:lstStyle/>
          <a:p>
            <a:endParaRPr lang="en-IN"/>
          </a:p>
        </p:txBody>
      </p:sp>
      <p:sp>
        <p:nvSpPr>
          <p:cNvPr id="22" name="Text 20"/>
          <p:cNvSpPr/>
          <p:nvPr/>
        </p:nvSpPr>
        <p:spPr>
          <a:xfrm>
            <a:off x="704088" y="4178808"/>
            <a:ext cx="7754112" cy="41148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Default position   </a:t>
            </a:r>
            <a:r>
              <a:rPr lang="en-US" sz="1050" dirty="0">
                <a:solidFill>
                  <a:srgbClr val="0E2233"/>
                </a:solidFill>
                <a:latin typeface="Segoe UI" pitchFamily="34" charset="0"/>
                <a:ea typeface="Segoe UI" pitchFamily="34" charset="-122"/>
                <a:cs typeface="Segoe UI" pitchFamily="34" charset="-120"/>
              </a:rPr>
              <a:t>Start every Service as ClusterIP. Promote it to an external type only when you can name the caller outside the cluster.</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3 · APPLICATION EXPOSURE AND CONNECTIVITY</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NodePort</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Opens the same high-numbered port on every node and forwards it to the Service.</a:t>
            </a:r>
            <a:endParaRPr lang="en-US" sz="1150" dirty="0"/>
          </a:p>
        </p:txBody>
      </p:sp>
      <p:sp>
        <p:nvSpPr>
          <p:cNvPr id="7" name="code panel">
            <a:extLst>
              <a:ext uri="{C183D7F6-B498-43B3-948B-1728B52AA6E4}">
                <adec:decorative xmlns:adec="http://schemas.microsoft.com/office/drawing/2017/decorative" val="1"/>
              </a:ext>
            </a:extLst>
          </p:cNvPr>
          <p:cNvSpPr/>
          <p:nvPr/>
        </p:nvSpPr>
        <p:spPr>
          <a:xfrm>
            <a:off x="502920" y="1481328"/>
            <a:ext cx="3931920" cy="186537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393192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6393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service-nodeport.yaml</a:t>
            </a:r>
            <a:endParaRPr lang="en-US" sz="850" dirty="0"/>
          </a:p>
        </p:txBody>
      </p:sp>
      <p:sp>
        <p:nvSpPr>
          <p:cNvPr id="10" name="Text 8"/>
          <p:cNvSpPr/>
          <p:nvPr/>
        </p:nvSpPr>
        <p:spPr>
          <a:xfrm>
            <a:off x="649224" y="1810512"/>
            <a:ext cx="3639312" cy="1389888"/>
          </a:xfrm>
          <a:prstGeom prst="rect">
            <a:avLst/>
          </a:prstGeom>
          <a:noFill/>
          <a:ln/>
        </p:spPr>
        <p:txBody>
          <a:bodyPr wrap="square" lIns="0" tIns="0" rIns="0" bIns="0" rtlCol="0" anchor="t"/>
          <a:lstStyle/>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kind: Service</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metadata:</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name: payments-api</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spec:</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type: NodePort</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selector:</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app: payments-api</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ports:</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 port: 80  -&gt;  targetPort: 8080</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nodePort: 30080   # 30000-32767</a:t>
            </a:r>
            <a:endParaRPr lang="en-US" sz="814" dirty="0"/>
          </a:p>
        </p:txBody>
      </p:sp>
      <p:sp>
        <p:nvSpPr>
          <p:cNvPr id="11" name="Text 9"/>
          <p:cNvSpPr/>
          <p:nvPr/>
        </p:nvSpPr>
        <p:spPr>
          <a:xfrm>
            <a:off x="4663440" y="1517904"/>
            <a:ext cx="3977640" cy="1828800"/>
          </a:xfrm>
          <a:prstGeom prst="rect">
            <a:avLst/>
          </a:prstGeom>
          <a:noFill/>
          <a:ln/>
        </p:spPr>
        <p:txBody>
          <a:bodyPr wrap="square" lIns="0" tIns="0" rIns="0" bIns="0" rtlCol="0" anchor="t"/>
          <a:lstStyle/>
          <a:p>
            <a:pPr marL="342900" indent="-342900">
              <a:spcAft>
                <a:spcPts val="900"/>
              </a:spcAft>
              <a:buSzPct val="100000"/>
              <a:buChar char="•"/>
            </a:pPr>
            <a:r>
              <a:rPr lang="en-US" sz="925" dirty="0">
                <a:solidFill>
                  <a:srgbClr val="44566B"/>
                </a:solidFill>
                <a:latin typeface="Segoe UI" pitchFamily="34" charset="0"/>
                <a:ea typeface="Segoe UI" pitchFamily="34" charset="-122"/>
                <a:cs typeface="Segoe UI" pitchFamily="34" charset="-120"/>
              </a:rPr>
              <a:t>Reachable at any node's IP address on the chosen port</a:t>
            </a:r>
            <a:endParaRPr lang="en-US" sz="925" dirty="0"/>
          </a:p>
          <a:p>
            <a:pPr marL="342900" indent="-342900">
              <a:spcAft>
                <a:spcPts val="900"/>
              </a:spcAft>
              <a:buSzPct val="100000"/>
              <a:buChar char="•"/>
            </a:pPr>
            <a:r>
              <a:rPr lang="en-US" sz="925" dirty="0">
                <a:solidFill>
                  <a:srgbClr val="44566B"/>
                </a:solidFill>
                <a:latin typeface="Segoe UI" pitchFamily="34" charset="0"/>
                <a:ea typeface="Segoe UI" pitchFamily="34" charset="-122"/>
                <a:cs typeface="Segoe UI" pitchFamily="34" charset="-120"/>
              </a:rPr>
              <a:t>The port range is 30000–32767, so it is never a friendly URL</a:t>
            </a:r>
            <a:endParaRPr lang="en-US" sz="925" dirty="0"/>
          </a:p>
          <a:p>
            <a:pPr marL="342900" indent="-342900">
              <a:spcAft>
                <a:spcPts val="900"/>
              </a:spcAft>
              <a:buSzPct val="100000"/>
              <a:buChar char="•"/>
            </a:pPr>
            <a:r>
              <a:rPr lang="en-US" sz="925" dirty="0">
                <a:solidFill>
                  <a:srgbClr val="44566B"/>
                </a:solidFill>
                <a:latin typeface="Segoe UI" pitchFamily="34" charset="0"/>
                <a:ea typeface="Segoe UI" pitchFamily="34" charset="-122"/>
                <a:cs typeface="Segoe UI" pitchFamily="34" charset="-120"/>
              </a:rPr>
              <a:t>Every node opens the port, whether or not it runs a matching Pod</a:t>
            </a:r>
            <a:endParaRPr lang="en-US" sz="925" dirty="0"/>
          </a:p>
          <a:p>
            <a:pPr marL="342900" indent="-342900">
              <a:spcAft>
                <a:spcPts val="900"/>
              </a:spcAft>
              <a:buSzPct val="100000"/>
              <a:buChar char="•"/>
            </a:pPr>
            <a:r>
              <a:rPr lang="en-US" sz="925" dirty="0">
                <a:solidFill>
                  <a:srgbClr val="44566B"/>
                </a:solidFill>
                <a:latin typeface="Segoe UI" pitchFamily="34" charset="0"/>
                <a:ea typeface="Segoe UI" pitchFamily="34" charset="-122"/>
                <a:cs typeface="Segoe UI" pitchFamily="34" charset="-120"/>
              </a:rPr>
              <a:t>Useful for a quick test, an on-premises load balancer in front, or a bare-metal cluster</a:t>
            </a:r>
            <a:endParaRPr lang="en-US" sz="925" dirty="0"/>
          </a:p>
          <a:p>
            <a:pPr marL="342900" indent="-342900">
              <a:spcAft>
                <a:spcPts val="900"/>
              </a:spcAft>
              <a:buSzPct val="100000"/>
              <a:buChar char="•"/>
            </a:pPr>
            <a:r>
              <a:rPr lang="en-US" sz="925" dirty="0">
                <a:solidFill>
                  <a:srgbClr val="44566B"/>
                </a:solidFill>
                <a:latin typeface="Segoe UI" pitchFamily="34" charset="0"/>
                <a:ea typeface="Segoe UI" pitchFamily="34" charset="-122"/>
                <a:cs typeface="Segoe UI" pitchFamily="34" charset="-120"/>
              </a:rPr>
              <a:t>On AKS it is normally a stepping stone, not a destination</a:t>
            </a:r>
            <a:endParaRPr lang="en-US" sz="925" dirty="0"/>
          </a:p>
        </p:txBody>
      </p:sp>
      <p:sp>
        <p:nvSpPr>
          <p:cNvPr id="12" name="step box">
            <a:extLst>
              <a:ext uri="{C183D7F6-B498-43B3-948B-1728B52AA6E4}">
                <adec:decorative xmlns:adec="http://schemas.microsoft.com/office/drawing/2017/decorative" val="1"/>
              </a:ext>
            </a:extLst>
          </p:cNvPr>
          <p:cNvSpPr/>
          <p:nvPr/>
        </p:nvSpPr>
        <p:spPr>
          <a:xfrm>
            <a:off x="502920" y="3401568"/>
            <a:ext cx="1801368" cy="676656"/>
          </a:xfrm>
          <a:prstGeom prst="rect">
            <a:avLst/>
          </a:prstGeom>
          <a:solidFill>
            <a:srgbClr val="EDF4FC"/>
          </a:solidFill>
          <a:ln w="12700">
            <a:solidFill>
              <a:srgbClr val="0B63CE"/>
            </a:solidFill>
            <a:prstDash val="solid"/>
          </a:ln>
        </p:spPr>
        <p:txBody>
          <a:bodyPr/>
          <a:lstStyle/>
          <a:p>
            <a:endParaRPr lang="en-IN"/>
          </a:p>
        </p:txBody>
      </p:sp>
      <p:sp>
        <p:nvSpPr>
          <p:cNvPr id="13" name="Text 11"/>
          <p:cNvSpPr/>
          <p:nvPr/>
        </p:nvSpPr>
        <p:spPr>
          <a:xfrm>
            <a:off x="594360" y="3511296"/>
            <a:ext cx="1618488"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Caller</a:t>
            </a:r>
            <a:endParaRPr lang="en-US" sz="1100" dirty="0"/>
          </a:p>
        </p:txBody>
      </p:sp>
      <p:sp>
        <p:nvSpPr>
          <p:cNvPr id="14" name="Text 12"/>
          <p:cNvSpPr/>
          <p:nvPr/>
        </p:nvSpPr>
        <p:spPr>
          <a:xfrm>
            <a:off x="612648" y="3822192"/>
            <a:ext cx="1581912" cy="164592"/>
          </a:xfrm>
          <a:prstGeom prst="rect">
            <a:avLst/>
          </a:prstGeom>
          <a:noFill/>
          <a:ln/>
        </p:spPr>
        <p:txBody>
          <a:bodyPr wrap="square" lIns="0" tIns="0" rIns="0" bIns="0" rtlCol="0" anchor="t"/>
          <a:lstStyle/>
          <a:p>
            <a:pPr marL="0" indent="0" algn="ctr">
              <a:lnSpc>
                <a:spcPct val="110000"/>
              </a:lnSpc>
              <a:buNone/>
            </a:pPr>
            <a:r>
              <a:rPr lang="en-US" sz="900" dirty="0">
                <a:solidFill>
                  <a:srgbClr val="44566B"/>
                </a:solidFill>
                <a:latin typeface="Segoe UI" pitchFamily="34" charset="0"/>
                <a:ea typeface="Segoe UI" pitchFamily="34" charset="-122"/>
                <a:cs typeface="Segoe UI" pitchFamily="34" charset="-120"/>
              </a:rPr>
              <a:t>http://&lt;node-ip&gt;:30080</a:t>
            </a:r>
            <a:endParaRPr lang="en-US" sz="900" dirty="0"/>
          </a:p>
        </p:txBody>
      </p:sp>
      <p:sp>
        <p:nvSpPr>
          <p:cNvPr id="15" name="flow arrow">
            <a:extLst>
              <a:ext uri="{C183D7F6-B498-43B3-948B-1728B52AA6E4}">
                <adec:decorative xmlns:adec="http://schemas.microsoft.com/office/drawing/2017/decorative" val="1"/>
              </a:ext>
            </a:extLst>
          </p:cNvPr>
          <p:cNvSpPr/>
          <p:nvPr/>
        </p:nvSpPr>
        <p:spPr>
          <a:xfrm>
            <a:off x="2359152" y="3639312"/>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6" name="step box">
            <a:extLst>
              <a:ext uri="{C183D7F6-B498-43B3-948B-1728B52AA6E4}">
                <adec:decorative xmlns:adec="http://schemas.microsoft.com/office/drawing/2017/decorative" val="1"/>
              </a:ext>
            </a:extLst>
          </p:cNvPr>
          <p:cNvSpPr/>
          <p:nvPr/>
        </p:nvSpPr>
        <p:spPr>
          <a:xfrm>
            <a:off x="2615184" y="3401568"/>
            <a:ext cx="1801368" cy="676656"/>
          </a:xfrm>
          <a:prstGeom prst="rect">
            <a:avLst/>
          </a:prstGeom>
          <a:solidFill>
            <a:srgbClr val="FDEFE2"/>
          </a:solidFill>
          <a:ln w="12700">
            <a:solidFill>
              <a:srgbClr val="F2A93B"/>
            </a:solidFill>
            <a:prstDash val="solid"/>
          </a:ln>
        </p:spPr>
        <p:txBody>
          <a:bodyPr/>
          <a:lstStyle/>
          <a:p>
            <a:endParaRPr lang="en-IN"/>
          </a:p>
        </p:txBody>
      </p:sp>
      <p:sp>
        <p:nvSpPr>
          <p:cNvPr id="17" name="Text 15"/>
          <p:cNvSpPr/>
          <p:nvPr/>
        </p:nvSpPr>
        <p:spPr>
          <a:xfrm>
            <a:off x="2706624" y="3511296"/>
            <a:ext cx="1618488"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Node port</a:t>
            </a:r>
            <a:endParaRPr lang="en-US" sz="1100" dirty="0"/>
          </a:p>
        </p:txBody>
      </p:sp>
      <p:sp>
        <p:nvSpPr>
          <p:cNvPr id="18" name="Text 16"/>
          <p:cNvSpPr/>
          <p:nvPr/>
        </p:nvSpPr>
        <p:spPr>
          <a:xfrm>
            <a:off x="2724912" y="3822192"/>
            <a:ext cx="1581912" cy="164592"/>
          </a:xfrm>
          <a:prstGeom prst="rect">
            <a:avLst/>
          </a:prstGeom>
          <a:noFill/>
          <a:ln/>
        </p:spPr>
        <p:txBody>
          <a:bodyPr wrap="square" lIns="0" tIns="0" rIns="0" bIns="0" rtlCol="0" anchor="t"/>
          <a:lstStyle/>
          <a:p>
            <a:pPr marL="0" indent="0" algn="ctr">
              <a:lnSpc>
                <a:spcPct val="110000"/>
              </a:lnSpc>
              <a:buNone/>
            </a:pPr>
            <a:r>
              <a:rPr lang="en-US" sz="700" dirty="0">
                <a:solidFill>
                  <a:srgbClr val="44566B"/>
                </a:solidFill>
                <a:latin typeface="Segoe UI" pitchFamily="34" charset="0"/>
                <a:ea typeface="Segoe UI" pitchFamily="34" charset="-122"/>
                <a:cs typeface="Segoe UI" pitchFamily="34" charset="-120"/>
              </a:rPr>
              <a:t>open on every node in the cluster</a:t>
            </a:r>
            <a:endParaRPr lang="en-US" sz="700" dirty="0"/>
          </a:p>
        </p:txBody>
      </p:sp>
      <p:sp>
        <p:nvSpPr>
          <p:cNvPr id="19" name="flow arrow">
            <a:extLst>
              <a:ext uri="{C183D7F6-B498-43B3-948B-1728B52AA6E4}">
                <adec:decorative xmlns:adec="http://schemas.microsoft.com/office/drawing/2017/decorative" val="1"/>
              </a:ext>
            </a:extLst>
          </p:cNvPr>
          <p:cNvSpPr/>
          <p:nvPr/>
        </p:nvSpPr>
        <p:spPr>
          <a:xfrm>
            <a:off x="4471416" y="3639312"/>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20" name="step box">
            <a:extLst>
              <a:ext uri="{C183D7F6-B498-43B3-948B-1728B52AA6E4}">
                <adec:decorative xmlns:adec="http://schemas.microsoft.com/office/drawing/2017/decorative" val="1"/>
              </a:ext>
            </a:extLst>
          </p:cNvPr>
          <p:cNvSpPr/>
          <p:nvPr/>
        </p:nvSpPr>
        <p:spPr>
          <a:xfrm>
            <a:off x="4727448" y="3401568"/>
            <a:ext cx="1801368" cy="676656"/>
          </a:xfrm>
          <a:prstGeom prst="rect">
            <a:avLst/>
          </a:prstGeom>
          <a:solidFill>
            <a:srgbClr val="EDF4FC"/>
          </a:solidFill>
          <a:ln w="12700">
            <a:solidFill>
              <a:srgbClr val="0B63CE"/>
            </a:solidFill>
            <a:prstDash val="solid"/>
          </a:ln>
        </p:spPr>
        <p:txBody>
          <a:bodyPr/>
          <a:lstStyle/>
          <a:p>
            <a:endParaRPr lang="en-IN"/>
          </a:p>
        </p:txBody>
      </p:sp>
      <p:sp>
        <p:nvSpPr>
          <p:cNvPr id="21" name="Text 19"/>
          <p:cNvSpPr/>
          <p:nvPr/>
        </p:nvSpPr>
        <p:spPr>
          <a:xfrm>
            <a:off x="4818888" y="3511296"/>
            <a:ext cx="1618488"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ClusterIP</a:t>
            </a:r>
            <a:endParaRPr lang="en-US" sz="1100" dirty="0"/>
          </a:p>
        </p:txBody>
      </p:sp>
      <p:sp>
        <p:nvSpPr>
          <p:cNvPr id="22" name="Text 20"/>
          <p:cNvSpPr/>
          <p:nvPr/>
        </p:nvSpPr>
        <p:spPr>
          <a:xfrm>
            <a:off x="4837176" y="3822192"/>
            <a:ext cx="1581912" cy="164592"/>
          </a:xfrm>
          <a:prstGeom prst="rect">
            <a:avLst/>
          </a:prstGeom>
          <a:noFill/>
          <a:ln/>
        </p:spPr>
        <p:txBody>
          <a:bodyPr wrap="square" lIns="0" tIns="0" rIns="0" bIns="0" rtlCol="0" anchor="t"/>
          <a:lstStyle/>
          <a:p>
            <a:pPr marL="0" indent="0" algn="ctr">
              <a:lnSpc>
                <a:spcPct val="110000"/>
              </a:lnSpc>
              <a:buNone/>
            </a:pPr>
            <a:r>
              <a:rPr lang="en-US" sz="900" dirty="0">
                <a:solidFill>
                  <a:srgbClr val="44566B"/>
                </a:solidFill>
                <a:latin typeface="Segoe UI" pitchFamily="34" charset="0"/>
                <a:ea typeface="Segoe UI" pitchFamily="34" charset="-122"/>
                <a:cs typeface="Segoe UI" pitchFamily="34" charset="-120"/>
              </a:rPr>
              <a:t>the underlying Service</a:t>
            </a:r>
            <a:endParaRPr lang="en-US" sz="900" dirty="0"/>
          </a:p>
        </p:txBody>
      </p:sp>
      <p:sp>
        <p:nvSpPr>
          <p:cNvPr id="23" name="flow arrow">
            <a:extLst>
              <a:ext uri="{C183D7F6-B498-43B3-948B-1728B52AA6E4}">
                <adec:decorative xmlns:adec="http://schemas.microsoft.com/office/drawing/2017/decorative" val="1"/>
              </a:ext>
            </a:extLst>
          </p:cNvPr>
          <p:cNvSpPr/>
          <p:nvPr/>
        </p:nvSpPr>
        <p:spPr>
          <a:xfrm>
            <a:off x="6583680" y="3639312"/>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24" name="step box">
            <a:extLst>
              <a:ext uri="{C183D7F6-B498-43B3-948B-1728B52AA6E4}">
                <adec:decorative xmlns:adec="http://schemas.microsoft.com/office/drawing/2017/decorative" val="1"/>
              </a:ext>
            </a:extLst>
          </p:cNvPr>
          <p:cNvSpPr/>
          <p:nvPr/>
        </p:nvSpPr>
        <p:spPr>
          <a:xfrm>
            <a:off x="6839712" y="3401568"/>
            <a:ext cx="1801368" cy="676656"/>
          </a:xfrm>
          <a:prstGeom prst="rect">
            <a:avLst/>
          </a:prstGeom>
          <a:solidFill>
            <a:srgbClr val="E4F3FB"/>
          </a:solidFill>
          <a:ln w="12700">
            <a:solidFill>
              <a:srgbClr val="17A9DB"/>
            </a:solidFill>
            <a:prstDash val="solid"/>
          </a:ln>
        </p:spPr>
        <p:txBody>
          <a:bodyPr/>
          <a:lstStyle/>
          <a:p>
            <a:endParaRPr lang="en-IN"/>
          </a:p>
        </p:txBody>
      </p:sp>
      <p:sp>
        <p:nvSpPr>
          <p:cNvPr id="25" name="Text 23"/>
          <p:cNvSpPr/>
          <p:nvPr/>
        </p:nvSpPr>
        <p:spPr>
          <a:xfrm>
            <a:off x="6931152" y="3511296"/>
            <a:ext cx="1618488" cy="310896"/>
          </a:xfrm>
          <a:prstGeom prst="rect">
            <a:avLst/>
          </a:prstGeom>
          <a:noFill/>
          <a:ln/>
        </p:spPr>
        <p:txBody>
          <a:bodyPr wrap="square" lIns="0" tIns="0" rIns="0" bIns="0" rtlCol="0" anchor="ctr"/>
          <a:lstStyle/>
          <a:p>
            <a:pPr marL="0" indent="0" algn="ctr">
              <a:buNone/>
            </a:pPr>
            <a:r>
              <a:rPr lang="en-US" sz="1100" b="1" dirty="0">
                <a:solidFill>
                  <a:srgbClr val="0E2233"/>
                </a:solidFill>
                <a:latin typeface="Segoe UI" pitchFamily="34" charset="0"/>
                <a:ea typeface="Segoe UI" pitchFamily="34" charset="-122"/>
                <a:cs typeface="Segoe UI" pitchFamily="34" charset="-120"/>
              </a:rPr>
              <a:t>Pod</a:t>
            </a:r>
            <a:endParaRPr lang="en-US" sz="1100" dirty="0"/>
          </a:p>
        </p:txBody>
      </p:sp>
      <p:sp>
        <p:nvSpPr>
          <p:cNvPr id="26" name="Text 24"/>
          <p:cNvSpPr/>
          <p:nvPr/>
        </p:nvSpPr>
        <p:spPr>
          <a:xfrm>
            <a:off x="6949440" y="3822192"/>
            <a:ext cx="1581912" cy="164592"/>
          </a:xfrm>
          <a:prstGeom prst="rect">
            <a:avLst/>
          </a:prstGeom>
          <a:noFill/>
          <a:ln/>
        </p:spPr>
        <p:txBody>
          <a:bodyPr wrap="square" lIns="0" tIns="0" rIns="0" bIns="0" rtlCol="0" anchor="t"/>
          <a:lstStyle/>
          <a:p>
            <a:pPr marL="0" indent="0" algn="ctr">
              <a:lnSpc>
                <a:spcPct val="110000"/>
              </a:lnSpc>
              <a:buNone/>
            </a:pPr>
            <a:r>
              <a:rPr lang="en-US" sz="900" dirty="0">
                <a:solidFill>
                  <a:srgbClr val="44566B"/>
                </a:solidFill>
                <a:latin typeface="Segoe UI" pitchFamily="34" charset="0"/>
                <a:ea typeface="Segoe UI" pitchFamily="34" charset="-122"/>
                <a:cs typeface="Segoe UI" pitchFamily="34" charset="-120"/>
              </a:rPr>
              <a:t>container port 8080</a:t>
            </a:r>
            <a:endParaRPr lang="en-US" sz="900" dirty="0"/>
          </a:p>
        </p:txBody>
      </p:sp>
      <p:sp>
        <p:nvSpPr>
          <p:cNvPr id="27"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8"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29" name="Text 2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Where it fits   </a:t>
            </a:r>
            <a:r>
              <a:rPr lang="en-US" sz="1050" dirty="0">
                <a:solidFill>
                  <a:srgbClr val="0E2233"/>
                </a:solidFill>
                <a:latin typeface="Segoe UI" pitchFamily="34" charset="0"/>
                <a:ea typeface="Segoe UI" pitchFamily="34" charset="-122"/>
                <a:cs typeface="Segoe UI" pitchFamily="34" charset="-120"/>
              </a:rPr>
              <a:t>Reach for NodePort to understand the plumbing or to sit behind your own load balancer — rarely as the final answer on AKS.</a:t>
            </a:r>
            <a:endParaRPr lang="en-US" sz="1000" dirty="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23</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3 · APPLICATION EXPOSURE AND CONNECTIVITY</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LoadBalancer</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Asks Azure to provision a load balancer and give the Service a real, stable IP address.</a:t>
            </a:r>
            <a:endParaRPr lang="en-US" sz="1150" dirty="0"/>
          </a:p>
        </p:txBody>
      </p:sp>
      <p:sp>
        <p:nvSpPr>
          <p:cNvPr id="7" name="code panel">
            <a:extLst>
              <a:ext uri="{C183D7F6-B498-43B3-948B-1728B52AA6E4}">
                <adec:decorative xmlns:adec="http://schemas.microsoft.com/office/drawing/2017/decorative" val="1"/>
              </a:ext>
            </a:extLst>
          </p:cNvPr>
          <p:cNvSpPr/>
          <p:nvPr/>
        </p:nvSpPr>
        <p:spPr>
          <a:xfrm>
            <a:off x="502920" y="1481328"/>
            <a:ext cx="4572000" cy="186537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57200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427939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service-loadbalancer.yaml</a:t>
            </a:r>
            <a:endParaRPr lang="en-US" sz="850" dirty="0"/>
          </a:p>
        </p:txBody>
      </p:sp>
      <p:sp>
        <p:nvSpPr>
          <p:cNvPr id="10" name="Text 8"/>
          <p:cNvSpPr/>
          <p:nvPr/>
        </p:nvSpPr>
        <p:spPr>
          <a:xfrm>
            <a:off x="649224" y="1810512"/>
            <a:ext cx="4279392" cy="1389888"/>
          </a:xfrm>
          <a:prstGeom prst="rect">
            <a:avLst/>
          </a:prstGeom>
          <a:noFill/>
          <a:ln/>
        </p:spPr>
        <p:txBody>
          <a:bodyPr wrap="square" lIns="0" tIns="0" rIns="0" bIns="0" rtlCol="0" anchor="t"/>
          <a:lstStyle/>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kind: Service</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metadata:</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name: payments-api</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annotations:   # internal LB: VNet only, no public IP</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...azure-load-balancer-internal: 'true'</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spec:</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type: LoadBalancer</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selector:</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app: payments-api</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ports:</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 port: 443  -&gt;  targetPort: 8080</a:t>
            </a:r>
            <a:endParaRPr lang="en-US" sz="740" dirty="0"/>
          </a:p>
        </p:txBody>
      </p:sp>
      <p:sp>
        <p:nvSpPr>
          <p:cNvPr id="11" name="card">
            <a:extLst>
              <a:ext uri="{C183D7F6-B498-43B3-948B-1728B52AA6E4}">
                <adec:decorative xmlns:adec="http://schemas.microsoft.com/office/drawing/2017/decorative" val="1"/>
              </a:ext>
            </a:extLst>
          </p:cNvPr>
          <p:cNvSpPr/>
          <p:nvPr/>
        </p:nvSpPr>
        <p:spPr>
          <a:xfrm>
            <a:off x="5257800" y="1481328"/>
            <a:ext cx="3383280" cy="85953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5257800" y="1481328"/>
            <a:ext cx="3383280" cy="41148"/>
          </a:xfrm>
          <a:prstGeom prst="rect">
            <a:avLst/>
          </a:prstGeom>
          <a:solidFill>
            <a:srgbClr val="0B63CE"/>
          </a:solidFill>
          <a:ln w="12700">
            <a:solidFill>
              <a:srgbClr val="333333"/>
            </a:solidFill>
            <a:prstDash val="solid"/>
          </a:ln>
        </p:spPr>
        <p:txBody>
          <a:bodyPr/>
          <a:lstStyle/>
          <a:p>
            <a:endParaRPr lang="en-IN"/>
          </a:p>
        </p:txBody>
      </p:sp>
      <p:sp>
        <p:nvSpPr>
          <p:cNvPr id="13" name="Text 11"/>
          <p:cNvSpPr/>
          <p:nvPr/>
        </p:nvSpPr>
        <p:spPr>
          <a:xfrm>
            <a:off x="5458968" y="1591056"/>
            <a:ext cx="2980944" cy="2453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Internal</a:t>
            </a:r>
            <a:endParaRPr lang="en-US" sz="1250" dirty="0"/>
          </a:p>
        </p:txBody>
      </p:sp>
      <p:sp>
        <p:nvSpPr>
          <p:cNvPr id="14" name="Text 12"/>
          <p:cNvSpPr/>
          <p:nvPr/>
        </p:nvSpPr>
        <p:spPr>
          <a:xfrm>
            <a:off x="5458968" y="1900428"/>
            <a:ext cx="2980944" cy="348996"/>
          </a:xfrm>
          <a:prstGeom prst="rect">
            <a:avLst/>
          </a:prstGeom>
          <a:noFill/>
          <a:ln/>
        </p:spPr>
        <p:txBody>
          <a:bodyPr wrap="square" lIns="0" tIns="0" rIns="0" bIns="0" rtlCol="0" anchor="t"/>
          <a:lstStyle/>
          <a:p>
            <a:pPr marL="0" indent="0">
              <a:lnSpc>
                <a:spcPct val="115000"/>
              </a:lnSpc>
              <a:buNone/>
            </a:pPr>
            <a:r>
              <a:rPr lang="en-US" sz="700" dirty="0">
                <a:solidFill>
                  <a:srgbClr val="44566B"/>
                </a:solidFill>
                <a:latin typeface="Segoe UI" pitchFamily="34" charset="0"/>
                <a:ea typeface="Segoe UI" pitchFamily="34" charset="-122"/>
                <a:cs typeface="Segoe UI" pitchFamily="34" charset="-120"/>
              </a:rPr>
              <a:t>A private IP from the cluster's VNet. Reachable from on-premises over ExpressRoute or peering. The usual choice in a bank.</a:t>
            </a:r>
            <a:endParaRPr lang="en-US" sz="700" dirty="0"/>
          </a:p>
        </p:txBody>
      </p:sp>
      <p:sp>
        <p:nvSpPr>
          <p:cNvPr id="15" name="card">
            <a:extLst>
              <a:ext uri="{C183D7F6-B498-43B3-948B-1728B52AA6E4}">
                <adec:decorative xmlns:adec="http://schemas.microsoft.com/office/drawing/2017/decorative" val="1"/>
              </a:ext>
            </a:extLst>
          </p:cNvPr>
          <p:cNvSpPr/>
          <p:nvPr/>
        </p:nvSpPr>
        <p:spPr>
          <a:xfrm>
            <a:off x="5257800" y="2487168"/>
            <a:ext cx="3383280" cy="859536"/>
          </a:xfrm>
          <a:prstGeom prst="rect">
            <a:avLst/>
          </a:prstGeom>
          <a:solidFill>
            <a:srgbClr val="F6F9FD"/>
          </a:solidFill>
          <a:ln w="9525">
            <a:solidFill>
              <a:srgbClr val="D8E5F2"/>
            </a:solidFill>
            <a:prstDash val="solid"/>
          </a:ln>
        </p:spPr>
        <p:txBody>
          <a:bodyPr/>
          <a:lstStyle/>
          <a:p>
            <a:endParaRPr lang="en-IN"/>
          </a:p>
        </p:txBody>
      </p:sp>
      <p:sp>
        <p:nvSpPr>
          <p:cNvPr id="16" name="card accent">
            <a:extLst>
              <a:ext uri="{C183D7F6-B498-43B3-948B-1728B52AA6E4}">
                <adec:decorative xmlns:adec="http://schemas.microsoft.com/office/drawing/2017/decorative" val="1"/>
              </a:ext>
            </a:extLst>
          </p:cNvPr>
          <p:cNvSpPr/>
          <p:nvPr/>
        </p:nvSpPr>
        <p:spPr>
          <a:xfrm>
            <a:off x="5257800" y="2487168"/>
            <a:ext cx="3383280" cy="41148"/>
          </a:xfrm>
          <a:prstGeom prst="rect">
            <a:avLst/>
          </a:prstGeom>
          <a:solidFill>
            <a:srgbClr val="D0483C"/>
          </a:solidFill>
          <a:ln w="12700">
            <a:solidFill>
              <a:srgbClr val="333333"/>
            </a:solidFill>
            <a:prstDash val="solid"/>
          </a:ln>
        </p:spPr>
        <p:txBody>
          <a:bodyPr/>
          <a:lstStyle/>
          <a:p>
            <a:endParaRPr lang="en-IN"/>
          </a:p>
        </p:txBody>
      </p:sp>
      <p:sp>
        <p:nvSpPr>
          <p:cNvPr id="17" name="Text 15"/>
          <p:cNvSpPr/>
          <p:nvPr/>
        </p:nvSpPr>
        <p:spPr>
          <a:xfrm>
            <a:off x="5458968" y="2596896"/>
            <a:ext cx="2980944" cy="2453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Public</a:t>
            </a:r>
            <a:endParaRPr lang="en-US" sz="1250" dirty="0"/>
          </a:p>
        </p:txBody>
      </p:sp>
      <p:sp>
        <p:nvSpPr>
          <p:cNvPr id="18" name="Text 16"/>
          <p:cNvSpPr/>
          <p:nvPr/>
        </p:nvSpPr>
        <p:spPr>
          <a:xfrm>
            <a:off x="5458968" y="2906268"/>
            <a:ext cx="2980944" cy="348996"/>
          </a:xfrm>
          <a:prstGeom prst="rect">
            <a:avLst/>
          </a:prstGeom>
          <a:noFill/>
          <a:ln/>
        </p:spPr>
        <p:txBody>
          <a:bodyPr wrap="square" lIns="0" tIns="0" rIns="0" bIns="0" rtlCol="0" anchor="t"/>
          <a:lstStyle/>
          <a:p>
            <a:pPr marL="0" indent="0">
              <a:lnSpc>
                <a:spcPct val="115000"/>
              </a:lnSpc>
              <a:buNone/>
            </a:pPr>
            <a:r>
              <a:rPr lang="en-US" sz="700" dirty="0">
                <a:solidFill>
                  <a:srgbClr val="44566B"/>
                </a:solidFill>
                <a:latin typeface="Segoe UI" pitchFamily="34" charset="0"/>
                <a:ea typeface="Segoe UI" pitchFamily="34" charset="-122"/>
                <a:cs typeface="Segoe UI" pitchFamily="34" charset="-120"/>
              </a:rPr>
              <a:t>A public IP on the internet. Requires deliberate approval, WAF and controls — and is often replaced by an ingress or gateway.</a:t>
            </a:r>
            <a:endParaRPr lang="en-US" sz="700" dirty="0"/>
          </a:p>
        </p:txBody>
      </p:sp>
      <p:sp>
        <p:nvSpPr>
          <p:cNvPr id="19"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0"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F2A93B"/>
          </a:solidFill>
          <a:ln w="12700">
            <a:solidFill>
              <a:srgbClr val="333333"/>
            </a:solidFill>
            <a:prstDash val="solid"/>
          </a:ln>
        </p:spPr>
        <p:txBody>
          <a:bodyPr/>
          <a:lstStyle/>
          <a:p>
            <a:endParaRPr lang="en-IN"/>
          </a:p>
        </p:txBody>
      </p:sp>
      <p:sp>
        <p:nvSpPr>
          <p:cNvPr id="21" name="Text 19"/>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One IP per Service</a:t>
            </a:r>
            <a:endParaRPr lang="en-US" sz="1100" dirty="0"/>
          </a:p>
        </p:txBody>
      </p:sp>
      <p:sp>
        <p:nvSpPr>
          <p:cNvPr id="22" name="Text 20"/>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Each LoadBalancer Service consumes an Azure IP and costs money</a:t>
            </a:r>
            <a:endParaRPr lang="en-US" sz="800" dirty="0"/>
          </a:p>
        </p:txBody>
      </p:sp>
      <p:sp>
        <p:nvSpPr>
          <p:cNvPr id="23"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4"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F2A93B"/>
          </a:solidFill>
          <a:ln w="12700">
            <a:solidFill>
              <a:srgbClr val="333333"/>
            </a:solidFill>
            <a:prstDash val="solid"/>
          </a:ln>
        </p:spPr>
        <p:txBody>
          <a:bodyPr/>
          <a:lstStyle/>
          <a:p>
            <a:endParaRPr lang="en-IN"/>
          </a:p>
        </p:txBody>
      </p:sp>
      <p:sp>
        <p:nvSpPr>
          <p:cNvPr id="25" name="Text 23"/>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Layer 4 only</a:t>
            </a:r>
            <a:endParaRPr lang="en-US" sz="1100" dirty="0"/>
          </a:p>
        </p:txBody>
      </p:sp>
      <p:sp>
        <p:nvSpPr>
          <p:cNvPr id="26" name="Text 24"/>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No paths, no host names, no TLS termination, no routing rules</a:t>
            </a:r>
            <a:endParaRPr lang="en-US" sz="800" dirty="0"/>
          </a:p>
        </p:txBody>
      </p:sp>
      <p:sp>
        <p:nvSpPr>
          <p:cNvPr id="27"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8"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2E9E6B"/>
          </a:solidFill>
          <a:ln w="12700">
            <a:solidFill>
              <a:srgbClr val="333333"/>
            </a:solidFill>
            <a:prstDash val="solid"/>
          </a:ln>
        </p:spPr>
        <p:txBody>
          <a:bodyPr/>
          <a:lstStyle/>
          <a:p>
            <a:endParaRPr lang="en-IN"/>
          </a:p>
        </p:txBody>
      </p:sp>
      <p:sp>
        <p:nvSpPr>
          <p:cNvPr id="29" name="Text 27"/>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Ingress instead</a:t>
            </a:r>
            <a:endParaRPr lang="en-US" sz="1100" dirty="0"/>
          </a:p>
        </p:txBody>
      </p:sp>
      <p:sp>
        <p:nvSpPr>
          <p:cNvPr id="30" name="Text 28"/>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750" dirty="0">
                <a:solidFill>
                  <a:srgbClr val="44566B"/>
                </a:solidFill>
                <a:latin typeface="Segoe UI" pitchFamily="34" charset="0"/>
                <a:ea typeface="Segoe UI" pitchFamily="34" charset="-122"/>
                <a:cs typeface="Segoe UI" pitchFamily="34" charset="-120"/>
              </a:rPr>
              <a:t>For many HTTP services, one ingress in front of ClusterIP Services is cheaper and richer</a:t>
            </a:r>
            <a:endParaRPr lang="en-US" sz="750" dirty="0"/>
          </a:p>
        </p:txBody>
      </p:sp>
      <p:sp>
        <p:nvSpPr>
          <p:cNvPr id="31"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24</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3 · APPLICATION EXPOSURE AND CONNECTIVITY</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Service discovery and DNS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Every Service gets a predictable DNS name, so callers never need an IP address.</a:t>
            </a:r>
            <a:endParaRPr lang="en-US" sz="1150" dirty="0"/>
          </a:p>
        </p:txBody>
      </p:sp>
      <p:sp>
        <p:nvSpPr>
          <p:cNvPr id="7" name="dns panel">
            <a:extLst>
              <a:ext uri="{C183D7F6-B498-43B3-948B-1728B52AA6E4}">
                <adec:decorative xmlns:adec="http://schemas.microsoft.com/office/drawing/2017/decorative" val="1"/>
              </a:ext>
            </a:extLst>
          </p:cNvPr>
          <p:cNvSpPr/>
          <p:nvPr/>
        </p:nvSpPr>
        <p:spPr>
          <a:xfrm>
            <a:off x="502920" y="1481328"/>
            <a:ext cx="8138160" cy="914400"/>
          </a:xfrm>
          <a:prstGeom prst="rect">
            <a:avLst/>
          </a:prstGeom>
          <a:solidFill>
            <a:srgbClr val="0A2E4E"/>
          </a:solidFill>
          <a:ln w="12700">
            <a:solidFill>
              <a:srgbClr val="333333"/>
            </a:solidFill>
            <a:prstDash val="solid"/>
          </a:ln>
        </p:spPr>
        <p:txBody>
          <a:bodyPr/>
          <a:lstStyle/>
          <a:p>
            <a:endParaRPr lang="en-IN"/>
          </a:p>
        </p:txBody>
      </p:sp>
      <p:sp>
        <p:nvSpPr>
          <p:cNvPr id="8" name="Text 6"/>
          <p:cNvSpPr/>
          <p:nvPr/>
        </p:nvSpPr>
        <p:spPr>
          <a:xfrm>
            <a:off x="685800" y="1591056"/>
            <a:ext cx="2011680" cy="329184"/>
          </a:xfrm>
          <a:prstGeom prst="rect">
            <a:avLst/>
          </a:prstGeom>
          <a:noFill/>
          <a:ln/>
        </p:spPr>
        <p:txBody>
          <a:bodyPr wrap="square" lIns="0" tIns="0" rIns="0" bIns="0"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payments-api</a:t>
            </a:r>
            <a:endParaRPr lang="en-US" sz="1500" dirty="0"/>
          </a:p>
        </p:txBody>
      </p:sp>
      <p:sp>
        <p:nvSpPr>
          <p:cNvPr id="9" name="Text 7"/>
          <p:cNvSpPr/>
          <p:nvPr/>
        </p:nvSpPr>
        <p:spPr>
          <a:xfrm>
            <a:off x="685800" y="1938528"/>
            <a:ext cx="2011680" cy="219456"/>
          </a:xfrm>
          <a:prstGeom prst="rect">
            <a:avLst/>
          </a:prstGeom>
          <a:noFill/>
          <a:ln/>
        </p:spPr>
        <p:txBody>
          <a:bodyPr wrap="square" lIns="0" tIns="0" rIns="0" bIns="0" rtlCol="0" anchor="ctr"/>
          <a:lstStyle/>
          <a:p>
            <a:pPr marL="0" indent="0">
              <a:buNone/>
            </a:pPr>
            <a:r>
              <a:rPr lang="en-US" sz="850" dirty="0">
                <a:solidFill>
                  <a:srgbClr val="8FB6D4"/>
                </a:solidFill>
                <a:latin typeface="Segoe UI" pitchFamily="34" charset="0"/>
                <a:ea typeface="Segoe UI" pitchFamily="34" charset="-122"/>
                <a:cs typeface="Segoe UI" pitchFamily="34" charset="-120"/>
              </a:rPr>
              <a:t>Service name</a:t>
            </a:r>
            <a:endParaRPr lang="en-US" sz="850" dirty="0"/>
          </a:p>
        </p:txBody>
      </p:sp>
      <p:sp>
        <p:nvSpPr>
          <p:cNvPr id="10" name="Text 8"/>
          <p:cNvSpPr/>
          <p:nvPr/>
        </p:nvSpPr>
        <p:spPr>
          <a:xfrm>
            <a:off x="2587752" y="1591056"/>
            <a:ext cx="182880" cy="329184"/>
          </a:xfrm>
          <a:prstGeom prst="rect">
            <a:avLst/>
          </a:prstGeom>
          <a:noFill/>
          <a:ln/>
        </p:spPr>
        <p:txBody>
          <a:bodyPr wrap="square" lIns="0" tIns="0" rIns="0" bIns="0" rtlCol="0" anchor="ctr"/>
          <a:lstStyle/>
          <a:p>
            <a:pPr marL="0" indent="0">
              <a:buNone/>
            </a:pPr>
            <a:r>
              <a:rPr lang="en-US" sz="1500" b="1" dirty="0">
                <a:solidFill>
                  <a:srgbClr val="8FB6D4"/>
                </a:solidFill>
                <a:latin typeface="Consolas" pitchFamily="34" charset="0"/>
                <a:ea typeface="Consolas" pitchFamily="34" charset="-122"/>
                <a:cs typeface="Consolas" pitchFamily="34" charset="-120"/>
              </a:rPr>
              <a:t>.</a:t>
            </a:r>
            <a:endParaRPr lang="en-US" sz="1500" dirty="0"/>
          </a:p>
        </p:txBody>
      </p:sp>
      <p:sp>
        <p:nvSpPr>
          <p:cNvPr id="11" name="Text 9"/>
          <p:cNvSpPr/>
          <p:nvPr/>
        </p:nvSpPr>
        <p:spPr>
          <a:xfrm>
            <a:off x="2697480" y="1591056"/>
            <a:ext cx="1737360" cy="329184"/>
          </a:xfrm>
          <a:prstGeom prst="rect">
            <a:avLst/>
          </a:prstGeom>
          <a:noFill/>
          <a:ln/>
        </p:spPr>
        <p:txBody>
          <a:bodyPr wrap="square" lIns="0" tIns="0" rIns="0" bIns="0" rtlCol="0" anchor="ctr"/>
          <a:lstStyle/>
          <a:p>
            <a:pPr marL="0" indent="0">
              <a:buNone/>
            </a:pPr>
            <a:r>
              <a:rPr lang="en-US" sz="1500" b="1" dirty="0">
                <a:solidFill>
                  <a:srgbClr val="17A9DB"/>
                </a:solidFill>
                <a:latin typeface="Consolas" pitchFamily="34" charset="0"/>
                <a:ea typeface="Consolas" pitchFamily="34" charset="-122"/>
                <a:cs typeface="Consolas" pitchFamily="34" charset="-120"/>
              </a:rPr>
              <a:t>payments</a:t>
            </a:r>
            <a:endParaRPr lang="en-US" sz="1500" dirty="0"/>
          </a:p>
        </p:txBody>
      </p:sp>
      <p:sp>
        <p:nvSpPr>
          <p:cNvPr id="12" name="Text 10"/>
          <p:cNvSpPr/>
          <p:nvPr/>
        </p:nvSpPr>
        <p:spPr>
          <a:xfrm>
            <a:off x="2697480" y="1938528"/>
            <a:ext cx="1737360" cy="219456"/>
          </a:xfrm>
          <a:prstGeom prst="rect">
            <a:avLst/>
          </a:prstGeom>
          <a:noFill/>
          <a:ln/>
        </p:spPr>
        <p:txBody>
          <a:bodyPr wrap="square" lIns="0" tIns="0" rIns="0" bIns="0" rtlCol="0" anchor="ctr"/>
          <a:lstStyle/>
          <a:p>
            <a:pPr marL="0" indent="0">
              <a:buNone/>
            </a:pPr>
            <a:r>
              <a:rPr lang="en-US" sz="850" dirty="0">
                <a:solidFill>
                  <a:srgbClr val="8FB6D4"/>
                </a:solidFill>
                <a:latin typeface="Segoe UI" pitchFamily="34" charset="0"/>
                <a:ea typeface="Segoe UI" pitchFamily="34" charset="-122"/>
                <a:cs typeface="Segoe UI" pitchFamily="34" charset="-120"/>
              </a:rPr>
              <a:t>Namespace</a:t>
            </a:r>
            <a:endParaRPr lang="en-US" sz="850" dirty="0"/>
          </a:p>
        </p:txBody>
      </p:sp>
      <p:sp>
        <p:nvSpPr>
          <p:cNvPr id="13" name="Text 11"/>
          <p:cNvSpPr/>
          <p:nvPr/>
        </p:nvSpPr>
        <p:spPr>
          <a:xfrm>
            <a:off x="4325112" y="1591056"/>
            <a:ext cx="182880" cy="329184"/>
          </a:xfrm>
          <a:prstGeom prst="rect">
            <a:avLst/>
          </a:prstGeom>
          <a:noFill/>
          <a:ln/>
        </p:spPr>
        <p:txBody>
          <a:bodyPr wrap="square" lIns="0" tIns="0" rIns="0" bIns="0" rtlCol="0" anchor="ctr"/>
          <a:lstStyle/>
          <a:p>
            <a:pPr marL="0" indent="0">
              <a:buNone/>
            </a:pPr>
            <a:r>
              <a:rPr lang="en-US" sz="1500" b="1" dirty="0">
                <a:solidFill>
                  <a:srgbClr val="8FB6D4"/>
                </a:solidFill>
                <a:latin typeface="Consolas" pitchFamily="34" charset="0"/>
                <a:ea typeface="Consolas" pitchFamily="34" charset="-122"/>
                <a:cs typeface="Consolas" pitchFamily="34" charset="-120"/>
              </a:rPr>
              <a:t>.</a:t>
            </a:r>
            <a:endParaRPr lang="en-US" sz="1500" dirty="0"/>
          </a:p>
        </p:txBody>
      </p:sp>
      <p:sp>
        <p:nvSpPr>
          <p:cNvPr id="14" name="Text 12"/>
          <p:cNvSpPr/>
          <p:nvPr/>
        </p:nvSpPr>
        <p:spPr>
          <a:xfrm>
            <a:off x="4434840" y="1591056"/>
            <a:ext cx="1463040" cy="329184"/>
          </a:xfrm>
          <a:prstGeom prst="rect">
            <a:avLst/>
          </a:prstGeom>
          <a:noFill/>
          <a:ln/>
        </p:spPr>
        <p:txBody>
          <a:bodyPr wrap="square" lIns="0" tIns="0" rIns="0" bIns="0"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svc</a:t>
            </a:r>
            <a:endParaRPr lang="en-US" sz="1500" dirty="0"/>
          </a:p>
        </p:txBody>
      </p:sp>
      <p:sp>
        <p:nvSpPr>
          <p:cNvPr id="15" name="Text 13"/>
          <p:cNvSpPr/>
          <p:nvPr/>
        </p:nvSpPr>
        <p:spPr>
          <a:xfrm>
            <a:off x="4434840" y="1938528"/>
            <a:ext cx="1463040" cy="219456"/>
          </a:xfrm>
          <a:prstGeom prst="rect">
            <a:avLst/>
          </a:prstGeom>
          <a:noFill/>
          <a:ln/>
        </p:spPr>
        <p:txBody>
          <a:bodyPr wrap="square" lIns="0" tIns="0" rIns="0" bIns="0" rtlCol="0" anchor="ctr"/>
          <a:lstStyle/>
          <a:p>
            <a:pPr marL="0" indent="0">
              <a:buNone/>
            </a:pPr>
            <a:r>
              <a:rPr lang="en-US" sz="850" dirty="0">
                <a:solidFill>
                  <a:srgbClr val="8FB6D4"/>
                </a:solidFill>
                <a:latin typeface="Segoe UI" pitchFamily="34" charset="0"/>
                <a:ea typeface="Segoe UI" pitchFamily="34" charset="-122"/>
                <a:cs typeface="Segoe UI" pitchFamily="34" charset="-120"/>
              </a:rPr>
              <a:t>Always 'svc'</a:t>
            </a:r>
            <a:endParaRPr lang="en-US" sz="850" dirty="0"/>
          </a:p>
        </p:txBody>
      </p:sp>
      <p:sp>
        <p:nvSpPr>
          <p:cNvPr id="16" name="Text 14"/>
          <p:cNvSpPr/>
          <p:nvPr/>
        </p:nvSpPr>
        <p:spPr>
          <a:xfrm>
            <a:off x="5788152" y="1591056"/>
            <a:ext cx="182880" cy="329184"/>
          </a:xfrm>
          <a:prstGeom prst="rect">
            <a:avLst/>
          </a:prstGeom>
          <a:noFill/>
          <a:ln/>
        </p:spPr>
        <p:txBody>
          <a:bodyPr wrap="square" lIns="0" tIns="0" rIns="0" bIns="0" rtlCol="0" anchor="ctr"/>
          <a:lstStyle/>
          <a:p>
            <a:pPr marL="0" indent="0">
              <a:buNone/>
            </a:pPr>
            <a:r>
              <a:rPr lang="en-US" sz="1500" b="1" dirty="0">
                <a:solidFill>
                  <a:srgbClr val="8FB6D4"/>
                </a:solidFill>
                <a:latin typeface="Consolas" pitchFamily="34" charset="0"/>
                <a:ea typeface="Consolas" pitchFamily="34" charset="-122"/>
                <a:cs typeface="Consolas" pitchFamily="34" charset="-120"/>
              </a:rPr>
              <a:t>.</a:t>
            </a:r>
            <a:endParaRPr lang="en-US" sz="1500" dirty="0"/>
          </a:p>
        </p:txBody>
      </p:sp>
      <p:sp>
        <p:nvSpPr>
          <p:cNvPr id="17" name="Text 15"/>
          <p:cNvSpPr/>
          <p:nvPr/>
        </p:nvSpPr>
        <p:spPr>
          <a:xfrm>
            <a:off x="5897880" y="1591056"/>
            <a:ext cx="2194560" cy="329184"/>
          </a:xfrm>
          <a:prstGeom prst="rect">
            <a:avLst/>
          </a:prstGeom>
          <a:noFill/>
          <a:ln/>
        </p:spPr>
        <p:txBody>
          <a:bodyPr wrap="square" lIns="0" tIns="0" rIns="0" bIns="0" rtlCol="0" anchor="ctr"/>
          <a:lstStyle/>
          <a:p>
            <a:pPr marL="0" indent="0">
              <a:buNone/>
            </a:pPr>
            <a:r>
              <a:rPr lang="en-US" sz="1500" b="1" dirty="0">
                <a:solidFill>
                  <a:srgbClr val="17A9DB"/>
                </a:solidFill>
                <a:latin typeface="Consolas" pitchFamily="34" charset="0"/>
                <a:ea typeface="Consolas" pitchFamily="34" charset="-122"/>
                <a:cs typeface="Consolas" pitchFamily="34" charset="-120"/>
              </a:rPr>
              <a:t>cluster.local</a:t>
            </a:r>
            <a:endParaRPr lang="en-US" sz="1500" dirty="0"/>
          </a:p>
        </p:txBody>
      </p:sp>
      <p:sp>
        <p:nvSpPr>
          <p:cNvPr id="18" name="Text 16"/>
          <p:cNvSpPr/>
          <p:nvPr/>
        </p:nvSpPr>
        <p:spPr>
          <a:xfrm>
            <a:off x="5897880" y="1938528"/>
            <a:ext cx="2194560" cy="219456"/>
          </a:xfrm>
          <a:prstGeom prst="rect">
            <a:avLst/>
          </a:prstGeom>
          <a:noFill/>
          <a:ln/>
        </p:spPr>
        <p:txBody>
          <a:bodyPr wrap="square" lIns="0" tIns="0" rIns="0" bIns="0" rtlCol="0" anchor="ctr"/>
          <a:lstStyle/>
          <a:p>
            <a:pPr marL="0" indent="0">
              <a:buNone/>
            </a:pPr>
            <a:r>
              <a:rPr lang="en-US" sz="850" dirty="0">
                <a:solidFill>
                  <a:srgbClr val="8FB6D4"/>
                </a:solidFill>
                <a:latin typeface="Segoe UI" pitchFamily="34" charset="0"/>
                <a:ea typeface="Segoe UI" pitchFamily="34" charset="-122"/>
                <a:cs typeface="Segoe UI" pitchFamily="34" charset="-120"/>
              </a:rPr>
              <a:t>Cluster domain</a:t>
            </a:r>
            <a:endParaRPr lang="en-US" sz="850" dirty="0"/>
          </a:p>
        </p:txBody>
      </p:sp>
      <p:sp>
        <p:nvSpPr>
          <p:cNvPr id="19" name="Text 17"/>
          <p:cNvSpPr/>
          <p:nvPr/>
        </p:nvSpPr>
        <p:spPr>
          <a:xfrm>
            <a:off x="502920" y="2468880"/>
            <a:ext cx="4206240" cy="1609344"/>
          </a:xfrm>
          <a:prstGeom prst="rect">
            <a:avLst/>
          </a:prstGeom>
          <a:noFill/>
          <a:ln/>
        </p:spPr>
        <p:txBody>
          <a:bodyPr wrap="square" lIns="0" tIns="0" rIns="0" bIns="0" rtlCol="0" anchor="t"/>
          <a:lstStyle/>
          <a:p>
            <a:pPr marL="342900" indent="-342900">
              <a:spcAft>
                <a:spcPts val="800"/>
              </a:spcAft>
              <a:buSzPct val="100000"/>
              <a:buChar char="•"/>
            </a:pPr>
            <a:r>
              <a:rPr lang="en-US" sz="875" dirty="0">
                <a:solidFill>
                  <a:srgbClr val="44566B"/>
                </a:solidFill>
                <a:latin typeface="Segoe UI" pitchFamily="34" charset="0"/>
                <a:ea typeface="Segoe UI" pitchFamily="34" charset="-122"/>
                <a:cs typeface="Segoe UI" pitchFamily="34" charset="-120"/>
              </a:rPr>
              <a:t>Same namespace — just use the Service name: http://payments-api</a:t>
            </a:r>
            <a:endParaRPr lang="en-US" sz="875" dirty="0"/>
          </a:p>
          <a:p>
            <a:pPr marL="342900" indent="-342900">
              <a:spcAft>
                <a:spcPts val="800"/>
              </a:spcAft>
              <a:buSzPct val="100000"/>
              <a:buChar char="•"/>
            </a:pPr>
            <a:r>
              <a:rPr lang="en-US" sz="875" dirty="0">
                <a:solidFill>
                  <a:srgbClr val="44566B"/>
                </a:solidFill>
                <a:latin typeface="Segoe UI" pitchFamily="34" charset="0"/>
                <a:ea typeface="Segoe UI" pitchFamily="34" charset="-122"/>
                <a:cs typeface="Segoe UI" pitchFamily="34" charset="-120"/>
              </a:rPr>
              <a:t>Different namespace — add it: http://payments-api.payments</a:t>
            </a:r>
            <a:endParaRPr lang="en-US" sz="875" dirty="0"/>
          </a:p>
          <a:p>
            <a:pPr marL="342900" indent="-342900">
              <a:spcAft>
                <a:spcPts val="800"/>
              </a:spcAft>
              <a:buSzPct val="100000"/>
              <a:buChar char="•"/>
            </a:pPr>
            <a:r>
              <a:rPr lang="en-US" sz="875" dirty="0">
                <a:solidFill>
                  <a:srgbClr val="44566B"/>
                </a:solidFill>
                <a:latin typeface="Segoe UI" pitchFamily="34" charset="0"/>
                <a:ea typeface="Segoe UI" pitchFamily="34" charset="-122"/>
                <a:cs typeface="Segoe UI" pitchFamily="34" charset="-120"/>
              </a:rPr>
              <a:t>Fully qualified — payments-api.payments.svc.cluster.local</a:t>
            </a:r>
            <a:endParaRPr lang="en-US" sz="875" dirty="0"/>
          </a:p>
          <a:p>
            <a:pPr marL="342900" indent="-342900">
              <a:spcAft>
                <a:spcPts val="800"/>
              </a:spcAft>
              <a:buSzPct val="100000"/>
              <a:buChar char="•"/>
            </a:pPr>
            <a:r>
              <a:rPr lang="en-US" sz="875" dirty="0">
                <a:solidFill>
                  <a:srgbClr val="44566B"/>
                </a:solidFill>
                <a:latin typeface="Segoe UI" pitchFamily="34" charset="0"/>
                <a:ea typeface="Segoe UI" pitchFamily="34" charset="-122"/>
                <a:cs typeface="Segoe UI" pitchFamily="34" charset="-120"/>
              </a:rPr>
              <a:t>CoreDNS runs in the cluster and resolves these names for every Pod</a:t>
            </a:r>
            <a:endParaRPr lang="en-US" sz="875" dirty="0"/>
          </a:p>
          <a:p>
            <a:pPr marL="342900" indent="-342900">
              <a:spcAft>
                <a:spcPts val="800"/>
              </a:spcAft>
              <a:buSzPct val="100000"/>
              <a:buChar char="•"/>
            </a:pPr>
            <a:r>
              <a:rPr lang="en-US" sz="875" dirty="0">
                <a:solidFill>
                  <a:srgbClr val="44566B"/>
                </a:solidFill>
                <a:latin typeface="Segoe UI" pitchFamily="34" charset="0"/>
                <a:ea typeface="Segoe UI" pitchFamily="34" charset="-122"/>
                <a:cs typeface="Segoe UI" pitchFamily="34" charset="-120"/>
              </a:rPr>
              <a:t>The DNS record follows the Service, so Pod churn is invisible to callers</a:t>
            </a:r>
            <a:endParaRPr lang="en-US" sz="875" dirty="0"/>
          </a:p>
        </p:txBody>
      </p:sp>
      <p:sp>
        <p:nvSpPr>
          <p:cNvPr id="20" name="code panel">
            <a:extLst>
              <a:ext uri="{C183D7F6-B498-43B3-948B-1728B52AA6E4}">
                <adec:decorative xmlns:adec="http://schemas.microsoft.com/office/drawing/2017/decorative" val="1"/>
              </a:ext>
            </a:extLst>
          </p:cNvPr>
          <p:cNvSpPr/>
          <p:nvPr/>
        </p:nvSpPr>
        <p:spPr>
          <a:xfrm>
            <a:off x="4892040" y="2468880"/>
            <a:ext cx="3749040" cy="1609344"/>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1" name="code panel header">
            <a:extLst>
              <a:ext uri="{C183D7F6-B498-43B3-948B-1728B52AA6E4}">
                <adec:decorative xmlns:adec="http://schemas.microsoft.com/office/drawing/2017/decorative" val="1"/>
              </a:ext>
            </a:extLst>
          </p:cNvPr>
          <p:cNvSpPr/>
          <p:nvPr/>
        </p:nvSpPr>
        <p:spPr>
          <a:xfrm>
            <a:off x="4892040" y="2468880"/>
            <a:ext cx="3749040" cy="256032"/>
          </a:xfrm>
          <a:prstGeom prst="rect">
            <a:avLst/>
          </a:prstGeom>
          <a:solidFill>
            <a:srgbClr val="0F3D66"/>
          </a:solidFill>
          <a:ln w="12700">
            <a:solidFill>
              <a:srgbClr val="333333"/>
            </a:solidFill>
            <a:prstDash val="solid"/>
          </a:ln>
        </p:spPr>
        <p:txBody>
          <a:bodyPr/>
          <a:lstStyle/>
          <a:p>
            <a:endParaRPr lang="en-IN"/>
          </a:p>
        </p:txBody>
      </p:sp>
      <p:sp>
        <p:nvSpPr>
          <p:cNvPr id="22" name="Text 20"/>
          <p:cNvSpPr/>
          <p:nvPr/>
        </p:nvSpPr>
        <p:spPr>
          <a:xfrm>
            <a:off x="5038344" y="2468880"/>
            <a:ext cx="345643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Using and checking DNS</a:t>
            </a:r>
            <a:endParaRPr lang="en-US" sz="850" dirty="0"/>
          </a:p>
        </p:txBody>
      </p:sp>
      <p:sp>
        <p:nvSpPr>
          <p:cNvPr id="23" name="Text 21"/>
          <p:cNvSpPr/>
          <p:nvPr/>
        </p:nvSpPr>
        <p:spPr>
          <a:xfrm>
            <a:off x="5038344" y="2798064"/>
            <a:ext cx="3456432" cy="1133856"/>
          </a:xfrm>
          <a:prstGeom prst="rect">
            <a:avLst/>
          </a:prstGeom>
          <a:noFill/>
          <a:ln/>
        </p:spPr>
        <p:txBody>
          <a:bodyPr wrap="square" lIns="0" tIns="0" rIns="0" bIns="0" rtlCol="0" anchor="t"/>
          <a:lstStyle/>
          <a:p>
            <a:pPr marL="0" indent="0">
              <a:lnSpc>
                <a:spcPct val="112000"/>
              </a:lnSpc>
              <a:buNone/>
            </a:pPr>
            <a:r>
              <a:rPr lang="en-US" sz="800" dirty="0">
                <a:solidFill>
                  <a:srgbClr val="7FA9C6"/>
                </a:solidFill>
                <a:latin typeface="Consolas" pitchFamily="34" charset="0"/>
                <a:ea typeface="Consolas" pitchFamily="34" charset="-122"/>
                <a:cs typeface="Consolas" pitchFamily="34" charset="-120"/>
              </a:rPr>
              <a:t># Environment variable pointing at another service</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env:</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 name: LEDGER_URL</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    value: http://ledger-api.ledger.svc.cluster.local</a:t>
            </a:r>
            <a:endParaRPr lang="en-US" sz="800" dirty="0"/>
          </a:p>
          <a:p>
            <a:pPr marL="0" indent="0">
              <a:lnSpc>
                <a:spcPct val="112000"/>
              </a:lnSpc>
              <a:buNone/>
            </a:pPr>
            <a:endParaRPr lang="en-US" sz="800" dirty="0"/>
          </a:p>
          <a:p>
            <a:pPr marL="0" indent="0">
              <a:lnSpc>
                <a:spcPct val="112000"/>
              </a:lnSpc>
              <a:buNone/>
            </a:pPr>
            <a:r>
              <a:rPr lang="en-US" sz="800" dirty="0">
                <a:solidFill>
                  <a:srgbClr val="7FA9C6"/>
                </a:solidFill>
                <a:latin typeface="Consolas" pitchFamily="34" charset="0"/>
                <a:ea typeface="Consolas" pitchFamily="34" charset="-122"/>
                <a:cs typeface="Consolas" pitchFamily="34" charset="-120"/>
              </a:rPr>
              <a:t># Verify resolution and endpoints from inside the cluster</a:t>
            </a:r>
            <a:endParaRPr lang="en-US" sz="800" dirty="0"/>
          </a:p>
          <a:p>
            <a:pPr marL="0" indent="0">
              <a:lnSpc>
                <a:spcPct val="112000"/>
              </a:lnSpc>
              <a:buNone/>
            </a:pPr>
            <a:r>
              <a:rPr lang="en-US" sz="800" dirty="0">
                <a:solidFill>
                  <a:srgbClr val="D7ECF8"/>
                </a:solidFill>
                <a:latin typeface="Consolas" pitchFamily="34" charset="0"/>
                <a:ea typeface="Consolas" pitchFamily="34" charset="-122"/>
                <a:cs typeface="Consolas" pitchFamily="34" charset="-120"/>
              </a:rPr>
              <a:t>kubectl get endpoints payments-api</a:t>
            </a:r>
            <a:endParaRPr lang="en-US" sz="800" dirty="0"/>
          </a:p>
          <a:p>
            <a:pPr marL="0" indent="0">
              <a:lnSpc>
                <a:spcPct val="112000"/>
              </a:lnSpc>
              <a:buNone/>
            </a:pPr>
            <a:r>
              <a:rPr lang="en-US" sz="800" dirty="0">
                <a:solidFill>
                  <a:srgbClr val="7FA9C6"/>
                </a:solidFill>
                <a:latin typeface="Consolas" pitchFamily="34" charset="0"/>
                <a:ea typeface="Consolas" pitchFamily="34" charset="-122"/>
                <a:cs typeface="Consolas" pitchFamily="34" charset="-120"/>
              </a:rPr>
              <a:t># empty = selector matches no ready Pod</a:t>
            </a:r>
            <a:endParaRPr lang="en-US" sz="800" dirty="0"/>
          </a:p>
        </p:txBody>
      </p:sp>
      <p:sp>
        <p:nvSpPr>
          <p:cNvPr id="24" name="callout band">
            <a:extLst>
              <a:ext uri="{C183D7F6-B498-43B3-948B-1728B52AA6E4}">
                <adec:decorative xmlns:adec="http://schemas.microsoft.com/office/drawing/2017/decorative" val="1"/>
              </a:ext>
            </a:extLst>
          </p:cNvPr>
          <p:cNvSpPr/>
          <p:nvPr/>
        </p:nvSpPr>
        <p:spPr>
          <a:xfrm>
            <a:off x="502920" y="4178808"/>
            <a:ext cx="8138160" cy="411480"/>
          </a:xfrm>
          <a:prstGeom prst="rect">
            <a:avLst/>
          </a:prstGeom>
          <a:solidFill>
            <a:srgbClr val="EDF4FC"/>
          </a:solidFill>
          <a:ln w="12700">
            <a:solidFill>
              <a:srgbClr val="333333"/>
            </a:solidFill>
            <a:prstDash val="solid"/>
          </a:ln>
        </p:spPr>
        <p:txBody>
          <a:bodyPr/>
          <a:lstStyle/>
          <a:p>
            <a:endParaRPr lang="en-IN"/>
          </a:p>
        </p:txBody>
      </p:sp>
      <p:sp>
        <p:nvSpPr>
          <p:cNvPr id="25" name="callout accent">
            <a:extLst>
              <a:ext uri="{C183D7F6-B498-43B3-948B-1728B52AA6E4}">
                <adec:decorative xmlns:adec="http://schemas.microsoft.com/office/drawing/2017/decorative" val="1"/>
              </a:ext>
            </a:extLst>
          </p:cNvPr>
          <p:cNvSpPr/>
          <p:nvPr/>
        </p:nvSpPr>
        <p:spPr>
          <a:xfrm>
            <a:off x="502920" y="4178808"/>
            <a:ext cx="45720" cy="411480"/>
          </a:xfrm>
          <a:prstGeom prst="rect">
            <a:avLst/>
          </a:prstGeom>
          <a:solidFill>
            <a:srgbClr val="0B63CE"/>
          </a:solidFill>
          <a:ln w="12700">
            <a:solidFill>
              <a:srgbClr val="333333"/>
            </a:solidFill>
            <a:prstDash val="solid"/>
          </a:ln>
        </p:spPr>
        <p:txBody>
          <a:bodyPr/>
          <a:lstStyle/>
          <a:p>
            <a:endParaRPr lang="en-IN"/>
          </a:p>
        </p:txBody>
      </p:sp>
      <p:sp>
        <p:nvSpPr>
          <p:cNvPr id="26" name="Text 24"/>
          <p:cNvSpPr/>
          <p:nvPr/>
        </p:nvSpPr>
        <p:spPr>
          <a:xfrm>
            <a:off x="704088" y="4178808"/>
            <a:ext cx="7754112" cy="41148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Debugging   </a:t>
            </a:r>
            <a:r>
              <a:rPr lang="en-US" sz="1050" dirty="0">
                <a:solidFill>
                  <a:srgbClr val="0E2233"/>
                </a:solidFill>
                <a:latin typeface="Segoe UI" pitchFamily="34" charset="0"/>
                <a:ea typeface="Segoe UI" pitchFamily="34" charset="-122"/>
                <a:cs typeface="Segoe UI" pitchFamily="34" charset="-120"/>
              </a:rPr>
              <a:t>kubectl get endpoints is the fastest way to tell a DNS problem from a selector problem from a readiness problem.</a:t>
            </a:r>
            <a:endParaRPr lang="en-US" sz="1000" dirty="0"/>
          </a:p>
        </p:txBody>
      </p:sp>
      <p:sp>
        <p:nvSpPr>
          <p:cNvPr id="2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25</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3 · APPLICATION EXPOSURE AND CONNECTIVITY</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Choosing the right Service type</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Work down the table and stop at the first row that matches your caller.</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8138160" cy="2505456"/>
        </p:xfrm>
        <a:graphic>
          <a:graphicData uri="http://schemas.openxmlformats.org/drawingml/2006/table">
            <a:tbl>
              <a:tblPr/>
              <a:tblGrid>
                <a:gridCol w="1691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417576">
                <a:tc>
                  <a:txBody>
                    <a:bodyPr/>
                    <a:lstStyle/>
                    <a:p>
                      <a:pPr marL="0" indent="0" algn="l">
                        <a:buNone/>
                      </a:pPr>
                      <a:r>
                        <a:rPr lang="en-US" sz="825" b="1" dirty="0">
                          <a:solidFill>
                            <a:srgbClr val="FFFFFF"/>
                          </a:solidFill>
                          <a:latin typeface="Segoe UI" pitchFamily="34" charset="0"/>
                          <a:ea typeface="Segoe UI" pitchFamily="34" charset="-122"/>
                          <a:cs typeface="Segoe UI" pitchFamily="34" charset="-120"/>
                        </a:rPr>
                        <a:t>Type</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dirty="0">
                          <a:solidFill>
                            <a:srgbClr val="FFFFFF"/>
                          </a:solidFill>
                          <a:latin typeface="Segoe UI" pitchFamily="34" charset="0"/>
                          <a:ea typeface="Segoe UI" pitchFamily="34" charset="-122"/>
                          <a:cs typeface="Segoe UI" pitchFamily="34" charset="-120"/>
                        </a:rPr>
                        <a:t>Who can reach it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dirty="0">
                          <a:solidFill>
                            <a:srgbClr val="FFFFFF"/>
                          </a:solidFill>
                          <a:latin typeface="Segoe UI" pitchFamily="34" charset="0"/>
                          <a:ea typeface="Segoe UI" pitchFamily="34" charset="-122"/>
                          <a:cs typeface="Segoe UI" pitchFamily="34" charset="-120"/>
                        </a:rPr>
                        <a:t>Address you get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dirty="0">
                          <a:solidFill>
                            <a:srgbClr val="FFFFFF"/>
                          </a:solidFill>
                          <a:latin typeface="Segoe UI" pitchFamily="34" charset="0"/>
                          <a:ea typeface="Segoe UI" pitchFamily="34" charset="-122"/>
                          <a:cs typeface="Segoe UI" pitchFamily="34" charset="-120"/>
                        </a:rPr>
                        <a:t>Typical use</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dirty="0">
                          <a:solidFill>
                            <a:srgbClr val="FFFFFF"/>
                          </a:solidFill>
                          <a:latin typeface="Segoe UI" pitchFamily="34" charset="0"/>
                          <a:ea typeface="Segoe UI" pitchFamily="34" charset="-122"/>
                          <a:cs typeface="Segoe UI" pitchFamily="34" charset="-120"/>
                        </a:rPr>
                        <a:t>Cost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extLst>
                  <a:ext uri="{0D108BD9-81ED-4DB2-BD59-A6C34878D82A}">
                    <a16:rowId xmlns:a16="http://schemas.microsoft.com/office/drawing/2014/main" val="10000"/>
                  </a:ext>
                </a:extLst>
              </a:tr>
              <a:tr h="417576">
                <a:tc>
                  <a:txBody>
                    <a:bodyPr/>
                    <a:lstStyle/>
                    <a:p>
                      <a:pPr marL="0" indent="0" algn="l">
                        <a:buNone/>
                      </a:pPr>
                      <a:r>
                        <a:rPr lang="en-US" sz="825" b="1" dirty="0">
                          <a:solidFill>
                            <a:srgbClr val="0E2233"/>
                          </a:solidFill>
                          <a:latin typeface="Segoe UI" pitchFamily="34" charset="0"/>
                          <a:ea typeface="Segoe UI" pitchFamily="34" charset="-122"/>
                          <a:cs typeface="Segoe UI" pitchFamily="34" charset="-120"/>
                        </a:rPr>
                        <a:t>ClusterIP</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Pods inside the cluster only</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Virtual IP and DNS name</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Internal APIs, backends, caches, databases</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None</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7576">
                <a:tc>
                  <a:txBody>
                    <a:bodyPr/>
                    <a:lstStyle/>
                    <a:p>
                      <a:pPr marL="0" indent="0" algn="l">
                        <a:buNone/>
                      </a:pPr>
                      <a:r>
                        <a:rPr lang="en-US" sz="825" b="1" dirty="0">
                          <a:solidFill>
                            <a:srgbClr val="0E2233"/>
                          </a:solidFill>
                          <a:latin typeface="Segoe UI" pitchFamily="34" charset="0"/>
                          <a:ea typeface="Segoe UI" pitchFamily="34" charset="-122"/>
                          <a:cs typeface="Segoe UI" pitchFamily="34" charset="-120"/>
                        </a:rPr>
                        <a:t>NodePort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Anything that can reach a node IP</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Node IP plus port 30000–32767</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Testing, or an external appliance in front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None</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2"/>
                  </a:ext>
                </a:extLst>
              </a:tr>
              <a:tr h="417576">
                <a:tc>
                  <a:txBody>
                    <a:bodyPr/>
                    <a:lstStyle/>
                    <a:p>
                      <a:pPr marL="0" indent="0" algn="l">
                        <a:buNone/>
                      </a:pPr>
                      <a:r>
                        <a:rPr lang="en-US" sz="825" b="1" dirty="0">
                          <a:solidFill>
                            <a:srgbClr val="0E2233"/>
                          </a:solidFill>
                          <a:latin typeface="Segoe UI" pitchFamily="34" charset="0"/>
                          <a:ea typeface="Segoe UI" pitchFamily="34" charset="-122"/>
                          <a:cs typeface="Segoe UI" pitchFamily="34" charset="-120"/>
                        </a:rPr>
                        <a:t>LoadBalancer (internal)</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The virtual network and connected networks</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Private IP from the VNet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Services consumed from on-premises or other VNets</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Per IP</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7576">
                <a:tc>
                  <a:txBody>
                    <a:bodyPr/>
                    <a:lstStyle/>
                    <a:p>
                      <a:pPr marL="0" indent="0" algn="l">
                        <a:buNone/>
                      </a:pPr>
                      <a:r>
                        <a:rPr lang="en-US" sz="825" b="1" dirty="0">
                          <a:solidFill>
                            <a:srgbClr val="0E2233"/>
                          </a:solidFill>
                          <a:latin typeface="Segoe UI" pitchFamily="34" charset="0"/>
                          <a:ea typeface="Segoe UI" pitchFamily="34" charset="-122"/>
                          <a:cs typeface="Segoe UI" pitchFamily="34" charset="-120"/>
                        </a:rPr>
                        <a:t>LoadBalancer (public)</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The internet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Public IP</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Deliberate, reviewed public entry points only</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Per IP plus egress</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4"/>
                  </a:ext>
                </a:extLst>
              </a:tr>
              <a:tr h="417576">
                <a:tc>
                  <a:txBody>
                    <a:bodyPr/>
                    <a:lstStyle/>
                    <a:p>
                      <a:pPr marL="0" indent="0" algn="l">
                        <a:buNone/>
                      </a:pPr>
                      <a:r>
                        <a:rPr lang="en-US" sz="825" b="1" dirty="0">
                          <a:solidFill>
                            <a:srgbClr val="0E2233"/>
                          </a:solidFill>
                          <a:latin typeface="Segoe UI" pitchFamily="34" charset="0"/>
                          <a:ea typeface="Segoe UI" pitchFamily="34" charset="-122"/>
                          <a:cs typeface="Segoe UI" pitchFamily="34" charset="-120"/>
                        </a:rPr>
                        <a:t>Ingress (beyond scope)</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Whatever the ingress is exposed to</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One shared entry point</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Many HTTP services behind one address and certificate</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dirty="0">
                          <a:solidFill>
                            <a:srgbClr val="44566B"/>
                          </a:solidFill>
                          <a:latin typeface="Segoe UI" pitchFamily="34" charset="0"/>
                          <a:ea typeface="Segoe UI" pitchFamily="34" charset="-122"/>
                          <a:cs typeface="Segoe UI" pitchFamily="34" charset="-120"/>
                        </a:rPr>
                        <a:t>One shared IP</a:t>
                      </a:r>
                      <a:endParaRPr lang="en-US" sz="8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0" name="Text 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Rule of thumb   </a:t>
            </a:r>
            <a:r>
              <a:rPr lang="en-US" sz="1050" dirty="0">
                <a:solidFill>
                  <a:srgbClr val="0E2233"/>
                </a:solidFill>
                <a:latin typeface="Segoe UI" pitchFamily="34" charset="0"/>
                <a:ea typeface="Segoe UI" pitchFamily="34" charset="-122"/>
                <a:cs typeface="Segoe UI" pitchFamily="34" charset="-120"/>
              </a:rPr>
              <a:t>Most services in a well-designed estate are ClusterIP. External exposure should be rare, deliberate and reviewed.</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26</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4 · CONFIGURATION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ConfigMaps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Non-sensitive configuration, stored in the cluster and injected into Pods at run time.</a:t>
            </a:r>
            <a:endParaRPr lang="en-US" sz="1150" dirty="0"/>
          </a:p>
        </p:txBody>
      </p:sp>
      <p:sp>
        <p:nvSpPr>
          <p:cNvPr id="7" name="Text 5"/>
          <p:cNvSpPr/>
          <p:nvPr/>
        </p:nvSpPr>
        <p:spPr>
          <a:xfrm>
            <a:off x="502920" y="1481328"/>
            <a:ext cx="4023360" cy="1865376"/>
          </a:xfrm>
          <a:prstGeom prst="rect">
            <a:avLst/>
          </a:prstGeom>
          <a:noFill/>
          <a:ln/>
        </p:spPr>
        <p:txBody>
          <a:bodyPr wrap="square" lIns="0" tIns="0" rIns="0" bIns="0" rtlCol="0" anchor="t"/>
          <a:lstStyle/>
          <a:p>
            <a:pPr marL="342900" indent="-342900">
              <a:spcAft>
                <a:spcPts val="900"/>
              </a:spcAft>
              <a:buSzPct val="100000"/>
              <a:buChar char="•"/>
            </a:pPr>
            <a:r>
              <a:rPr lang="en-US" sz="875" dirty="0">
                <a:solidFill>
                  <a:srgbClr val="44566B"/>
                </a:solidFill>
                <a:latin typeface="Segoe UI" pitchFamily="34" charset="0"/>
                <a:ea typeface="Segoe UI" pitchFamily="34" charset="-122"/>
                <a:cs typeface="Segoe UI" pitchFamily="34" charset="-120"/>
              </a:rPr>
              <a:t>Keeps environment-specific settings out of the image, so one artefact promotes cleanly</a:t>
            </a:r>
            <a:endParaRPr lang="en-US" sz="875" dirty="0"/>
          </a:p>
          <a:p>
            <a:pPr marL="342900" indent="-342900">
              <a:spcAft>
                <a:spcPts val="900"/>
              </a:spcAft>
              <a:buSzPct val="100000"/>
              <a:buChar char="•"/>
            </a:pPr>
            <a:r>
              <a:rPr lang="en-US" sz="875" dirty="0">
                <a:solidFill>
                  <a:srgbClr val="44566B"/>
                </a:solidFill>
                <a:latin typeface="Segoe UI" pitchFamily="34" charset="0"/>
                <a:ea typeface="Segoe UI" pitchFamily="34" charset="-122"/>
                <a:cs typeface="Segoe UI" pitchFamily="34" charset="-120"/>
              </a:rPr>
              <a:t>Holds simple key-value pairs, whole configuration files, or both</a:t>
            </a:r>
            <a:endParaRPr lang="en-US" sz="875" dirty="0"/>
          </a:p>
          <a:p>
            <a:pPr marL="342900" indent="-342900">
              <a:spcAft>
                <a:spcPts val="900"/>
              </a:spcAft>
              <a:buSzPct val="100000"/>
              <a:buChar char="•"/>
            </a:pPr>
            <a:r>
              <a:rPr lang="en-US" sz="875" dirty="0">
                <a:solidFill>
                  <a:srgbClr val="44566B"/>
                </a:solidFill>
                <a:latin typeface="Segoe UI" pitchFamily="34" charset="0"/>
                <a:ea typeface="Segoe UI" pitchFamily="34" charset="-122"/>
                <a:cs typeface="Segoe UI" pitchFamily="34" charset="-120"/>
              </a:rPr>
              <a:t>Consumed as environment variables or mounted as files</a:t>
            </a:r>
            <a:endParaRPr lang="en-US" sz="875" dirty="0"/>
          </a:p>
          <a:p>
            <a:pPr marL="342900" indent="-342900">
              <a:spcAft>
                <a:spcPts val="900"/>
              </a:spcAft>
              <a:buSzPct val="100000"/>
              <a:buChar char="•"/>
            </a:pPr>
            <a:r>
              <a:rPr lang="en-US" sz="875" dirty="0">
                <a:solidFill>
                  <a:srgbClr val="44566B"/>
                </a:solidFill>
                <a:latin typeface="Segoe UI" pitchFamily="34" charset="0"/>
                <a:ea typeface="Segoe UI" pitchFamily="34" charset="-122"/>
                <a:cs typeface="Segoe UI" pitchFamily="34" charset="-120"/>
              </a:rPr>
              <a:t>Lives in a namespace — a Pod can only use ConfigMaps from its own namespace</a:t>
            </a:r>
            <a:endParaRPr lang="en-US" sz="875" dirty="0"/>
          </a:p>
          <a:p>
            <a:pPr marL="342900" indent="-342900">
              <a:spcAft>
                <a:spcPts val="900"/>
              </a:spcAft>
              <a:buSzPct val="100000"/>
              <a:buChar char="•"/>
            </a:pPr>
            <a:r>
              <a:rPr lang="en-US" sz="875" dirty="0">
                <a:solidFill>
                  <a:srgbClr val="44566B"/>
                </a:solidFill>
                <a:latin typeface="Segoe UI" pitchFamily="34" charset="0"/>
                <a:ea typeface="Segoe UI" pitchFamily="34" charset="-122"/>
                <a:cs typeface="Segoe UI" pitchFamily="34" charset="-120"/>
              </a:rPr>
              <a:t>Not encrypted and not for credentials — that is what Secrets are for</a:t>
            </a:r>
            <a:endParaRPr lang="en-US" sz="875" dirty="0"/>
          </a:p>
        </p:txBody>
      </p:sp>
      <p:sp>
        <p:nvSpPr>
          <p:cNvPr id="8" name="code panel">
            <a:extLst>
              <a:ext uri="{C183D7F6-B498-43B3-948B-1728B52AA6E4}">
                <adec:decorative xmlns:adec="http://schemas.microsoft.com/office/drawing/2017/decorative" val="1"/>
              </a:ext>
            </a:extLst>
          </p:cNvPr>
          <p:cNvSpPr/>
          <p:nvPr/>
        </p:nvSpPr>
        <p:spPr>
          <a:xfrm>
            <a:off x="4709160" y="1481328"/>
            <a:ext cx="3931920" cy="186537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9" name="code panel header">
            <a:extLst>
              <a:ext uri="{C183D7F6-B498-43B3-948B-1728B52AA6E4}">
                <adec:decorative xmlns:adec="http://schemas.microsoft.com/office/drawing/2017/decorative" val="1"/>
              </a:ext>
            </a:extLst>
          </p:cNvPr>
          <p:cNvSpPr/>
          <p:nvPr/>
        </p:nvSpPr>
        <p:spPr>
          <a:xfrm>
            <a:off x="4709160" y="1481328"/>
            <a:ext cx="3931920" cy="256032"/>
          </a:xfrm>
          <a:prstGeom prst="rect">
            <a:avLst/>
          </a:prstGeom>
          <a:solidFill>
            <a:srgbClr val="0F3D66"/>
          </a:solidFill>
          <a:ln w="12700">
            <a:solidFill>
              <a:srgbClr val="333333"/>
            </a:solidFill>
            <a:prstDash val="solid"/>
          </a:ln>
        </p:spPr>
        <p:txBody>
          <a:bodyPr/>
          <a:lstStyle/>
          <a:p>
            <a:endParaRPr lang="en-IN"/>
          </a:p>
        </p:txBody>
      </p:sp>
      <p:sp>
        <p:nvSpPr>
          <p:cNvPr id="10" name="Text 8"/>
          <p:cNvSpPr/>
          <p:nvPr/>
        </p:nvSpPr>
        <p:spPr>
          <a:xfrm>
            <a:off x="4855464" y="1481328"/>
            <a:ext cx="36393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configmap.yaml</a:t>
            </a:r>
            <a:endParaRPr lang="en-US" sz="850" dirty="0"/>
          </a:p>
        </p:txBody>
      </p:sp>
      <p:sp>
        <p:nvSpPr>
          <p:cNvPr id="11" name="Text 9"/>
          <p:cNvSpPr/>
          <p:nvPr/>
        </p:nvSpPr>
        <p:spPr>
          <a:xfrm>
            <a:off x="4855464" y="1810512"/>
            <a:ext cx="3639312" cy="1389888"/>
          </a:xfrm>
          <a:prstGeom prst="rect">
            <a:avLst/>
          </a:prstGeom>
          <a:noFill/>
          <a:ln/>
        </p:spPr>
        <p:txBody>
          <a:bodyPr wrap="square" lIns="0" tIns="0" rIns="0" bIns="0" rtlCol="0" anchor="t"/>
          <a:lstStyle/>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kind: ConfigMap</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metadata:</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name: payments-config</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data:</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LOG_LEVEL: 'Information'</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FEATURE_NEW_LIMITS: 'true'</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LEDGER_URL: 'http://ledger-api.ledger'</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appsettings.json: |          # a whole file</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"Retry": { "Count": 3, "DelayMs": 500 }</a:t>
            </a:r>
            <a:endParaRPr lang="en-US" sz="740" dirty="0"/>
          </a:p>
          <a:p>
            <a:pPr marL="0" indent="0">
              <a:lnSpc>
                <a:spcPct val="112000"/>
              </a:lnSpc>
              <a:buNone/>
            </a:pPr>
            <a:r>
              <a:rPr lang="en-US" sz="740" dirty="0">
                <a:solidFill>
                  <a:srgbClr val="D7ECF8"/>
                </a:solidFill>
                <a:latin typeface="Consolas" pitchFamily="34" charset="0"/>
                <a:ea typeface="Consolas" pitchFamily="34" charset="-122"/>
                <a:cs typeface="Consolas" pitchFamily="34" charset="-120"/>
              </a:rPr>
              <a:t>    }</a:t>
            </a:r>
            <a:endParaRPr lang="en-US" sz="740" dirty="0"/>
          </a:p>
        </p:txBody>
      </p:sp>
      <p:sp>
        <p:nvSpPr>
          <p:cNvPr id="12"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3"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One per environment</a:t>
            </a:r>
            <a:endParaRPr lang="en-US" sz="1100" dirty="0"/>
          </a:p>
        </p:txBody>
      </p:sp>
      <p:sp>
        <p:nvSpPr>
          <p:cNvPr id="15" name="Text 13"/>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Same Deployment, different ConfigMap per namespace or cluster</a:t>
            </a:r>
            <a:endParaRPr lang="en-US" sz="800" dirty="0"/>
          </a:p>
        </p:txBody>
      </p:sp>
      <p:sp>
        <p:nvSpPr>
          <p:cNvPr id="16"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7"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18" name="Text 16"/>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Keep it in Git</a:t>
            </a:r>
            <a:endParaRPr lang="en-US" sz="1100" dirty="0"/>
          </a:p>
        </p:txBody>
      </p:sp>
      <p:sp>
        <p:nvSpPr>
          <p:cNvPr id="19" name="Text 17"/>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Non-sensitive by definition, so it belongs in version control</a:t>
            </a:r>
            <a:endParaRPr lang="en-US" sz="800" dirty="0"/>
          </a:p>
        </p:txBody>
      </p:sp>
      <p:sp>
        <p:nvSpPr>
          <p:cNvPr id="20"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1"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F2A93B"/>
          </a:solidFill>
          <a:ln w="12700">
            <a:solidFill>
              <a:srgbClr val="333333"/>
            </a:solidFill>
            <a:prstDash val="solid"/>
          </a:ln>
        </p:spPr>
        <p:txBody>
          <a:bodyPr/>
          <a:lstStyle/>
          <a:p>
            <a:endParaRPr lang="en-IN"/>
          </a:p>
        </p:txBody>
      </p:sp>
      <p:sp>
        <p:nvSpPr>
          <p:cNvPr id="22" name="Text 20"/>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Watch the size</a:t>
            </a:r>
            <a:endParaRPr lang="en-US" sz="1100" dirty="0"/>
          </a:p>
        </p:txBody>
      </p:sp>
      <p:sp>
        <p:nvSpPr>
          <p:cNvPr id="23" name="Text 21"/>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Limited to about 1 MB — it is configuration, not content</a:t>
            </a:r>
            <a:endParaRPr lang="en-US" sz="8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27</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4 · CONFIGURATION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Secrets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The same shape as a ConfigMap, but intended for sensitive values and handled with more care.</a:t>
            </a:r>
            <a:endParaRPr lang="en-US" sz="1150" dirty="0"/>
          </a:p>
        </p:txBody>
      </p:sp>
      <p:sp>
        <p:nvSpPr>
          <p:cNvPr id="7" name="code panel">
            <a:extLst>
              <a:ext uri="{C183D7F6-B498-43B3-948B-1728B52AA6E4}">
                <adec:decorative xmlns:adec="http://schemas.microsoft.com/office/drawing/2017/decorative" val="1"/>
              </a:ext>
            </a:extLst>
          </p:cNvPr>
          <p:cNvSpPr/>
          <p:nvPr/>
        </p:nvSpPr>
        <p:spPr>
          <a:xfrm>
            <a:off x="502920" y="1481328"/>
            <a:ext cx="4023360" cy="25146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02336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73075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secret.yaml</a:t>
            </a:r>
            <a:endParaRPr lang="en-US" sz="850" dirty="0"/>
          </a:p>
        </p:txBody>
      </p:sp>
      <p:sp>
        <p:nvSpPr>
          <p:cNvPr id="10" name="Text 8"/>
          <p:cNvSpPr/>
          <p:nvPr/>
        </p:nvSpPr>
        <p:spPr>
          <a:xfrm>
            <a:off x="649224" y="1810512"/>
            <a:ext cx="3730752" cy="2039112"/>
          </a:xfrm>
          <a:prstGeom prst="rect">
            <a:avLst/>
          </a:prstGeom>
          <a:noFill/>
          <a:ln/>
        </p:spPr>
        <p:txBody>
          <a:bodyPr wrap="square" lIns="0" tIns="0" rIns="0" bIns="0" rtlCol="0" anchor="t"/>
          <a:lstStyle/>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apiVersion: v1</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kind: Secret</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metadata:</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  name: payments-secrets</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type: Opaque</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stringData:              # plain text in, base64 stored</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  DB_PASSWORD: 'S3cur3!'</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a:t>
            </a:r>
            <a:endParaRPr lang="en-US" sz="796" dirty="0"/>
          </a:p>
          <a:p>
            <a:pPr marL="0" indent="0">
              <a:lnSpc>
                <a:spcPct val="112000"/>
              </a:lnSpc>
              <a:buNone/>
            </a:pPr>
            <a:r>
              <a:rPr lang="en-US" sz="796" dirty="0">
                <a:solidFill>
                  <a:srgbClr val="7FA9C6"/>
                </a:solidFill>
                <a:latin typeface="Consolas" pitchFamily="34" charset="0"/>
                <a:ea typeface="Consolas" pitchFamily="34" charset="-122"/>
                <a:cs typeface="Consolas" pitchFamily="34" charset="-120"/>
              </a:rPr>
              <a:t># reference it from the Pod spec</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env:</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  - name: DB_PASSWORD</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    valueFrom:</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      secretKeyRef:</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        name: payments-secrets</a:t>
            </a:r>
            <a:endParaRPr lang="en-US" sz="796" dirty="0"/>
          </a:p>
          <a:p>
            <a:pPr marL="0" indent="0">
              <a:lnSpc>
                <a:spcPct val="112000"/>
              </a:lnSpc>
              <a:buNone/>
            </a:pPr>
            <a:r>
              <a:rPr lang="en-US" sz="796" dirty="0">
                <a:solidFill>
                  <a:srgbClr val="D7ECF8"/>
                </a:solidFill>
                <a:latin typeface="Consolas" pitchFamily="34" charset="0"/>
                <a:ea typeface="Consolas" pitchFamily="34" charset="-122"/>
                <a:cs typeface="Consolas" pitchFamily="34" charset="-120"/>
              </a:rPr>
              <a:t>        key: DB_PASSWORD</a:t>
            </a:r>
            <a:endParaRPr lang="en-US" sz="796" dirty="0"/>
          </a:p>
        </p:txBody>
      </p:sp>
      <p:sp>
        <p:nvSpPr>
          <p:cNvPr id="11" name="card">
            <a:extLst>
              <a:ext uri="{C183D7F6-B498-43B3-948B-1728B52AA6E4}">
                <adec:decorative xmlns:adec="http://schemas.microsoft.com/office/drawing/2017/decorative" val="1"/>
              </a:ext>
            </a:extLst>
          </p:cNvPr>
          <p:cNvSpPr/>
          <p:nvPr/>
        </p:nvSpPr>
        <p:spPr>
          <a:xfrm>
            <a:off x="4709160" y="1481328"/>
            <a:ext cx="3931920" cy="75285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4709160" y="1481328"/>
            <a:ext cx="3931920" cy="41148"/>
          </a:xfrm>
          <a:prstGeom prst="rect">
            <a:avLst/>
          </a:prstGeom>
          <a:solidFill>
            <a:srgbClr val="D0483C"/>
          </a:solidFill>
          <a:ln w="12700">
            <a:solidFill>
              <a:srgbClr val="333333"/>
            </a:solidFill>
            <a:prstDash val="solid"/>
          </a:ln>
        </p:spPr>
        <p:txBody>
          <a:bodyPr/>
          <a:lstStyle/>
          <a:p>
            <a:endParaRPr lang="en-IN"/>
          </a:p>
        </p:txBody>
      </p:sp>
      <p:sp>
        <p:nvSpPr>
          <p:cNvPr id="13" name="Text 11"/>
          <p:cNvSpPr/>
          <p:nvPr/>
        </p:nvSpPr>
        <p:spPr>
          <a:xfrm>
            <a:off x="4910328" y="1591056"/>
            <a:ext cx="3529584" cy="173736"/>
          </a:xfrm>
          <a:prstGeom prst="rect">
            <a:avLst/>
          </a:prstGeom>
          <a:noFill/>
          <a:ln/>
        </p:spPr>
        <p:txBody>
          <a:bodyPr wrap="square" lIns="0" tIns="0" rIns="0" bIns="0" rtlCol="0" anchor="ctr"/>
          <a:lstStyle/>
          <a:p>
            <a:pPr marL="0" indent="0">
              <a:buNone/>
            </a:pPr>
            <a:r>
              <a:rPr lang="en-US" sz="900" b="1" kern="0" spc="120" dirty="0">
                <a:solidFill>
                  <a:srgbClr val="D0483C"/>
                </a:solidFill>
                <a:latin typeface="Segoe UI" pitchFamily="34" charset="0"/>
                <a:ea typeface="Segoe UI" pitchFamily="34" charset="-122"/>
                <a:cs typeface="Segoe UI" pitchFamily="34" charset="-120"/>
              </a:rPr>
              <a:t>IMPORTANT</a:t>
            </a:r>
            <a:endParaRPr lang="en-US" sz="900" dirty="0"/>
          </a:p>
        </p:txBody>
      </p:sp>
      <p:sp>
        <p:nvSpPr>
          <p:cNvPr id="14" name="Text 12"/>
          <p:cNvSpPr/>
          <p:nvPr/>
        </p:nvSpPr>
        <p:spPr>
          <a:xfrm>
            <a:off x="4910328" y="1792224"/>
            <a:ext cx="3529584"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Base64 is not encryption</a:t>
            </a:r>
            <a:endParaRPr lang="en-US" sz="850" dirty="0"/>
          </a:p>
        </p:txBody>
      </p:sp>
      <p:sp>
        <p:nvSpPr>
          <p:cNvPr id="15" name="Text 13"/>
          <p:cNvSpPr/>
          <p:nvPr/>
        </p:nvSpPr>
        <p:spPr>
          <a:xfrm>
            <a:off x="4910328" y="2040636"/>
            <a:ext cx="3529584" cy="146304"/>
          </a:xfrm>
          <a:prstGeom prst="rect">
            <a:avLst/>
          </a:prstGeom>
          <a:noFill/>
          <a:ln/>
        </p:spPr>
        <p:txBody>
          <a:bodyPr wrap="square" lIns="0" tIns="0" rIns="0" bIns="0" rtlCol="0" anchor="t"/>
          <a:lstStyle/>
          <a:p>
            <a:pPr marL="0" indent="0">
              <a:lnSpc>
                <a:spcPct val="115000"/>
              </a:lnSpc>
              <a:buNone/>
            </a:pPr>
            <a:r>
              <a:rPr lang="en-US" sz="825" dirty="0">
                <a:solidFill>
                  <a:srgbClr val="44566B"/>
                </a:solidFill>
                <a:latin typeface="Segoe UI" pitchFamily="34" charset="0"/>
                <a:ea typeface="Segoe UI" pitchFamily="34" charset="-122"/>
                <a:cs typeface="Segoe UI" pitchFamily="34" charset="-120"/>
              </a:rPr>
              <a:t>Encoding only — anyone with read access can decode it.</a:t>
            </a:r>
            <a:endParaRPr lang="en-US" sz="825" dirty="0"/>
          </a:p>
        </p:txBody>
      </p:sp>
      <p:sp>
        <p:nvSpPr>
          <p:cNvPr id="16" name="card">
            <a:extLst>
              <a:ext uri="{C183D7F6-B498-43B3-948B-1728B52AA6E4}">
                <adec:decorative xmlns:adec="http://schemas.microsoft.com/office/drawing/2017/decorative" val="1"/>
              </a:ext>
            </a:extLst>
          </p:cNvPr>
          <p:cNvSpPr/>
          <p:nvPr/>
        </p:nvSpPr>
        <p:spPr>
          <a:xfrm>
            <a:off x="4709160" y="2362200"/>
            <a:ext cx="3931920" cy="752856"/>
          </a:xfrm>
          <a:prstGeom prst="rect">
            <a:avLst/>
          </a:prstGeom>
          <a:solidFill>
            <a:srgbClr val="F6F9FD"/>
          </a:solidFill>
          <a:ln w="9525">
            <a:solidFill>
              <a:srgbClr val="D8E5F2"/>
            </a:solidFill>
            <a:prstDash val="solid"/>
          </a:ln>
        </p:spPr>
        <p:txBody>
          <a:bodyPr/>
          <a:lstStyle/>
          <a:p>
            <a:endParaRPr lang="en-IN"/>
          </a:p>
        </p:txBody>
      </p:sp>
      <p:sp>
        <p:nvSpPr>
          <p:cNvPr id="17" name="card accent">
            <a:extLst>
              <a:ext uri="{C183D7F6-B498-43B3-948B-1728B52AA6E4}">
                <adec:decorative xmlns:adec="http://schemas.microsoft.com/office/drawing/2017/decorative" val="1"/>
              </a:ext>
            </a:extLst>
          </p:cNvPr>
          <p:cNvSpPr/>
          <p:nvPr/>
        </p:nvSpPr>
        <p:spPr>
          <a:xfrm>
            <a:off x="4709160" y="2362200"/>
            <a:ext cx="3931920" cy="41148"/>
          </a:xfrm>
          <a:prstGeom prst="rect">
            <a:avLst/>
          </a:prstGeom>
          <a:solidFill>
            <a:srgbClr val="0B63CE"/>
          </a:solidFill>
          <a:ln w="12700">
            <a:solidFill>
              <a:srgbClr val="333333"/>
            </a:solidFill>
            <a:prstDash val="solid"/>
          </a:ln>
        </p:spPr>
        <p:txBody>
          <a:bodyPr/>
          <a:lstStyle/>
          <a:p>
            <a:endParaRPr lang="en-IN"/>
          </a:p>
        </p:txBody>
      </p:sp>
      <p:sp>
        <p:nvSpPr>
          <p:cNvPr id="18" name="Text 16"/>
          <p:cNvSpPr/>
          <p:nvPr/>
        </p:nvSpPr>
        <p:spPr>
          <a:xfrm>
            <a:off x="4910328" y="2471928"/>
            <a:ext cx="3529584" cy="173736"/>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PROTECT</a:t>
            </a:r>
            <a:endParaRPr lang="en-US" sz="900" dirty="0"/>
          </a:p>
        </p:txBody>
      </p:sp>
      <p:sp>
        <p:nvSpPr>
          <p:cNvPr id="19" name="Text 17"/>
          <p:cNvSpPr/>
          <p:nvPr/>
        </p:nvSpPr>
        <p:spPr>
          <a:xfrm>
            <a:off x="4910328" y="2673096"/>
            <a:ext cx="3529584"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Control access with RBAC</a:t>
            </a:r>
            <a:endParaRPr lang="en-US" sz="850" dirty="0"/>
          </a:p>
        </p:txBody>
      </p:sp>
      <p:sp>
        <p:nvSpPr>
          <p:cNvPr id="20" name="Text 18"/>
          <p:cNvSpPr/>
          <p:nvPr/>
        </p:nvSpPr>
        <p:spPr>
          <a:xfrm>
            <a:off x="4910328" y="2921508"/>
            <a:ext cx="3529584" cy="146304"/>
          </a:xfrm>
          <a:prstGeom prst="rect">
            <a:avLst/>
          </a:prstGeom>
          <a:noFill/>
          <a:ln/>
        </p:spPr>
        <p:txBody>
          <a:bodyPr wrap="square" lIns="0" tIns="0" rIns="0" bIns="0" rtlCol="0" anchor="t"/>
          <a:lstStyle/>
          <a:p>
            <a:pPr marL="0" indent="0">
              <a:lnSpc>
                <a:spcPct val="115000"/>
              </a:lnSpc>
              <a:buNone/>
            </a:pPr>
            <a:r>
              <a:rPr lang="en-US" sz="825" dirty="0">
                <a:solidFill>
                  <a:srgbClr val="44566B"/>
                </a:solidFill>
                <a:latin typeface="Segoe UI" pitchFamily="34" charset="0"/>
                <a:ea typeface="Segoe UI" pitchFamily="34" charset="-122"/>
                <a:cs typeface="Segoe UI" pitchFamily="34" charset="-120"/>
              </a:rPr>
              <a:t>Scope and review read access namespace by namespace.</a:t>
            </a:r>
            <a:endParaRPr lang="en-US" sz="825" dirty="0"/>
          </a:p>
        </p:txBody>
      </p:sp>
      <p:sp>
        <p:nvSpPr>
          <p:cNvPr id="21" name="card">
            <a:extLst>
              <a:ext uri="{C183D7F6-B498-43B3-948B-1728B52AA6E4}">
                <adec:decorative xmlns:adec="http://schemas.microsoft.com/office/drawing/2017/decorative" val="1"/>
              </a:ext>
            </a:extLst>
          </p:cNvPr>
          <p:cNvSpPr/>
          <p:nvPr/>
        </p:nvSpPr>
        <p:spPr>
          <a:xfrm>
            <a:off x="4709160" y="3243072"/>
            <a:ext cx="3931920" cy="752856"/>
          </a:xfrm>
          <a:prstGeom prst="rect">
            <a:avLst/>
          </a:prstGeom>
          <a:solidFill>
            <a:srgbClr val="F6F9FD"/>
          </a:solidFill>
          <a:ln w="9525">
            <a:solidFill>
              <a:srgbClr val="D8E5F2"/>
            </a:solidFill>
            <a:prstDash val="solid"/>
          </a:ln>
        </p:spPr>
        <p:txBody>
          <a:bodyPr/>
          <a:lstStyle/>
          <a:p>
            <a:endParaRPr lang="en-IN"/>
          </a:p>
        </p:txBody>
      </p:sp>
      <p:sp>
        <p:nvSpPr>
          <p:cNvPr id="22" name="card accent">
            <a:extLst>
              <a:ext uri="{C183D7F6-B498-43B3-948B-1728B52AA6E4}">
                <adec:decorative xmlns:adec="http://schemas.microsoft.com/office/drawing/2017/decorative" val="1"/>
              </a:ext>
            </a:extLst>
          </p:cNvPr>
          <p:cNvSpPr/>
          <p:nvPr/>
        </p:nvSpPr>
        <p:spPr>
          <a:xfrm>
            <a:off x="4709160" y="3243072"/>
            <a:ext cx="3931920" cy="41148"/>
          </a:xfrm>
          <a:prstGeom prst="rect">
            <a:avLst/>
          </a:prstGeom>
          <a:solidFill>
            <a:srgbClr val="2E9E6B"/>
          </a:solidFill>
          <a:ln w="12700">
            <a:solidFill>
              <a:srgbClr val="333333"/>
            </a:solidFill>
            <a:prstDash val="solid"/>
          </a:ln>
        </p:spPr>
        <p:txBody>
          <a:bodyPr/>
          <a:lstStyle/>
          <a:p>
            <a:endParaRPr lang="en-IN"/>
          </a:p>
        </p:txBody>
      </p:sp>
      <p:sp>
        <p:nvSpPr>
          <p:cNvPr id="23" name="Text 21"/>
          <p:cNvSpPr/>
          <p:nvPr/>
        </p:nvSpPr>
        <p:spPr>
          <a:xfrm>
            <a:off x="4910328" y="3352800"/>
            <a:ext cx="3529584" cy="173736"/>
          </a:xfrm>
          <a:prstGeom prst="rect">
            <a:avLst/>
          </a:prstGeom>
          <a:noFill/>
          <a:ln/>
        </p:spPr>
        <p:txBody>
          <a:bodyPr wrap="square" lIns="0" tIns="0" rIns="0" bIns="0" rtlCol="0" anchor="ctr"/>
          <a:lstStyle/>
          <a:p>
            <a:pPr marL="0" indent="0">
              <a:buNone/>
            </a:pPr>
            <a:r>
              <a:rPr lang="en-US" sz="900" b="1" kern="0" spc="120" dirty="0">
                <a:solidFill>
                  <a:srgbClr val="2E9E6B"/>
                </a:solidFill>
                <a:latin typeface="Segoe UI" pitchFamily="34" charset="0"/>
                <a:ea typeface="Segoe UI" pitchFamily="34" charset="-122"/>
                <a:cs typeface="Segoe UI" pitchFamily="34" charset="-120"/>
              </a:rPr>
              <a:t>PREFER</a:t>
            </a:r>
            <a:endParaRPr lang="en-US" sz="900" dirty="0"/>
          </a:p>
        </p:txBody>
      </p:sp>
      <p:sp>
        <p:nvSpPr>
          <p:cNvPr id="24" name="Text 22"/>
          <p:cNvSpPr/>
          <p:nvPr/>
        </p:nvSpPr>
        <p:spPr>
          <a:xfrm>
            <a:off x="4910328" y="3553968"/>
            <a:ext cx="3529584"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Key Vault for real secrets</a:t>
            </a:r>
            <a:endParaRPr lang="en-US" sz="850" dirty="0"/>
          </a:p>
        </p:txBody>
      </p:sp>
      <p:sp>
        <p:nvSpPr>
          <p:cNvPr id="25" name="Text 23"/>
          <p:cNvSpPr/>
          <p:nvPr/>
        </p:nvSpPr>
        <p:spPr>
          <a:xfrm>
            <a:off x="4910328" y="3802380"/>
            <a:ext cx="3529584" cy="146304"/>
          </a:xfrm>
          <a:prstGeom prst="rect">
            <a:avLst/>
          </a:prstGeom>
          <a:noFill/>
          <a:ln/>
        </p:spPr>
        <p:txBody>
          <a:bodyPr wrap="square" lIns="0" tIns="0" rIns="0" bIns="0" rtlCol="0" anchor="t"/>
          <a:lstStyle/>
          <a:p>
            <a:pPr marL="0" indent="0">
              <a:lnSpc>
                <a:spcPct val="115000"/>
              </a:lnSpc>
              <a:buNone/>
            </a:pPr>
            <a:r>
              <a:rPr lang="en-US" sz="825" dirty="0">
                <a:solidFill>
                  <a:srgbClr val="44566B"/>
                </a:solidFill>
                <a:latin typeface="Segoe UI" pitchFamily="34" charset="0"/>
                <a:ea typeface="Segoe UI" pitchFamily="34" charset="-122"/>
                <a:cs typeface="Segoe UI" pitchFamily="34" charset="-120"/>
              </a:rPr>
              <a:t>Use the CSI driver with workload identity instead.</a:t>
            </a:r>
            <a:endParaRPr lang="en-US" sz="825" dirty="0"/>
          </a:p>
        </p:txBody>
      </p:sp>
      <p:sp>
        <p:nvSpPr>
          <p:cNvPr id="26"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7"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28" name="Text 26"/>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D0483C"/>
                </a:solidFill>
                <a:latin typeface="Segoe UI" pitchFamily="34" charset="0"/>
                <a:ea typeface="Segoe UI" pitchFamily="34" charset="-122"/>
                <a:cs typeface="Segoe UI" pitchFamily="34" charset="-120"/>
              </a:rPr>
              <a:t>Non-negotiable   </a:t>
            </a:r>
            <a:r>
              <a:rPr lang="en-US" sz="1050" dirty="0">
                <a:solidFill>
                  <a:srgbClr val="0E2233"/>
                </a:solidFill>
                <a:latin typeface="Segoe UI" pitchFamily="34" charset="0"/>
                <a:ea typeface="Segoe UI" pitchFamily="34" charset="-122"/>
                <a:cs typeface="Segoe UI" pitchFamily="34" charset="-120"/>
              </a:rPr>
              <a:t>Never commit a Secret manifest containing real credentials to a repository. Generate them in the pipeline, or project them from Azure Key Vault.</a:t>
            </a:r>
            <a:endParaRPr lang="en-US" sz="1000" dirty="0"/>
          </a:p>
        </p:txBody>
      </p:sp>
      <p:sp>
        <p:nvSpPr>
          <p:cNvPr id="29"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28</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4 · CONFIGURATION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Environment variables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The simplest way to inject configuration — read once by the application at start-up.</a:t>
            </a:r>
            <a:endParaRPr lang="en-US" sz="1150" dirty="0"/>
          </a:p>
        </p:txBody>
      </p:sp>
      <p:sp>
        <p:nvSpPr>
          <p:cNvPr id="7" name="code panel">
            <a:extLst>
              <a:ext uri="{C183D7F6-B498-43B3-948B-1728B52AA6E4}">
                <adec:decorative xmlns:adec="http://schemas.microsoft.com/office/drawing/2017/decorative" val="1"/>
              </a:ext>
            </a:extLst>
          </p:cNvPr>
          <p:cNvSpPr/>
          <p:nvPr/>
        </p:nvSpPr>
        <p:spPr>
          <a:xfrm>
            <a:off x="502920" y="1481328"/>
            <a:ext cx="484632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84632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45537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Four ways to set an environment variable</a:t>
            </a:r>
            <a:endParaRPr lang="en-US" sz="850" dirty="0"/>
          </a:p>
        </p:txBody>
      </p:sp>
      <p:sp>
        <p:nvSpPr>
          <p:cNvPr id="10" name="Text 8"/>
          <p:cNvSpPr/>
          <p:nvPr/>
        </p:nvSpPr>
        <p:spPr>
          <a:xfrm>
            <a:off x="649224" y="1810512"/>
            <a:ext cx="4553712" cy="2121408"/>
          </a:xfrm>
          <a:prstGeom prst="rect">
            <a:avLst/>
          </a:prstGeom>
          <a:noFill/>
          <a:ln/>
        </p:spPr>
        <p:txBody>
          <a:bodyPr wrap="square" lIns="0" tIns="0" rIns="0" bIns="0" rtlCol="0" anchor="t"/>
          <a:lstStyle/>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spec:</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containers: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api</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env:</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LOG_LEVEL          # a literal value</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value: 'Information'</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LEDGER_URL         # one ConfigMap key</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valueFrom:</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configMapKeyRef:</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name: payments-config</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key: LEDGER_URL</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POD_NAME           # about itself</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valueFrom:</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fieldRef: { fieldPath: metadata.name }</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envFrom:                     # every key at once</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configMapRef: { name: payments-config }</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secretRef:    { name: payments-secrets }</a:t>
            </a:r>
            <a:endParaRPr lang="en-US" sz="731" dirty="0"/>
          </a:p>
        </p:txBody>
      </p:sp>
      <p:sp>
        <p:nvSpPr>
          <p:cNvPr id="11" name="card">
            <a:extLst>
              <a:ext uri="{C183D7F6-B498-43B3-948B-1728B52AA6E4}">
                <adec:decorative xmlns:adec="http://schemas.microsoft.com/office/drawing/2017/decorative" val="1"/>
              </a:ext>
            </a:extLst>
          </p:cNvPr>
          <p:cNvSpPr/>
          <p:nvPr/>
        </p:nvSpPr>
        <p:spPr>
          <a:xfrm>
            <a:off x="5577840" y="1481328"/>
            <a:ext cx="3063240" cy="76809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5577840" y="1481328"/>
            <a:ext cx="3063240" cy="41148"/>
          </a:xfrm>
          <a:prstGeom prst="rect">
            <a:avLst/>
          </a:prstGeom>
          <a:solidFill>
            <a:srgbClr val="2E9E6B"/>
          </a:solidFill>
          <a:ln w="12700">
            <a:solidFill>
              <a:srgbClr val="333333"/>
            </a:solidFill>
            <a:prstDash val="solid"/>
          </a:ln>
        </p:spPr>
        <p:txBody>
          <a:bodyPr/>
          <a:lstStyle/>
          <a:p>
            <a:endParaRPr lang="en-IN"/>
          </a:p>
        </p:txBody>
      </p:sp>
      <p:sp>
        <p:nvSpPr>
          <p:cNvPr id="13" name="Text 11"/>
          <p:cNvSpPr/>
          <p:nvPr/>
        </p:nvSpPr>
        <p:spPr>
          <a:xfrm>
            <a:off x="5779008" y="1591056"/>
            <a:ext cx="2660904" cy="23774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Good for</a:t>
            </a:r>
            <a:endParaRPr lang="en-US" sz="1200" dirty="0"/>
          </a:p>
        </p:txBody>
      </p:sp>
      <p:sp>
        <p:nvSpPr>
          <p:cNvPr id="14" name="Text 12"/>
          <p:cNvSpPr/>
          <p:nvPr/>
        </p:nvSpPr>
        <p:spPr>
          <a:xfrm>
            <a:off x="5779008" y="1892808"/>
            <a:ext cx="2660904" cy="265176"/>
          </a:xfrm>
          <a:prstGeom prst="rect">
            <a:avLst/>
          </a:prstGeom>
          <a:noFill/>
          <a:ln/>
        </p:spPr>
        <p:txBody>
          <a:bodyPr wrap="square" lIns="0" tIns="0" rIns="0" bIns="0" rtlCol="0" anchor="t"/>
          <a:lstStyle/>
          <a:p>
            <a:pPr marL="0" indent="0">
              <a:lnSpc>
                <a:spcPct val="115000"/>
              </a:lnSpc>
              <a:buNone/>
            </a:pPr>
            <a:r>
              <a:rPr lang="en-US" sz="750" dirty="0">
                <a:solidFill>
                  <a:srgbClr val="44566B"/>
                </a:solidFill>
                <a:latin typeface="Segoe UI" pitchFamily="34" charset="0"/>
                <a:ea typeface="Segoe UI" pitchFamily="34" charset="-122"/>
                <a:cs typeface="Segoe UI" pitchFamily="34" charset="-120"/>
              </a:rPr>
              <a:t>Feature flags, log levels, endpoint URLs, small scalar settings</a:t>
            </a:r>
            <a:endParaRPr lang="en-US" sz="750" dirty="0"/>
          </a:p>
        </p:txBody>
      </p:sp>
      <p:sp>
        <p:nvSpPr>
          <p:cNvPr id="15" name="card">
            <a:extLst>
              <a:ext uri="{C183D7F6-B498-43B3-948B-1728B52AA6E4}">
                <adec:decorative xmlns:adec="http://schemas.microsoft.com/office/drawing/2017/decorative" val="1"/>
              </a:ext>
            </a:extLst>
          </p:cNvPr>
          <p:cNvSpPr/>
          <p:nvPr/>
        </p:nvSpPr>
        <p:spPr>
          <a:xfrm>
            <a:off x="5577840" y="2395728"/>
            <a:ext cx="3063240" cy="768096"/>
          </a:xfrm>
          <a:prstGeom prst="rect">
            <a:avLst/>
          </a:prstGeom>
          <a:solidFill>
            <a:srgbClr val="F6F9FD"/>
          </a:solidFill>
          <a:ln w="9525">
            <a:solidFill>
              <a:srgbClr val="D8E5F2"/>
            </a:solidFill>
            <a:prstDash val="solid"/>
          </a:ln>
        </p:spPr>
        <p:txBody>
          <a:bodyPr/>
          <a:lstStyle/>
          <a:p>
            <a:endParaRPr lang="en-IN"/>
          </a:p>
        </p:txBody>
      </p:sp>
      <p:sp>
        <p:nvSpPr>
          <p:cNvPr id="16" name="card accent">
            <a:extLst>
              <a:ext uri="{C183D7F6-B498-43B3-948B-1728B52AA6E4}">
                <adec:decorative xmlns:adec="http://schemas.microsoft.com/office/drawing/2017/decorative" val="1"/>
              </a:ext>
            </a:extLst>
          </p:cNvPr>
          <p:cNvSpPr/>
          <p:nvPr/>
        </p:nvSpPr>
        <p:spPr>
          <a:xfrm>
            <a:off x="5577840" y="2395728"/>
            <a:ext cx="3063240" cy="41148"/>
          </a:xfrm>
          <a:prstGeom prst="rect">
            <a:avLst/>
          </a:prstGeom>
          <a:solidFill>
            <a:srgbClr val="F2A93B"/>
          </a:solidFill>
          <a:ln w="12700">
            <a:solidFill>
              <a:srgbClr val="333333"/>
            </a:solidFill>
            <a:prstDash val="solid"/>
          </a:ln>
        </p:spPr>
        <p:txBody>
          <a:bodyPr/>
          <a:lstStyle/>
          <a:p>
            <a:endParaRPr lang="en-IN"/>
          </a:p>
        </p:txBody>
      </p:sp>
      <p:sp>
        <p:nvSpPr>
          <p:cNvPr id="17" name="Text 15"/>
          <p:cNvSpPr/>
          <p:nvPr/>
        </p:nvSpPr>
        <p:spPr>
          <a:xfrm>
            <a:off x="5779008" y="2505456"/>
            <a:ext cx="2660904" cy="23774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Poor for</a:t>
            </a:r>
            <a:endParaRPr lang="en-US" sz="1200" dirty="0"/>
          </a:p>
        </p:txBody>
      </p:sp>
      <p:sp>
        <p:nvSpPr>
          <p:cNvPr id="18" name="Text 16"/>
          <p:cNvSpPr/>
          <p:nvPr/>
        </p:nvSpPr>
        <p:spPr>
          <a:xfrm>
            <a:off x="5779008" y="2807208"/>
            <a:ext cx="2660904" cy="265176"/>
          </a:xfrm>
          <a:prstGeom prst="rect">
            <a:avLst/>
          </a:prstGeom>
          <a:noFill/>
          <a:ln/>
        </p:spPr>
        <p:txBody>
          <a:bodyPr wrap="square" lIns="0" tIns="0" rIns="0" bIns="0" rtlCol="0" anchor="t"/>
          <a:lstStyle/>
          <a:p>
            <a:pPr marL="0" indent="0">
              <a:lnSpc>
                <a:spcPct val="115000"/>
              </a:lnSpc>
              <a:buNone/>
            </a:pPr>
            <a:r>
              <a:rPr lang="en-US" sz="750" dirty="0">
                <a:solidFill>
                  <a:srgbClr val="44566B"/>
                </a:solidFill>
                <a:latin typeface="Segoe UI" pitchFamily="34" charset="0"/>
                <a:ea typeface="Segoe UI" pitchFamily="34" charset="-122"/>
                <a:cs typeface="Segoe UI" pitchFamily="34" charset="-120"/>
              </a:rPr>
              <a:t>Certificates, large files, anything needing rotation without a restart</a:t>
            </a:r>
            <a:endParaRPr lang="en-US" sz="750" dirty="0"/>
          </a:p>
        </p:txBody>
      </p:sp>
      <p:sp>
        <p:nvSpPr>
          <p:cNvPr id="19" name="card">
            <a:extLst>
              <a:ext uri="{C183D7F6-B498-43B3-948B-1728B52AA6E4}">
                <adec:decorative xmlns:adec="http://schemas.microsoft.com/office/drawing/2017/decorative" val="1"/>
              </a:ext>
            </a:extLst>
          </p:cNvPr>
          <p:cNvSpPr/>
          <p:nvPr/>
        </p:nvSpPr>
        <p:spPr>
          <a:xfrm>
            <a:off x="5577840" y="3310128"/>
            <a:ext cx="3063240" cy="768096"/>
          </a:xfrm>
          <a:prstGeom prst="rect">
            <a:avLst/>
          </a:prstGeom>
          <a:solidFill>
            <a:srgbClr val="F6F9FD"/>
          </a:solidFill>
          <a:ln w="9525">
            <a:solidFill>
              <a:srgbClr val="D8E5F2"/>
            </a:solidFill>
            <a:prstDash val="solid"/>
          </a:ln>
        </p:spPr>
        <p:txBody>
          <a:bodyPr/>
          <a:lstStyle/>
          <a:p>
            <a:endParaRPr lang="en-IN"/>
          </a:p>
        </p:txBody>
      </p:sp>
      <p:sp>
        <p:nvSpPr>
          <p:cNvPr id="20" name="card accent">
            <a:extLst>
              <a:ext uri="{C183D7F6-B498-43B3-948B-1728B52AA6E4}">
                <adec:decorative xmlns:adec="http://schemas.microsoft.com/office/drawing/2017/decorative" val="1"/>
              </a:ext>
            </a:extLst>
          </p:cNvPr>
          <p:cNvSpPr/>
          <p:nvPr/>
        </p:nvSpPr>
        <p:spPr>
          <a:xfrm>
            <a:off x="5577840" y="3310128"/>
            <a:ext cx="3063240" cy="41148"/>
          </a:xfrm>
          <a:prstGeom prst="rect">
            <a:avLst/>
          </a:prstGeom>
          <a:solidFill>
            <a:srgbClr val="D0483C"/>
          </a:solidFill>
          <a:ln w="12700">
            <a:solidFill>
              <a:srgbClr val="333333"/>
            </a:solidFill>
            <a:prstDash val="solid"/>
          </a:ln>
        </p:spPr>
        <p:txBody>
          <a:bodyPr/>
          <a:lstStyle/>
          <a:p>
            <a:endParaRPr lang="en-IN"/>
          </a:p>
        </p:txBody>
      </p:sp>
      <p:sp>
        <p:nvSpPr>
          <p:cNvPr id="21" name="Text 19"/>
          <p:cNvSpPr/>
          <p:nvPr/>
        </p:nvSpPr>
        <p:spPr>
          <a:xfrm>
            <a:off x="5779008" y="3419856"/>
            <a:ext cx="2660904" cy="23774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Remember</a:t>
            </a:r>
            <a:endParaRPr lang="en-US" sz="1200" dirty="0"/>
          </a:p>
        </p:txBody>
      </p:sp>
      <p:sp>
        <p:nvSpPr>
          <p:cNvPr id="22" name="Text 20"/>
          <p:cNvSpPr/>
          <p:nvPr/>
        </p:nvSpPr>
        <p:spPr>
          <a:xfrm>
            <a:off x="5779008" y="3721608"/>
            <a:ext cx="2660904" cy="265176"/>
          </a:xfrm>
          <a:prstGeom prst="rect">
            <a:avLst/>
          </a:prstGeom>
          <a:noFill/>
          <a:ln/>
        </p:spPr>
        <p:txBody>
          <a:bodyPr wrap="square" lIns="0" tIns="0" rIns="0" bIns="0" rtlCol="0" anchor="t"/>
          <a:lstStyle/>
          <a:p>
            <a:pPr marL="0" indent="0">
              <a:lnSpc>
                <a:spcPct val="115000"/>
              </a:lnSpc>
              <a:buNone/>
            </a:pPr>
            <a:r>
              <a:rPr lang="en-US" sz="750" dirty="0">
                <a:solidFill>
                  <a:srgbClr val="44566B"/>
                </a:solidFill>
                <a:latin typeface="Segoe UI" pitchFamily="34" charset="0"/>
                <a:ea typeface="Segoe UI" pitchFamily="34" charset="-122"/>
                <a:cs typeface="Segoe UI" pitchFamily="34" charset="-120"/>
              </a:rPr>
              <a:t>Values are read at process start. Changing the source does not update a running Pod.</a:t>
            </a:r>
            <a:endParaRPr lang="en-US" sz="75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29</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4 · CONFIGURATION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Mounting configuration files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Project a ConfigMap or Secret into the container filesystem — each key becomes a file.</a:t>
            </a:r>
            <a:endParaRPr lang="en-US" sz="1150" dirty="0"/>
          </a:p>
        </p:txBody>
      </p:sp>
      <p:sp>
        <p:nvSpPr>
          <p:cNvPr id="7" name="code panel">
            <a:extLst>
              <a:ext uri="{C183D7F6-B498-43B3-948B-1728B52AA6E4}">
                <adec:decorative xmlns:adec="http://schemas.microsoft.com/office/drawing/2017/decorative" val="1"/>
              </a:ext>
            </a:extLst>
          </p:cNvPr>
          <p:cNvSpPr/>
          <p:nvPr/>
        </p:nvSpPr>
        <p:spPr>
          <a:xfrm>
            <a:off x="502920" y="1481328"/>
            <a:ext cx="484632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84632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45537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Mounting a ConfigMap and a Secret</a:t>
            </a:r>
            <a:endParaRPr lang="en-US" sz="850" dirty="0"/>
          </a:p>
        </p:txBody>
      </p:sp>
      <p:sp>
        <p:nvSpPr>
          <p:cNvPr id="10" name="Text 8"/>
          <p:cNvSpPr/>
          <p:nvPr/>
        </p:nvSpPr>
        <p:spPr>
          <a:xfrm>
            <a:off x="649224" y="1810512"/>
            <a:ext cx="4553712" cy="2121408"/>
          </a:xfrm>
          <a:prstGeom prst="rect">
            <a:avLst/>
          </a:prstGeom>
          <a:noFill/>
          <a:ln/>
        </p:spPr>
        <p:txBody>
          <a:bodyPr wrap="square" lIns="0" tIns="0" rIns="0" bIns="0" rtlCol="0" anchor="t"/>
          <a:lstStyle/>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spec:</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containers: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api</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volumeMounts: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config</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mountPath: /app/config   # ConfigMap as files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tls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mountPath: /app/certs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readOnly: true</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volumes: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config</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configMap:</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name: payments-config</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 name: tls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secret:</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secretName: payments-tls</a:t>
            </a:r>
            <a:endParaRPr lang="en-US" sz="731" dirty="0"/>
          </a:p>
          <a:p>
            <a:pPr marL="0" indent="0">
              <a:lnSpc>
                <a:spcPct val="112000"/>
              </a:lnSpc>
              <a:buNone/>
            </a:pPr>
            <a:r>
              <a:rPr lang="en-US" sz="731" dirty="0">
                <a:solidFill>
                  <a:srgbClr val="D7ECF8"/>
                </a:solidFill>
                <a:latin typeface="Consolas" pitchFamily="34" charset="0"/>
                <a:ea typeface="Consolas" pitchFamily="34" charset="-122"/>
                <a:cs typeface="Consolas" pitchFamily="34" charset="-120"/>
              </a:rPr>
              <a:t>        defaultMode: 0400             # owner read only</a:t>
            </a:r>
            <a:endParaRPr lang="en-US" sz="731" dirty="0"/>
          </a:p>
        </p:txBody>
      </p:sp>
      <p:sp>
        <p:nvSpPr>
          <p:cNvPr id="11" name="Text 9"/>
          <p:cNvSpPr/>
          <p:nvPr/>
        </p:nvSpPr>
        <p:spPr>
          <a:xfrm>
            <a:off x="5577840" y="1554480"/>
            <a:ext cx="3063240" cy="2523744"/>
          </a:xfrm>
          <a:prstGeom prst="rect">
            <a:avLst/>
          </a:prstGeom>
          <a:noFill/>
          <a:ln/>
        </p:spPr>
        <p:txBody>
          <a:bodyPr wrap="square" lIns="0" tIns="0" rIns="0" bIns="0" rtlCol="0" anchor="t"/>
          <a:lstStyle/>
          <a:p>
            <a:pPr marL="342900" indent="-342900">
              <a:spcAft>
                <a:spcPts val="1000"/>
              </a:spcAft>
              <a:buSzPct val="100000"/>
              <a:buChar char="•"/>
            </a:pPr>
            <a:r>
              <a:rPr lang="en-US" sz="1050" dirty="0">
                <a:solidFill>
                  <a:srgbClr val="44566B"/>
                </a:solidFill>
                <a:latin typeface="Segoe UI" pitchFamily="34" charset="0"/>
                <a:ea typeface="Segoe UI" pitchFamily="34" charset="-122"/>
                <a:cs typeface="Segoe UI" pitchFamily="34" charset="-120"/>
              </a:rPr>
              <a:t>Each key becomes a file whose contents are the value</a:t>
            </a:r>
            <a:endParaRPr lang="en-US" sz="1050" dirty="0"/>
          </a:p>
          <a:p>
            <a:pPr marL="342900" indent="-342900">
              <a:spcAft>
                <a:spcPts val="1000"/>
              </a:spcAft>
              <a:buSzPct val="100000"/>
              <a:buChar char="•"/>
            </a:pPr>
            <a:r>
              <a:rPr lang="en-US" sz="1050" dirty="0">
                <a:solidFill>
                  <a:srgbClr val="44566B"/>
                </a:solidFill>
                <a:latin typeface="Segoe UI" pitchFamily="34" charset="0"/>
                <a:ea typeface="Segoe UI" pitchFamily="34" charset="-122"/>
                <a:cs typeface="Segoe UI" pitchFamily="34" charset="-120"/>
              </a:rPr>
              <a:t>The natural choice for whole configuration files and for certificates</a:t>
            </a:r>
            <a:endParaRPr lang="en-US" sz="1050" dirty="0"/>
          </a:p>
          <a:p>
            <a:pPr marL="342900" indent="-342900">
              <a:spcAft>
                <a:spcPts val="1000"/>
              </a:spcAft>
              <a:buSzPct val="100000"/>
              <a:buChar char="•"/>
            </a:pPr>
            <a:r>
              <a:rPr lang="en-US" sz="1050" dirty="0">
                <a:solidFill>
                  <a:srgbClr val="44566B"/>
                </a:solidFill>
                <a:latin typeface="Segoe UI" pitchFamily="34" charset="0"/>
                <a:ea typeface="Segoe UI" pitchFamily="34" charset="-122"/>
                <a:cs typeface="Segoe UI" pitchFamily="34" charset="-120"/>
              </a:rPr>
              <a:t>Mounted files update in place when the source changes — usually within a minute</a:t>
            </a:r>
            <a:endParaRPr lang="en-US" sz="1050" dirty="0"/>
          </a:p>
          <a:p>
            <a:pPr marL="342900" indent="-342900">
              <a:spcAft>
                <a:spcPts val="1000"/>
              </a:spcAft>
              <a:buSzPct val="100000"/>
              <a:buChar char="•"/>
            </a:pPr>
            <a:r>
              <a:rPr lang="en-US" sz="1050" dirty="0">
                <a:solidFill>
                  <a:srgbClr val="44566B"/>
                </a:solidFill>
                <a:latin typeface="Segoe UI" pitchFamily="34" charset="0"/>
                <a:ea typeface="Segoe UI" pitchFamily="34" charset="-122"/>
                <a:cs typeface="Segoe UI" pitchFamily="34" charset="-120"/>
              </a:rPr>
              <a:t>The application still has to reload the file for the new value to take effect</a:t>
            </a:r>
            <a:endParaRPr lang="en-US" sz="1050" dirty="0"/>
          </a:p>
          <a:p>
            <a:pPr marL="342900" indent="-342900">
              <a:spcAft>
                <a:spcPts val="1000"/>
              </a:spcAft>
              <a:buSzPct val="100000"/>
              <a:buChar char="•"/>
            </a:pPr>
            <a:r>
              <a:rPr lang="en-US" sz="1050" dirty="0">
                <a:solidFill>
                  <a:srgbClr val="44566B"/>
                </a:solidFill>
                <a:latin typeface="Segoe UI" pitchFamily="34" charset="0"/>
                <a:ea typeface="Segoe UI" pitchFamily="34" charset="-122"/>
                <a:cs typeface="Segoe UI" pitchFamily="34" charset="-120"/>
              </a:rPr>
              <a:t>Always mount configuration read-only, and restrict file mode on secrets</a:t>
            </a:r>
            <a:endParaRPr lang="en-US" sz="1050" dirty="0"/>
          </a:p>
        </p:txBody>
      </p:sp>
      <p:sp>
        <p:nvSpPr>
          <p:cNvPr id="12" name="callout band">
            <a:extLst>
              <a:ext uri="{C183D7F6-B498-43B3-948B-1728B52AA6E4}">
                <adec:decorative xmlns:adec="http://schemas.microsoft.com/office/drawing/2017/decorative" val="1"/>
              </a:ext>
            </a:extLst>
          </p:cNvPr>
          <p:cNvSpPr/>
          <p:nvPr/>
        </p:nvSpPr>
        <p:spPr>
          <a:xfrm>
            <a:off x="502920" y="4206240"/>
            <a:ext cx="8138160" cy="384048"/>
          </a:xfrm>
          <a:prstGeom prst="rect">
            <a:avLst/>
          </a:prstGeom>
          <a:solidFill>
            <a:srgbClr val="EDF4FC"/>
          </a:solidFill>
          <a:ln w="12700">
            <a:solidFill>
              <a:srgbClr val="333333"/>
            </a:solidFill>
            <a:prstDash val="solid"/>
          </a:ln>
        </p:spPr>
        <p:txBody>
          <a:bodyPr/>
          <a:lstStyle/>
          <a:p>
            <a:endParaRPr lang="en-IN"/>
          </a:p>
        </p:txBody>
      </p:sp>
      <p:sp>
        <p:nvSpPr>
          <p:cNvPr id="13" name="callout accent">
            <a:extLst>
              <a:ext uri="{C183D7F6-B498-43B3-948B-1728B52AA6E4}">
                <adec:decorative xmlns:adec="http://schemas.microsoft.com/office/drawing/2017/decorative" val="1"/>
              </a:ext>
            </a:extLst>
          </p:cNvPr>
          <p:cNvSpPr/>
          <p:nvPr/>
        </p:nvSpPr>
        <p:spPr>
          <a:xfrm>
            <a:off x="502920" y="4206240"/>
            <a:ext cx="45720" cy="384048"/>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704088" y="4206240"/>
            <a:ext cx="7754112" cy="384048"/>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Key contrast   </a:t>
            </a:r>
            <a:r>
              <a:rPr lang="en-US" sz="1050" dirty="0">
                <a:solidFill>
                  <a:srgbClr val="0E2233"/>
                </a:solidFill>
                <a:latin typeface="Segoe UI" pitchFamily="34" charset="0"/>
                <a:ea typeface="Segoe UI" pitchFamily="34" charset="-122"/>
                <a:cs typeface="Segoe UI" pitchFamily="34" charset="-120"/>
              </a:rPr>
              <a:t>Mounted files refresh automatically; environment variables never do. That difference should drive which mechanism you choose.</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30</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background">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A2E4E"/>
          </a:solidFill>
          <a:ln w="12700">
            <a:solidFill>
              <a:srgbClr val="333333"/>
            </a:solidFill>
            <a:prstDash val="solid"/>
          </a:ln>
        </p:spPr>
        <p:txBody>
          <a:bodyPr/>
          <a:lstStyle/>
          <a:p>
            <a:endParaRPr lang="en-IN"/>
          </a:p>
        </p:txBody>
      </p:sp>
      <p:pic>
        <p:nvPicPr>
          <p:cNvPr id="3" name="Image 0" descr="Abstract technical illustration supporting the section theme"/>
          <p:cNvPicPr>
            <a:picLocks noChangeAspect="1"/>
          </p:cNvPicPr>
          <p:nvPr/>
        </p:nvPicPr>
        <p:blipFill>
          <a:blip r:embed="rId3">
            <a:alphaModFix amt="80000"/>
          </a:blip>
          <a:srcRect l="24987" r="24987"/>
          <a:stretch/>
        </p:blipFill>
        <p:spPr>
          <a:xfrm>
            <a:off x="4572000" y="0"/>
            <a:ext cx="4572000" cy="5143500"/>
          </a:xfrm>
          <a:prstGeom prst="rect">
            <a:avLst/>
          </a:prstGeom>
        </p:spPr>
      </p:pic>
      <p:sp>
        <p:nvSpPr>
          <p:cNvPr id="4" name="gradient blend">
            <a:extLst>
              <a:ext uri="{C183D7F6-B498-43B3-948B-1728B52AA6E4}">
                <adec:decorative xmlns:adec="http://schemas.microsoft.com/office/drawing/2017/decorative" val="1"/>
              </a:ext>
            </a:extLst>
          </p:cNvPr>
          <p:cNvSpPr/>
          <p:nvPr/>
        </p:nvSpPr>
        <p:spPr>
          <a:xfrm>
            <a:off x="4160520" y="0"/>
            <a:ext cx="420624" cy="5143500"/>
          </a:xfrm>
          <a:prstGeom prst="rect">
            <a:avLst/>
          </a:prstGeom>
          <a:solidFill>
            <a:srgbClr val="0A2E4E">
              <a:alpha val="55000"/>
            </a:srgbClr>
          </a:solidFill>
          <a:ln w="12700">
            <a:solidFill>
              <a:srgbClr val="333333"/>
            </a:solidFill>
            <a:prstDash val="solid"/>
          </a:ln>
        </p:spPr>
        <p:txBody>
          <a:bodyPr/>
          <a:lstStyle/>
          <a:p>
            <a:endParaRPr lang="en-IN"/>
          </a:p>
        </p:txBody>
      </p:sp>
      <p:sp>
        <p:nvSpPr>
          <p:cNvPr id="5" name="Text 2"/>
          <p:cNvSpPr/>
          <p:nvPr/>
        </p:nvSpPr>
        <p:spPr>
          <a:xfrm>
            <a:off x="640080" y="1600200"/>
            <a:ext cx="3657600" cy="228600"/>
          </a:xfrm>
          <a:prstGeom prst="rect">
            <a:avLst/>
          </a:prstGeom>
          <a:noFill/>
          <a:ln/>
        </p:spPr>
        <p:txBody>
          <a:bodyPr wrap="square" lIns="0" tIns="0" rIns="0" bIns="0" rtlCol="0" anchor="ctr"/>
          <a:lstStyle/>
          <a:p>
            <a:pPr marL="0" indent="0">
              <a:buNone/>
            </a:pPr>
            <a:r>
              <a:rPr lang="en-US" sz="1050" b="1" kern="0" spc="200" dirty="0">
                <a:solidFill>
                  <a:srgbClr val="17A9DB"/>
                </a:solidFill>
                <a:latin typeface="Segoe UI" pitchFamily="34" charset="0"/>
                <a:ea typeface="Segoe UI" pitchFamily="34" charset="-122"/>
                <a:cs typeface="Segoe UI" pitchFamily="34" charset="-120"/>
              </a:rPr>
              <a:t>SECTION 2</a:t>
            </a:r>
            <a:endParaRPr lang="en-US" sz="1050" dirty="0"/>
          </a:p>
        </p:txBody>
      </p:sp>
      <p:sp>
        <p:nvSpPr>
          <p:cNvPr id="6" name="Text 3"/>
          <p:cNvSpPr/>
          <p:nvPr/>
        </p:nvSpPr>
        <p:spPr>
          <a:xfrm>
            <a:off x="640080" y="1874520"/>
            <a:ext cx="3749040" cy="1005840"/>
          </a:xfrm>
          <a:prstGeom prst="rect">
            <a:avLst/>
          </a:prstGeom>
          <a:noFill/>
          <a:ln/>
        </p:spPr>
        <p:txBody>
          <a:bodyPr wrap="square" lIns="0" tIns="0" rIns="0" bIns="0" rtlCol="0" anchor="t"/>
          <a:lstStyle/>
          <a:p>
            <a:pPr marL="0" indent="0">
              <a:lnSpc>
                <a:spcPct val="98000"/>
              </a:lnSpc>
              <a:buNone/>
            </a:pPr>
            <a:r>
              <a:rPr lang="en-US" sz="2100" b="1" dirty="0">
                <a:solidFill>
                  <a:srgbClr val="FFFFFF"/>
                </a:solidFill>
                <a:latin typeface="Segoe UI" pitchFamily="34" charset="0"/>
                <a:ea typeface="Segoe UI" pitchFamily="34" charset="-122"/>
                <a:cs typeface="Segoe UI" pitchFamily="34" charset="-120"/>
              </a:rPr>
              <a:t>Application Operations and Security on AKS</a:t>
            </a:r>
            <a:endParaRPr lang="en-US" sz="2100" dirty="0"/>
          </a:p>
        </p:txBody>
      </p:sp>
      <p:sp>
        <p:nvSpPr>
          <p:cNvPr id="7" name="rule">
            <a:extLst>
              <a:ext uri="{C183D7F6-B498-43B3-948B-1728B52AA6E4}">
                <adec:decorative xmlns:adec="http://schemas.microsoft.com/office/drawing/2017/decorative" val="1"/>
              </a:ext>
            </a:extLst>
          </p:cNvPr>
          <p:cNvSpPr/>
          <p:nvPr/>
        </p:nvSpPr>
        <p:spPr>
          <a:xfrm>
            <a:off x="640080" y="3017520"/>
            <a:ext cx="640080" cy="32004"/>
          </a:xfrm>
          <a:prstGeom prst="rect">
            <a:avLst/>
          </a:prstGeom>
          <a:solidFill>
            <a:srgbClr val="17A9DB"/>
          </a:solidFill>
          <a:ln w="12700">
            <a:solidFill>
              <a:srgbClr val="333333"/>
            </a:solidFill>
            <a:prstDash val="solid"/>
          </a:ln>
        </p:spPr>
        <p:txBody>
          <a:bodyPr/>
          <a:lstStyle/>
          <a:p>
            <a:endParaRPr lang="en-IN"/>
          </a:p>
        </p:txBody>
      </p:sp>
      <p:sp>
        <p:nvSpPr>
          <p:cNvPr id="8" name="Text 5"/>
          <p:cNvSpPr/>
          <p:nvPr/>
        </p:nvSpPr>
        <p:spPr>
          <a:xfrm>
            <a:off x="640080" y="3200400"/>
            <a:ext cx="3566160" cy="914400"/>
          </a:xfrm>
          <a:prstGeom prst="rect">
            <a:avLst/>
          </a:prstGeom>
          <a:noFill/>
          <a:ln/>
        </p:spPr>
        <p:txBody>
          <a:bodyPr wrap="square" lIns="0" tIns="0" rIns="0" bIns="0" rtlCol="0" anchor="ctr"/>
          <a:lstStyle/>
          <a:p>
            <a:pPr marL="0" indent="0">
              <a:lnSpc>
                <a:spcPct val="125000"/>
              </a:lnSpc>
              <a:buNone/>
            </a:pPr>
            <a:r>
              <a:rPr lang="en-US" sz="1200" dirty="0">
                <a:solidFill>
                  <a:srgbClr val="C7DAEC"/>
                </a:solidFill>
                <a:latin typeface="Segoe UI" pitchFamily="34" charset="0"/>
                <a:ea typeface="Segoe UI" pitchFamily="34" charset="-122"/>
                <a:cs typeface="Segoe UI" pitchFamily="34" charset="-120"/>
              </a:rPr>
              <a:t>Giving applications durable storage, and teaching the platform how to judge whether they are healthy.</a:t>
            </a:r>
            <a:endParaRPr lang="en-US" sz="1200" dirty="0"/>
          </a:p>
        </p:txBody>
      </p:sp>
      <p:sp>
        <p:nvSpPr>
          <p:cNvPr id="9" name="Text 6"/>
          <p:cNvSpPr/>
          <p:nvPr/>
        </p:nvSpPr>
        <p:spPr>
          <a:xfrm>
            <a:off x="640080" y="4160520"/>
            <a:ext cx="2743200" cy="274320"/>
          </a:xfrm>
          <a:prstGeom prst="rect">
            <a:avLst/>
          </a:prstGeom>
          <a:noFill/>
          <a:ln/>
        </p:spPr>
        <p:txBody>
          <a:bodyPr wrap="square" lIns="0" tIns="0" rIns="0" bIns="0" rtlCol="0" anchor="ctr"/>
          <a:lstStyle/>
          <a:p>
            <a:pPr marL="0" indent="0">
              <a:buNone/>
            </a:pPr>
            <a:r>
              <a:rPr lang="en-US" sz="1100" b="1" dirty="0">
                <a:solidFill>
                  <a:srgbClr val="17A9DB"/>
                </a:solidFill>
                <a:latin typeface="Segoe UI" pitchFamily="34" charset="0"/>
                <a:ea typeface="Segoe UI" pitchFamily="34" charset="-122"/>
                <a:cs typeface="Segoe UI" pitchFamily="34" charset="-120"/>
              </a:rPr>
              <a:t>Modules 5 – 6</a:t>
            </a:r>
            <a:endParaRPr lang="en-US" sz="11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31</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5 · PERSISTENT STORAGE FOR APPLICATIONS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Volumes and persistent storage concepts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dirty="0">
                <a:solidFill>
                  <a:srgbClr val="44566B"/>
                </a:solidFill>
                <a:latin typeface="Segoe UI" pitchFamily="34" charset="0"/>
                <a:ea typeface="Segoe UI" pitchFamily="34" charset="-122"/>
                <a:cs typeface="Segoe UI" pitchFamily="34" charset="-120"/>
              </a:rPr>
              <a:t>The container filesystem is temporary. If data must survive a restart, it must live on a volume.</a:t>
            </a:r>
            <a:endParaRPr lang="en-US" sz="1125" dirty="0"/>
          </a:p>
        </p:txBody>
      </p:sp>
      <p:sp>
        <p:nvSpPr>
          <p:cNvPr id="7" name="card">
            <a:extLst>
              <a:ext uri="{C183D7F6-B498-43B3-948B-1728B52AA6E4}">
                <adec:decorative xmlns:adec="http://schemas.microsoft.com/office/drawing/2017/decorative" val="1"/>
              </a:ext>
            </a:extLst>
          </p:cNvPr>
          <p:cNvSpPr/>
          <p:nvPr/>
        </p:nvSpPr>
        <p:spPr>
          <a:xfrm>
            <a:off x="502920"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2578608" cy="41148"/>
          </a:xfrm>
          <a:prstGeom prst="rect">
            <a:avLst/>
          </a:prstGeom>
          <a:solidFill>
            <a:srgbClr val="D0483C"/>
          </a:solidFill>
          <a:ln w="12700">
            <a:solidFill>
              <a:srgbClr val="333333"/>
            </a:solidFill>
            <a:prstDash val="solid"/>
          </a:ln>
        </p:spPr>
        <p:txBody>
          <a:bodyPr/>
          <a:lstStyle/>
          <a:p>
            <a:endParaRPr lang="en-IN"/>
          </a:p>
        </p:txBody>
      </p:sp>
      <p:sp>
        <p:nvSpPr>
          <p:cNvPr id="9" name="Text 7"/>
          <p:cNvSpPr/>
          <p:nvPr/>
        </p:nvSpPr>
        <p:spPr>
          <a:xfrm>
            <a:off x="704088" y="1664208"/>
            <a:ext cx="2176272" cy="228600"/>
          </a:xfrm>
          <a:prstGeom prst="rect">
            <a:avLst/>
          </a:prstGeom>
          <a:noFill/>
          <a:ln/>
        </p:spPr>
        <p:txBody>
          <a:bodyPr wrap="square" lIns="0" tIns="0" rIns="0" bIns="0" rtlCol="0" anchor="ctr"/>
          <a:lstStyle/>
          <a:p>
            <a:pPr marL="0" indent="0">
              <a:buNone/>
            </a:pPr>
            <a:r>
              <a:rPr lang="en-US" sz="900" b="1" kern="0" spc="120" dirty="0">
                <a:solidFill>
                  <a:srgbClr val="D0483C"/>
                </a:solidFill>
                <a:latin typeface="Segoe UI" pitchFamily="34" charset="0"/>
                <a:ea typeface="Segoe UI" pitchFamily="34" charset="-122"/>
                <a:cs typeface="Segoe UI" pitchFamily="34" charset="-120"/>
              </a:rPr>
              <a:t>EPHEMERAL</a:t>
            </a:r>
            <a:endParaRPr lang="en-US" sz="900" dirty="0"/>
          </a:p>
        </p:txBody>
      </p:sp>
      <p:sp>
        <p:nvSpPr>
          <p:cNvPr id="10" name="Text 8"/>
          <p:cNvSpPr/>
          <p:nvPr/>
        </p:nvSpPr>
        <p:spPr>
          <a:xfrm>
            <a:off x="704088" y="1920240"/>
            <a:ext cx="2176272" cy="2453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Container filesystem</a:t>
            </a:r>
            <a:endParaRPr lang="en-US" sz="1250" dirty="0"/>
          </a:p>
        </p:txBody>
      </p:sp>
      <p:sp>
        <p:nvSpPr>
          <p:cNvPr id="11" name="Text 9"/>
          <p:cNvSpPr/>
          <p:nvPr/>
        </p:nvSpPr>
        <p:spPr>
          <a:xfrm>
            <a:off x="704088" y="2229612"/>
            <a:ext cx="2176272" cy="275844"/>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Writable, but discarded the moment the container is replaced. Suitable only for throwaway work.</a:t>
            </a:r>
            <a:endParaRPr lang="en-US" sz="900" dirty="0"/>
          </a:p>
        </p:txBody>
      </p:sp>
      <p:sp>
        <p:nvSpPr>
          <p:cNvPr id="12" name="card">
            <a:extLst>
              <a:ext uri="{C183D7F6-B498-43B3-948B-1728B52AA6E4}">
                <adec:decorative xmlns:adec="http://schemas.microsoft.com/office/drawing/2017/decorative" val="1"/>
              </a:ext>
            </a:extLst>
          </p:cNvPr>
          <p:cNvSpPr/>
          <p:nvPr/>
        </p:nvSpPr>
        <p:spPr>
          <a:xfrm>
            <a:off x="3282696"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3282696" y="1481328"/>
            <a:ext cx="2578608" cy="41148"/>
          </a:xfrm>
          <a:prstGeom prst="rect">
            <a:avLst/>
          </a:prstGeom>
          <a:solidFill>
            <a:srgbClr val="F2A93B"/>
          </a:solidFill>
          <a:ln w="12700">
            <a:solidFill>
              <a:srgbClr val="333333"/>
            </a:solidFill>
            <a:prstDash val="solid"/>
          </a:ln>
        </p:spPr>
        <p:txBody>
          <a:bodyPr/>
          <a:lstStyle/>
          <a:p>
            <a:endParaRPr lang="en-IN"/>
          </a:p>
        </p:txBody>
      </p:sp>
      <p:sp>
        <p:nvSpPr>
          <p:cNvPr id="14" name="Text 12"/>
          <p:cNvSpPr/>
          <p:nvPr/>
        </p:nvSpPr>
        <p:spPr>
          <a:xfrm>
            <a:off x="3483864" y="1664208"/>
            <a:ext cx="2176272" cy="228600"/>
          </a:xfrm>
          <a:prstGeom prst="rect">
            <a:avLst/>
          </a:prstGeom>
          <a:noFill/>
          <a:ln/>
        </p:spPr>
        <p:txBody>
          <a:bodyPr wrap="square" lIns="0" tIns="0" rIns="0" bIns="0" rtlCol="0" anchor="ctr"/>
          <a:lstStyle/>
          <a:p>
            <a:pPr marL="0" indent="0">
              <a:buNone/>
            </a:pPr>
            <a:r>
              <a:rPr lang="en-US" sz="900" b="1" kern="0" spc="120" dirty="0">
                <a:solidFill>
                  <a:srgbClr val="F2A93B"/>
                </a:solidFill>
                <a:latin typeface="Segoe UI" pitchFamily="34" charset="0"/>
                <a:ea typeface="Segoe UI" pitchFamily="34" charset="-122"/>
                <a:cs typeface="Segoe UI" pitchFamily="34" charset="-120"/>
              </a:rPr>
              <a:t>POD-SCOPED</a:t>
            </a:r>
            <a:endParaRPr lang="en-US" sz="900" dirty="0"/>
          </a:p>
        </p:txBody>
      </p:sp>
      <p:sp>
        <p:nvSpPr>
          <p:cNvPr id="15" name="Text 13"/>
          <p:cNvSpPr/>
          <p:nvPr/>
        </p:nvSpPr>
        <p:spPr>
          <a:xfrm>
            <a:off x="3483864" y="1920240"/>
            <a:ext cx="2176272" cy="2453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emptyDir</a:t>
            </a:r>
            <a:endParaRPr lang="en-US" sz="1250" dirty="0"/>
          </a:p>
        </p:txBody>
      </p:sp>
      <p:sp>
        <p:nvSpPr>
          <p:cNvPr id="16" name="Text 14"/>
          <p:cNvSpPr/>
          <p:nvPr/>
        </p:nvSpPr>
        <p:spPr>
          <a:xfrm>
            <a:off x="3483864" y="2229612"/>
            <a:ext cx="2176272" cy="275844"/>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A scratch volume shared by the containers in a Pod. Created with the Pod, deleted with it.</a:t>
            </a:r>
            <a:endParaRPr lang="en-US" sz="900" dirty="0"/>
          </a:p>
        </p:txBody>
      </p:sp>
      <p:sp>
        <p:nvSpPr>
          <p:cNvPr id="17" name="card">
            <a:extLst>
              <a:ext uri="{C183D7F6-B498-43B3-948B-1728B52AA6E4}">
                <adec:decorative xmlns:adec="http://schemas.microsoft.com/office/drawing/2017/decorative" val="1"/>
              </a:ext>
            </a:extLst>
          </p:cNvPr>
          <p:cNvSpPr/>
          <p:nvPr/>
        </p:nvSpPr>
        <p:spPr>
          <a:xfrm>
            <a:off x="6062472"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6062472" y="1481328"/>
            <a:ext cx="2578608" cy="41148"/>
          </a:xfrm>
          <a:prstGeom prst="rect">
            <a:avLst/>
          </a:prstGeom>
          <a:solidFill>
            <a:srgbClr val="2E9E6B"/>
          </a:solidFill>
          <a:ln w="12700">
            <a:solidFill>
              <a:srgbClr val="333333"/>
            </a:solidFill>
            <a:prstDash val="solid"/>
          </a:ln>
        </p:spPr>
        <p:txBody>
          <a:bodyPr/>
          <a:lstStyle/>
          <a:p>
            <a:endParaRPr lang="en-IN"/>
          </a:p>
        </p:txBody>
      </p:sp>
      <p:sp>
        <p:nvSpPr>
          <p:cNvPr id="19" name="Text 17"/>
          <p:cNvSpPr/>
          <p:nvPr/>
        </p:nvSpPr>
        <p:spPr>
          <a:xfrm>
            <a:off x="6263640" y="1664208"/>
            <a:ext cx="2176272" cy="228600"/>
          </a:xfrm>
          <a:prstGeom prst="rect">
            <a:avLst/>
          </a:prstGeom>
          <a:noFill/>
          <a:ln/>
        </p:spPr>
        <p:txBody>
          <a:bodyPr wrap="square" lIns="0" tIns="0" rIns="0" bIns="0" rtlCol="0" anchor="ctr"/>
          <a:lstStyle/>
          <a:p>
            <a:pPr marL="0" indent="0">
              <a:buNone/>
            </a:pPr>
            <a:r>
              <a:rPr lang="en-US" sz="900" b="1" kern="0" spc="120" dirty="0">
                <a:solidFill>
                  <a:srgbClr val="2E9E6B"/>
                </a:solidFill>
                <a:latin typeface="Segoe UI" pitchFamily="34" charset="0"/>
                <a:ea typeface="Segoe UI" pitchFamily="34" charset="-122"/>
                <a:cs typeface="Segoe UI" pitchFamily="34" charset="-120"/>
              </a:rPr>
              <a:t>DURABLE</a:t>
            </a:r>
            <a:endParaRPr lang="en-US" sz="900" dirty="0"/>
          </a:p>
        </p:txBody>
      </p:sp>
      <p:sp>
        <p:nvSpPr>
          <p:cNvPr id="20" name="Text 18"/>
          <p:cNvSpPr/>
          <p:nvPr/>
        </p:nvSpPr>
        <p:spPr>
          <a:xfrm>
            <a:off x="6263640" y="1920240"/>
            <a:ext cx="2176272" cy="2453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PersistentVolumeClaim</a:t>
            </a:r>
            <a:endParaRPr lang="en-US" sz="1250" dirty="0"/>
          </a:p>
        </p:txBody>
      </p:sp>
      <p:sp>
        <p:nvSpPr>
          <p:cNvPr id="21" name="Text 19"/>
          <p:cNvSpPr/>
          <p:nvPr/>
        </p:nvSpPr>
        <p:spPr>
          <a:xfrm>
            <a:off x="6263640" y="2229612"/>
            <a:ext cx="2176272" cy="275844"/>
          </a:xfrm>
          <a:prstGeom prst="rect">
            <a:avLst/>
          </a:prstGeom>
          <a:noFill/>
          <a:ln/>
        </p:spPr>
        <p:txBody>
          <a:bodyPr wrap="square" lIns="0" tIns="0" rIns="0" bIns="0" rtlCol="0" anchor="t"/>
          <a:lstStyle/>
          <a:p>
            <a:pPr marL="0" indent="0">
              <a:lnSpc>
                <a:spcPct val="115000"/>
              </a:lnSpc>
              <a:buNone/>
            </a:pPr>
            <a:r>
              <a:rPr lang="en-US" sz="900" dirty="0">
                <a:solidFill>
                  <a:srgbClr val="44566B"/>
                </a:solidFill>
                <a:latin typeface="Segoe UI" pitchFamily="34" charset="0"/>
                <a:ea typeface="Segoe UI" pitchFamily="34" charset="-122"/>
                <a:cs typeface="Segoe UI" pitchFamily="34" charset="-120"/>
              </a:rPr>
              <a:t>Storage that exists independently of any Pod and is reattached when the Pod is rescheduled.</a:t>
            </a:r>
            <a:endParaRPr lang="en-US" sz="900" dirty="0"/>
          </a:p>
        </p:txBody>
      </p:sp>
      <p:sp>
        <p:nvSpPr>
          <p:cNvPr id="22" name="Text 20"/>
          <p:cNvSpPr/>
          <p:nvPr/>
        </p:nvSpPr>
        <p:spPr>
          <a:xfrm>
            <a:off x="502920" y="2895600"/>
            <a:ext cx="4114800" cy="1335024"/>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44566B"/>
                </a:solidFill>
                <a:latin typeface="Segoe UI" pitchFamily="34" charset="0"/>
                <a:ea typeface="Segoe UI" pitchFamily="34" charset="-122"/>
                <a:cs typeface="Segoe UI" pitchFamily="34" charset="-120"/>
              </a:rPr>
              <a:t>A volume is defined in the Pod spec and mounted into one or more containers at a path</a:t>
            </a:r>
            <a:endParaRPr lang="en-US" sz="1000" dirty="0"/>
          </a:p>
          <a:p>
            <a:pPr marL="342900" indent="-342900">
              <a:spcAft>
                <a:spcPts val="800"/>
              </a:spcAft>
              <a:buSzPct val="100000"/>
              <a:buChar char="•"/>
            </a:pPr>
            <a:r>
              <a:rPr lang="en-US" sz="1000" dirty="0">
                <a:solidFill>
                  <a:srgbClr val="44566B"/>
                </a:solidFill>
                <a:latin typeface="Segoe UI" pitchFamily="34" charset="0"/>
                <a:ea typeface="Segoe UI" pitchFamily="34" charset="-122"/>
                <a:cs typeface="Segoe UI" pitchFamily="34" charset="-120"/>
              </a:rPr>
              <a:t>The volume's lifetime is set by its type, not by the container's</a:t>
            </a:r>
            <a:endParaRPr lang="en-US" sz="1000" dirty="0"/>
          </a:p>
          <a:p>
            <a:pPr marL="342900" indent="-342900">
              <a:spcAft>
                <a:spcPts val="800"/>
              </a:spcAft>
              <a:buSzPct val="100000"/>
              <a:buChar char="•"/>
            </a:pPr>
            <a:r>
              <a:rPr lang="en-US" sz="1000" dirty="0">
                <a:solidFill>
                  <a:srgbClr val="44566B"/>
                </a:solidFill>
                <a:latin typeface="Segoe UI" pitchFamily="34" charset="0"/>
                <a:ea typeface="Segoe UI" pitchFamily="34" charset="-122"/>
                <a:cs typeface="Segoe UI" pitchFamily="34" charset="-120"/>
              </a:rPr>
              <a:t>Prefer stateless design: keep state in a managed database, cache or queue where you can</a:t>
            </a:r>
            <a:endParaRPr lang="en-US" sz="1000" dirty="0"/>
          </a:p>
          <a:p>
            <a:pPr marL="342900" indent="-342900">
              <a:spcAft>
                <a:spcPts val="800"/>
              </a:spcAft>
              <a:buSzPct val="100000"/>
              <a:buChar char="•"/>
            </a:pPr>
            <a:r>
              <a:rPr lang="en-US" sz="1000" dirty="0">
                <a:solidFill>
                  <a:srgbClr val="44566B"/>
                </a:solidFill>
                <a:latin typeface="Segoe UI" pitchFamily="34" charset="0"/>
                <a:ea typeface="Segoe UI" pitchFamily="34" charset="-122"/>
                <a:cs typeface="Segoe UI" pitchFamily="34" charset="-120"/>
              </a:rPr>
              <a:t>Where state must live in the cluster, always use a claim, never a node path</a:t>
            </a:r>
            <a:endParaRPr lang="en-US" sz="1000" dirty="0"/>
          </a:p>
        </p:txBody>
      </p:sp>
      <p:sp>
        <p:nvSpPr>
          <p:cNvPr id="23" name="code panel">
            <a:extLst>
              <a:ext uri="{C183D7F6-B498-43B3-948B-1728B52AA6E4}">
                <adec:decorative xmlns:adec="http://schemas.microsoft.com/office/drawing/2017/decorative" val="1"/>
              </a:ext>
            </a:extLst>
          </p:cNvPr>
          <p:cNvSpPr/>
          <p:nvPr/>
        </p:nvSpPr>
        <p:spPr>
          <a:xfrm>
            <a:off x="4892040" y="2743200"/>
            <a:ext cx="3749040" cy="1335024"/>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4" name="code panel header">
            <a:extLst>
              <a:ext uri="{C183D7F6-B498-43B3-948B-1728B52AA6E4}">
                <adec:decorative xmlns:adec="http://schemas.microsoft.com/office/drawing/2017/decorative" val="1"/>
              </a:ext>
            </a:extLst>
          </p:cNvPr>
          <p:cNvSpPr/>
          <p:nvPr/>
        </p:nvSpPr>
        <p:spPr>
          <a:xfrm>
            <a:off x="4892040" y="2743200"/>
            <a:ext cx="3749040" cy="256032"/>
          </a:xfrm>
          <a:prstGeom prst="rect">
            <a:avLst/>
          </a:prstGeom>
          <a:solidFill>
            <a:srgbClr val="0F3D66"/>
          </a:solidFill>
          <a:ln w="12700">
            <a:solidFill>
              <a:srgbClr val="333333"/>
            </a:solidFill>
            <a:prstDash val="solid"/>
          </a:ln>
        </p:spPr>
        <p:txBody>
          <a:bodyPr/>
          <a:lstStyle/>
          <a:p>
            <a:endParaRPr lang="en-IN"/>
          </a:p>
        </p:txBody>
      </p:sp>
      <p:sp>
        <p:nvSpPr>
          <p:cNvPr id="25" name="Text 23"/>
          <p:cNvSpPr/>
          <p:nvPr/>
        </p:nvSpPr>
        <p:spPr>
          <a:xfrm>
            <a:off x="5038344" y="2743200"/>
            <a:ext cx="345643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An ephemeral volume</a:t>
            </a:r>
            <a:endParaRPr lang="en-US" sz="850" dirty="0"/>
          </a:p>
        </p:txBody>
      </p:sp>
      <p:sp>
        <p:nvSpPr>
          <p:cNvPr id="26" name="Text 24"/>
          <p:cNvSpPr/>
          <p:nvPr/>
        </p:nvSpPr>
        <p:spPr>
          <a:xfrm>
            <a:off x="5038344" y="3072384"/>
            <a:ext cx="3456432" cy="859536"/>
          </a:xfrm>
          <a:prstGeom prst="rect">
            <a:avLst/>
          </a:prstGeom>
          <a:noFill/>
          <a:ln/>
        </p:spPr>
        <p:txBody>
          <a:bodyPr wrap="square" lIns="0" tIns="0" rIns="0" bIns="0" rtlCol="0" anchor="t"/>
          <a:lstStyle/>
          <a:p>
            <a:pPr marL="0" indent="0">
              <a:lnSpc>
                <a:spcPct val="112000"/>
              </a:lnSpc>
              <a:buNone/>
            </a:pPr>
            <a:r>
              <a:rPr lang="en-US" sz="719" dirty="0">
                <a:solidFill>
                  <a:srgbClr val="D7ECF8"/>
                </a:solidFill>
                <a:latin typeface="Consolas" pitchFamily="34" charset="0"/>
                <a:ea typeface="Consolas" pitchFamily="34" charset="-122"/>
                <a:cs typeface="Consolas" pitchFamily="34" charset="-120"/>
              </a:rPr>
              <a:t>spec:</a:t>
            </a:r>
            <a:endParaRPr lang="en-US" sz="719" dirty="0"/>
          </a:p>
          <a:p>
            <a:pPr marL="0" indent="0">
              <a:lnSpc>
                <a:spcPct val="112000"/>
              </a:lnSpc>
              <a:buNone/>
            </a:pPr>
            <a:r>
              <a:rPr lang="en-US" sz="719" dirty="0">
                <a:solidFill>
                  <a:srgbClr val="D7ECF8"/>
                </a:solidFill>
                <a:latin typeface="Consolas" pitchFamily="34" charset="0"/>
                <a:ea typeface="Consolas" pitchFamily="34" charset="-122"/>
                <a:cs typeface="Consolas" pitchFamily="34" charset="-120"/>
              </a:rPr>
              <a:t>  containers:</a:t>
            </a:r>
            <a:endParaRPr lang="en-US" sz="719" dirty="0"/>
          </a:p>
          <a:p>
            <a:pPr marL="0" indent="0">
              <a:lnSpc>
                <a:spcPct val="112000"/>
              </a:lnSpc>
              <a:buNone/>
            </a:pPr>
            <a:r>
              <a:rPr lang="en-US" sz="719" dirty="0">
                <a:solidFill>
                  <a:srgbClr val="D7ECF8"/>
                </a:solidFill>
                <a:latin typeface="Consolas" pitchFamily="34" charset="0"/>
                <a:ea typeface="Consolas" pitchFamily="34" charset="-122"/>
                <a:cs typeface="Consolas" pitchFamily="34" charset="-120"/>
              </a:rPr>
              <a:t>    - name: api</a:t>
            </a:r>
            <a:endParaRPr lang="en-US" sz="719" dirty="0"/>
          </a:p>
          <a:p>
            <a:pPr marL="0" indent="0">
              <a:lnSpc>
                <a:spcPct val="112000"/>
              </a:lnSpc>
              <a:buNone/>
            </a:pPr>
            <a:r>
              <a:rPr lang="en-US" sz="719" dirty="0">
                <a:solidFill>
                  <a:srgbClr val="D7ECF8"/>
                </a:solidFill>
                <a:latin typeface="Consolas" pitchFamily="34" charset="0"/>
                <a:ea typeface="Consolas" pitchFamily="34" charset="-122"/>
                <a:cs typeface="Consolas" pitchFamily="34" charset="-120"/>
              </a:rPr>
              <a:t>      volumeMounts:</a:t>
            </a:r>
            <a:endParaRPr lang="en-US" sz="719" dirty="0"/>
          </a:p>
          <a:p>
            <a:pPr marL="0" indent="0">
              <a:lnSpc>
                <a:spcPct val="112000"/>
              </a:lnSpc>
              <a:buNone/>
            </a:pPr>
            <a:r>
              <a:rPr lang="en-US" sz="719" dirty="0">
                <a:solidFill>
                  <a:srgbClr val="D7ECF8"/>
                </a:solidFill>
                <a:latin typeface="Consolas" pitchFamily="34" charset="0"/>
                <a:ea typeface="Consolas" pitchFamily="34" charset="-122"/>
                <a:cs typeface="Consolas" pitchFamily="34" charset="-120"/>
              </a:rPr>
              <a:t>        - { name: scratch, mountPath: /tmp/work }</a:t>
            </a:r>
            <a:endParaRPr lang="en-US" sz="719" dirty="0"/>
          </a:p>
          <a:p>
            <a:pPr marL="0" indent="0">
              <a:lnSpc>
                <a:spcPct val="112000"/>
              </a:lnSpc>
              <a:buNone/>
            </a:pPr>
            <a:r>
              <a:rPr lang="en-US" sz="719" dirty="0">
                <a:solidFill>
                  <a:srgbClr val="D7ECF8"/>
                </a:solidFill>
                <a:latin typeface="Consolas" pitchFamily="34" charset="0"/>
                <a:ea typeface="Consolas" pitchFamily="34" charset="-122"/>
                <a:cs typeface="Consolas" pitchFamily="34" charset="-120"/>
              </a:rPr>
              <a:t>  volumes:</a:t>
            </a:r>
            <a:endParaRPr lang="en-US" sz="719" dirty="0"/>
          </a:p>
          <a:p>
            <a:pPr marL="0" indent="0">
              <a:lnSpc>
                <a:spcPct val="112000"/>
              </a:lnSpc>
              <a:buNone/>
            </a:pPr>
            <a:r>
              <a:rPr lang="en-US" sz="719" dirty="0">
                <a:solidFill>
                  <a:srgbClr val="D7ECF8"/>
                </a:solidFill>
                <a:latin typeface="Consolas" pitchFamily="34" charset="0"/>
                <a:ea typeface="Consolas" pitchFamily="34" charset="-122"/>
                <a:cs typeface="Consolas" pitchFamily="34" charset="-120"/>
              </a:rPr>
              <a:t>    - { name: scratch, emptyDir: {} }   # dies with Pod</a:t>
            </a:r>
            <a:endParaRPr lang="en-US" sz="719" dirty="0"/>
          </a:p>
        </p:txBody>
      </p:sp>
      <p:sp>
        <p:nvSpPr>
          <p:cNvPr id="2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5 · PERSISTENT STORAGE FOR APPLICATIONS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Persistent Volumes (PV)</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50" dirty="0">
                <a:solidFill>
                  <a:srgbClr val="44566B"/>
                </a:solidFill>
                <a:latin typeface="Segoe UI" pitchFamily="34" charset="0"/>
                <a:ea typeface="Segoe UI" pitchFamily="34" charset="-122"/>
                <a:cs typeface="Segoe UI" pitchFamily="34" charset="-120"/>
              </a:rPr>
              <a:t>A PersistentVolume is the actual piece of storage in the cluster — usually created for you, on demand.</a:t>
            </a:r>
            <a:endParaRPr lang="en-US" sz="1050" dirty="0"/>
          </a:p>
        </p:txBody>
      </p:sp>
      <p:sp>
        <p:nvSpPr>
          <p:cNvPr id="7" name="Text 5"/>
          <p:cNvSpPr/>
          <p:nvPr/>
        </p:nvSpPr>
        <p:spPr>
          <a:xfrm>
            <a:off x="502920" y="1481328"/>
            <a:ext cx="4114800" cy="1865376"/>
          </a:xfrm>
          <a:prstGeom prst="rect">
            <a:avLst/>
          </a:prstGeom>
          <a:noFill/>
          <a:ln/>
        </p:spPr>
        <p:txBody>
          <a:bodyPr wrap="square" lIns="0" tIns="0" rIns="0" bIns="0" rtlCol="0" anchor="t"/>
          <a:lstStyle/>
          <a:p>
            <a:pPr marL="342900" indent="-342900">
              <a:spcAft>
                <a:spcPts val="900"/>
              </a:spcAft>
              <a:buSzPct val="100000"/>
              <a:buChar char="•"/>
            </a:pPr>
            <a:r>
              <a:rPr lang="en-US" sz="900" dirty="0">
                <a:solidFill>
                  <a:srgbClr val="44566B"/>
                </a:solidFill>
                <a:latin typeface="Segoe UI" pitchFamily="34" charset="0"/>
                <a:ea typeface="Segoe UI" pitchFamily="34" charset="-122"/>
                <a:cs typeface="Segoe UI" pitchFamily="34" charset="-120"/>
              </a:rPr>
              <a:t>A cluster-scoped object representing real storage, such as an Azure managed disk or a file share</a:t>
            </a:r>
            <a:endParaRPr lang="en-US" sz="900" dirty="0"/>
          </a:p>
          <a:p>
            <a:pPr marL="342900" indent="-342900">
              <a:spcAft>
                <a:spcPts val="900"/>
              </a:spcAft>
              <a:buSzPct val="100000"/>
              <a:buChar char="•"/>
            </a:pPr>
            <a:r>
              <a:rPr lang="en-US" sz="900" dirty="0">
                <a:solidFill>
                  <a:srgbClr val="44566B"/>
                </a:solidFill>
                <a:latin typeface="Segoe UI" pitchFamily="34" charset="0"/>
                <a:ea typeface="Segoe UI" pitchFamily="34" charset="-122"/>
                <a:cs typeface="Segoe UI" pitchFamily="34" charset="-120"/>
              </a:rPr>
              <a:t>Static provisioning — an administrator creates the PV up front and you claim it</a:t>
            </a:r>
            <a:endParaRPr lang="en-US" sz="900" dirty="0"/>
          </a:p>
          <a:p>
            <a:pPr marL="342900" indent="-342900">
              <a:spcAft>
                <a:spcPts val="900"/>
              </a:spcAft>
              <a:buSzPct val="100000"/>
              <a:buChar char="•"/>
            </a:pPr>
            <a:r>
              <a:rPr lang="en-US" sz="900" dirty="0">
                <a:solidFill>
                  <a:srgbClr val="44566B"/>
                </a:solidFill>
                <a:latin typeface="Segoe UI" pitchFamily="34" charset="0"/>
                <a:ea typeface="Segoe UI" pitchFamily="34" charset="-122"/>
                <a:cs typeface="Segoe UI" pitchFamily="34" charset="-120"/>
              </a:rPr>
              <a:t>Dynamic provisioning — a StorageClass creates the PV automatically when you make a claim</a:t>
            </a:r>
            <a:endParaRPr lang="en-US" sz="900" dirty="0"/>
          </a:p>
          <a:p>
            <a:pPr marL="342900" indent="-342900">
              <a:spcAft>
                <a:spcPts val="900"/>
              </a:spcAft>
              <a:buSzPct val="100000"/>
              <a:buChar char="•"/>
            </a:pPr>
            <a:r>
              <a:rPr lang="en-US" sz="900" dirty="0">
                <a:solidFill>
                  <a:srgbClr val="44566B"/>
                </a:solidFill>
                <a:latin typeface="Segoe UI" pitchFamily="34" charset="0"/>
                <a:ea typeface="Segoe UI" pitchFamily="34" charset="-122"/>
                <a:cs typeface="Segoe UI" pitchFamily="34" charset="-120"/>
              </a:rPr>
              <a:t>Access modes describe how it can be mounted: by one node, or by many at once</a:t>
            </a:r>
            <a:endParaRPr lang="en-US" sz="900" dirty="0"/>
          </a:p>
          <a:p>
            <a:pPr marL="342900" indent="-342900">
              <a:spcAft>
                <a:spcPts val="900"/>
              </a:spcAft>
              <a:buSzPct val="100000"/>
              <a:buChar char="•"/>
            </a:pPr>
            <a:r>
              <a:rPr lang="en-US" sz="900" dirty="0">
                <a:solidFill>
                  <a:srgbClr val="44566B"/>
                </a:solidFill>
                <a:latin typeface="Segoe UI" pitchFamily="34" charset="0"/>
                <a:ea typeface="Segoe UI" pitchFamily="34" charset="-122"/>
                <a:cs typeface="Segoe UI" pitchFamily="34" charset="-120"/>
              </a:rPr>
              <a:t>The reclaim policy decides what happens to the data when the claim is deleted</a:t>
            </a:r>
            <a:endParaRPr lang="en-US" sz="900" dirty="0"/>
          </a:p>
        </p:txBody>
      </p:sp>
      <p:sp>
        <p:nvSpPr>
          <p:cNvPr id="8" name="code panel">
            <a:extLst>
              <a:ext uri="{C183D7F6-B498-43B3-948B-1728B52AA6E4}">
                <adec:decorative xmlns:adec="http://schemas.microsoft.com/office/drawing/2017/decorative" val="1"/>
              </a:ext>
            </a:extLst>
          </p:cNvPr>
          <p:cNvSpPr/>
          <p:nvPr/>
        </p:nvSpPr>
        <p:spPr>
          <a:xfrm>
            <a:off x="4800600" y="1481328"/>
            <a:ext cx="3840480" cy="186537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9" name="code panel header">
            <a:extLst>
              <a:ext uri="{C183D7F6-B498-43B3-948B-1728B52AA6E4}">
                <adec:decorative xmlns:adec="http://schemas.microsoft.com/office/drawing/2017/decorative" val="1"/>
              </a:ext>
            </a:extLst>
          </p:cNvPr>
          <p:cNvSpPr/>
          <p:nvPr/>
        </p:nvSpPr>
        <p:spPr>
          <a:xfrm>
            <a:off x="4800600" y="1481328"/>
            <a:ext cx="3840480" cy="256032"/>
          </a:xfrm>
          <a:prstGeom prst="rect">
            <a:avLst/>
          </a:prstGeom>
          <a:solidFill>
            <a:srgbClr val="0F3D66"/>
          </a:solidFill>
          <a:ln w="12700">
            <a:solidFill>
              <a:srgbClr val="333333"/>
            </a:solidFill>
            <a:prstDash val="solid"/>
          </a:ln>
        </p:spPr>
        <p:txBody>
          <a:bodyPr/>
          <a:lstStyle/>
          <a:p>
            <a:endParaRPr lang="en-IN"/>
          </a:p>
        </p:txBody>
      </p:sp>
      <p:sp>
        <p:nvSpPr>
          <p:cNvPr id="10" name="Text 8"/>
          <p:cNvSpPr/>
          <p:nvPr/>
        </p:nvSpPr>
        <p:spPr>
          <a:xfrm>
            <a:off x="4946904" y="1481328"/>
            <a:ext cx="354787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A StorageClass drives dynamic provisioning</a:t>
            </a:r>
            <a:endParaRPr lang="en-US" sz="850" dirty="0"/>
          </a:p>
        </p:txBody>
      </p:sp>
      <p:sp>
        <p:nvSpPr>
          <p:cNvPr id="11" name="Text 9"/>
          <p:cNvSpPr/>
          <p:nvPr/>
        </p:nvSpPr>
        <p:spPr>
          <a:xfrm>
            <a:off x="4946904" y="1810512"/>
            <a:ext cx="3547872" cy="1389888"/>
          </a:xfrm>
          <a:prstGeom prst="rect">
            <a:avLst/>
          </a:prstGeom>
          <a:noFill/>
          <a:ln/>
        </p:spPr>
        <p:txBody>
          <a:bodyPr wrap="square" lIns="0" tIns="0" rIns="0" bIns="0" rtlCol="0" anchor="t"/>
          <a:lstStyle/>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apiVersion: storage.k8s.io/v1</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kind: StorageClass</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metadata:</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name: managed-csi-premium</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provisioner: disk.csi.azure.com</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parameters:</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  skuName: Premium_LRS</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reclaimPolicy: Delete       # or Retain</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volumeBindingMode: WaitForFirstConsumer</a:t>
            </a:r>
            <a:endParaRPr lang="en-US" sz="814" dirty="0"/>
          </a:p>
          <a:p>
            <a:pPr marL="0" indent="0">
              <a:lnSpc>
                <a:spcPct val="112000"/>
              </a:lnSpc>
              <a:buNone/>
            </a:pPr>
            <a:r>
              <a:rPr lang="en-US" sz="814" dirty="0">
                <a:solidFill>
                  <a:srgbClr val="D7ECF8"/>
                </a:solidFill>
                <a:latin typeface="Consolas" pitchFamily="34" charset="0"/>
                <a:ea typeface="Consolas" pitchFamily="34" charset="-122"/>
                <a:cs typeface="Consolas" pitchFamily="34" charset="-120"/>
              </a:rPr>
              <a:t>allowVolumeExpansion: true</a:t>
            </a:r>
            <a:endParaRPr lang="en-US" sz="814" dirty="0"/>
          </a:p>
        </p:txBody>
      </p:sp>
      <p:sp>
        <p:nvSpPr>
          <p:cNvPr id="12"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3"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ReadWriteOnce</a:t>
            </a:r>
            <a:endParaRPr lang="en-US" sz="1100" dirty="0"/>
          </a:p>
        </p:txBody>
      </p:sp>
      <p:sp>
        <p:nvSpPr>
          <p:cNvPr id="15" name="Text 13"/>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Mounted read-write by Pods on a single node — Azure Disk</a:t>
            </a:r>
            <a:endParaRPr lang="en-US" sz="800" dirty="0"/>
          </a:p>
        </p:txBody>
      </p:sp>
      <p:sp>
        <p:nvSpPr>
          <p:cNvPr id="16"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7"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18" name="Text 16"/>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ReadWriteMany</a:t>
            </a:r>
            <a:endParaRPr lang="en-US" sz="1100" dirty="0"/>
          </a:p>
        </p:txBody>
      </p:sp>
      <p:sp>
        <p:nvSpPr>
          <p:cNvPr id="19" name="Text 17"/>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Mounted read-write by Pods across many nodes — Azure Files</a:t>
            </a:r>
            <a:endParaRPr lang="en-US" sz="800" dirty="0"/>
          </a:p>
        </p:txBody>
      </p:sp>
      <p:sp>
        <p:nvSpPr>
          <p:cNvPr id="20"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1"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D0483C"/>
          </a:solidFill>
          <a:ln w="12700">
            <a:solidFill>
              <a:srgbClr val="333333"/>
            </a:solidFill>
            <a:prstDash val="solid"/>
          </a:ln>
        </p:spPr>
        <p:txBody>
          <a:bodyPr/>
          <a:lstStyle/>
          <a:p>
            <a:endParaRPr lang="en-IN"/>
          </a:p>
        </p:txBody>
      </p:sp>
      <p:sp>
        <p:nvSpPr>
          <p:cNvPr id="22" name="Text 20"/>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dirty="0">
                <a:solidFill>
                  <a:srgbClr val="0E2233"/>
                </a:solidFill>
                <a:latin typeface="Segoe UI" pitchFamily="34" charset="0"/>
                <a:ea typeface="Segoe UI" pitchFamily="34" charset="-122"/>
                <a:cs typeface="Segoe UI" pitchFamily="34" charset="-120"/>
              </a:rPr>
              <a:t>Retain vs Delete</a:t>
            </a:r>
            <a:endParaRPr lang="en-US" sz="1100" dirty="0"/>
          </a:p>
        </p:txBody>
      </p:sp>
      <p:sp>
        <p:nvSpPr>
          <p:cNvPr id="23" name="Text 21"/>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00" dirty="0">
                <a:solidFill>
                  <a:srgbClr val="44566B"/>
                </a:solidFill>
                <a:latin typeface="Segoe UI" pitchFamily="34" charset="0"/>
                <a:ea typeface="Segoe UI" pitchFamily="34" charset="-122"/>
                <a:cs typeface="Segoe UI" pitchFamily="34" charset="-120"/>
              </a:rPr>
              <a:t>Retain keeps the underlying disk after the claim is deleted; Delete destroys it</a:t>
            </a:r>
            <a:endParaRPr lang="en-US" sz="800" dirty="0"/>
          </a:p>
        </p:txBody>
      </p:sp>
      <p:sp>
        <p:nvSpPr>
          <p:cNvPr id="24" name="callout band">
            <a:extLst>
              <a:ext uri="{C183D7F6-B498-43B3-948B-1728B52AA6E4}">
                <adec:decorative xmlns:adec="http://schemas.microsoft.com/office/drawing/2017/decorative" val="1"/>
              </a:ext>
            </a:extLst>
          </p:cNvPr>
          <p:cNvSpPr/>
          <p:nvPr/>
        </p:nvSpPr>
        <p:spPr>
          <a:xfrm>
            <a:off x="502920" y="4206240"/>
            <a:ext cx="8138160" cy="384048"/>
          </a:xfrm>
          <a:prstGeom prst="rect">
            <a:avLst/>
          </a:prstGeom>
          <a:solidFill>
            <a:srgbClr val="EDF4FC"/>
          </a:solidFill>
          <a:ln w="12700">
            <a:solidFill>
              <a:srgbClr val="333333"/>
            </a:solidFill>
            <a:prstDash val="solid"/>
          </a:ln>
        </p:spPr>
        <p:txBody>
          <a:bodyPr/>
          <a:lstStyle/>
          <a:p>
            <a:endParaRPr lang="en-IN"/>
          </a:p>
        </p:txBody>
      </p:sp>
      <p:sp>
        <p:nvSpPr>
          <p:cNvPr id="25" name="callout accent">
            <a:extLst>
              <a:ext uri="{C183D7F6-B498-43B3-948B-1728B52AA6E4}">
                <adec:decorative xmlns:adec="http://schemas.microsoft.com/office/drawing/2017/decorative" val="1"/>
              </a:ext>
            </a:extLst>
          </p:cNvPr>
          <p:cNvSpPr/>
          <p:nvPr/>
        </p:nvSpPr>
        <p:spPr>
          <a:xfrm>
            <a:off x="502920" y="4206240"/>
            <a:ext cx="45720" cy="384048"/>
          </a:xfrm>
          <a:prstGeom prst="rect">
            <a:avLst/>
          </a:prstGeom>
          <a:solidFill>
            <a:srgbClr val="D0483C"/>
          </a:solidFill>
          <a:ln w="12700">
            <a:solidFill>
              <a:srgbClr val="333333"/>
            </a:solidFill>
            <a:prstDash val="solid"/>
          </a:ln>
        </p:spPr>
        <p:txBody>
          <a:bodyPr/>
          <a:lstStyle/>
          <a:p>
            <a:endParaRPr lang="en-IN"/>
          </a:p>
        </p:txBody>
      </p:sp>
      <p:sp>
        <p:nvSpPr>
          <p:cNvPr id="26" name="Text 24"/>
          <p:cNvSpPr/>
          <p:nvPr/>
        </p:nvSpPr>
        <p:spPr>
          <a:xfrm>
            <a:off x="704088" y="4206240"/>
            <a:ext cx="7754112" cy="384048"/>
          </a:xfrm>
          <a:prstGeom prst="rect">
            <a:avLst/>
          </a:prstGeom>
          <a:noFill/>
          <a:ln/>
        </p:spPr>
        <p:txBody>
          <a:bodyPr wrap="square" lIns="0" tIns="0" rIns="0" bIns="0" rtlCol="0" anchor="ctr"/>
          <a:lstStyle/>
          <a:p>
            <a:pPr marL="0" indent="0">
              <a:buNone/>
            </a:pPr>
            <a:r>
              <a:rPr lang="en-US" sz="1000" b="1" dirty="0">
                <a:solidFill>
                  <a:srgbClr val="D0483C"/>
                </a:solidFill>
                <a:latin typeface="Segoe UI" pitchFamily="34" charset="0"/>
                <a:ea typeface="Segoe UI" pitchFamily="34" charset="-122"/>
                <a:cs typeface="Segoe UI" pitchFamily="34" charset="-120"/>
              </a:rPr>
              <a:t>Data safety   </a:t>
            </a:r>
            <a:r>
              <a:rPr lang="en-US" sz="1050" dirty="0">
                <a:solidFill>
                  <a:srgbClr val="0E2233"/>
                </a:solidFill>
                <a:latin typeface="Segoe UI" pitchFamily="34" charset="0"/>
                <a:ea typeface="Segoe UI" pitchFamily="34" charset="-122"/>
                <a:cs typeface="Segoe UI" pitchFamily="34" charset="-120"/>
              </a:rPr>
              <a:t>For anything you would be unhappy to lose, insist on a Retain reclaim policy — and on a backup that is independent of the cluster.</a:t>
            </a:r>
            <a:endParaRPr lang="en-US" sz="1000" dirty="0"/>
          </a:p>
        </p:txBody>
      </p:sp>
      <p:sp>
        <p:nvSpPr>
          <p:cNvPr id="2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33</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5 · PERSISTENT STORAGE FOR APPLICATIONS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Persistent Volume Claims (PVC)</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50" dirty="0">
                <a:solidFill>
                  <a:srgbClr val="44566B"/>
                </a:solidFill>
                <a:latin typeface="Segoe UI" pitchFamily="34" charset="0"/>
                <a:ea typeface="Segoe UI" pitchFamily="34" charset="-122"/>
                <a:cs typeface="Segoe UI" pitchFamily="34" charset="-120"/>
              </a:rPr>
              <a:t>A claim is your request for storage. It is the only storage object an application team normally writes.</a:t>
            </a:r>
            <a:endParaRPr lang="en-US" sz="1050" dirty="0"/>
          </a:p>
        </p:txBody>
      </p:sp>
      <p:sp>
        <p:nvSpPr>
          <p:cNvPr id="7" name="step box">
            <a:extLst>
              <a:ext uri="{C183D7F6-B498-43B3-948B-1728B52AA6E4}">
                <adec:decorative xmlns:adec="http://schemas.microsoft.com/office/drawing/2017/decorative" val="1"/>
              </a:ext>
            </a:extLst>
          </p:cNvPr>
          <p:cNvSpPr/>
          <p:nvPr/>
        </p:nvSpPr>
        <p:spPr>
          <a:xfrm>
            <a:off x="502920" y="1481328"/>
            <a:ext cx="1801368" cy="804672"/>
          </a:xfrm>
          <a:prstGeom prst="rect">
            <a:avLst/>
          </a:prstGeom>
          <a:solidFill>
            <a:srgbClr val="EDF4FC"/>
          </a:solidFill>
          <a:ln w="12700">
            <a:solidFill>
              <a:srgbClr val="0B63CE"/>
            </a:solidFill>
            <a:prstDash val="solid"/>
          </a:ln>
        </p:spPr>
        <p:txBody>
          <a:bodyPr/>
          <a:lstStyle/>
          <a:p>
            <a:endParaRPr lang="en-IN"/>
          </a:p>
        </p:txBody>
      </p:sp>
      <p:sp>
        <p:nvSpPr>
          <p:cNvPr id="8" name="Text 6"/>
          <p:cNvSpPr/>
          <p:nvPr/>
        </p:nvSpPr>
        <p:spPr>
          <a:xfrm>
            <a:off x="594360" y="1591056"/>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1 · You claim</a:t>
            </a:r>
            <a:endParaRPr lang="en-US" sz="1050" dirty="0"/>
          </a:p>
        </p:txBody>
      </p:sp>
      <p:sp>
        <p:nvSpPr>
          <p:cNvPr id="9" name="Text 7"/>
          <p:cNvSpPr/>
          <p:nvPr/>
        </p:nvSpPr>
        <p:spPr>
          <a:xfrm>
            <a:off x="612648" y="1901952"/>
            <a:ext cx="1581912" cy="292608"/>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PVC asks for size, access mode and StorageClass</a:t>
            </a:r>
            <a:endParaRPr lang="en-US" sz="850" dirty="0"/>
          </a:p>
        </p:txBody>
      </p:sp>
      <p:sp>
        <p:nvSpPr>
          <p:cNvPr id="10" name="flow arrow">
            <a:extLst>
              <a:ext uri="{C183D7F6-B498-43B3-948B-1728B52AA6E4}">
                <adec:decorative xmlns:adec="http://schemas.microsoft.com/office/drawing/2017/decorative" val="1"/>
              </a:ext>
            </a:extLst>
          </p:cNvPr>
          <p:cNvSpPr/>
          <p:nvPr/>
        </p:nvSpPr>
        <p:spPr>
          <a:xfrm>
            <a:off x="2359152"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1" name="step box">
            <a:extLst>
              <a:ext uri="{C183D7F6-B498-43B3-948B-1728B52AA6E4}">
                <adec:decorative xmlns:adec="http://schemas.microsoft.com/office/drawing/2017/decorative" val="1"/>
              </a:ext>
            </a:extLst>
          </p:cNvPr>
          <p:cNvSpPr/>
          <p:nvPr/>
        </p:nvSpPr>
        <p:spPr>
          <a:xfrm>
            <a:off x="2615184" y="1481328"/>
            <a:ext cx="1801368" cy="804672"/>
          </a:xfrm>
          <a:prstGeom prst="rect">
            <a:avLst/>
          </a:prstGeom>
          <a:solidFill>
            <a:srgbClr val="E4F3FB"/>
          </a:solidFill>
          <a:ln w="12700">
            <a:solidFill>
              <a:srgbClr val="17A9DB"/>
            </a:solidFill>
            <a:prstDash val="solid"/>
          </a:ln>
        </p:spPr>
        <p:txBody>
          <a:bodyPr/>
          <a:lstStyle/>
          <a:p>
            <a:endParaRPr lang="en-IN"/>
          </a:p>
        </p:txBody>
      </p:sp>
      <p:sp>
        <p:nvSpPr>
          <p:cNvPr id="12" name="Text 10"/>
          <p:cNvSpPr/>
          <p:nvPr/>
        </p:nvSpPr>
        <p:spPr>
          <a:xfrm>
            <a:off x="2706624" y="1591056"/>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2 · Azure provisions</a:t>
            </a:r>
            <a:endParaRPr lang="en-US" sz="1050" dirty="0"/>
          </a:p>
        </p:txBody>
      </p:sp>
      <p:sp>
        <p:nvSpPr>
          <p:cNvPr id="13" name="Text 11"/>
          <p:cNvSpPr/>
          <p:nvPr/>
        </p:nvSpPr>
        <p:spPr>
          <a:xfrm>
            <a:off x="2724912" y="1901952"/>
            <a:ext cx="1581912" cy="292608"/>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The CSI driver creates the disk or share</a:t>
            </a:r>
            <a:endParaRPr lang="en-US" sz="850" dirty="0"/>
          </a:p>
        </p:txBody>
      </p:sp>
      <p:sp>
        <p:nvSpPr>
          <p:cNvPr id="14" name="flow arrow">
            <a:extLst>
              <a:ext uri="{C183D7F6-B498-43B3-948B-1728B52AA6E4}">
                <adec:decorative xmlns:adec="http://schemas.microsoft.com/office/drawing/2017/decorative" val="1"/>
              </a:ext>
            </a:extLst>
          </p:cNvPr>
          <p:cNvSpPr/>
          <p:nvPr/>
        </p:nvSpPr>
        <p:spPr>
          <a:xfrm>
            <a:off x="4471416"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5" name="step box">
            <a:extLst>
              <a:ext uri="{C183D7F6-B498-43B3-948B-1728B52AA6E4}">
                <adec:decorative xmlns:adec="http://schemas.microsoft.com/office/drawing/2017/decorative" val="1"/>
              </a:ext>
            </a:extLst>
          </p:cNvPr>
          <p:cNvSpPr/>
          <p:nvPr/>
        </p:nvSpPr>
        <p:spPr>
          <a:xfrm>
            <a:off x="4727448" y="1481328"/>
            <a:ext cx="1801368" cy="804672"/>
          </a:xfrm>
          <a:prstGeom prst="rect">
            <a:avLst/>
          </a:prstGeom>
          <a:solidFill>
            <a:srgbClr val="EDF4FC"/>
          </a:solidFill>
          <a:ln w="12700">
            <a:solidFill>
              <a:srgbClr val="0B63CE"/>
            </a:solidFill>
            <a:prstDash val="solid"/>
          </a:ln>
        </p:spPr>
        <p:txBody>
          <a:bodyPr/>
          <a:lstStyle/>
          <a:p>
            <a:endParaRPr lang="en-IN"/>
          </a:p>
        </p:txBody>
      </p:sp>
      <p:sp>
        <p:nvSpPr>
          <p:cNvPr id="16" name="Text 14"/>
          <p:cNvSpPr/>
          <p:nvPr/>
        </p:nvSpPr>
        <p:spPr>
          <a:xfrm>
            <a:off x="4818888" y="1591056"/>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3 · PV is created</a:t>
            </a:r>
            <a:endParaRPr lang="en-US" sz="1050" dirty="0"/>
          </a:p>
        </p:txBody>
      </p:sp>
      <p:sp>
        <p:nvSpPr>
          <p:cNvPr id="17" name="Text 15"/>
          <p:cNvSpPr/>
          <p:nvPr/>
        </p:nvSpPr>
        <p:spPr>
          <a:xfrm>
            <a:off x="4837176" y="1901952"/>
            <a:ext cx="1581912" cy="292608"/>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Kubernetes binds the PV to your claim</a:t>
            </a:r>
            <a:endParaRPr lang="en-US" sz="850" dirty="0"/>
          </a:p>
        </p:txBody>
      </p:sp>
      <p:sp>
        <p:nvSpPr>
          <p:cNvPr id="18" name="flow arrow">
            <a:extLst>
              <a:ext uri="{C183D7F6-B498-43B3-948B-1728B52AA6E4}">
                <adec:decorative xmlns:adec="http://schemas.microsoft.com/office/drawing/2017/decorative" val="1"/>
              </a:ext>
            </a:extLst>
          </p:cNvPr>
          <p:cNvSpPr/>
          <p:nvPr/>
        </p:nvSpPr>
        <p:spPr>
          <a:xfrm>
            <a:off x="6583680"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9" name="step box">
            <a:extLst>
              <a:ext uri="{C183D7F6-B498-43B3-948B-1728B52AA6E4}">
                <adec:decorative xmlns:adec="http://schemas.microsoft.com/office/drawing/2017/decorative" val="1"/>
              </a:ext>
            </a:extLst>
          </p:cNvPr>
          <p:cNvSpPr/>
          <p:nvPr/>
        </p:nvSpPr>
        <p:spPr>
          <a:xfrm>
            <a:off x="6839712" y="1481328"/>
            <a:ext cx="1801368" cy="804672"/>
          </a:xfrm>
          <a:prstGeom prst="rect">
            <a:avLst/>
          </a:prstGeom>
          <a:solidFill>
            <a:srgbClr val="E8F6EF"/>
          </a:solidFill>
          <a:ln w="12700">
            <a:solidFill>
              <a:srgbClr val="2E9E6B"/>
            </a:solidFill>
            <a:prstDash val="solid"/>
          </a:ln>
        </p:spPr>
        <p:txBody>
          <a:bodyPr/>
          <a:lstStyle/>
          <a:p>
            <a:endParaRPr lang="en-IN"/>
          </a:p>
        </p:txBody>
      </p:sp>
      <p:sp>
        <p:nvSpPr>
          <p:cNvPr id="20" name="Text 18"/>
          <p:cNvSpPr/>
          <p:nvPr/>
        </p:nvSpPr>
        <p:spPr>
          <a:xfrm>
            <a:off x="6931152" y="1591056"/>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4 · Pod mounts it</a:t>
            </a:r>
            <a:endParaRPr lang="en-US" sz="1050" dirty="0"/>
          </a:p>
        </p:txBody>
      </p:sp>
      <p:sp>
        <p:nvSpPr>
          <p:cNvPr id="21" name="Text 19"/>
          <p:cNvSpPr/>
          <p:nvPr/>
        </p:nvSpPr>
        <p:spPr>
          <a:xfrm>
            <a:off x="6949440" y="1901952"/>
            <a:ext cx="1581912" cy="292608"/>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The volume appears at the mount path</a:t>
            </a:r>
            <a:endParaRPr lang="en-US" sz="850" dirty="0"/>
          </a:p>
        </p:txBody>
      </p:sp>
      <p:sp>
        <p:nvSpPr>
          <p:cNvPr id="22" name="code panel">
            <a:extLst>
              <a:ext uri="{C183D7F6-B498-43B3-948B-1728B52AA6E4}">
                <adec:decorative xmlns:adec="http://schemas.microsoft.com/office/drawing/2017/decorative" val="1"/>
              </a:ext>
            </a:extLst>
          </p:cNvPr>
          <p:cNvSpPr/>
          <p:nvPr/>
        </p:nvSpPr>
        <p:spPr>
          <a:xfrm>
            <a:off x="502920" y="2395728"/>
            <a:ext cx="4023360" cy="16824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3" name="code panel header">
            <a:extLst>
              <a:ext uri="{C183D7F6-B498-43B3-948B-1728B52AA6E4}">
                <adec:decorative xmlns:adec="http://schemas.microsoft.com/office/drawing/2017/decorative" val="1"/>
              </a:ext>
            </a:extLst>
          </p:cNvPr>
          <p:cNvSpPr/>
          <p:nvPr/>
        </p:nvSpPr>
        <p:spPr>
          <a:xfrm>
            <a:off x="502920" y="2395728"/>
            <a:ext cx="4023360" cy="256032"/>
          </a:xfrm>
          <a:prstGeom prst="rect">
            <a:avLst/>
          </a:prstGeom>
          <a:solidFill>
            <a:srgbClr val="0F3D66"/>
          </a:solidFill>
          <a:ln w="12700">
            <a:solidFill>
              <a:srgbClr val="333333"/>
            </a:solidFill>
            <a:prstDash val="solid"/>
          </a:ln>
        </p:spPr>
        <p:txBody>
          <a:bodyPr/>
          <a:lstStyle/>
          <a:p>
            <a:endParaRPr lang="en-IN"/>
          </a:p>
        </p:txBody>
      </p:sp>
      <p:sp>
        <p:nvSpPr>
          <p:cNvPr id="24" name="Text 22"/>
          <p:cNvSpPr/>
          <p:nvPr/>
        </p:nvSpPr>
        <p:spPr>
          <a:xfrm>
            <a:off x="649224" y="2395728"/>
            <a:ext cx="373075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pvc.yaml</a:t>
            </a:r>
            <a:endParaRPr lang="en-US" sz="850" dirty="0"/>
          </a:p>
        </p:txBody>
      </p:sp>
      <p:sp>
        <p:nvSpPr>
          <p:cNvPr id="25" name="Text 23"/>
          <p:cNvSpPr/>
          <p:nvPr/>
        </p:nvSpPr>
        <p:spPr>
          <a:xfrm>
            <a:off x="649224" y="2724912"/>
            <a:ext cx="3730752" cy="1207008"/>
          </a:xfrm>
          <a:prstGeom prst="rect">
            <a:avLst/>
          </a:prstGeom>
          <a:noFill/>
          <a:ln/>
        </p:spPr>
        <p:txBody>
          <a:bodyPr wrap="square" lIns="0" tIns="0" rIns="0" bIns="0" rtlCol="0" anchor="t"/>
          <a:lstStyle/>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kind: PersistentVolumeClaim</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metadata:</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name: payments-data</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spec:</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accessModes: [ ReadWriteOnce ]</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storageClassName: managed-csi-premium</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resources:</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requests: { storage: 20Gi }</a:t>
            </a:r>
            <a:endParaRPr lang="en-US" sz="850" dirty="0"/>
          </a:p>
        </p:txBody>
      </p:sp>
      <p:sp>
        <p:nvSpPr>
          <p:cNvPr id="26" name="code panel">
            <a:extLst>
              <a:ext uri="{C183D7F6-B498-43B3-948B-1728B52AA6E4}">
                <adec:decorative xmlns:adec="http://schemas.microsoft.com/office/drawing/2017/decorative" val="1"/>
              </a:ext>
            </a:extLst>
          </p:cNvPr>
          <p:cNvSpPr/>
          <p:nvPr/>
        </p:nvSpPr>
        <p:spPr>
          <a:xfrm>
            <a:off x="4709160" y="2395728"/>
            <a:ext cx="3931920" cy="16824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7" name="code panel header">
            <a:extLst>
              <a:ext uri="{C183D7F6-B498-43B3-948B-1728B52AA6E4}">
                <adec:decorative xmlns:adec="http://schemas.microsoft.com/office/drawing/2017/decorative" val="1"/>
              </a:ext>
            </a:extLst>
          </p:cNvPr>
          <p:cNvSpPr/>
          <p:nvPr/>
        </p:nvSpPr>
        <p:spPr>
          <a:xfrm>
            <a:off x="4709160" y="2395728"/>
            <a:ext cx="3931920" cy="256032"/>
          </a:xfrm>
          <a:prstGeom prst="rect">
            <a:avLst/>
          </a:prstGeom>
          <a:solidFill>
            <a:srgbClr val="0F3D66"/>
          </a:solidFill>
          <a:ln w="12700">
            <a:solidFill>
              <a:srgbClr val="333333"/>
            </a:solidFill>
            <a:prstDash val="solid"/>
          </a:ln>
        </p:spPr>
        <p:txBody>
          <a:bodyPr/>
          <a:lstStyle/>
          <a:p>
            <a:endParaRPr lang="en-IN"/>
          </a:p>
        </p:txBody>
      </p:sp>
      <p:sp>
        <p:nvSpPr>
          <p:cNvPr id="28" name="Text 26"/>
          <p:cNvSpPr/>
          <p:nvPr/>
        </p:nvSpPr>
        <p:spPr>
          <a:xfrm>
            <a:off x="4855464" y="2395728"/>
            <a:ext cx="36393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Using the claim in a Deployment</a:t>
            </a:r>
            <a:endParaRPr lang="en-US" sz="850" dirty="0"/>
          </a:p>
        </p:txBody>
      </p:sp>
      <p:sp>
        <p:nvSpPr>
          <p:cNvPr id="29" name="Text 27"/>
          <p:cNvSpPr/>
          <p:nvPr/>
        </p:nvSpPr>
        <p:spPr>
          <a:xfrm>
            <a:off x="4855464" y="2724912"/>
            <a:ext cx="3639312" cy="1207008"/>
          </a:xfrm>
          <a:prstGeom prst="rect">
            <a:avLst/>
          </a:prstGeom>
          <a:noFill/>
          <a:ln/>
        </p:spPr>
        <p:txBody>
          <a:bodyPr wrap="square" lIns="0" tIns="0" rIns="0" bIns="0" rtlCol="0" anchor="t"/>
          <a:lstStyle/>
          <a:p>
            <a:pPr marL="0" indent="0">
              <a:lnSpc>
                <a:spcPct val="112000"/>
              </a:lnSpc>
              <a:buNone/>
            </a:pPr>
            <a:r>
              <a:rPr lang="en-US" sz="707" dirty="0">
                <a:solidFill>
                  <a:srgbClr val="7FA9C6"/>
                </a:solidFill>
                <a:latin typeface="Consolas" pitchFamily="34" charset="0"/>
                <a:ea typeface="Consolas" pitchFamily="34" charset="-122"/>
                <a:cs typeface="Consolas" pitchFamily="34" charset="-120"/>
              </a:rPr>
              <a:t># reference the claim from the Pod</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spec:</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containers:</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 name: api</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volumeMounts:</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 { name: data, mountPath: /app/data }</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volumes:</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 name: data</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persistentVolumeClaim:</a:t>
            </a:r>
            <a:endParaRPr lang="en-US" sz="707" dirty="0"/>
          </a:p>
          <a:p>
            <a:pPr marL="0" indent="0">
              <a:lnSpc>
                <a:spcPct val="112000"/>
              </a:lnSpc>
              <a:buNone/>
            </a:pPr>
            <a:r>
              <a:rPr lang="en-US" sz="707" dirty="0">
                <a:solidFill>
                  <a:srgbClr val="D7ECF8"/>
                </a:solidFill>
                <a:latin typeface="Consolas" pitchFamily="34" charset="0"/>
                <a:ea typeface="Consolas" pitchFamily="34" charset="-122"/>
                <a:cs typeface="Consolas" pitchFamily="34" charset="-120"/>
              </a:rPr>
              <a:t>        claimName: payments-data</a:t>
            </a:r>
            <a:endParaRPr lang="en-US" sz="707" dirty="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34</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5 · PERSISTENT STORAGE FOR APPLICATIONS</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Azure Disk and Azure Files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dirty="0">
                <a:solidFill>
                  <a:srgbClr val="44566B"/>
                </a:solidFill>
                <a:latin typeface="Segoe UI" pitchFamily="34" charset="0"/>
                <a:ea typeface="Segoe UI" pitchFamily="34" charset="-122"/>
                <a:cs typeface="Segoe UI" pitchFamily="34" charset="-120"/>
              </a:rPr>
              <a:t>Two storage backends behind the same Kubernetes API. The access pattern decides which you need.</a:t>
            </a:r>
            <a:endParaRPr lang="en-US" sz="1125"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8138160" cy="2505456"/>
        </p:xfrm>
        <a:graphic>
          <a:graphicData uri="http://schemas.openxmlformats.org/drawingml/2006/table">
            <a:tbl>
              <a:tblPr/>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17576">
                <a:tc>
                  <a:txBody>
                    <a:bodyPr/>
                    <a:lstStyle/>
                    <a:p>
                      <a:pPr marL="0" indent="0" algn="l">
                        <a:buNone/>
                      </a:pP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925" b="1" dirty="0">
                          <a:solidFill>
                            <a:srgbClr val="FFFFFF"/>
                          </a:solidFill>
                          <a:latin typeface="Segoe UI" pitchFamily="34" charset="0"/>
                          <a:ea typeface="Segoe UI" pitchFamily="34" charset="-122"/>
                          <a:cs typeface="Segoe UI" pitchFamily="34" charset="-120"/>
                        </a:rPr>
                        <a:t>Azure Disk</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925" b="1" dirty="0">
                          <a:solidFill>
                            <a:srgbClr val="FFFFFF"/>
                          </a:solidFill>
                          <a:latin typeface="Segoe UI" pitchFamily="34" charset="0"/>
                          <a:ea typeface="Segoe UI" pitchFamily="34" charset="-122"/>
                          <a:cs typeface="Segoe UI" pitchFamily="34" charset="-120"/>
                        </a:rPr>
                        <a:t>Azure Files</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extLst>
                  <a:ext uri="{0D108BD9-81ED-4DB2-BD59-A6C34878D82A}">
                    <a16:rowId xmlns:a16="http://schemas.microsoft.com/office/drawing/2014/main" val="10000"/>
                  </a:ext>
                </a:extLst>
              </a:tr>
              <a:tr h="417576">
                <a:tc>
                  <a:txBody>
                    <a:bodyPr/>
                    <a:lstStyle/>
                    <a:p>
                      <a:pPr marL="0" indent="0" algn="l">
                        <a:buNone/>
                      </a:pPr>
                      <a:r>
                        <a:rPr lang="en-US" sz="925" b="1" dirty="0">
                          <a:solidFill>
                            <a:srgbClr val="0E2233"/>
                          </a:solidFill>
                          <a:latin typeface="Segoe UI" pitchFamily="34" charset="0"/>
                          <a:ea typeface="Segoe UI" pitchFamily="34" charset="-122"/>
                          <a:cs typeface="Segoe UI" pitchFamily="34" charset="-120"/>
                        </a:rPr>
                        <a:t>What it is</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A managed block device attached to one node</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An SMB or NFS file share reachable from many nodes</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7576">
                <a:tc>
                  <a:txBody>
                    <a:bodyPr/>
                    <a:lstStyle/>
                    <a:p>
                      <a:pPr marL="0" indent="0" algn="l">
                        <a:buNone/>
                      </a:pPr>
                      <a:r>
                        <a:rPr lang="en-US" sz="925" b="1" dirty="0">
                          <a:solidFill>
                            <a:srgbClr val="0E2233"/>
                          </a:solidFill>
                          <a:latin typeface="Segoe UI" pitchFamily="34" charset="0"/>
                          <a:ea typeface="Segoe UI" pitchFamily="34" charset="-122"/>
                          <a:cs typeface="Segoe UI" pitchFamily="34" charset="-120"/>
                        </a:rPr>
                        <a:t>Access mode</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ReadWriteOnce — a single node at a time</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ReadWriteMany — many Pods across many nodes</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2"/>
                  </a:ext>
                </a:extLst>
              </a:tr>
              <a:tr h="417576">
                <a:tc>
                  <a:txBody>
                    <a:bodyPr/>
                    <a:lstStyle/>
                    <a:p>
                      <a:pPr marL="0" indent="0" algn="l">
                        <a:buNone/>
                      </a:pPr>
                      <a:r>
                        <a:rPr lang="en-US" sz="925" b="1" dirty="0">
                          <a:solidFill>
                            <a:srgbClr val="0E2233"/>
                          </a:solidFill>
                          <a:latin typeface="Segoe UI" pitchFamily="34" charset="0"/>
                          <a:ea typeface="Segoe UI" pitchFamily="34" charset="-122"/>
                          <a:cs typeface="Segoe UI" pitchFamily="34" charset="-120"/>
                        </a:rPr>
                        <a:t>Performance</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Highest throughput and lowest latency; Premium and Ultra tiers</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Good, but network-attached; higher latency per operation</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7576">
                <a:tc>
                  <a:txBody>
                    <a:bodyPr/>
                    <a:lstStyle/>
                    <a:p>
                      <a:pPr marL="0" indent="0" algn="l">
                        <a:buNone/>
                      </a:pPr>
                      <a:r>
                        <a:rPr lang="en-US" sz="925" b="1" dirty="0">
                          <a:solidFill>
                            <a:srgbClr val="0E2233"/>
                          </a:solidFill>
                          <a:latin typeface="Segoe UI" pitchFamily="34" charset="0"/>
                          <a:ea typeface="Segoe UI" pitchFamily="34" charset="-122"/>
                          <a:cs typeface="Segoe UI" pitchFamily="34" charset="-120"/>
                        </a:rPr>
                        <a:t>Best for</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Databases, message brokers, single-writer workloads</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Shared content, uploads, report output, common configuration</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4"/>
                  </a:ext>
                </a:extLst>
              </a:tr>
              <a:tr h="417576">
                <a:tc>
                  <a:txBody>
                    <a:bodyPr/>
                    <a:lstStyle/>
                    <a:p>
                      <a:pPr marL="0" indent="0" algn="l">
                        <a:buNone/>
                      </a:pPr>
                      <a:r>
                        <a:rPr lang="en-US" sz="925" b="1" dirty="0">
                          <a:solidFill>
                            <a:srgbClr val="0E2233"/>
                          </a:solidFill>
                          <a:latin typeface="Segoe UI" pitchFamily="34" charset="0"/>
                          <a:ea typeface="Segoe UI" pitchFamily="34" charset="-122"/>
                          <a:cs typeface="Segoe UI" pitchFamily="34" charset="-120"/>
                        </a:rPr>
                        <a:t>Watch out for</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Cannot be shared; disk and node must be in the same zone</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25" dirty="0">
                          <a:solidFill>
                            <a:srgbClr val="44566B"/>
                          </a:solidFill>
                          <a:latin typeface="Segoe UI" pitchFamily="34" charset="0"/>
                          <a:ea typeface="Segoe UI" pitchFamily="34" charset="-122"/>
                          <a:cs typeface="Segoe UI" pitchFamily="34" charset="-120"/>
                        </a:rPr>
                        <a:t>File permission and locking semantics differ from a local disk</a:t>
                      </a:r>
                      <a:endParaRPr lang="en-US" sz="925" dirty="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0" name="Text 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0B63CE"/>
                </a:solidFill>
                <a:latin typeface="Segoe UI" pitchFamily="34" charset="0"/>
                <a:ea typeface="Segoe UI" pitchFamily="34" charset="-122"/>
                <a:cs typeface="Segoe UI" pitchFamily="34" charset="-120"/>
              </a:rPr>
              <a:t>Decision rule   </a:t>
            </a:r>
            <a:r>
              <a:rPr lang="en-US" sz="1050" dirty="0">
                <a:solidFill>
                  <a:srgbClr val="0E2233"/>
                </a:solidFill>
                <a:latin typeface="Segoe UI" pitchFamily="34" charset="0"/>
                <a:ea typeface="Segoe UI" pitchFamily="34" charset="-122"/>
                <a:cs typeface="Segoe UI" pitchFamily="34" charset="-120"/>
              </a:rPr>
              <a:t>Ask one question: does more than one Pod need to write at the same time? Yes means Azure Files. No means Azure Disk.</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35</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6 · APPLICATION HEALTH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Three probes, three different questions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Probes are how your application tells Kubernetes what is actually true about it.</a:t>
            </a:r>
            <a:endParaRPr lang="en-US" sz="1150" dirty="0"/>
          </a:p>
        </p:txBody>
      </p:sp>
      <p:sp>
        <p:nvSpPr>
          <p:cNvPr id="7" name="card">
            <a:extLst>
              <a:ext uri="{C183D7F6-B498-43B3-948B-1728B52AA6E4}">
                <adec:decorative xmlns:adec="http://schemas.microsoft.com/office/drawing/2017/decorative" val="1"/>
              </a:ext>
            </a:extLst>
          </p:cNvPr>
          <p:cNvSpPr/>
          <p:nvPr/>
        </p:nvSpPr>
        <p:spPr>
          <a:xfrm>
            <a:off x="502920" y="1481328"/>
            <a:ext cx="2578608" cy="1691640"/>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2578608" cy="41148"/>
          </a:xfrm>
          <a:prstGeom prst="rect">
            <a:avLst/>
          </a:prstGeom>
          <a:solidFill>
            <a:srgbClr val="F2A93B"/>
          </a:solidFill>
          <a:ln w="12700">
            <a:solidFill>
              <a:srgbClr val="333333"/>
            </a:solidFill>
            <a:prstDash val="solid"/>
          </a:ln>
        </p:spPr>
        <p:txBody>
          <a:bodyPr/>
          <a:lstStyle/>
          <a:p>
            <a:endParaRPr lang="en-IN"/>
          </a:p>
        </p:txBody>
      </p:sp>
      <p:sp>
        <p:nvSpPr>
          <p:cNvPr id="9" name="Text 7"/>
          <p:cNvSpPr/>
          <p:nvPr/>
        </p:nvSpPr>
        <p:spPr>
          <a:xfrm>
            <a:off x="704088" y="1664208"/>
            <a:ext cx="2176272" cy="228600"/>
          </a:xfrm>
          <a:prstGeom prst="rect">
            <a:avLst/>
          </a:prstGeom>
          <a:noFill/>
          <a:ln/>
        </p:spPr>
        <p:txBody>
          <a:bodyPr wrap="square" lIns="0" tIns="0" rIns="0" bIns="0" rtlCol="0" anchor="ctr"/>
          <a:lstStyle/>
          <a:p>
            <a:pPr marL="0" indent="0">
              <a:buNone/>
            </a:pPr>
            <a:r>
              <a:rPr lang="en-US" sz="900" b="1" kern="0" spc="120" dirty="0">
                <a:solidFill>
                  <a:srgbClr val="F2A93B"/>
                </a:solidFill>
                <a:latin typeface="Segoe UI" pitchFamily="34" charset="0"/>
                <a:ea typeface="Segoe UI" pitchFamily="34" charset="-122"/>
                <a:cs typeface="Segoe UI" pitchFamily="34" charset="-120"/>
              </a:rPr>
              <a:t>STARTUP</a:t>
            </a:r>
            <a:endParaRPr lang="en-US" sz="900" dirty="0"/>
          </a:p>
        </p:txBody>
      </p:sp>
      <p:sp>
        <p:nvSpPr>
          <p:cNvPr id="10" name="Text 8"/>
          <p:cNvSpPr/>
          <p:nvPr/>
        </p:nvSpPr>
        <p:spPr>
          <a:xfrm>
            <a:off x="704088" y="1920240"/>
            <a:ext cx="2176272" cy="4358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Have I finished starting?</a:t>
            </a:r>
            <a:endParaRPr lang="en-US" sz="1250" dirty="0"/>
          </a:p>
        </p:txBody>
      </p:sp>
      <p:sp>
        <p:nvSpPr>
          <p:cNvPr id="11" name="Text 9"/>
          <p:cNvSpPr/>
          <p:nvPr/>
        </p:nvSpPr>
        <p:spPr>
          <a:xfrm>
            <a:off x="704088" y="2420112"/>
            <a:ext cx="2176272" cy="569976"/>
          </a:xfrm>
          <a:prstGeom prst="rect">
            <a:avLst/>
          </a:prstGeom>
          <a:noFill/>
          <a:ln/>
        </p:spPr>
        <p:txBody>
          <a:bodyPr wrap="square" lIns="0" tIns="0" rIns="0" bIns="0" rtlCol="0" anchor="t"/>
          <a:lstStyle/>
          <a:p>
            <a:pPr marL="0" indent="0">
              <a:lnSpc>
                <a:spcPct val="115000"/>
              </a:lnSpc>
              <a:buNone/>
            </a:pPr>
            <a:r>
              <a:rPr lang="en-US" sz="1000" dirty="0">
                <a:solidFill>
                  <a:srgbClr val="44566B"/>
                </a:solidFill>
                <a:latin typeface="Segoe UI" pitchFamily="34" charset="0"/>
                <a:ea typeface="Segoe UI" pitchFamily="34" charset="-122"/>
                <a:cs typeface="Segoe UI" pitchFamily="34" charset="-120"/>
              </a:rPr>
              <a:t>Protects slow-starting applications by holding the other probes back until the first success.</a:t>
            </a:r>
            <a:endParaRPr lang="en-US" sz="1000" dirty="0"/>
          </a:p>
        </p:txBody>
      </p:sp>
      <p:sp>
        <p:nvSpPr>
          <p:cNvPr id="12" name="card">
            <a:extLst>
              <a:ext uri="{C183D7F6-B498-43B3-948B-1728B52AA6E4}">
                <adec:decorative xmlns:adec="http://schemas.microsoft.com/office/drawing/2017/decorative" val="1"/>
              </a:ext>
            </a:extLst>
          </p:cNvPr>
          <p:cNvSpPr/>
          <p:nvPr/>
        </p:nvSpPr>
        <p:spPr>
          <a:xfrm>
            <a:off x="3282696" y="1481328"/>
            <a:ext cx="2578608" cy="1691640"/>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3282696" y="1481328"/>
            <a:ext cx="2578608" cy="41148"/>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3483864" y="1664208"/>
            <a:ext cx="2176272"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READINESS</a:t>
            </a:r>
            <a:endParaRPr lang="en-US" sz="900" dirty="0"/>
          </a:p>
        </p:txBody>
      </p:sp>
      <p:sp>
        <p:nvSpPr>
          <p:cNvPr id="15" name="Text 13"/>
          <p:cNvSpPr/>
          <p:nvPr/>
        </p:nvSpPr>
        <p:spPr>
          <a:xfrm>
            <a:off x="3483864" y="1920240"/>
            <a:ext cx="2176272" cy="4358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Should I receive traffic?</a:t>
            </a:r>
            <a:endParaRPr lang="en-US" sz="1250" dirty="0"/>
          </a:p>
        </p:txBody>
      </p:sp>
      <p:sp>
        <p:nvSpPr>
          <p:cNvPr id="16" name="Text 14"/>
          <p:cNvSpPr/>
          <p:nvPr/>
        </p:nvSpPr>
        <p:spPr>
          <a:xfrm>
            <a:off x="3483864" y="2420112"/>
            <a:ext cx="2176272" cy="569976"/>
          </a:xfrm>
          <a:prstGeom prst="rect">
            <a:avLst/>
          </a:prstGeom>
          <a:noFill/>
          <a:ln/>
        </p:spPr>
        <p:txBody>
          <a:bodyPr wrap="square" lIns="0" tIns="0" rIns="0" bIns="0" rtlCol="0" anchor="t"/>
          <a:lstStyle/>
          <a:p>
            <a:pPr marL="0" indent="0">
              <a:lnSpc>
                <a:spcPct val="115000"/>
              </a:lnSpc>
              <a:buNone/>
            </a:pPr>
            <a:r>
              <a:rPr lang="en-US" sz="1000" dirty="0">
                <a:solidFill>
                  <a:srgbClr val="44566B"/>
                </a:solidFill>
                <a:latin typeface="Segoe UI" pitchFamily="34" charset="0"/>
                <a:ea typeface="Segoe UI" pitchFamily="34" charset="-122"/>
                <a:cs typeface="Segoe UI" pitchFamily="34" charset="-120"/>
              </a:rPr>
              <a:t>Controls Service endpoints. Failing removes the Pod from load balancing — it is not restarted.</a:t>
            </a:r>
            <a:endParaRPr lang="en-US" sz="1000" dirty="0"/>
          </a:p>
        </p:txBody>
      </p:sp>
      <p:sp>
        <p:nvSpPr>
          <p:cNvPr id="17" name="card">
            <a:extLst>
              <a:ext uri="{C183D7F6-B498-43B3-948B-1728B52AA6E4}">
                <adec:decorative xmlns:adec="http://schemas.microsoft.com/office/drawing/2017/decorative" val="1"/>
              </a:ext>
            </a:extLst>
          </p:cNvPr>
          <p:cNvSpPr/>
          <p:nvPr/>
        </p:nvSpPr>
        <p:spPr>
          <a:xfrm>
            <a:off x="6062472" y="1481328"/>
            <a:ext cx="2578608" cy="1691640"/>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6062472" y="1481328"/>
            <a:ext cx="2578608" cy="41148"/>
          </a:xfrm>
          <a:prstGeom prst="rect">
            <a:avLst/>
          </a:prstGeom>
          <a:solidFill>
            <a:srgbClr val="D0483C"/>
          </a:solidFill>
          <a:ln w="12700">
            <a:solidFill>
              <a:srgbClr val="333333"/>
            </a:solidFill>
            <a:prstDash val="solid"/>
          </a:ln>
        </p:spPr>
        <p:txBody>
          <a:bodyPr/>
          <a:lstStyle/>
          <a:p>
            <a:endParaRPr lang="en-IN"/>
          </a:p>
        </p:txBody>
      </p:sp>
      <p:sp>
        <p:nvSpPr>
          <p:cNvPr id="19" name="Text 17"/>
          <p:cNvSpPr/>
          <p:nvPr/>
        </p:nvSpPr>
        <p:spPr>
          <a:xfrm>
            <a:off x="6263640" y="1664208"/>
            <a:ext cx="2176272" cy="228600"/>
          </a:xfrm>
          <a:prstGeom prst="rect">
            <a:avLst/>
          </a:prstGeom>
          <a:noFill/>
          <a:ln/>
        </p:spPr>
        <p:txBody>
          <a:bodyPr wrap="square" lIns="0" tIns="0" rIns="0" bIns="0" rtlCol="0" anchor="ctr"/>
          <a:lstStyle/>
          <a:p>
            <a:pPr marL="0" indent="0">
              <a:buNone/>
            </a:pPr>
            <a:r>
              <a:rPr lang="en-US" sz="900" b="1" kern="0" spc="120" dirty="0">
                <a:solidFill>
                  <a:srgbClr val="D0483C"/>
                </a:solidFill>
                <a:latin typeface="Segoe UI" pitchFamily="34" charset="0"/>
                <a:ea typeface="Segoe UI" pitchFamily="34" charset="-122"/>
                <a:cs typeface="Segoe UI" pitchFamily="34" charset="-120"/>
              </a:rPr>
              <a:t>LIVENESS</a:t>
            </a:r>
            <a:endParaRPr lang="en-US" sz="900" dirty="0"/>
          </a:p>
        </p:txBody>
      </p:sp>
      <p:sp>
        <p:nvSpPr>
          <p:cNvPr id="20" name="Text 18"/>
          <p:cNvSpPr/>
          <p:nvPr/>
        </p:nvSpPr>
        <p:spPr>
          <a:xfrm>
            <a:off x="6263640" y="1920240"/>
            <a:ext cx="2176272" cy="435864"/>
          </a:xfrm>
          <a:prstGeom prst="rect">
            <a:avLst/>
          </a:prstGeom>
          <a:noFill/>
          <a:ln/>
        </p:spPr>
        <p:txBody>
          <a:bodyPr wrap="square" lIns="0" tIns="0" rIns="0" bIns="0" rtlCol="0" anchor="t"/>
          <a:lstStyle/>
          <a:p>
            <a:pPr marL="0" indent="0">
              <a:lnSpc>
                <a:spcPct val="100000"/>
              </a:lnSpc>
              <a:buNone/>
            </a:pPr>
            <a:r>
              <a:rPr lang="en-US" sz="1250" b="1" dirty="0">
                <a:solidFill>
                  <a:srgbClr val="0E2233"/>
                </a:solidFill>
                <a:latin typeface="Segoe UI" pitchFamily="34" charset="0"/>
                <a:ea typeface="Segoe UI" pitchFamily="34" charset="-122"/>
                <a:cs typeface="Segoe UI" pitchFamily="34" charset="-120"/>
              </a:rPr>
              <a:t>Am I still working?</a:t>
            </a:r>
            <a:endParaRPr lang="en-US" sz="1250" dirty="0"/>
          </a:p>
        </p:txBody>
      </p:sp>
      <p:sp>
        <p:nvSpPr>
          <p:cNvPr id="21" name="Text 19"/>
          <p:cNvSpPr/>
          <p:nvPr/>
        </p:nvSpPr>
        <p:spPr>
          <a:xfrm>
            <a:off x="6263640" y="2420112"/>
            <a:ext cx="2176272" cy="569976"/>
          </a:xfrm>
          <a:prstGeom prst="rect">
            <a:avLst/>
          </a:prstGeom>
          <a:noFill/>
          <a:ln/>
        </p:spPr>
        <p:txBody>
          <a:bodyPr wrap="square" lIns="0" tIns="0" rIns="0" bIns="0" rtlCol="0" anchor="t"/>
          <a:lstStyle/>
          <a:p>
            <a:pPr marL="0" indent="0">
              <a:lnSpc>
                <a:spcPct val="115000"/>
              </a:lnSpc>
              <a:buNone/>
            </a:pPr>
            <a:r>
              <a:rPr lang="en-US" sz="1000" dirty="0">
                <a:solidFill>
                  <a:srgbClr val="44566B"/>
                </a:solidFill>
                <a:latin typeface="Segoe UI" pitchFamily="34" charset="0"/>
                <a:ea typeface="Segoe UI" pitchFamily="34" charset="-122"/>
                <a:cs typeface="Segoe UI" pitchFamily="34" charset="-120"/>
              </a:rPr>
              <a:t>Controls restarts. Failing means the container is killed and started again.</a:t>
            </a:r>
            <a:endParaRPr lang="en-US" sz="1000" dirty="0"/>
          </a:p>
        </p:txBody>
      </p:sp>
      <p:sp>
        <p:nvSpPr>
          <p:cNvPr id="22" name="timeline">
            <a:extLst>
              <a:ext uri="{C183D7F6-B498-43B3-948B-1728B52AA6E4}">
                <adec:decorative xmlns:adec="http://schemas.microsoft.com/office/drawing/2017/decorative" val="1"/>
              </a:ext>
            </a:extLst>
          </p:cNvPr>
          <p:cNvSpPr/>
          <p:nvPr/>
        </p:nvSpPr>
        <p:spPr>
          <a:xfrm>
            <a:off x="502920" y="3566160"/>
            <a:ext cx="8138160" cy="54864"/>
          </a:xfrm>
          <a:prstGeom prst="rect">
            <a:avLst/>
          </a:prstGeom>
          <a:solidFill>
            <a:srgbClr val="D8E5F2"/>
          </a:solidFill>
          <a:ln w="12700">
            <a:solidFill>
              <a:srgbClr val="333333"/>
            </a:solidFill>
            <a:prstDash val="solid"/>
          </a:ln>
        </p:spPr>
        <p:txBody>
          <a:bodyPr/>
          <a:lstStyle/>
          <a:p>
            <a:endParaRPr lang="en-IN"/>
          </a:p>
        </p:txBody>
      </p:sp>
      <p:sp>
        <p:nvSpPr>
          <p:cNvPr id="23" name="timeline marker">
            <a:extLst>
              <a:ext uri="{C183D7F6-B498-43B3-948B-1728B52AA6E4}">
                <adec:decorative xmlns:adec="http://schemas.microsoft.com/office/drawing/2017/decorative" val="1"/>
              </a:ext>
            </a:extLst>
          </p:cNvPr>
          <p:cNvSpPr/>
          <p:nvPr/>
        </p:nvSpPr>
        <p:spPr>
          <a:xfrm>
            <a:off x="502920" y="3502152"/>
            <a:ext cx="182880" cy="182880"/>
          </a:xfrm>
          <a:prstGeom prst="ellipse">
            <a:avLst/>
          </a:prstGeom>
          <a:solidFill>
            <a:srgbClr val="7C8FA3"/>
          </a:solidFill>
          <a:ln w="12700">
            <a:solidFill>
              <a:srgbClr val="333333"/>
            </a:solidFill>
            <a:prstDash val="solid"/>
          </a:ln>
        </p:spPr>
        <p:txBody>
          <a:bodyPr/>
          <a:lstStyle/>
          <a:p>
            <a:endParaRPr lang="en-IN"/>
          </a:p>
        </p:txBody>
      </p:sp>
      <p:sp>
        <p:nvSpPr>
          <p:cNvPr id="24" name="Text 22"/>
          <p:cNvSpPr/>
          <p:nvPr/>
        </p:nvSpPr>
        <p:spPr>
          <a:xfrm>
            <a:off x="182880" y="3730752"/>
            <a:ext cx="2011680" cy="457200"/>
          </a:xfrm>
          <a:prstGeom prst="rect">
            <a:avLst/>
          </a:prstGeom>
          <a:noFill/>
          <a:ln/>
        </p:spPr>
        <p:txBody>
          <a:bodyPr wrap="square" lIns="0" tIns="0" rIns="0" bIns="0" rtlCol="0" anchor="t"/>
          <a:lstStyle/>
          <a:p>
            <a:pPr marL="0" indent="0" algn="ctr">
              <a:lnSpc>
                <a:spcPct val="105000"/>
              </a:lnSpc>
              <a:buNone/>
            </a:pPr>
            <a:r>
              <a:rPr lang="en-US" sz="900" dirty="0">
                <a:solidFill>
                  <a:srgbClr val="44566B"/>
                </a:solidFill>
                <a:latin typeface="Segoe UI" pitchFamily="34" charset="0"/>
                <a:ea typeface="Segoe UI" pitchFamily="34" charset="-122"/>
                <a:cs typeface="Segoe UI" pitchFamily="34" charset="-120"/>
              </a:rPr>
              <a:t>Container starts</a:t>
            </a:r>
            <a:endParaRPr lang="en-US" sz="900" dirty="0"/>
          </a:p>
        </p:txBody>
      </p:sp>
      <p:sp>
        <p:nvSpPr>
          <p:cNvPr id="25" name="timeline marker">
            <a:extLst>
              <a:ext uri="{C183D7F6-B498-43B3-948B-1728B52AA6E4}">
                <adec:decorative xmlns:adec="http://schemas.microsoft.com/office/drawing/2017/decorative" val="1"/>
              </a:ext>
            </a:extLst>
          </p:cNvPr>
          <p:cNvSpPr/>
          <p:nvPr/>
        </p:nvSpPr>
        <p:spPr>
          <a:xfrm>
            <a:off x="2286000" y="3502152"/>
            <a:ext cx="182880" cy="182880"/>
          </a:xfrm>
          <a:prstGeom prst="ellipse">
            <a:avLst/>
          </a:prstGeom>
          <a:solidFill>
            <a:srgbClr val="F2A93B"/>
          </a:solidFill>
          <a:ln w="12700">
            <a:solidFill>
              <a:srgbClr val="333333"/>
            </a:solidFill>
            <a:prstDash val="solid"/>
          </a:ln>
        </p:spPr>
        <p:txBody>
          <a:bodyPr/>
          <a:lstStyle/>
          <a:p>
            <a:endParaRPr lang="en-IN"/>
          </a:p>
        </p:txBody>
      </p:sp>
      <p:sp>
        <p:nvSpPr>
          <p:cNvPr id="26" name="Text 24"/>
          <p:cNvSpPr/>
          <p:nvPr/>
        </p:nvSpPr>
        <p:spPr>
          <a:xfrm>
            <a:off x="1965960" y="3730752"/>
            <a:ext cx="2011680" cy="457200"/>
          </a:xfrm>
          <a:prstGeom prst="rect">
            <a:avLst/>
          </a:prstGeom>
          <a:noFill/>
          <a:ln/>
        </p:spPr>
        <p:txBody>
          <a:bodyPr wrap="square" lIns="0" tIns="0" rIns="0" bIns="0" rtlCol="0" anchor="t"/>
          <a:lstStyle/>
          <a:p>
            <a:pPr marL="0" indent="0" algn="ctr">
              <a:lnSpc>
                <a:spcPct val="105000"/>
              </a:lnSpc>
              <a:buNone/>
            </a:pPr>
            <a:r>
              <a:rPr lang="en-US" sz="900" dirty="0">
                <a:solidFill>
                  <a:srgbClr val="44566B"/>
                </a:solidFill>
                <a:latin typeface="Segoe UI" pitchFamily="34" charset="0"/>
                <a:ea typeface="Segoe UI" pitchFamily="34" charset="-122"/>
                <a:cs typeface="Segoe UI" pitchFamily="34" charset="-120"/>
              </a:rPr>
              <a:t>Startup probe running</a:t>
            </a:r>
            <a:endParaRPr lang="en-US" sz="900" dirty="0"/>
          </a:p>
        </p:txBody>
      </p:sp>
      <p:sp>
        <p:nvSpPr>
          <p:cNvPr id="27" name="timeline marker">
            <a:extLst>
              <a:ext uri="{C183D7F6-B498-43B3-948B-1728B52AA6E4}">
                <adec:decorative xmlns:adec="http://schemas.microsoft.com/office/drawing/2017/decorative" val="1"/>
              </a:ext>
            </a:extLst>
          </p:cNvPr>
          <p:cNvSpPr/>
          <p:nvPr/>
        </p:nvSpPr>
        <p:spPr>
          <a:xfrm>
            <a:off x="4480560" y="3502152"/>
            <a:ext cx="182880" cy="182880"/>
          </a:xfrm>
          <a:prstGeom prst="ellipse">
            <a:avLst/>
          </a:prstGeom>
          <a:solidFill>
            <a:srgbClr val="2E9E6B"/>
          </a:solidFill>
          <a:ln w="12700">
            <a:solidFill>
              <a:srgbClr val="333333"/>
            </a:solidFill>
            <a:prstDash val="solid"/>
          </a:ln>
        </p:spPr>
        <p:txBody>
          <a:bodyPr/>
          <a:lstStyle/>
          <a:p>
            <a:endParaRPr lang="en-IN"/>
          </a:p>
        </p:txBody>
      </p:sp>
      <p:sp>
        <p:nvSpPr>
          <p:cNvPr id="28" name="Text 26"/>
          <p:cNvSpPr/>
          <p:nvPr/>
        </p:nvSpPr>
        <p:spPr>
          <a:xfrm>
            <a:off x="4160520" y="3730752"/>
            <a:ext cx="2011680" cy="457200"/>
          </a:xfrm>
          <a:prstGeom prst="rect">
            <a:avLst/>
          </a:prstGeom>
          <a:noFill/>
          <a:ln/>
        </p:spPr>
        <p:txBody>
          <a:bodyPr wrap="square" lIns="0" tIns="0" rIns="0" bIns="0" rtlCol="0" anchor="t"/>
          <a:lstStyle/>
          <a:p>
            <a:pPr marL="0" indent="0" algn="ctr">
              <a:lnSpc>
                <a:spcPct val="105000"/>
              </a:lnSpc>
              <a:buNone/>
            </a:pPr>
            <a:r>
              <a:rPr lang="en-US" sz="900" dirty="0">
                <a:solidFill>
                  <a:srgbClr val="44566B"/>
                </a:solidFill>
                <a:latin typeface="Segoe UI" pitchFamily="34" charset="0"/>
                <a:ea typeface="Segoe UI" pitchFamily="34" charset="-122"/>
                <a:cs typeface="Segoe UI" pitchFamily="34" charset="-120"/>
              </a:rPr>
              <a:t>First success</a:t>
            </a:r>
            <a:endParaRPr lang="en-US" sz="900" dirty="0"/>
          </a:p>
        </p:txBody>
      </p:sp>
      <p:sp>
        <p:nvSpPr>
          <p:cNvPr id="29" name="timeline marker">
            <a:extLst>
              <a:ext uri="{C183D7F6-B498-43B3-948B-1728B52AA6E4}">
                <adec:decorative xmlns:adec="http://schemas.microsoft.com/office/drawing/2017/decorative" val="1"/>
              </a:ext>
            </a:extLst>
          </p:cNvPr>
          <p:cNvSpPr/>
          <p:nvPr/>
        </p:nvSpPr>
        <p:spPr>
          <a:xfrm>
            <a:off x="5852160" y="3502152"/>
            <a:ext cx="182880" cy="182880"/>
          </a:xfrm>
          <a:prstGeom prst="ellipse">
            <a:avLst/>
          </a:prstGeom>
          <a:solidFill>
            <a:srgbClr val="0B63CE"/>
          </a:solidFill>
          <a:ln w="12700">
            <a:solidFill>
              <a:srgbClr val="333333"/>
            </a:solidFill>
            <a:prstDash val="solid"/>
          </a:ln>
        </p:spPr>
        <p:txBody>
          <a:bodyPr/>
          <a:lstStyle/>
          <a:p>
            <a:endParaRPr lang="en-IN"/>
          </a:p>
        </p:txBody>
      </p:sp>
      <p:sp>
        <p:nvSpPr>
          <p:cNvPr id="30" name="Text 28"/>
          <p:cNvSpPr/>
          <p:nvPr/>
        </p:nvSpPr>
        <p:spPr>
          <a:xfrm>
            <a:off x="5532120" y="3730752"/>
            <a:ext cx="2011680" cy="457200"/>
          </a:xfrm>
          <a:prstGeom prst="rect">
            <a:avLst/>
          </a:prstGeom>
          <a:noFill/>
          <a:ln/>
        </p:spPr>
        <p:txBody>
          <a:bodyPr wrap="square" lIns="0" tIns="0" rIns="0" bIns="0" rtlCol="0" anchor="t"/>
          <a:lstStyle/>
          <a:p>
            <a:pPr marL="0" indent="0" algn="ctr">
              <a:lnSpc>
                <a:spcPct val="105000"/>
              </a:lnSpc>
              <a:buNone/>
            </a:pPr>
            <a:r>
              <a:rPr lang="en-US" sz="900" dirty="0">
                <a:solidFill>
                  <a:srgbClr val="44566B"/>
                </a:solidFill>
                <a:latin typeface="Segoe UI" pitchFamily="34" charset="0"/>
                <a:ea typeface="Segoe UI" pitchFamily="34" charset="-122"/>
                <a:cs typeface="Segoe UI" pitchFamily="34" charset="-120"/>
              </a:rPr>
              <a:t>Readiness and liveness active</a:t>
            </a:r>
            <a:endParaRPr lang="en-US" sz="900" dirty="0"/>
          </a:p>
        </p:txBody>
      </p:sp>
      <p:sp>
        <p:nvSpPr>
          <p:cNvPr id="31"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2"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33" name="Text 31"/>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dirty="0">
                <a:solidFill>
                  <a:srgbClr val="D0483C"/>
                </a:solidFill>
                <a:latin typeface="Segoe UI" pitchFamily="34" charset="0"/>
                <a:ea typeface="Segoe UI" pitchFamily="34" charset="-122"/>
                <a:cs typeface="Segoe UI" pitchFamily="34" charset="-120"/>
              </a:rPr>
              <a:t>Get this right   </a:t>
            </a:r>
            <a:r>
              <a:rPr lang="en-US" sz="1050" dirty="0">
                <a:solidFill>
                  <a:srgbClr val="0E2233"/>
                </a:solidFill>
                <a:latin typeface="Segoe UI" pitchFamily="34" charset="0"/>
                <a:ea typeface="Segoe UI" pitchFamily="34" charset="-122"/>
                <a:cs typeface="Segoe UI" pitchFamily="34" charset="-120"/>
              </a:rPr>
              <a:t>Confusing readiness with liveness is the most common and most damaging probe mistake — one withholds traffic, the other kills the container.</a:t>
            </a:r>
            <a:endParaRPr lang="en-US" sz="1000" dirty="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36</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6 · APPLICATION HEALTH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Liveness probes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dirty="0">
                <a:solidFill>
                  <a:srgbClr val="44566B"/>
                </a:solidFill>
                <a:latin typeface="Segoe UI" pitchFamily="34" charset="0"/>
                <a:ea typeface="Segoe UI" pitchFamily="34" charset="-122"/>
                <a:cs typeface="Segoe UI" pitchFamily="34" charset="-120"/>
              </a:rPr>
              <a:t>Detects a process that is running but permanently stuck, and restarts the container.</a:t>
            </a:r>
            <a:endParaRPr lang="en-US" sz="1150" dirty="0"/>
          </a:p>
        </p:txBody>
      </p:sp>
      <p:sp>
        <p:nvSpPr>
          <p:cNvPr id="7" name="code panel">
            <a:extLst>
              <a:ext uri="{C183D7F6-B498-43B3-948B-1728B52AA6E4}">
                <adec:decorative xmlns:adec="http://schemas.microsoft.com/office/drawing/2017/decorative" val="1"/>
              </a:ext>
            </a:extLst>
          </p:cNvPr>
          <p:cNvSpPr/>
          <p:nvPr/>
        </p:nvSpPr>
        <p:spPr>
          <a:xfrm>
            <a:off x="502920" y="1481328"/>
            <a:ext cx="4480560" cy="18288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48056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418795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Liveness configuration</a:t>
            </a:r>
            <a:endParaRPr lang="en-US" sz="850" dirty="0"/>
          </a:p>
        </p:txBody>
      </p:sp>
      <p:sp>
        <p:nvSpPr>
          <p:cNvPr id="10" name="Text 8"/>
          <p:cNvSpPr/>
          <p:nvPr/>
        </p:nvSpPr>
        <p:spPr>
          <a:xfrm>
            <a:off x="649224" y="1810512"/>
            <a:ext cx="4187952" cy="1353312"/>
          </a:xfrm>
          <a:prstGeom prst="rect">
            <a:avLst/>
          </a:prstGeom>
          <a:noFill/>
          <a:ln/>
        </p:spPr>
        <p:txBody>
          <a:bodyPr wrap="square" lIns="0" tIns="0" rIns="0" bIns="0" rtlCol="0" anchor="t"/>
          <a:lstStyle/>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livenessProbe:</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httpGet:</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path: /healthz/live      # cheap, no dependencies</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port: 8080</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initialDelaySeconds: 15</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periodSeconds: 10          # how often to check</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timeoutSeconds: 2          # how long to wait for a reply</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failureThreshold: 3        # consecutive failures before restart</a:t>
            </a:r>
            <a:endParaRPr lang="en-US" sz="850" dirty="0"/>
          </a:p>
        </p:txBody>
      </p:sp>
      <p:sp>
        <p:nvSpPr>
          <p:cNvPr id="11" name="Text 9"/>
          <p:cNvSpPr/>
          <p:nvPr/>
        </p:nvSpPr>
        <p:spPr>
          <a:xfrm>
            <a:off x="5212080" y="1554480"/>
            <a:ext cx="3429000" cy="1737360"/>
          </a:xfrm>
          <a:prstGeom prst="rect">
            <a:avLst/>
          </a:prstGeom>
          <a:noFill/>
          <a:ln/>
        </p:spPr>
        <p:txBody>
          <a:bodyPr wrap="square" lIns="0" tIns="0" rIns="0" bIns="0" rtlCol="0" anchor="t"/>
          <a:lstStyle/>
          <a:p>
            <a:pPr marL="342900" indent="-342900">
              <a:spcAft>
                <a:spcPts val="900"/>
              </a:spcAft>
              <a:buSzPct val="100000"/>
              <a:buChar char="•"/>
            </a:pPr>
            <a:r>
              <a:rPr lang="en-US" sz="1025" dirty="0">
                <a:solidFill>
                  <a:srgbClr val="44566B"/>
                </a:solidFill>
                <a:latin typeface="Segoe UI" pitchFamily="34" charset="0"/>
                <a:ea typeface="Segoe UI" pitchFamily="34" charset="-122"/>
                <a:cs typeface="Segoe UI" pitchFamily="34" charset="-120"/>
              </a:rPr>
              <a:t>Failure means the container is killed and restarted in place</a:t>
            </a:r>
            <a:endParaRPr lang="en-US" sz="1025" dirty="0"/>
          </a:p>
          <a:p>
            <a:pPr marL="342900" indent="-342900">
              <a:spcAft>
                <a:spcPts val="900"/>
              </a:spcAft>
              <a:buSzPct val="100000"/>
              <a:buChar char="•"/>
            </a:pPr>
            <a:r>
              <a:rPr lang="en-US" sz="1025" dirty="0">
                <a:solidFill>
                  <a:srgbClr val="44566B"/>
                </a:solidFill>
                <a:latin typeface="Segoe UI" pitchFamily="34" charset="0"/>
                <a:ea typeface="Segoe UI" pitchFamily="34" charset="-122"/>
                <a:cs typeface="Segoe UI" pitchFamily="34" charset="-120"/>
              </a:rPr>
              <a:t>Check only the process — never a database, queue or downstream service</a:t>
            </a:r>
            <a:endParaRPr lang="en-US" sz="1025" dirty="0"/>
          </a:p>
          <a:p>
            <a:pPr marL="342900" indent="-342900">
              <a:spcAft>
                <a:spcPts val="900"/>
              </a:spcAft>
              <a:buSzPct val="100000"/>
              <a:buChar char="•"/>
            </a:pPr>
            <a:r>
              <a:rPr lang="en-US" sz="1025" dirty="0">
                <a:solidFill>
                  <a:srgbClr val="44566B"/>
                </a:solidFill>
                <a:latin typeface="Segoe UI" pitchFamily="34" charset="0"/>
                <a:ea typeface="Segoe UI" pitchFamily="34" charset="-122"/>
                <a:cs typeface="Segoe UI" pitchFamily="34" charset="-120"/>
              </a:rPr>
              <a:t>Three probe types: httpGet, tcpSocket and exec</a:t>
            </a:r>
            <a:endParaRPr lang="en-US" sz="1025" dirty="0"/>
          </a:p>
          <a:p>
            <a:pPr marL="342900" indent="-342900">
              <a:spcAft>
                <a:spcPts val="900"/>
              </a:spcAft>
              <a:buSzPct val="100000"/>
              <a:buChar char="•"/>
            </a:pPr>
            <a:r>
              <a:rPr lang="en-US" sz="1025" dirty="0">
                <a:solidFill>
                  <a:srgbClr val="44566B"/>
                </a:solidFill>
                <a:latin typeface="Segoe UI" pitchFamily="34" charset="0"/>
                <a:ea typeface="Segoe UI" pitchFamily="34" charset="-122"/>
                <a:cs typeface="Segoe UI" pitchFamily="34" charset="-120"/>
              </a:rPr>
              <a:t>Set thresholds so a transient pause never triggers a restart</a:t>
            </a:r>
            <a:endParaRPr lang="en-US" sz="1025" dirty="0"/>
          </a:p>
        </p:txBody>
      </p:sp>
      <p:sp>
        <p:nvSpPr>
          <p:cNvPr id="12" name="card">
            <a:extLst>
              <a:ext uri="{C183D7F6-B498-43B3-948B-1728B52AA6E4}">
                <adec:decorative xmlns:adec="http://schemas.microsoft.com/office/drawing/2017/decorative" val="1"/>
              </a:ext>
            </a:extLst>
          </p:cNvPr>
          <p:cNvSpPr/>
          <p:nvPr/>
        </p:nvSpPr>
        <p:spPr>
          <a:xfrm>
            <a:off x="502920" y="3493008"/>
            <a:ext cx="3968496" cy="585216"/>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502920" y="3493008"/>
            <a:ext cx="3968496" cy="41148"/>
          </a:xfrm>
          <a:prstGeom prst="rect">
            <a:avLst/>
          </a:prstGeom>
          <a:solidFill>
            <a:srgbClr val="2E9E6B"/>
          </a:solidFill>
          <a:ln w="12700">
            <a:solidFill>
              <a:srgbClr val="333333"/>
            </a:solidFill>
            <a:prstDash val="solid"/>
          </a:ln>
        </p:spPr>
        <p:txBody>
          <a:bodyPr/>
          <a:lstStyle/>
          <a:p>
            <a:endParaRPr lang="en-IN"/>
          </a:p>
        </p:txBody>
      </p:sp>
      <p:sp>
        <p:nvSpPr>
          <p:cNvPr id="14" name="Text 12"/>
          <p:cNvSpPr/>
          <p:nvPr/>
        </p:nvSpPr>
        <p:spPr>
          <a:xfrm>
            <a:off x="704088" y="3602736"/>
            <a:ext cx="3566160"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Good liveness check</a:t>
            </a:r>
            <a:endParaRPr lang="en-US" sz="850" dirty="0"/>
          </a:p>
        </p:txBody>
      </p:sp>
      <p:sp>
        <p:nvSpPr>
          <p:cNvPr id="15" name="Text 13"/>
          <p:cNvSpPr/>
          <p:nvPr/>
        </p:nvSpPr>
        <p:spPr>
          <a:xfrm>
            <a:off x="704088" y="3851148"/>
            <a:ext cx="3566160" cy="146304"/>
          </a:xfrm>
          <a:prstGeom prst="rect">
            <a:avLst/>
          </a:prstGeom>
          <a:noFill/>
          <a:ln/>
        </p:spPr>
        <p:txBody>
          <a:bodyPr wrap="square" lIns="0" tIns="0" rIns="0" bIns="0" rtlCol="0" anchor="t"/>
          <a:lstStyle/>
          <a:p>
            <a:pPr marL="0" indent="0">
              <a:lnSpc>
                <a:spcPct val="115000"/>
              </a:lnSpc>
              <a:buNone/>
            </a:pPr>
            <a:r>
              <a:rPr lang="en-US" sz="600" dirty="0">
                <a:solidFill>
                  <a:srgbClr val="44566B"/>
                </a:solidFill>
                <a:latin typeface="Segoe UI" pitchFamily="34" charset="0"/>
                <a:ea typeface="Segoe UI" pitchFamily="34" charset="-122"/>
                <a:cs typeface="Segoe UI" pitchFamily="34" charset="-120"/>
              </a:rPr>
              <a:t>Returns 200 if the process can respond at all — a deadlocked thread pool or exhausted event loop will fail it.</a:t>
            </a:r>
            <a:endParaRPr lang="en-US" sz="600" dirty="0"/>
          </a:p>
        </p:txBody>
      </p:sp>
      <p:sp>
        <p:nvSpPr>
          <p:cNvPr id="16" name="card">
            <a:extLst>
              <a:ext uri="{C183D7F6-B498-43B3-948B-1728B52AA6E4}">
                <adec:decorative xmlns:adec="http://schemas.microsoft.com/office/drawing/2017/decorative" val="1"/>
              </a:ext>
            </a:extLst>
          </p:cNvPr>
          <p:cNvSpPr/>
          <p:nvPr/>
        </p:nvSpPr>
        <p:spPr>
          <a:xfrm>
            <a:off x="4672584" y="3493008"/>
            <a:ext cx="3968496" cy="585216"/>
          </a:xfrm>
          <a:prstGeom prst="rect">
            <a:avLst/>
          </a:prstGeom>
          <a:solidFill>
            <a:srgbClr val="F6F9FD"/>
          </a:solidFill>
          <a:ln w="9525">
            <a:solidFill>
              <a:srgbClr val="D8E5F2"/>
            </a:solidFill>
            <a:prstDash val="solid"/>
          </a:ln>
        </p:spPr>
        <p:txBody>
          <a:bodyPr/>
          <a:lstStyle/>
          <a:p>
            <a:endParaRPr lang="en-IN"/>
          </a:p>
        </p:txBody>
      </p:sp>
      <p:sp>
        <p:nvSpPr>
          <p:cNvPr id="17" name="card accent">
            <a:extLst>
              <a:ext uri="{C183D7F6-B498-43B3-948B-1728B52AA6E4}">
                <adec:decorative xmlns:adec="http://schemas.microsoft.com/office/drawing/2017/decorative" val="1"/>
              </a:ext>
            </a:extLst>
          </p:cNvPr>
          <p:cNvSpPr/>
          <p:nvPr/>
        </p:nvSpPr>
        <p:spPr>
          <a:xfrm>
            <a:off x="4672584" y="3493008"/>
            <a:ext cx="3968496" cy="41148"/>
          </a:xfrm>
          <a:prstGeom prst="rect">
            <a:avLst/>
          </a:prstGeom>
          <a:solidFill>
            <a:srgbClr val="D0483C"/>
          </a:solidFill>
          <a:ln w="12700">
            <a:solidFill>
              <a:srgbClr val="333333"/>
            </a:solidFill>
            <a:prstDash val="solid"/>
          </a:ln>
        </p:spPr>
        <p:txBody>
          <a:bodyPr/>
          <a:lstStyle/>
          <a:p>
            <a:endParaRPr lang="en-IN"/>
          </a:p>
        </p:txBody>
      </p:sp>
      <p:sp>
        <p:nvSpPr>
          <p:cNvPr id="18" name="Text 16"/>
          <p:cNvSpPr/>
          <p:nvPr/>
        </p:nvSpPr>
        <p:spPr>
          <a:xfrm>
            <a:off x="4873752" y="3602736"/>
            <a:ext cx="3566160" cy="184404"/>
          </a:xfrm>
          <a:prstGeom prst="rect">
            <a:avLst/>
          </a:prstGeom>
          <a:noFill/>
          <a:ln/>
        </p:spPr>
        <p:txBody>
          <a:bodyPr wrap="square" lIns="0" tIns="0" rIns="0" bIns="0" rtlCol="0" anchor="t"/>
          <a:lstStyle/>
          <a:p>
            <a:pPr marL="0" indent="0">
              <a:lnSpc>
                <a:spcPct val="100000"/>
              </a:lnSpc>
              <a:buNone/>
            </a:pPr>
            <a:r>
              <a:rPr lang="en-US" sz="850" b="1" dirty="0">
                <a:solidFill>
                  <a:srgbClr val="0E2233"/>
                </a:solidFill>
                <a:latin typeface="Segoe UI" pitchFamily="34" charset="0"/>
                <a:ea typeface="Segoe UI" pitchFamily="34" charset="-122"/>
                <a:cs typeface="Segoe UI" pitchFamily="34" charset="-120"/>
              </a:rPr>
              <a:t>Bad liveness check</a:t>
            </a:r>
            <a:endParaRPr lang="en-US" sz="850" dirty="0"/>
          </a:p>
        </p:txBody>
      </p:sp>
      <p:sp>
        <p:nvSpPr>
          <p:cNvPr id="19" name="Text 17"/>
          <p:cNvSpPr/>
          <p:nvPr/>
        </p:nvSpPr>
        <p:spPr>
          <a:xfrm>
            <a:off x="4873752" y="3851148"/>
            <a:ext cx="3566160" cy="146304"/>
          </a:xfrm>
          <a:prstGeom prst="rect">
            <a:avLst/>
          </a:prstGeom>
          <a:noFill/>
          <a:ln/>
        </p:spPr>
        <p:txBody>
          <a:bodyPr wrap="square" lIns="0" tIns="0" rIns="0" bIns="0" rtlCol="0" anchor="t"/>
          <a:lstStyle/>
          <a:p>
            <a:pPr marL="0" indent="0">
              <a:lnSpc>
                <a:spcPct val="115000"/>
              </a:lnSpc>
              <a:buNone/>
            </a:pPr>
            <a:r>
              <a:rPr lang="en-US" sz="600" dirty="0">
                <a:solidFill>
                  <a:srgbClr val="44566B"/>
                </a:solidFill>
                <a:latin typeface="Segoe UI" pitchFamily="34" charset="0"/>
                <a:ea typeface="Segoe UI" pitchFamily="34" charset="-122"/>
                <a:cs typeface="Segoe UI" pitchFamily="34" charset="-120"/>
              </a:rPr>
              <a:t>Queries the database on every call. A dependency outage becomes a cluster-wide restart storm.</a:t>
            </a:r>
            <a:endParaRPr lang="en-US" sz="6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37</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6 · APPLICATION HEALTH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Readiness probes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00" dirty="0">
                <a:solidFill>
                  <a:srgbClr val="44566B"/>
                </a:solidFill>
                <a:latin typeface="Segoe UI" pitchFamily="34" charset="0"/>
                <a:ea typeface="Segoe UI" pitchFamily="34" charset="-122"/>
                <a:cs typeface="Segoe UI" pitchFamily="34" charset="-120"/>
              </a:rPr>
              <a:t>Decides whether the Pod appears in the Service's endpoint list — that is, whether it gets traffic.</a:t>
            </a:r>
            <a:endParaRPr lang="en-US" sz="1100" dirty="0"/>
          </a:p>
        </p:txBody>
      </p:sp>
      <p:sp>
        <p:nvSpPr>
          <p:cNvPr id="7" name="code panel">
            <a:extLst>
              <a:ext uri="{C183D7F6-B498-43B3-948B-1728B52AA6E4}">
                <adec:decorative xmlns:adec="http://schemas.microsoft.com/office/drawing/2017/decorative" val="1"/>
              </a:ext>
            </a:extLst>
          </p:cNvPr>
          <p:cNvSpPr/>
          <p:nvPr/>
        </p:nvSpPr>
        <p:spPr>
          <a:xfrm>
            <a:off x="502920" y="1481328"/>
            <a:ext cx="4206240" cy="18288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20624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91363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Readiness configuration</a:t>
            </a:r>
            <a:endParaRPr lang="en-US" sz="850" dirty="0"/>
          </a:p>
        </p:txBody>
      </p:sp>
      <p:sp>
        <p:nvSpPr>
          <p:cNvPr id="10" name="Text 8"/>
          <p:cNvSpPr/>
          <p:nvPr/>
        </p:nvSpPr>
        <p:spPr>
          <a:xfrm>
            <a:off x="649224" y="1810512"/>
            <a:ext cx="3913632" cy="1353312"/>
          </a:xfrm>
          <a:prstGeom prst="rect">
            <a:avLst/>
          </a:prstGeom>
          <a:noFill/>
          <a:ln/>
        </p:spPr>
        <p:txBody>
          <a:bodyPr wrap="square" lIns="0" tIns="0" rIns="0" bIns="0" rtlCol="0" anchor="t"/>
          <a:lstStyle/>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readinessProbe:</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httpGet:</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path: /healthz/ready     # may check dependencies</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port: 8080</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periodSeconds: 5</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timeoutSeconds: 2</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failureThreshold: 3</a:t>
            </a:r>
            <a:endParaRPr lang="en-US" sz="850" dirty="0"/>
          </a:p>
          <a:p>
            <a:pPr marL="0" indent="0">
              <a:lnSpc>
                <a:spcPct val="112000"/>
              </a:lnSpc>
              <a:buNone/>
            </a:pPr>
            <a:r>
              <a:rPr lang="en-US" sz="850" dirty="0">
                <a:solidFill>
                  <a:srgbClr val="D7ECF8"/>
                </a:solidFill>
                <a:latin typeface="Consolas" pitchFamily="34" charset="0"/>
                <a:ea typeface="Consolas" pitchFamily="34" charset="-122"/>
                <a:cs typeface="Consolas" pitchFamily="34" charset="-120"/>
              </a:rPr>
              <a:t>  successThreshold: 1</a:t>
            </a:r>
            <a:endParaRPr lang="en-US" sz="850" dirty="0"/>
          </a:p>
        </p:txBody>
      </p:sp>
      <p:sp>
        <p:nvSpPr>
          <p:cNvPr id="11" name="step box">
            <a:extLst>
              <a:ext uri="{C183D7F6-B498-43B3-948B-1728B52AA6E4}">
                <adec:decorative xmlns:adec="http://schemas.microsoft.com/office/drawing/2017/decorative" val="1"/>
              </a:ext>
            </a:extLst>
          </p:cNvPr>
          <p:cNvSpPr/>
          <p:nvPr/>
        </p:nvSpPr>
        <p:spPr>
          <a:xfrm>
            <a:off x="502920" y="3163824"/>
            <a:ext cx="1801368" cy="914400"/>
          </a:xfrm>
          <a:prstGeom prst="rect">
            <a:avLst/>
          </a:prstGeom>
          <a:solidFill>
            <a:srgbClr val="E8F6EF"/>
          </a:solidFill>
          <a:ln w="12700">
            <a:solidFill>
              <a:srgbClr val="2E9E6B"/>
            </a:solidFill>
            <a:prstDash val="solid"/>
          </a:ln>
        </p:spPr>
        <p:txBody>
          <a:bodyPr/>
          <a:lstStyle/>
          <a:p>
            <a:endParaRPr lang="en-IN"/>
          </a:p>
        </p:txBody>
      </p:sp>
      <p:sp>
        <p:nvSpPr>
          <p:cNvPr id="12" name="Text 10"/>
          <p:cNvSpPr/>
          <p:nvPr/>
        </p:nvSpPr>
        <p:spPr>
          <a:xfrm>
            <a:off x="594360" y="3273552"/>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Ready</a:t>
            </a:r>
            <a:endParaRPr lang="en-US" sz="1050" dirty="0"/>
          </a:p>
        </p:txBody>
      </p:sp>
      <p:sp>
        <p:nvSpPr>
          <p:cNvPr id="13" name="Text 11"/>
          <p:cNvSpPr/>
          <p:nvPr/>
        </p:nvSpPr>
        <p:spPr>
          <a:xfrm>
            <a:off x="612648" y="3584448"/>
            <a:ext cx="1581912" cy="40233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in the endpoint list, receiving traffic</a:t>
            </a:r>
            <a:endParaRPr lang="en-US" sz="850" dirty="0"/>
          </a:p>
        </p:txBody>
      </p:sp>
      <p:sp>
        <p:nvSpPr>
          <p:cNvPr id="14" name="flow arrow">
            <a:extLst>
              <a:ext uri="{C183D7F6-B498-43B3-948B-1728B52AA6E4}">
                <adec:decorative xmlns:adec="http://schemas.microsoft.com/office/drawing/2017/decorative" val="1"/>
              </a:ext>
            </a:extLst>
          </p:cNvPr>
          <p:cNvSpPr/>
          <p:nvPr/>
        </p:nvSpPr>
        <p:spPr>
          <a:xfrm>
            <a:off x="2359152" y="352044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5" name="step box">
            <a:extLst>
              <a:ext uri="{C183D7F6-B498-43B3-948B-1728B52AA6E4}">
                <adec:decorative xmlns:adec="http://schemas.microsoft.com/office/drawing/2017/decorative" val="1"/>
              </a:ext>
            </a:extLst>
          </p:cNvPr>
          <p:cNvSpPr/>
          <p:nvPr/>
        </p:nvSpPr>
        <p:spPr>
          <a:xfrm>
            <a:off x="2615184" y="3163824"/>
            <a:ext cx="1801368" cy="914400"/>
          </a:xfrm>
          <a:prstGeom prst="rect">
            <a:avLst/>
          </a:prstGeom>
          <a:solidFill>
            <a:srgbClr val="FDEFE2"/>
          </a:solidFill>
          <a:ln w="12700">
            <a:solidFill>
              <a:srgbClr val="F2A93B"/>
            </a:solidFill>
            <a:prstDash val="solid"/>
          </a:ln>
        </p:spPr>
        <p:txBody>
          <a:bodyPr/>
          <a:lstStyle/>
          <a:p>
            <a:endParaRPr lang="en-IN"/>
          </a:p>
        </p:txBody>
      </p:sp>
      <p:sp>
        <p:nvSpPr>
          <p:cNvPr id="16" name="Text 14"/>
          <p:cNvSpPr/>
          <p:nvPr/>
        </p:nvSpPr>
        <p:spPr>
          <a:xfrm>
            <a:off x="2706624" y="3273552"/>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Probe fails</a:t>
            </a:r>
            <a:endParaRPr lang="en-US" sz="1050" dirty="0"/>
          </a:p>
        </p:txBody>
      </p:sp>
      <p:sp>
        <p:nvSpPr>
          <p:cNvPr id="17" name="Text 15"/>
          <p:cNvSpPr/>
          <p:nvPr/>
        </p:nvSpPr>
        <p:spPr>
          <a:xfrm>
            <a:off x="2724912" y="3584448"/>
            <a:ext cx="1581912" cy="40233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dependency lost, or the Pod is overloaded</a:t>
            </a:r>
            <a:endParaRPr lang="en-US" sz="850" dirty="0"/>
          </a:p>
        </p:txBody>
      </p:sp>
      <p:sp>
        <p:nvSpPr>
          <p:cNvPr id="18" name="flow arrow">
            <a:extLst>
              <a:ext uri="{C183D7F6-B498-43B3-948B-1728B52AA6E4}">
                <adec:decorative xmlns:adec="http://schemas.microsoft.com/office/drawing/2017/decorative" val="1"/>
              </a:ext>
            </a:extLst>
          </p:cNvPr>
          <p:cNvSpPr/>
          <p:nvPr/>
        </p:nvSpPr>
        <p:spPr>
          <a:xfrm>
            <a:off x="4471416" y="352044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9" name="step box">
            <a:extLst>
              <a:ext uri="{C183D7F6-B498-43B3-948B-1728B52AA6E4}">
                <adec:decorative xmlns:adec="http://schemas.microsoft.com/office/drawing/2017/decorative" val="1"/>
              </a:ext>
            </a:extLst>
          </p:cNvPr>
          <p:cNvSpPr/>
          <p:nvPr/>
        </p:nvSpPr>
        <p:spPr>
          <a:xfrm>
            <a:off x="4727448" y="3163824"/>
            <a:ext cx="1801368" cy="914400"/>
          </a:xfrm>
          <a:prstGeom prst="rect">
            <a:avLst/>
          </a:prstGeom>
          <a:solidFill>
            <a:srgbClr val="EDF4FC"/>
          </a:solidFill>
          <a:ln w="12700">
            <a:solidFill>
              <a:srgbClr val="0B63CE"/>
            </a:solidFill>
            <a:prstDash val="solid"/>
          </a:ln>
        </p:spPr>
        <p:txBody>
          <a:bodyPr/>
          <a:lstStyle/>
          <a:p>
            <a:endParaRPr lang="en-IN"/>
          </a:p>
        </p:txBody>
      </p:sp>
      <p:sp>
        <p:nvSpPr>
          <p:cNvPr id="20" name="Text 18"/>
          <p:cNvSpPr/>
          <p:nvPr/>
        </p:nvSpPr>
        <p:spPr>
          <a:xfrm>
            <a:off x="4818888" y="3273552"/>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Removed</a:t>
            </a:r>
            <a:endParaRPr lang="en-US" sz="1050" dirty="0"/>
          </a:p>
        </p:txBody>
      </p:sp>
      <p:sp>
        <p:nvSpPr>
          <p:cNvPr id="21" name="Text 19"/>
          <p:cNvSpPr/>
          <p:nvPr/>
        </p:nvSpPr>
        <p:spPr>
          <a:xfrm>
            <a:off x="4837176" y="3584448"/>
            <a:ext cx="1581912" cy="40233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traffic stops; the container keeps running</a:t>
            </a:r>
            <a:endParaRPr lang="en-US" sz="850" dirty="0"/>
          </a:p>
        </p:txBody>
      </p:sp>
      <p:sp>
        <p:nvSpPr>
          <p:cNvPr id="22" name="flow arrow">
            <a:extLst>
              <a:ext uri="{C183D7F6-B498-43B3-948B-1728B52AA6E4}">
                <adec:decorative xmlns:adec="http://schemas.microsoft.com/office/drawing/2017/decorative" val="1"/>
              </a:ext>
            </a:extLst>
          </p:cNvPr>
          <p:cNvSpPr/>
          <p:nvPr/>
        </p:nvSpPr>
        <p:spPr>
          <a:xfrm>
            <a:off x="6583680" y="352044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23" name="step box">
            <a:extLst>
              <a:ext uri="{C183D7F6-B498-43B3-948B-1728B52AA6E4}">
                <adec:decorative xmlns:adec="http://schemas.microsoft.com/office/drawing/2017/decorative" val="1"/>
              </a:ext>
            </a:extLst>
          </p:cNvPr>
          <p:cNvSpPr/>
          <p:nvPr/>
        </p:nvSpPr>
        <p:spPr>
          <a:xfrm>
            <a:off x="6839712" y="3163824"/>
            <a:ext cx="1801368" cy="914400"/>
          </a:xfrm>
          <a:prstGeom prst="rect">
            <a:avLst/>
          </a:prstGeom>
          <a:solidFill>
            <a:srgbClr val="E8F6EF"/>
          </a:solidFill>
          <a:ln w="12700">
            <a:solidFill>
              <a:srgbClr val="2E9E6B"/>
            </a:solidFill>
            <a:prstDash val="solid"/>
          </a:ln>
        </p:spPr>
        <p:txBody>
          <a:bodyPr/>
          <a:lstStyle/>
          <a:p>
            <a:endParaRPr lang="en-IN"/>
          </a:p>
        </p:txBody>
      </p:sp>
      <p:sp>
        <p:nvSpPr>
          <p:cNvPr id="24" name="Text 22"/>
          <p:cNvSpPr/>
          <p:nvPr/>
        </p:nvSpPr>
        <p:spPr>
          <a:xfrm>
            <a:off x="6931152" y="3273552"/>
            <a:ext cx="1618488" cy="310896"/>
          </a:xfrm>
          <a:prstGeom prst="rect">
            <a:avLst/>
          </a:prstGeom>
          <a:noFill/>
          <a:ln/>
        </p:spPr>
        <p:txBody>
          <a:bodyPr wrap="square" lIns="0" tIns="0" rIns="0" bIns="0" rtlCol="0" anchor="ctr"/>
          <a:lstStyle/>
          <a:p>
            <a:pPr marL="0" indent="0" algn="ctr">
              <a:buNone/>
            </a:pPr>
            <a:r>
              <a:rPr lang="en-US" sz="1050" b="1" dirty="0">
                <a:solidFill>
                  <a:srgbClr val="0E2233"/>
                </a:solidFill>
                <a:latin typeface="Segoe UI" pitchFamily="34" charset="0"/>
                <a:ea typeface="Segoe UI" pitchFamily="34" charset="-122"/>
                <a:cs typeface="Segoe UI" pitchFamily="34" charset="-120"/>
              </a:rPr>
              <a:t>Recovers</a:t>
            </a:r>
            <a:endParaRPr lang="en-US" sz="1050" dirty="0"/>
          </a:p>
        </p:txBody>
      </p:sp>
      <p:sp>
        <p:nvSpPr>
          <p:cNvPr id="25" name="Text 23"/>
          <p:cNvSpPr/>
          <p:nvPr/>
        </p:nvSpPr>
        <p:spPr>
          <a:xfrm>
            <a:off x="6949440" y="3584448"/>
            <a:ext cx="1581912" cy="402336"/>
          </a:xfrm>
          <a:prstGeom prst="rect">
            <a:avLst/>
          </a:prstGeom>
          <a:noFill/>
          <a:ln/>
        </p:spPr>
        <p:txBody>
          <a:bodyPr wrap="square" lIns="0" tIns="0" rIns="0" bIns="0" rtlCol="0" anchor="t"/>
          <a:lstStyle/>
          <a:p>
            <a:pPr marL="0" indent="0" algn="ctr">
              <a:lnSpc>
                <a:spcPct val="110000"/>
              </a:lnSpc>
              <a:buNone/>
            </a:pPr>
            <a:r>
              <a:rPr lang="en-US" sz="850" dirty="0">
                <a:solidFill>
                  <a:srgbClr val="44566B"/>
                </a:solidFill>
                <a:latin typeface="Segoe UI" pitchFamily="34" charset="0"/>
                <a:ea typeface="Segoe UI" pitchFamily="34" charset="-122"/>
                <a:cs typeface="Segoe UI" pitchFamily="34" charset="-120"/>
              </a:rPr>
              <a:t>probe passes, the Pod is added back automatically</a:t>
            </a:r>
            <a:endParaRPr lang="en-US" sz="850" dirty="0"/>
          </a:p>
        </p:txBody>
      </p:sp>
      <p:sp>
        <p:nvSpPr>
          <p:cNvPr id="26" name="Text 24"/>
          <p:cNvSpPr/>
          <p:nvPr/>
        </p:nvSpPr>
        <p:spPr>
          <a:xfrm>
            <a:off x="4937760" y="1554480"/>
            <a:ext cx="3703320" cy="1737360"/>
          </a:xfrm>
          <a:prstGeom prst="rect">
            <a:avLst/>
          </a:prstGeom>
          <a:noFill/>
          <a:ln/>
        </p:spPr>
        <p:txBody>
          <a:bodyPr wrap="square" lIns="0" tIns="0" rIns="0" bIns="0" rtlCol="0" anchor="t"/>
          <a:lstStyle/>
          <a:p>
            <a:pPr marL="342900" indent="-342900">
              <a:spcAft>
                <a:spcPts val="800"/>
              </a:spcAft>
              <a:buSzPct val="100000"/>
              <a:buChar char="•"/>
            </a:pPr>
            <a:r>
              <a:rPr lang="en-US" sz="925" dirty="0">
                <a:solidFill>
                  <a:srgbClr val="44566B"/>
                </a:solidFill>
                <a:latin typeface="Segoe UI" pitchFamily="34" charset="0"/>
                <a:ea typeface="Segoe UI" pitchFamily="34" charset="-122"/>
                <a:cs typeface="Segoe UI" pitchFamily="34" charset="-120"/>
              </a:rPr>
              <a:t>Failing readiness never restarts the container — it only withholds traffic</a:t>
            </a:r>
            <a:endParaRPr lang="en-US" sz="925" dirty="0"/>
          </a:p>
          <a:p>
            <a:pPr marL="342900" indent="-342900">
              <a:spcAft>
                <a:spcPts val="800"/>
              </a:spcAft>
              <a:buSzPct val="100000"/>
              <a:buChar char="•"/>
            </a:pPr>
            <a:r>
              <a:rPr lang="en-US" sz="925" dirty="0">
                <a:solidFill>
                  <a:srgbClr val="44566B"/>
                </a:solidFill>
                <a:latin typeface="Segoe UI" pitchFamily="34" charset="0"/>
                <a:ea typeface="Segoe UI" pitchFamily="34" charset="-122"/>
                <a:cs typeface="Segoe UI" pitchFamily="34" charset="-120"/>
              </a:rPr>
              <a:t>Safe to check dependencies here, because the response is graceful</a:t>
            </a:r>
            <a:endParaRPr lang="en-US" sz="925" dirty="0"/>
          </a:p>
          <a:p>
            <a:pPr marL="342900" indent="-342900">
              <a:spcAft>
                <a:spcPts val="800"/>
              </a:spcAft>
              <a:buSzPct val="100000"/>
              <a:buChar char="•"/>
            </a:pPr>
            <a:r>
              <a:rPr lang="en-US" sz="925" dirty="0">
                <a:solidFill>
                  <a:srgbClr val="44566B"/>
                </a:solidFill>
                <a:latin typeface="Segoe UI" pitchFamily="34" charset="0"/>
                <a:ea typeface="Segoe UI" pitchFamily="34" charset="-122"/>
                <a:cs typeface="Segoe UI" pitchFamily="34" charset="-120"/>
              </a:rPr>
              <a:t>This is what makes a rolling update safe: new Pods take traffic only when genuinely ready</a:t>
            </a:r>
            <a:endParaRPr lang="en-US" sz="925" dirty="0"/>
          </a:p>
          <a:p>
            <a:pPr marL="342900" indent="-342900">
              <a:spcAft>
                <a:spcPts val="800"/>
              </a:spcAft>
              <a:buSzPct val="100000"/>
              <a:buChar char="•"/>
            </a:pPr>
            <a:r>
              <a:rPr lang="en-US" sz="925" dirty="0">
                <a:solidFill>
                  <a:srgbClr val="44566B"/>
                </a:solidFill>
                <a:latin typeface="Segoe UI" pitchFamily="34" charset="0"/>
                <a:ea typeface="Segoe UI" pitchFamily="34" charset="-122"/>
                <a:cs typeface="Segoe UI" pitchFamily="34" charset="-120"/>
              </a:rPr>
              <a:t>Also the mechanism behind graceful shutdown and back-pressure</a:t>
            </a:r>
            <a:endParaRPr lang="en-US" sz="925" dirty="0"/>
          </a:p>
        </p:txBody>
      </p:sp>
      <p:sp>
        <p:nvSpPr>
          <p:cNvPr id="2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38</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6 · APPLICATION HEALTH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Startup probes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75" dirty="0">
                <a:solidFill>
                  <a:srgbClr val="44566B"/>
                </a:solidFill>
                <a:latin typeface="Segoe UI" pitchFamily="34" charset="0"/>
                <a:ea typeface="Segoe UI" pitchFamily="34" charset="-122"/>
                <a:cs typeface="Segoe UI" pitchFamily="34" charset="-120"/>
              </a:rPr>
              <a:t>Gives slow-starting applications room to start without weakening liveness for the rest of their life.</a:t>
            </a:r>
            <a:endParaRPr lang="en-US" sz="1075" dirty="0"/>
          </a:p>
        </p:txBody>
      </p:sp>
      <p:sp>
        <p:nvSpPr>
          <p:cNvPr id="7" name="code panel">
            <a:extLst>
              <a:ext uri="{C183D7F6-B498-43B3-948B-1728B52AA6E4}">
                <adec:decorative xmlns:adec="http://schemas.microsoft.com/office/drawing/2017/decorative" val="1"/>
              </a:ext>
            </a:extLst>
          </p:cNvPr>
          <p:cNvSpPr/>
          <p:nvPr/>
        </p:nvSpPr>
        <p:spPr>
          <a:xfrm>
            <a:off x="502920" y="1481328"/>
            <a:ext cx="4663440" cy="22860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66344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437083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Startup and liveness working together</a:t>
            </a:r>
            <a:endParaRPr lang="en-US" sz="850" dirty="0"/>
          </a:p>
        </p:txBody>
      </p:sp>
      <p:sp>
        <p:nvSpPr>
          <p:cNvPr id="10" name="Text 8"/>
          <p:cNvSpPr/>
          <p:nvPr/>
        </p:nvSpPr>
        <p:spPr>
          <a:xfrm>
            <a:off x="649224" y="1810512"/>
            <a:ext cx="4370832" cy="1810512"/>
          </a:xfrm>
          <a:prstGeom prst="rect">
            <a:avLst/>
          </a:prstGeom>
          <a:noFill/>
          <a:ln/>
        </p:spPr>
        <p:txBody>
          <a:bodyPr wrap="square" lIns="0" tIns="0" rIns="0" bIns="0" rtlCol="0" anchor="t"/>
          <a:lstStyle/>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startupProbe:</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httpGet:</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path: /healthz/started</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port: 8080</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periodSeconds: 10</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failureThreshold: 30      # 30 x 10s = up to 5 minutes to start</a:t>
            </a:r>
            <a:endParaRPr lang="en-US" sz="816" dirty="0"/>
          </a:p>
          <a:p>
            <a:pPr marL="0" indent="0">
              <a:lnSpc>
                <a:spcPct val="112000"/>
              </a:lnSpc>
              <a:buNone/>
            </a:pPr>
            <a:endParaRPr lang="en-US" sz="816" dirty="0"/>
          </a:p>
          <a:p>
            <a:pPr marL="0" indent="0">
              <a:lnSpc>
                <a:spcPct val="112000"/>
              </a:lnSpc>
              <a:buNone/>
            </a:pPr>
            <a:r>
              <a:rPr lang="en-US" sz="816" dirty="0">
                <a:solidFill>
                  <a:srgbClr val="7FA9C6"/>
                </a:solidFill>
                <a:latin typeface="Consolas" pitchFamily="34" charset="0"/>
                <a:ea typeface="Consolas" pitchFamily="34" charset="-122"/>
                <a:cs typeface="Consolas" pitchFamily="34" charset="-120"/>
              </a:rPr>
              <a:t># Liveness stays tight, because it only begins</a:t>
            </a:r>
            <a:endParaRPr lang="en-US" sz="816" dirty="0"/>
          </a:p>
          <a:p>
            <a:pPr marL="0" indent="0">
              <a:lnSpc>
                <a:spcPct val="112000"/>
              </a:lnSpc>
              <a:buNone/>
            </a:pPr>
            <a:r>
              <a:rPr lang="en-US" sz="816" dirty="0">
                <a:solidFill>
                  <a:srgbClr val="7FA9C6"/>
                </a:solidFill>
                <a:latin typeface="Consolas" pitchFamily="34" charset="0"/>
                <a:ea typeface="Consolas" pitchFamily="34" charset="-122"/>
                <a:cs typeface="Consolas" pitchFamily="34" charset="-120"/>
              </a:rPr>
              <a:t># once the startup probe has succeeded once.</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livenessProbe:</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httpGet: { path: /healthz/live, port: 8080 }</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periodSeconds: 10</a:t>
            </a:r>
            <a:endParaRPr lang="en-US" sz="816" dirty="0"/>
          </a:p>
          <a:p>
            <a:pPr marL="0" indent="0">
              <a:lnSpc>
                <a:spcPct val="112000"/>
              </a:lnSpc>
              <a:buNone/>
            </a:pPr>
            <a:r>
              <a:rPr lang="en-US" sz="816" dirty="0">
                <a:solidFill>
                  <a:srgbClr val="D7ECF8"/>
                </a:solidFill>
                <a:latin typeface="Consolas" pitchFamily="34" charset="0"/>
                <a:ea typeface="Consolas" pitchFamily="34" charset="-122"/>
                <a:cs typeface="Consolas" pitchFamily="34" charset="-120"/>
              </a:rPr>
              <a:t>  failureThreshold: 3       # ~30s to detect a hang</a:t>
            </a:r>
            <a:endParaRPr lang="en-US" sz="816" dirty="0"/>
          </a:p>
        </p:txBody>
      </p:sp>
      <p:sp>
        <p:nvSpPr>
          <p:cNvPr id="11" name="card">
            <a:extLst>
              <a:ext uri="{C183D7F6-B498-43B3-948B-1728B52AA6E4}">
                <adec:decorative xmlns:adec="http://schemas.microsoft.com/office/drawing/2017/decorative" val="1"/>
              </a:ext>
            </a:extLst>
          </p:cNvPr>
          <p:cNvSpPr/>
          <p:nvPr/>
        </p:nvSpPr>
        <p:spPr>
          <a:xfrm>
            <a:off x="5394960" y="1481328"/>
            <a:ext cx="3246120" cy="1069848"/>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5394960" y="1481328"/>
            <a:ext cx="3246120" cy="41148"/>
          </a:xfrm>
          <a:prstGeom prst="rect">
            <a:avLst/>
          </a:prstGeom>
          <a:solidFill>
            <a:srgbClr val="0B63CE"/>
          </a:solidFill>
          <a:ln w="12700">
            <a:solidFill>
              <a:srgbClr val="333333"/>
            </a:solidFill>
            <a:prstDash val="solid"/>
          </a:ln>
        </p:spPr>
        <p:txBody>
          <a:bodyPr/>
          <a:lstStyle/>
          <a:p>
            <a:endParaRPr lang="en-IN"/>
          </a:p>
        </p:txBody>
      </p:sp>
      <p:sp>
        <p:nvSpPr>
          <p:cNvPr id="13" name="Text 11"/>
          <p:cNvSpPr/>
          <p:nvPr/>
        </p:nvSpPr>
        <p:spPr>
          <a:xfrm>
            <a:off x="5596128" y="1664208"/>
            <a:ext cx="2843784" cy="230124"/>
          </a:xfrm>
          <a:prstGeom prst="rect">
            <a:avLst/>
          </a:prstGeom>
          <a:noFill/>
          <a:ln/>
        </p:spPr>
        <p:txBody>
          <a:bodyPr wrap="square" lIns="0" tIns="0" rIns="0" bIns="0" rtlCol="0" anchor="t"/>
          <a:lstStyle/>
          <a:p>
            <a:pPr marL="0" indent="0">
              <a:lnSpc>
                <a:spcPct val="100000"/>
              </a:lnSpc>
              <a:buNone/>
            </a:pPr>
            <a:r>
              <a:rPr lang="en-US" sz="1150" b="1" dirty="0">
                <a:solidFill>
                  <a:srgbClr val="0E2233"/>
                </a:solidFill>
                <a:latin typeface="Segoe UI" pitchFamily="34" charset="0"/>
                <a:ea typeface="Segoe UI" pitchFamily="34" charset="-122"/>
                <a:cs typeface="Segoe UI" pitchFamily="34" charset="-120"/>
              </a:rPr>
              <a:t>Use it when</a:t>
            </a:r>
            <a:endParaRPr lang="en-US" sz="1150" dirty="0"/>
          </a:p>
        </p:txBody>
      </p:sp>
      <p:sp>
        <p:nvSpPr>
          <p:cNvPr id="14" name="Text 12"/>
          <p:cNvSpPr/>
          <p:nvPr/>
        </p:nvSpPr>
        <p:spPr>
          <a:xfrm>
            <a:off x="5596128" y="1958340"/>
            <a:ext cx="2843784" cy="409956"/>
          </a:xfrm>
          <a:prstGeom prst="rect">
            <a:avLst/>
          </a:prstGeom>
          <a:noFill/>
          <a:ln/>
        </p:spPr>
        <p:txBody>
          <a:bodyPr wrap="square" lIns="0" tIns="0" rIns="0" bIns="0" rtlCol="0" anchor="t"/>
          <a:lstStyle/>
          <a:p>
            <a:pPr marL="0" indent="0">
              <a:lnSpc>
                <a:spcPct val="115000"/>
              </a:lnSpc>
              <a:buNone/>
            </a:pPr>
            <a:r>
              <a:rPr lang="en-US" sz="775" dirty="0">
                <a:solidFill>
                  <a:srgbClr val="44566B"/>
                </a:solidFill>
                <a:latin typeface="Segoe UI" pitchFamily="34" charset="0"/>
                <a:ea typeface="Segoe UI" pitchFamily="34" charset="-122"/>
                <a:cs typeface="Segoe UI" pitchFamily="34" charset="-120"/>
              </a:rPr>
              <a:t>Start-up takes minutes: large frameworks, JIT warm-up, cache priming, schema checks or legacy applications.</a:t>
            </a:r>
            <a:endParaRPr lang="en-US" sz="775" dirty="0"/>
          </a:p>
        </p:txBody>
      </p:sp>
      <p:sp>
        <p:nvSpPr>
          <p:cNvPr id="15" name="card">
            <a:extLst>
              <a:ext uri="{C183D7F6-B498-43B3-948B-1728B52AA6E4}">
                <adec:decorative xmlns:adec="http://schemas.microsoft.com/office/drawing/2017/decorative" val="1"/>
              </a:ext>
            </a:extLst>
          </p:cNvPr>
          <p:cNvSpPr/>
          <p:nvPr/>
        </p:nvSpPr>
        <p:spPr>
          <a:xfrm>
            <a:off x="5394960" y="2697480"/>
            <a:ext cx="3246120" cy="1069848"/>
          </a:xfrm>
          <a:prstGeom prst="rect">
            <a:avLst/>
          </a:prstGeom>
          <a:solidFill>
            <a:srgbClr val="F6F9FD"/>
          </a:solidFill>
          <a:ln w="9525">
            <a:solidFill>
              <a:srgbClr val="D8E5F2"/>
            </a:solidFill>
            <a:prstDash val="solid"/>
          </a:ln>
        </p:spPr>
        <p:txBody>
          <a:bodyPr/>
          <a:lstStyle/>
          <a:p>
            <a:endParaRPr lang="en-IN"/>
          </a:p>
        </p:txBody>
      </p:sp>
      <p:sp>
        <p:nvSpPr>
          <p:cNvPr id="16" name="card accent">
            <a:extLst>
              <a:ext uri="{C183D7F6-B498-43B3-948B-1728B52AA6E4}">
                <adec:decorative xmlns:adec="http://schemas.microsoft.com/office/drawing/2017/decorative" val="1"/>
              </a:ext>
            </a:extLst>
          </p:cNvPr>
          <p:cNvSpPr/>
          <p:nvPr/>
        </p:nvSpPr>
        <p:spPr>
          <a:xfrm>
            <a:off x="5394960" y="2697480"/>
            <a:ext cx="3246120" cy="41148"/>
          </a:xfrm>
          <a:prstGeom prst="rect">
            <a:avLst/>
          </a:prstGeom>
          <a:solidFill>
            <a:srgbClr val="2E9E6B"/>
          </a:solidFill>
          <a:ln w="12700">
            <a:solidFill>
              <a:srgbClr val="333333"/>
            </a:solidFill>
            <a:prstDash val="solid"/>
          </a:ln>
        </p:spPr>
        <p:txBody>
          <a:bodyPr/>
          <a:lstStyle/>
          <a:p>
            <a:endParaRPr lang="en-IN"/>
          </a:p>
        </p:txBody>
      </p:sp>
      <p:sp>
        <p:nvSpPr>
          <p:cNvPr id="17" name="Text 15"/>
          <p:cNvSpPr/>
          <p:nvPr/>
        </p:nvSpPr>
        <p:spPr>
          <a:xfrm>
            <a:off x="5596128" y="2880360"/>
            <a:ext cx="2843784" cy="230124"/>
          </a:xfrm>
          <a:prstGeom prst="rect">
            <a:avLst/>
          </a:prstGeom>
          <a:noFill/>
          <a:ln/>
        </p:spPr>
        <p:txBody>
          <a:bodyPr wrap="square" lIns="0" tIns="0" rIns="0" bIns="0" rtlCol="0" anchor="t"/>
          <a:lstStyle/>
          <a:p>
            <a:pPr marL="0" indent="0">
              <a:lnSpc>
                <a:spcPct val="100000"/>
              </a:lnSpc>
              <a:buNone/>
            </a:pPr>
            <a:r>
              <a:rPr lang="en-US" sz="1150" b="1" dirty="0">
                <a:solidFill>
                  <a:srgbClr val="0E2233"/>
                </a:solidFill>
                <a:latin typeface="Segoe UI" pitchFamily="34" charset="0"/>
                <a:ea typeface="Segoe UI" pitchFamily="34" charset="-122"/>
                <a:cs typeface="Segoe UI" pitchFamily="34" charset="-120"/>
              </a:rPr>
              <a:t>Why not just delay liveness</a:t>
            </a:r>
            <a:endParaRPr lang="en-US" sz="1150" dirty="0"/>
          </a:p>
        </p:txBody>
      </p:sp>
      <p:sp>
        <p:nvSpPr>
          <p:cNvPr id="18" name="Text 16"/>
          <p:cNvSpPr/>
          <p:nvPr/>
        </p:nvSpPr>
        <p:spPr>
          <a:xfrm>
            <a:off x="5596128" y="3174492"/>
            <a:ext cx="2843784" cy="409956"/>
          </a:xfrm>
          <a:prstGeom prst="rect">
            <a:avLst/>
          </a:prstGeom>
          <a:noFill/>
          <a:ln/>
        </p:spPr>
        <p:txBody>
          <a:bodyPr wrap="square" lIns="0" tIns="0" rIns="0" bIns="0" rtlCol="0" anchor="t"/>
          <a:lstStyle/>
          <a:p>
            <a:pPr marL="0" indent="0">
              <a:lnSpc>
                <a:spcPct val="115000"/>
              </a:lnSpc>
              <a:buNone/>
            </a:pPr>
            <a:r>
              <a:rPr lang="en-US" sz="775" dirty="0">
                <a:solidFill>
                  <a:srgbClr val="44566B"/>
                </a:solidFill>
                <a:latin typeface="Segoe UI" pitchFamily="34" charset="0"/>
                <a:ea typeface="Segoe UI" pitchFamily="34" charset="-122"/>
                <a:cs typeface="Segoe UI" pitchFamily="34" charset="-120"/>
              </a:rPr>
              <a:t>A long initialDelaySeconds also delays detection of a hang for the container's whole life. The startup probe separates the two concerns.</a:t>
            </a:r>
            <a:endParaRPr lang="en-US" sz="775" dirty="0"/>
          </a:p>
        </p:txBody>
      </p:sp>
      <p:sp>
        <p:nvSpPr>
          <p:cNvPr id="19" name="callout band">
            <a:extLst>
              <a:ext uri="{C183D7F6-B498-43B3-948B-1728B52AA6E4}">
                <adec:decorative xmlns:adec="http://schemas.microsoft.com/office/drawing/2017/decorative" val="1"/>
              </a:ext>
            </a:extLst>
          </p:cNvPr>
          <p:cNvSpPr/>
          <p:nvPr/>
        </p:nvSpPr>
        <p:spPr>
          <a:xfrm>
            <a:off x="502920" y="3977640"/>
            <a:ext cx="8138160" cy="457200"/>
          </a:xfrm>
          <a:prstGeom prst="rect">
            <a:avLst/>
          </a:prstGeom>
          <a:solidFill>
            <a:srgbClr val="EDF4FC"/>
          </a:solidFill>
          <a:ln w="12700">
            <a:solidFill>
              <a:srgbClr val="333333"/>
            </a:solidFill>
            <a:prstDash val="solid"/>
          </a:ln>
        </p:spPr>
        <p:txBody>
          <a:bodyPr/>
          <a:lstStyle/>
          <a:p>
            <a:endParaRPr lang="en-IN"/>
          </a:p>
        </p:txBody>
      </p:sp>
      <p:sp>
        <p:nvSpPr>
          <p:cNvPr id="20" name="callout accent">
            <a:extLst>
              <a:ext uri="{C183D7F6-B498-43B3-948B-1728B52AA6E4}">
                <adec:decorative xmlns:adec="http://schemas.microsoft.com/office/drawing/2017/decorative" val="1"/>
              </a:ext>
            </a:extLst>
          </p:cNvPr>
          <p:cNvSpPr/>
          <p:nvPr/>
        </p:nvSpPr>
        <p:spPr>
          <a:xfrm>
            <a:off x="502920" y="3977640"/>
            <a:ext cx="45720" cy="457200"/>
          </a:xfrm>
          <a:prstGeom prst="rect">
            <a:avLst/>
          </a:prstGeom>
          <a:solidFill>
            <a:srgbClr val="F2A93B"/>
          </a:solidFill>
          <a:ln w="12700">
            <a:solidFill>
              <a:srgbClr val="333333"/>
            </a:solidFill>
            <a:prstDash val="solid"/>
          </a:ln>
        </p:spPr>
        <p:txBody>
          <a:bodyPr/>
          <a:lstStyle/>
          <a:p>
            <a:endParaRPr lang="en-IN"/>
          </a:p>
        </p:txBody>
      </p:sp>
      <p:sp>
        <p:nvSpPr>
          <p:cNvPr id="21" name="Text 19"/>
          <p:cNvSpPr/>
          <p:nvPr/>
        </p:nvSpPr>
        <p:spPr>
          <a:xfrm>
            <a:off x="704088" y="3977640"/>
            <a:ext cx="7754112" cy="457200"/>
          </a:xfrm>
          <a:prstGeom prst="rect">
            <a:avLst/>
          </a:prstGeom>
          <a:noFill/>
          <a:ln/>
        </p:spPr>
        <p:txBody>
          <a:bodyPr wrap="square" lIns="0" tIns="0" rIns="0" bIns="0" rtlCol="0" anchor="ctr"/>
          <a:lstStyle/>
          <a:p>
            <a:pPr marL="0" indent="0">
              <a:buNone/>
            </a:pPr>
            <a:r>
              <a:rPr lang="en-US" sz="1000" b="1" dirty="0">
                <a:solidFill>
                  <a:srgbClr val="F2A93B"/>
                </a:solidFill>
                <a:latin typeface="Segoe UI" pitchFamily="34" charset="0"/>
                <a:ea typeface="Segoe UI" pitchFamily="34" charset="-122"/>
                <a:cs typeface="Segoe UI" pitchFamily="34" charset="-120"/>
              </a:rPr>
              <a:t>Behaviour   </a:t>
            </a:r>
            <a:r>
              <a:rPr lang="en-US" sz="1050" dirty="0">
                <a:solidFill>
                  <a:srgbClr val="0E2233"/>
                </a:solidFill>
                <a:latin typeface="Segoe UI" pitchFamily="34" charset="0"/>
                <a:ea typeface="Segoe UI" pitchFamily="34" charset="-122"/>
                <a:cs typeface="Segoe UI" pitchFamily="34" charset="-120"/>
              </a:rPr>
              <a:t>While the startup probe is running, liveness and readiness are suspended. Exceeding failureThreshold means the container is killed and retried.</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39</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dirty="0">
                <a:solidFill>
                  <a:srgbClr val="0B63CE"/>
                </a:solidFill>
                <a:latin typeface="Segoe UI" pitchFamily="34" charset="0"/>
                <a:ea typeface="Segoe UI" pitchFamily="34" charset="-122"/>
                <a:cs typeface="Segoe UI" pitchFamily="34" charset="-120"/>
              </a:rPr>
              <a:t>MODULE 6 · APPLICATION HEALTH MANAGEMENT</a:t>
            </a:r>
            <a:endParaRPr lang="en-US" sz="950" dirty="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dirty="0">
                <a:solidFill>
                  <a:srgbClr val="0E2233"/>
                </a:solidFill>
                <a:latin typeface="Segoe UI" pitchFamily="34" charset="0"/>
                <a:ea typeface="Segoe UI" pitchFamily="34" charset="-122"/>
                <a:cs typeface="Segoe UI" pitchFamily="34" charset="-120"/>
              </a:rPr>
              <a:t>Self-healing capabilities</a:t>
            </a:r>
            <a:endParaRPr lang="en-US" sz="2300" dirty="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dirty="0">
                <a:solidFill>
                  <a:srgbClr val="44566B"/>
                </a:solidFill>
                <a:latin typeface="Segoe UI" pitchFamily="34" charset="0"/>
                <a:ea typeface="Segoe UI" pitchFamily="34" charset="-122"/>
                <a:cs typeface="Segoe UI" pitchFamily="34" charset="-120"/>
              </a:rPr>
              <a:t>Several independent control loops, each closing a different kind of gap, with no human involved.</a:t>
            </a:r>
            <a:endParaRPr lang="en-US" sz="1125" dirty="0"/>
          </a:p>
        </p:txBody>
      </p:sp>
      <p:sp>
        <p:nvSpPr>
          <p:cNvPr id="7" name="card">
            <a:extLst>
              <a:ext uri="{C183D7F6-B498-43B3-948B-1728B52AA6E4}">
                <adec:decorative xmlns:adec="http://schemas.microsoft.com/office/drawing/2017/decorative" val="1"/>
              </a:ext>
            </a:extLst>
          </p:cNvPr>
          <p:cNvSpPr/>
          <p:nvPr/>
        </p:nvSpPr>
        <p:spPr>
          <a:xfrm>
            <a:off x="502920"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1883664" cy="41148"/>
          </a:xfrm>
          <a:prstGeom prst="rect">
            <a:avLst/>
          </a:prstGeom>
          <a:solidFill>
            <a:srgbClr val="0B63CE"/>
          </a:solidFill>
          <a:ln w="12700">
            <a:solidFill>
              <a:srgbClr val="333333"/>
            </a:solidFill>
            <a:prstDash val="solid"/>
          </a:ln>
        </p:spPr>
        <p:txBody>
          <a:bodyPr/>
          <a:lstStyle/>
          <a:p>
            <a:endParaRPr lang="en-IN"/>
          </a:p>
        </p:txBody>
      </p:sp>
      <p:sp>
        <p:nvSpPr>
          <p:cNvPr id="9" name="Text 7"/>
          <p:cNvSpPr/>
          <p:nvPr/>
        </p:nvSpPr>
        <p:spPr>
          <a:xfrm>
            <a:off x="704088" y="1664208"/>
            <a:ext cx="1481328" cy="228600"/>
          </a:xfrm>
          <a:prstGeom prst="rect">
            <a:avLst/>
          </a:prstGeom>
          <a:noFill/>
          <a:ln/>
        </p:spPr>
        <p:txBody>
          <a:bodyPr wrap="square" lIns="0" tIns="0" rIns="0" bIns="0" rtlCol="0" anchor="ctr"/>
          <a:lstStyle/>
          <a:p>
            <a:pPr marL="0" indent="0">
              <a:buNone/>
            </a:pPr>
            <a:r>
              <a:rPr lang="en-US" sz="900" b="1" kern="0" spc="120" dirty="0">
                <a:solidFill>
                  <a:srgbClr val="0B63CE"/>
                </a:solidFill>
                <a:latin typeface="Segoe UI" pitchFamily="34" charset="0"/>
                <a:ea typeface="Segoe UI" pitchFamily="34" charset="-122"/>
                <a:cs typeface="Segoe UI" pitchFamily="34" charset="-120"/>
              </a:rPr>
              <a:t>CONTAINER</a:t>
            </a:r>
            <a:endParaRPr lang="en-US" sz="900" dirty="0"/>
          </a:p>
        </p:txBody>
      </p:sp>
      <p:sp>
        <p:nvSpPr>
          <p:cNvPr id="10" name="Text 8"/>
          <p:cNvSpPr/>
          <p:nvPr/>
        </p:nvSpPr>
        <p:spPr>
          <a:xfrm>
            <a:off x="704088" y="1920240"/>
            <a:ext cx="1481328" cy="42062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Restart on failure</a:t>
            </a:r>
            <a:endParaRPr lang="en-US" sz="1200" dirty="0"/>
          </a:p>
        </p:txBody>
      </p:sp>
      <p:sp>
        <p:nvSpPr>
          <p:cNvPr id="11" name="Text 9"/>
          <p:cNvSpPr/>
          <p:nvPr/>
        </p:nvSpPr>
        <p:spPr>
          <a:xfrm>
            <a:off x="704088" y="2404872"/>
            <a:ext cx="1481328" cy="310896"/>
          </a:xfrm>
          <a:prstGeom prst="rect">
            <a:avLst/>
          </a:prstGeom>
          <a:noFill/>
          <a:ln/>
        </p:spPr>
        <p:txBody>
          <a:bodyPr wrap="square" lIns="0" tIns="0" rIns="0" bIns="0" rtlCol="0" anchor="t"/>
          <a:lstStyle/>
          <a:p>
            <a:pPr marL="0" indent="0">
              <a:lnSpc>
                <a:spcPct val="115000"/>
              </a:lnSpc>
              <a:buNone/>
            </a:pPr>
            <a:r>
              <a:rPr lang="en-US" sz="650" dirty="0">
                <a:solidFill>
                  <a:srgbClr val="44566B"/>
                </a:solidFill>
                <a:latin typeface="Segoe UI" pitchFamily="34" charset="0"/>
                <a:ea typeface="Segoe UI" pitchFamily="34" charset="-122"/>
                <a:cs typeface="Segoe UI" pitchFamily="34" charset="-120"/>
              </a:rPr>
              <a:t>The kubelet restarts a failing container in place, with back-off.</a:t>
            </a:r>
            <a:endParaRPr lang="en-US" sz="650" dirty="0"/>
          </a:p>
        </p:txBody>
      </p:sp>
      <p:sp>
        <p:nvSpPr>
          <p:cNvPr id="12" name="card">
            <a:extLst>
              <a:ext uri="{C183D7F6-B498-43B3-948B-1728B52AA6E4}">
                <adec:decorative xmlns:adec="http://schemas.microsoft.com/office/drawing/2017/decorative" val="1"/>
              </a:ext>
            </a:extLst>
          </p:cNvPr>
          <p:cNvSpPr/>
          <p:nvPr/>
        </p:nvSpPr>
        <p:spPr>
          <a:xfrm>
            <a:off x="2587752"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2587752" y="1481328"/>
            <a:ext cx="1883664" cy="41148"/>
          </a:xfrm>
          <a:prstGeom prst="rect">
            <a:avLst/>
          </a:prstGeom>
          <a:solidFill>
            <a:srgbClr val="17A9DB"/>
          </a:solidFill>
          <a:ln w="12700">
            <a:solidFill>
              <a:srgbClr val="333333"/>
            </a:solidFill>
            <a:prstDash val="solid"/>
          </a:ln>
        </p:spPr>
        <p:txBody>
          <a:bodyPr/>
          <a:lstStyle/>
          <a:p>
            <a:endParaRPr lang="en-IN"/>
          </a:p>
        </p:txBody>
      </p:sp>
      <p:sp>
        <p:nvSpPr>
          <p:cNvPr id="14" name="Text 12"/>
          <p:cNvSpPr/>
          <p:nvPr/>
        </p:nvSpPr>
        <p:spPr>
          <a:xfrm>
            <a:off x="2788920" y="1664208"/>
            <a:ext cx="1481328" cy="228600"/>
          </a:xfrm>
          <a:prstGeom prst="rect">
            <a:avLst/>
          </a:prstGeom>
          <a:noFill/>
          <a:ln/>
        </p:spPr>
        <p:txBody>
          <a:bodyPr wrap="square" lIns="0" tIns="0" rIns="0" bIns="0" rtlCol="0" anchor="ctr"/>
          <a:lstStyle/>
          <a:p>
            <a:pPr marL="0" indent="0">
              <a:buNone/>
            </a:pPr>
            <a:r>
              <a:rPr lang="en-US" sz="900" b="1" kern="0" spc="120" dirty="0">
                <a:solidFill>
                  <a:srgbClr val="17A9DB"/>
                </a:solidFill>
                <a:latin typeface="Segoe UI" pitchFamily="34" charset="0"/>
                <a:ea typeface="Segoe UI" pitchFamily="34" charset="-122"/>
                <a:cs typeface="Segoe UI" pitchFamily="34" charset="-120"/>
              </a:rPr>
              <a:t>POD</a:t>
            </a:r>
            <a:endParaRPr lang="en-US" sz="900" dirty="0"/>
          </a:p>
        </p:txBody>
      </p:sp>
      <p:sp>
        <p:nvSpPr>
          <p:cNvPr id="15" name="Text 13"/>
          <p:cNvSpPr/>
          <p:nvPr/>
        </p:nvSpPr>
        <p:spPr>
          <a:xfrm>
            <a:off x="2788920" y="1920240"/>
            <a:ext cx="1481328" cy="42062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Replace what is lost</a:t>
            </a:r>
            <a:endParaRPr lang="en-US" sz="1200" dirty="0"/>
          </a:p>
        </p:txBody>
      </p:sp>
      <p:sp>
        <p:nvSpPr>
          <p:cNvPr id="16" name="Text 14"/>
          <p:cNvSpPr/>
          <p:nvPr/>
        </p:nvSpPr>
        <p:spPr>
          <a:xfrm>
            <a:off x="2788920" y="2404872"/>
            <a:ext cx="1481328" cy="310896"/>
          </a:xfrm>
          <a:prstGeom prst="rect">
            <a:avLst/>
          </a:prstGeom>
          <a:noFill/>
          <a:ln/>
        </p:spPr>
        <p:txBody>
          <a:bodyPr wrap="square" lIns="0" tIns="0" rIns="0" bIns="0" rtlCol="0" anchor="t"/>
          <a:lstStyle/>
          <a:p>
            <a:pPr marL="0" indent="0">
              <a:lnSpc>
                <a:spcPct val="115000"/>
              </a:lnSpc>
              <a:buNone/>
            </a:pPr>
            <a:r>
              <a:rPr lang="en-US" sz="650" dirty="0">
                <a:solidFill>
                  <a:srgbClr val="44566B"/>
                </a:solidFill>
                <a:latin typeface="Segoe UI" pitchFamily="34" charset="0"/>
                <a:ea typeface="Segoe UI" pitchFamily="34" charset="-122"/>
                <a:cs typeface="Segoe UI" pitchFamily="34" charset="-120"/>
              </a:rPr>
              <a:t>The ReplicaSet recreates a missing Pod wherever there is capacity.</a:t>
            </a:r>
            <a:endParaRPr lang="en-US" sz="650" dirty="0"/>
          </a:p>
        </p:txBody>
      </p:sp>
      <p:sp>
        <p:nvSpPr>
          <p:cNvPr id="17" name="card">
            <a:extLst>
              <a:ext uri="{C183D7F6-B498-43B3-948B-1728B52AA6E4}">
                <adec:decorative xmlns:adec="http://schemas.microsoft.com/office/drawing/2017/decorative" val="1"/>
              </a:ext>
            </a:extLst>
          </p:cNvPr>
          <p:cNvSpPr/>
          <p:nvPr/>
        </p:nvSpPr>
        <p:spPr>
          <a:xfrm>
            <a:off x="4672584"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4672584" y="1481328"/>
            <a:ext cx="1883664" cy="41148"/>
          </a:xfrm>
          <a:prstGeom prst="rect">
            <a:avLst/>
          </a:prstGeom>
          <a:solidFill>
            <a:srgbClr val="2E9E6B"/>
          </a:solidFill>
          <a:ln w="12700">
            <a:solidFill>
              <a:srgbClr val="333333"/>
            </a:solidFill>
            <a:prstDash val="solid"/>
          </a:ln>
        </p:spPr>
        <p:txBody>
          <a:bodyPr/>
          <a:lstStyle/>
          <a:p>
            <a:endParaRPr lang="en-IN"/>
          </a:p>
        </p:txBody>
      </p:sp>
      <p:sp>
        <p:nvSpPr>
          <p:cNvPr id="19" name="Text 17"/>
          <p:cNvSpPr/>
          <p:nvPr/>
        </p:nvSpPr>
        <p:spPr>
          <a:xfrm>
            <a:off x="4873752" y="1664208"/>
            <a:ext cx="1481328" cy="228600"/>
          </a:xfrm>
          <a:prstGeom prst="rect">
            <a:avLst/>
          </a:prstGeom>
          <a:noFill/>
          <a:ln/>
        </p:spPr>
        <p:txBody>
          <a:bodyPr wrap="square" lIns="0" tIns="0" rIns="0" bIns="0" rtlCol="0" anchor="ctr"/>
          <a:lstStyle/>
          <a:p>
            <a:pPr marL="0" indent="0">
              <a:buNone/>
            </a:pPr>
            <a:r>
              <a:rPr lang="en-US" sz="900" b="1" kern="0" spc="120" dirty="0">
                <a:solidFill>
                  <a:srgbClr val="2E9E6B"/>
                </a:solidFill>
                <a:latin typeface="Segoe UI" pitchFamily="34" charset="0"/>
                <a:ea typeface="Segoe UI" pitchFamily="34" charset="-122"/>
                <a:cs typeface="Segoe UI" pitchFamily="34" charset="-120"/>
              </a:rPr>
              <a:t>TRAFFIC</a:t>
            </a:r>
            <a:endParaRPr lang="en-US" sz="900" dirty="0"/>
          </a:p>
        </p:txBody>
      </p:sp>
      <p:sp>
        <p:nvSpPr>
          <p:cNvPr id="20" name="Text 18"/>
          <p:cNvSpPr/>
          <p:nvPr/>
        </p:nvSpPr>
        <p:spPr>
          <a:xfrm>
            <a:off x="4873752" y="1920240"/>
            <a:ext cx="1481328" cy="42062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Route around the sick</a:t>
            </a:r>
            <a:endParaRPr lang="en-US" sz="1200" dirty="0"/>
          </a:p>
        </p:txBody>
      </p:sp>
      <p:sp>
        <p:nvSpPr>
          <p:cNvPr id="21" name="Text 19"/>
          <p:cNvSpPr/>
          <p:nvPr/>
        </p:nvSpPr>
        <p:spPr>
          <a:xfrm>
            <a:off x="4873752" y="2404872"/>
            <a:ext cx="1481328" cy="310896"/>
          </a:xfrm>
          <a:prstGeom prst="rect">
            <a:avLst/>
          </a:prstGeom>
          <a:noFill/>
          <a:ln/>
        </p:spPr>
        <p:txBody>
          <a:bodyPr wrap="square" lIns="0" tIns="0" rIns="0" bIns="0" rtlCol="0" anchor="t"/>
          <a:lstStyle/>
          <a:p>
            <a:pPr marL="0" indent="0">
              <a:lnSpc>
                <a:spcPct val="115000"/>
              </a:lnSpc>
              <a:buNone/>
            </a:pPr>
            <a:r>
              <a:rPr lang="en-US" sz="650" dirty="0">
                <a:solidFill>
                  <a:srgbClr val="44566B"/>
                </a:solidFill>
                <a:latin typeface="Segoe UI" pitchFamily="34" charset="0"/>
                <a:ea typeface="Segoe UI" pitchFamily="34" charset="-122"/>
                <a:cs typeface="Segoe UI" pitchFamily="34" charset="-120"/>
              </a:rPr>
              <a:t>Readiness pulls an unhealthy Pod out of the Service.</a:t>
            </a:r>
            <a:endParaRPr lang="en-US" sz="650" dirty="0"/>
          </a:p>
        </p:txBody>
      </p:sp>
      <p:sp>
        <p:nvSpPr>
          <p:cNvPr id="22" name="card">
            <a:extLst>
              <a:ext uri="{C183D7F6-B498-43B3-948B-1728B52AA6E4}">
                <adec:decorative xmlns:adec="http://schemas.microsoft.com/office/drawing/2017/decorative" val="1"/>
              </a:ext>
            </a:extLst>
          </p:cNvPr>
          <p:cNvSpPr/>
          <p:nvPr/>
        </p:nvSpPr>
        <p:spPr>
          <a:xfrm>
            <a:off x="6757416"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23" name="card accent">
            <a:extLst>
              <a:ext uri="{C183D7F6-B498-43B3-948B-1728B52AA6E4}">
                <adec:decorative xmlns:adec="http://schemas.microsoft.com/office/drawing/2017/decorative" val="1"/>
              </a:ext>
            </a:extLst>
          </p:cNvPr>
          <p:cNvSpPr/>
          <p:nvPr/>
        </p:nvSpPr>
        <p:spPr>
          <a:xfrm>
            <a:off x="6757416" y="1481328"/>
            <a:ext cx="1883664" cy="41148"/>
          </a:xfrm>
          <a:prstGeom prst="rect">
            <a:avLst/>
          </a:prstGeom>
          <a:solidFill>
            <a:srgbClr val="0A2E4E"/>
          </a:solidFill>
          <a:ln w="12700">
            <a:solidFill>
              <a:srgbClr val="333333"/>
            </a:solidFill>
            <a:prstDash val="solid"/>
          </a:ln>
        </p:spPr>
        <p:txBody>
          <a:bodyPr/>
          <a:lstStyle/>
          <a:p>
            <a:endParaRPr lang="en-IN"/>
          </a:p>
        </p:txBody>
      </p:sp>
      <p:sp>
        <p:nvSpPr>
          <p:cNvPr id="24" name="Text 22"/>
          <p:cNvSpPr/>
          <p:nvPr/>
        </p:nvSpPr>
        <p:spPr>
          <a:xfrm>
            <a:off x="6958584" y="1664208"/>
            <a:ext cx="1481328" cy="228600"/>
          </a:xfrm>
          <a:prstGeom prst="rect">
            <a:avLst/>
          </a:prstGeom>
          <a:noFill/>
          <a:ln/>
        </p:spPr>
        <p:txBody>
          <a:bodyPr wrap="square" lIns="0" tIns="0" rIns="0" bIns="0" rtlCol="0" anchor="ctr"/>
          <a:lstStyle/>
          <a:p>
            <a:pPr marL="0" indent="0">
              <a:buNone/>
            </a:pPr>
            <a:r>
              <a:rPr lang="en-US" sz="900" b="1" kern="0" spc="120" dirty="0">
                <a:solidFill>
                  <a:srgbClr val="0A2E4E"/>
                </a:solidFill>
                <a:latin typeface="Segoe UI" pitchFamily="34" charset="0"/>
                <a:ea typeface="Segoe UI" pitchFamily="34" charset="-122"/>
                <a:cs typeface="Segoe UI" pitchFamily="34" charset="-120"/>
              </a:rPr>
              <a:t>NODE</a:t>
            </a:r>
            <a:endParaRPr lang="en-US" sz="900" dirty="0"/>
          </a:p>
        </p:txBody>
      </p:sp>
      <p:sp>
        <p:nvSpPr>
          <p:cNvPr id="25" name="Text 23"/>
          <p:cNvSpPr/>
          <p:nvPr/>
        </p:nvSpPr>
        <p:spPr>
          <a:xfrm>
            <a:off x="6958584" y="1920240"/>
            <a:ext cx="1481328" cy="420624"/>
          </a:xfrm>
          <a:prstGeom prst="rect">
            <a:avLst/>
          </a:prstGeom>
          <a:noFill/>
          <a:ln/>
        </p:spPr>
        <p:txBody>
          <a:bodyPr wrap="square" lIns="0" tIns="0" rIns="0" bIns="0" rtlCol="0" anchor="t"/>
          <a:lstStyle/>
          <a:p>
            <a:pPr marL="0" indent="0">
              <a:lnSpc>
                <a:spcPct val="100000"/>
              </a:lnSpc>
              <a:buNone/>
            </a:pPr>
            <a:r>
              <a:rPr lang="en-US" sz="1200" b="1" dirty="0">
                <a:solidFill>
                  <a:srgbClr val="0E2233"/>
                </a:solidFill>
                <a:latin typeface="Segoe UI" pitchFamily="34" charset="0"/>
                <a:ea typeface="Segoe UI" pitchFamily="34" charset="-122"/>
                <a:cs typeface="Segoe UI" pitchFamily="34" charset="-120"/>
              </a:rPr>
              <a:t>Reschedule off a node</a:t>
            </a:r>
            <a:endParaRPr lang="en-US" sz="1200" dirty="0"/>
          </a:p>
        </p:txBody>
      </p:sp>
      <p:sp>
        <p:nvSpPr>
          <p:cNvPr id="26" name="Text 24"/>
          <p:cNvSpPr/>
          <p:nvPr/>
        </p:nvSpPr>
        <p:spPr>
          <a:xfrm>
            <a:off x="6958584" y="2404872"/>
            <a:ext cx="1481328" cy="310896"/>
          </a:xfrm>
          <a:prstGeom prst="rect">
            <a:avLst/>
          </a:prstGeom>
          <a:noFill/>
          <a:ln/>
        </p:spPr>
        <p:txBody>
          <a:bodyPr wrap="square" lIns="0" tIns="0" rIns="0" bIns="0" rtlCol="0" anchor="t"/>
          <a:lstStyle/>
          <a:p>
            <a:pPr marL="0" indent="0">
              <a:lnSpc>
                <a:spcPct val="115000"/>
              </a:lnSpc>
              <a:buNone/>
            </a:pPr>
            <a:r>
              <a:rPr lang="en-US" sz="650" dirty="0">
                <a:solidFill>
                  <a:srgbClr val="44566B"/>
                </a:solidFill>
                <a:latin typeface="Segoe UI" pitchFamily="34" charset="0"/>
                <a:ea typeface="Segoe UI" pitchFamily="34" charset="-122"/>
                <a:cs typeface="Segoe UI" pitchFamily="34" charset="-120"/>
              </a:rPr>
              <a:t>Pods on a drained or unreachable node are recreated elsewhere.</a:t>
            </a:r>
            <a:endParaRPr lang="en-US" sz="650" dirty="0"/>
          </a:p>
        </p:txBody>
      </p:sp>
      <p:sp>
        <p:nvSpPr>
          <p:cNvPr id="27" name="Text 25"/>
          <p:cNvSpPr/>
          <p:nvPr/>
        </p:nvSpPr>
        <p:spPr>
          <a:xfrm>
            <a:off x="502920" y="2926080"/>
            <a:ext cx="4754880" cy="1152144"/>
          </a:xfrm>
          <a:prstGeom prst="rect">
            <a:avLst/>
          </a:prstGeom>
          <a:noFill/>
          <a:ln/>
        </p:spPr>
        <p:txBody>
          <a:bodyPr wrap="square" lIns="0" tIns="0" rIns="0" bIns="0" rtlCol="0" anchor="t"/>
          <a:lstStyle/>
          <a:p>
            <a:pPr marL="342900" indent="-342900">
              <a:spcAft>
                <a:spcPts val="600"/>
              </a:spcAft>
              <a:buSzPct val="100000"/>
              <a:buChar char="•"/>
            </a:pPr>
            <a:r>
              <a:rPr lang="en-US" sz="750" dirty="0">
                <a:solidFill>
                  <a:srgbClr val="44566B"/>
                </a:solidFill>
                <a:latin typeface="Segoe UI" pitchFamily="34" charset="0"/>
                <a:ea typeface="Segoe UI" pitchFamily="34" charset="-122"/>
                <a:cs typeface="Segoe UI" pitchFamily="34" charset="-120"/>
              </a:rPr>
              <a:t>Self-healing depends entirely on the truth of your probes and the accuracy of your resource requests</a:t>
            </a:r>
            <a:endParaRPr lang="en-US" sz="750" dirty="0"/>
          </a:p>
          <a:p>
            <a:pPr marL="342900" indent="-342900">
              <a:spcAft>
                <a:spcPts val="600"/>
              </a:spcAft>
              <a:buSzPct val="100000"/>
              <a:buChar char="•"/>
            </a:pPr>
            <a:r>
              <a:rPr lang="en-US" sz="750" dirty="0">
                <a:solidFill>
                  <a:srgbClr val="44566B"/>
                </a:solidFill>
                <a:latin typeface="Segoe UI" pitchFamily="34" charset="0"/>
                <a:ea typeface="Segoe UI" pitchFamily="34" charset="-122"/>
                <a:cs typeface="Segoe UI" pitchFamily="34" charset="-120"/>
              </a:rPr>
              <a:t>CrashLoopBackOff is not a Kubernetes fault — it is the platform reporting that your container keeps exiting</a:t>
            </a:r>
            <a:endParaRPr lang="en-US" sz="750" dirty="0"/>
          </a:p>
          <a:p>
            <a:pPr marL="342900" indent="-342900">
              <a:spcAft>
                <a:spcPts val="600"/>
              </a:spcAft>
              <a:buSzPct val="100000"/>
              <a:buChar char="•"/>
            </a:pPr>
            <a:r>
              <a:rPr lang="en-US" sz="750" dirty="0">
                <a:solidFill>
                  <a:srgbClr val="44566B"/>
                </a:solidFill>
                <a:latin typeface="Segoe UI" pitchFamily="34" charset="0"/>
                <a:ea typeface="Segoe UI" pitchFamily="34" charset="-122"/>
                <a:cs typeface="Segoe UI" pitchFamily="34" charset="-120"/>
              </a:rPr>
              <a:t>Run more than one replica, or there is nothing to route traffic to while a Pod restarts</a:t>
            </a:r>
            <a:endParaRPr lang="en-US" sz="750" dirty="0"/>
          </a:p>
          <a:p>
            <a:pPr marL="342900" indent="-342900">
              <a:spcAft>
                <a:spcPts val="600"/>
              </a:spcAft>
              <a:buSzPct val="100000"/>
              <a:buChar char="•"/>
            </a:pPr>
            <a:r>
              <a:rPr lang="en-US" sz="750" dirty="0">
                <a:solidFill>
                  <a:srgbClr val="44566B"/>
                </a:solidFill>
                <a:latin typeface="Segoe UI" pitchFamily="34" charset="0"/>
                <a:ea typeface="Segoe UI" pitchFamily="34" charset="-122"/>
                <a:cs typeface="Segoe UI" pitchFamily="34" charset="-120"/>
              </a:rPr>
              <a:t>Add a PodDisruptionBudget so voluntary operations such as node upgrades cannot take every replica at once</a:t>
            </a:r>
            <a:endParaRPr lang="en-US" sz="750" dirty="0"/>
          </a:p>
        </p:txBody>
      </p:sp>
      <p:sp>
        <p:nvSpPr>
          <p:cNvPr id="28" name="code panel">
            <a:extLst>
              <a:ext uri="{C183D7F6-B498-43B3-948B-1728B52AA6E4}">
                <adec:decorative xmlns:adec="http://schemas.microsoft.com/office/drawing/2017/decorative" val="1"/>
              </a:ext>
            </a:extLst>
          </p:cNvPr>
          <p:cNvSpPr/>
          <p:nvPr/>
        </p:nvSpPr>
        <p:spPr>
          <a:xfrm>
            <a:off x="5623560" y="2926080"/>
            <a:ext cx="3017520" cy="1152144"/>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9" name="code panel header">
            <a:extLst>
              <a:ext uri="{C183D7F6-B498-43B3-948B-1728B52AA6E4}">
                <adec:decorative xmlns:adec="http://schemas.microsoft.com/office/drawing/2017/decorative" val="1"/>
              </a:ext>
            </a:extLst>
          </p:cNvPr>
          <p:cNvSpPr/>
          <p:nvPr/>
        </p:nvSpPr>
        <p:spPr>
          <a:xfrm>
            <a:off x="5623560" y="2926080"/>
            <a:ext cx="3017520" cy="256032"/>
          </a:xfrm>
          <a:prstGeom prst="rect">
            <a:avLst/>
          </a:prstGeom>
          <a:solidFill>
            <a:srgbClr val="0F3D66"/>
          </a:solidFill>
          <a:ln w="12700">
            <a:solidFill>
              <a:srgbClr val="333333"/>
            </a:solidFill>
            <a:prstDash val="solid"/>
          </a:ln>
        </p:spPr>
        <p:txBody>
          <a:bodyPr/>
          <a:lstStyle/>
          <a:p>
            <a:endParaRPr lang="en-IN"/>
          </a:p>
        </p:txBody>
      </p:sp>
      <p:sp>
        <p:nvSpPr>
          <p:cNvPr id="30" name="Text 28"/>
          <p:cNvSpPr/>
          <p:nvPr/>
        </p:nvSpPr>
        <p:spPr>
          <a:xfrm>
            <a:off x="5769864" y="2926080"/>
            <a:ext cx="2724912" cy="256032"/>
          </a:xfrm>
          <a:prstGeom prst="rect">
            <a:avLst/>
          </a:prstGeom>
          <a:noFill/>
          <a:ln/>
        </p:spPr>
        <p:txBody>
          <a:bodyPr wrap="square" lIns="0" tIns="0" rIns="0" bIns="0" rtlCol="0" anchor="ctr"/>
          <a:lstStyle/>
          <a:p>
            <a:pPr marL="0" indent="0">
              <a:buNone/>
            </a:pPr>
            <a:r>
              <a:rPr lang="en-US" sz="850" b="1" kern="0" spc="120" dirty="0">
                <a:solidFill>
                  <a:srgbClr val="17A9DB"/>
                </a:solidFill>
                <a:latin typeface="Segoe UI" pitchFamily="34" charset="0"/>
                <a:ea typeface="Segoe UI" pitchFamily="34" charset="-122"/>
                <a:cs typeface="Segoe UI" pitchFamily="34" charset="-120"/>
              </a:rPr>
              <a:t>Protect capacity during upgrades</a:t>
            </a:r>
            <a:endParaRPr lang="en-US" sz="850" dirty="0"/>
          </a:p>
        </p:txBody>
      </p:sp>
      <p:sp>
        <p:nvSpPr>
          <p:cNvPr id="31" name="Text 29"/>
          <p:cNvSpPr/>
          <p:nvPr/>
        </p:nvSpPr>
        <p:spPr>
          <a:xfrm>
            <a:off x="5769864" y="3255264"/>
            <a:ext cx="2724912" cy="676656"/>
          </a:xfrm>
          <a:prstGeom prst="rect">
            <a:avLst/>
          </a:prstGeom>
          <a:noFill/>
          <a:ln/>
        </p:spPr>
        <p:txBody>
          <a:bodyPr wrap="square" lIns="0" tIns="0" rIns="0" bIns="0" rtlCol="0" anchor="t"/>
          <a:lstStyle/>
          <a:p>
            <a:pPr marL="0" indent="0">
              <a:lnSpc>
                <a:spcPct val="112000"/>
              </a:lnSpc>
              <a:buNone/>
            </a:pPr>
            <a:r>
              <a:rPr lang="en-US" sz="793" dirty="0">
                <a:solidFill>
                  <a:srgbClr val="D7ECF8"/>
                </a:solidFill>
                <a:latin typeface="Consolas" pitchFamily="34" charset="0"/>
                <a:ea typeface="Consolas" pitchFamily="34" charset="-122"/>
                <a:cs typeface="Consolas" pitchFamily="34" charset="-120"/>
              </a:rPr>
              <a:t>kind: PodDisruptionBudget</a:t>
            </a:r>
            <a:endParaRPr lang="en-US" sz="793" dirty="0"/>
          </a:p>
          <a:p>
            <a:pPr marL="0" indent="0">
              <a:lnSpc>
                <a:spcPct val="112000"/>
              </a:lnSpc>
              <a:buNone/>
            </a:pPr>
            <a:r>
              <a:rPr lang="en-US" sz="793" dirty="0">
                <a:solidFill>
                  <a:srgbClr val="D7ECF8"/>
                </a:solidFill>
                <a:latin typeface="Consolas" pitchFamily="34" charset="0"/>
                <a:ea typeface="Consolas" pitchFamily="34" charset="-122"/>
                <a:cs typeface="Consolas" pitchFamily="34" charset="-120"/>
              </a:rPr>
              <a:t>spec:</a:t>
            </a:r>
            <a:endParaRPr lang="en-US" sz="793" dirty="0"/>
          </a:p>
          <a:p>
            <a:pPr marL="0" indent="0">
              <a:lnSpc>
                <a:spcPct val="112000"/>
              </a:lnSpc>
              <a:buNone/>
            </a:pPr>
            <a:r>
              <a:rPr lang="en-US" sz="793" dirty="0">
                <a:solidFill>
                  <a:srgbClr val="D7ECF8"/>
                </a:solidFill>
                <a:latin typeface="Consolas" pitchFamily="34" charset="0"/>
                <a:ea typeface="Consolas" pitchFamily="34" charset="-122"/>
                <a:cs typeface="Consolas" pitchFamily="34" charset="-120"/>
              </a:rPr>
              <a:t>  minAvailable: 2</a:t>
            </a:r>
            <a:endParaRPr lang="en-US" sz="793" dirty="0"/>
          </a:p>
          <a:p>
            <a:pPr marL="0" indent="0">
              <a:lnSpc>
                <a:spcPct val="112000"/>
              </a:lnSpc>
              <a:buNone/>
            </a:pPr>
            <a:r>
              <a:rPr lang="en-US" sz="793" dirty="0">
                <a:solidFill>
                  <a:srgbClr val="D7ECF8"/>
                </a:solidFill>
                <a:latin typeface="Consolas" pitchFamily="34" charset="0"/>
                <a:ea typeface="Consolas" pitchFamily="34" charset="-122"/>
                <a:cs typeface="Consolas" pitchFamily="34" charset="-120"/>
              </a:rPr>
              <a:t>  selector:</a:t>
            </a:r>
            <a:endParaRPr lang="en-US" sz="793" dirty="0"/>
          </a:p>
          <a:p>
            <a:pPr marL="0" indent="0">
              <a:lnSpc>
                <a:spcPct val="112000"/>
              </a:lnSpc>
              <a:buNone/>
            </a:pPr>
            <a:r>
              <a:rPr lang="en-US" sz="793" dirty="0">
                <a:solidFill>
                  <a:srgbClr val="D7ECF8"/>
                </a:solidFill>
                <a:latin typeface="Consolas" pitchFamily="34" charset="0"/>
                <a:ea typeface="Consolas" pitchFamily="34" charset="-122"/>
                <a:cs typeface="Consolas" pitchFamily="34" charset="-120"/>
              </a:rPr>
              <a:t>    matchLabels: {app: payments-api}</a:t>
            </a:r>
            <a:endParaRPr lang="en-US" sz="793" dirty="0"/>
          </a:p>
        </p:txBody>
      </p:sp>
      <p:sp>
        <p:nvSpPr>
          <p:cNvPr id="32"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40</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Abstract illustration of glowing steps ascending towards a bright horizon, representing continued learning"/>
          <p:cNvPicPr>
            <a:picLocks noChangeAspect="1"/>
          </p:cNvPicPr>
          <p:nvPr/>
        </p:nvPicPr>
        <p:blipFill>
          <a:blip r:embed="rId3"/>
          <a:srcRect l="26988" r="26988"/>
          <a:stretch/>
        </p:blipFill>
        <p:spPr>
          <a:xfrm>
            <a:off x="4937760" y="0"/>
            <a:ext cx="4206240" cy="5143500"/>
          </a:xfrm>
          <a:prstGeom prst="rect">
            <a:avLst/>
          </a:prstGeom>
        </p:spPr>
      </p:pic>
      <p:sp>
        <p:nvSpPr>
          <p:cNvPr id="3" name="image wash">
            <a:extLst>
              <a:ext uri="{C183D7F6-B498-43B3-948B-1728B52AA6E4}">
                <adec:decorative xmlns:adec="http://schemas.microsoft.com/office/drawing/2017/decorative" val="1"/>
              </a:ext>
            </a:extLst>
          </p:cNvPr>
          <p:cNvSpPr/>
          <p:nvPr/>
        </p:nvSpPr>
        <p:spPr>
          <a:xfrm>
            <a:off x="4937760" y="0"/>
            <a:ext cx="4206240" cy="5143500"/>
          </a:xfrm>
          <a:prstGeom prst="rect">
            <a:avLst/>
          </a:prstGeom>
          <a:solidFill>
            <a:srgbClr val="FFFFFF">
              <a:alpha val="70000"/>
            </a:srgbClr>
          </a:solidFill>
          <a:ln w="12700">
            <a:solidFill>
              <a:srgbClr val="333333"/>
            </a:solidFill>
            <a:prstDash val="solid"/>
          </a:ln>
        </p:spPr>
        <p:txBody>
          <a:bodyPr/>
          <a:lstStyle/>
          <a:p>
            <a:endParaRPr lang="en-IN"/>
          </a:p>
        </p:txBody>
      </p:sp>
      <p:sp>
        <p:nvSpPr>
          <p:cNvPr id="4" name="Text 1"/>
          <p:cNvSpPr/>
          <p:nvPr/>
        </p:nvSpPr>
        <p:spPr>
          <a:xfrm>
            <a:off x="502920" y="457200"/>
            <a:ext cx="4114800" cy="228600"/>
          </a:xfrm>
          <a:prstGeom prst="rect">
            <a:avLst/>
          </a:prstGeom>
          <a:noFill/>
          <a:ln/>
        </p:spPr>
        <p:txBody>
          <a:bodyPr wrap="square" lIns="0" tIns="0" rIns="0" bIns="0" rtlCol="0" anchor="ctr"/>
          <a:lstStyle/>
          <a:p>
            <a:pPr marL="0" indent="0">
              <a:buNone/>
            </a:pPr>
            <a:r>
              <a:rPr lang="en-US" sz="1000" b="1" kern="0" spc="200" dirty="0">
                <a:solidFill>
                  <a:srgbClr val="0B63CE"/>
                </a:solidFill>
                <a:latin typeface="Segoe UI" pitchFamily="34" charset="0"/>
                <a:ea typeface="Segoe UI" pitchFamily="34" charset="-122"/>
                <a:cs typeface="Segoe UI" pitchFamily="34" charset="-120"/>
              </a:rPr>
              <a:t>WRAP-UP</a:t>
            </a:r>
            <a:endParaRPr lang="en-US" sz="1000" dirty="0"/>
          </a:p>
        </p:txBody>
      </p:sp>
      <p:sp>
        <p:nvSpPr>
          <p:cNvPr id="5" name="Text 2"/>
          <p:cNvSpPr/>
          <p:nvPr/>
        </p:nvSpPr>
        <p:spPr>
          <a:xfrm>
            <a:off x="502920" y="694944"/>
            <a:ext cx="4206240" cy="548640"/>
          </a:xfrm>
          <a:prstGeom prst="rect">
            <a:avLst/>
          </a:prstGeom>
          <a:noFill/>
          <a:ln/>
        </p:spPr>
        <p:txBody>
          <a:bodyPr wrap="square" lIns="0" tIns="0" rIns="0" bIns="0" rtlCol="0" anchor="ctr"/>
          <a:lstStyle/>
          <a:p>
            <a:pPr marL="0" indent="0">
              <a:buNone/>
            </a:pPr>
            <a:r>
              <a:rPr lang="en-US" sz="1800" b="1" dirty="0">
                <a:solidFill>
                  <a:srgbClr val="0E2233"/>
                </a:solidFill>
                <a:latin typeface="Segoe UI" pitchFamily="34" charset="0"/>
                <a:ea typeface="Segoe UI" pitchFamily="34" charset="-122"/>
                <a:cs typeface="Segoe UI" pitchFamily="34" charset="-120"/>
              </a:rPr>
              <a:t>What to take back to your team</a:t>
            </a:r>
            <a:endParaRPr lang="en-US" sz="1800" dirty="0"/>
          </a:p>
        </p:txBody>
      </p:sp>
      <p:sp>
        <p:nvSpPr>
          <p:cNvPr id="6" name="rule">
            <a:extLst>
              <a:ext uri="{C183D7F6-B498-43B3-948B-1728B52AA6E4}">
                <adec:decorative xmlns:adec="http://schemas.microsoft.com/office/drawing/2017/decorative" val="1"/>
              </a:ext>
            </a:extLst>
          </p:cNvPr>
          <p:cNvSpPr/>
          <p:nvPr/>
        </p:nvSpPr>
        <p:spPr>
          <a:xfrm>
            <a:off x="502920" y="1298448"/>
            <a:ext cx="548640" cy="32004"/>
          </a:xfrm>
          <a:prstGeom prst="rect">
            <a:avLst/>
          </a:prstGeom>
          <a:solidFill>
            <a:srgbClr val="17A9DB"/>
          </a:solidFill>
          <a:ln w="12700">
            <a:solidFill>
              <a:srgbClr val="333333"/>
            </a:solidFill>
            <a:prstDash val="solid"/>
          </a:ln>
        </p:spPr>
        <p:txBody>
          <a:bodyPr/>
          <a:lstStyle/>
          <a:p>
            <a:endParaRPr lang="en-IN"/>
          </a:p>
        </p:txBody>
      </p:sp>
      <p:sp>
        <p:nvSpPr>
          <p:cNvPr id="7" name="item accent">
            <a:extLst>
              <a:ext uri="{C183D7F6-B498-43B3-948B-1728B52AA6E4}">
                <adec:decorative xmlns:adec="http://schemas.microsoft.com/office/drawing/2017/decorative" val="1"/>
              </a:ext>
            </a:extLst>
          </p:cNvPr>
          <p:cNvSpPr/>
          <p:nvPr/>
        </p:nvSpPr>
        <p:spPr>
          <a:xfrm>
            <a:off x="502920" y="1481328"/>
            <a:ext cx="41148" cy="548640"/>
          </a:xfrm>
          <a:prstGeom prst="rect">
            <a:avLst/>
          </a:prstGeom>
          <a:solidFill>
            <a:srgbClr val="0B63CE"/>
          </a:solidFill>
          <a:ln w="12700">
            <a:solidFill>
              <a:srgbClr val="333333"/>
            </a:solidFill>
            <a:prstDash val="solid"/>
          </a:ln>
        </p:spPr>
        <p:txBody>
          <a:bodyPr/>
          <a:lstStyle/>
          <a:p>
            <a:endParaRPr lang="en-IN"/>
          </a:p>
        </p:txBody>
      </p:sp>
      <p:sp>
        <p:nvSpPr>
          <p:cNvPr id="8" name="Text 5"/>
          <p:cNvSpPr/>
          <p:nvPr/>
        </p:nvSpPr>
        <p:spPr>
          <a:xfrm>
            <a:off x="713232" y="1481328"/>
            <a:ext cx="4023360" cy="256032"/>
          </a:xfrm>
          <a:prstGeom prst="rect">
            <a:avLst/>
          </a:prstGeom>
          <a:noFill/>
          <a:ln/>
        </p:spPr>
        <p:txBody>
          <a:bodyPr wrap="square" lIns="0" tIns="0" rIns="0" bIns="0" rtlCol="0" anchor="ctr"/>
          <a:lstStyle/>
          <a:p>
            <a:pPr marL="0" indent="0">
              <a:buNone/>
            </a:pPr>
            <a:r>
              <a:rPr lang="en-US" sz="1250" b="1" dirty="0">
                <a:solidFill>
                  <a:srgbClr val="0E2233"/>
                </a:solidFill>
                <a:latin typeface="Segoe UI" pitchFamily="34" charset="0"/>
                <a:ea typeface="Segoe UI" pitchFamily="34" charset="-122"/>
                <a:cs typeface="Segoe UI" pitchFamily="34" charset="-120"/>
              </a:rPr>
              <a:t>Build once, configure per environment</a:t>
            </a:r>
            <a:endParaRPr lang="en-US" sz="1250" dirty="0"/>
          </a:p>
        </p:txBody>
      </p:sp>
      <p:sp>
        <p:nvSpPr>
          <p:cNvPr id="9" name="Text 6"/>
          <p:cNvSpPr/>
          <p:nvPr/>
        </p:nvSpPr>
        <p:spPr>
          <a:xfrm>
            <a:off x="713232" y="1719072"/>
            <a:ext cx="4023360" cy="310896"/>
          </a:xfrm>
          <a:prstGeom prst="rect">
            <a:avLst/>
          </a:prstGeom>
          <a:noFill/>
          <a:ln/>
        </p:spPr>
        <p:txBody>
          <a:bodyPr wrap="square" lIns="0" tIns="0" rIns="0" bIns="0" rtlCol="0" anchor="t"/>
          <a:lstStyle/>
          <a:p>
            <a:pPr marL="0" indent="0">
              <a:lnSpc>
                <a:spcPct val="105000"/>
              </a:lnSpc>
              <a:buNone/>
            </a:pPr>
            <a:r>
              <a:rPr lang="en-US" sz="1000" dirty="0">
                <a:solidFill>
                  <a:srgbClr val="44566B"/>
                </a:solidFill>
                <a:latin typeface="Segoe UI" pitchFamily="34" charset="0"/>
                <a:ea typeface="Segoe UI" pitchFamily="34" charset="-122"/>
                <a:cs typeface="Segoe UI" pitchFamily="34" charset="-120"/>
              </a:rPr>
              <a:t>One immutable image, promoted; settings from ConfigMaps and Secrets.</a:t>
            </a:r>
            <a:endParaRPr lang="en-US" sz="1000" dirty="0"/>
          </a:p>
        </p:txBody>
      </p:sp>
      <p:sp>
        <p:nvSpPr>
          <p:cNvPr id="10" name="item accent">
            <a:extLst>
              <a:ext uri="{C183D7F6-B498-43B3-948B-1728B52AA6E4}">
                <adec:decorative xmlns:adec="http://schemas.microsoft.com/office/drawing/2017/decorative" val="1"/>
              </a:ext>
            </a:extLst>
          </p:cNvPr>
          <p:cNvSpPr/>
          <p:nvPr/>
        </p:nvSpPr>
        <p:spPr>
          <a:xfrm>
            <a:off x="502920" y="2103120"/>
            <a:ext cx="41148" cy="548640"/>
          </a:xfrm>
          <a:prstGeom prst="rect">
            <a:avLst/>
          </a:prstGeom>
          <a:solidFill>
            <a:srgbClr val="17A9DB"/>
          </a:solidFill>
          <a:ln w="12700">
            <a:solidFill>
              <a:srgbClr val="333333"/>
            </a:solidFill>
            <a:prstDash val="solid"/>
          </a:ln>
        </p:spPr>
        <p:txBody>
          <a:bodyPr/>
          <a:lstStyle/>
          <a:p>
            <a:endParaRPr lang="en-IN"/>
          </a:p>
        </p:txBody>
      </p:sp>
      <p:sp>
        <p:nvSpPr>
          <p:cNvPr id="11" name="Text 8"/>
          <p:cNvSpPr/>
          <p:nvPr/>
        </p:nvSpPr>
        <p:spPr>
          <a:xfrm>
            <a:off x="713232" y="2103120"/>
            <a:ext cx="4023360" cy="256032"/>
          </a:xfrm>
          <a:prstGeom prst="rect">
            <a:avLst/>
          </a:prstGeom>
          <a:noFill/>
          <a:ln/>
        </p:spPr>
        <p:txBody>
          <a:bodyPr wrap="square" lIns="0" tIns="0" rIns="0" bIns="0" rtlCol="0" anchor="ctr"/>
          <a:lstStyle/>
          <a:p>
            <a:pPr marL="0" indent="0">
              <a:buNone/>
            </a:pPr>
            <a:r>
              <a:rPr lang="en-US" sz="1250" b="1" dirty="0">
                <a:solidFill>
                  <a:srgbClr val="0E2233"/>
                </a:solidFill>
                <a:latin typeface="Segoe UI" pitchFamily="34" charset="0"/>
                <a:ea typeface="Segoe UI" pitchFamily="34" charset="-122"/>
                <a:cs typeface="Segoe UI" pitchFamily="34" charset="-120"/>
              </a:rPr>
              <a:t>Declare, do not instruct</a:t>
            </a:r>
            <a:endParaRPr lang="en-US" sz="1250" dirty="0"/>
          </a:p>
        </p:txBody>
      </p:sp>
      <p:sp>
        <p:nvSpPr>
          <p:cNvPr id="12" name="Text 9"/>
          <p:cNvSpPr/>
          <p:nvPr/>
        </p:nvSpPr>
        <p:spPr>
          <a:xfrm>
            <a:off x="713232" y="2340864"/>
            <a:ext cx="4023360" cy="310896"/>
          </a:xfrm>
          <a:prstGeom prst="rect">
            <a:avLst/>
          </a:prstGeom>
          <a:noFill/>
          <a:ln/>
        </p:spPr>
        <p:txBody>
          <a:bodyPr wrap="square" lIns="0" tIns="0" rIns="0" bIns="0" rtlCol="0" anchor="t"/>
          <a:lstStyle/>
          <a:p>
            <a:pPr marL="0" indent="0">
              <a:lnSpc>
                <a:spcPct val="105000"/>
              </a:lnSpc>
              <a:buNone/>
            </a:pPr>
            <a:r>
              <a:rPr lang="en-US" sz="1000" dirty="0">
                <a:solidFill>
                  <a:srgbClr val="44566B"/>
                </a:solidFill>
                <a:latin typeface="Segoe UI" pitchFamily="34" charset="0"/>
                <a:ea typeface="Segoe UI" pitchFamily="34" charset="-122"/>
                <a:cs typeface="Segoe UI" pitchFamily="34" charset="-120"/>
              </a:rPr>
              <a:t>Manifests in version control; kubectl apply, never manual edits.</a:t>
            </a:r>
            <a:endParaRPr lang="en-US" sz="1000" dirty="0"/>
          </a:p>
        </p:txBody>
      </p:sp>
      <p:sp>
        <p:nvSpPr>
          <p:cNvPr id="13" name="item accent">
            <a:extLst>
              <a:ext uri="{C183D7F6-B498-43B3-948B-1728B52AA6E4}">
                <adec:decorative xmlns:adec="http://schemas.microsoft.com/office/drawing/2017/decorative" val="1"/>
              </a:ext>
            </a:extLst>
          </p:cNvPr>
          <p:cNvSpPr/>
          <p:nvPr/>
        </p:nvSpPr>
        <p:spPr>
          <a:xfrm>
            <a:off x="502920" y="2724912"/>
            <a:ext cx="41148" cy="548640"/>
          </a:xfrm>
          <a:prstGeom prst="rect">
            <a:avLst/>
          </a:prstGeom>
          <a:solidFill>
            <a:srgbClr val="0B63CE"/>
          </a:solidFill>
          <a:ln w="12700">
            <a:solidFill>
              <a:srgbClr val="333333"/>
            </a:solidFill>
            <a:prstDash val="solid"/>
          </a:ln>
        </p:spPr>
        <p:txBody>
          <a:bodyPr/>
          <a:lstStyle/>
          <a:p>
            <a:endParaRPr lang="en-IN"/>
          </a:p>
        </p:txBody>
      </p:sp>
      <p:sp>
        <p:nvSpPr>
          <p:cNvPr id="14" name="Text 11"/>
          <p:cNvSpPr/>
          <p:nvPr/>
        </p:nvSpPr>
        <p:spPr>
          <a:xfrm>
            <a:off x="713232" y="2724912"/>
            <a:ext cx="4023360" cy="256032"/>
          </a:xfrm>
          <a:prstGeom prst="rect">
            <a:avLst/>
          </a:prstGeom>
          <a:noFill/>
          <a:ln/>
        </p:spPr>
        <p:txBody>
          <a:bodyPr wrap="square" lIns="0" tIns="0" rIns="0" bIns="0" rtlCol="0" anchor="ctr"/>
          <a:lstStyle/>
          <a:p>
            <a:pPr marL="0" indent="0">
              <a:buNone/>
            </a:pPr>
            <a:r>
              <a:rPr lang="en-US" sz="1250" b="1" dirty="0">
                <a:solidFill>
                  <a:srgbClr val="0E2233"/>
                </a:solidFill>
                <a:latin typeface="Segoe UI" pitchFamily="34" charset="0"/>
                <a:ea typeface="Segoe UI" pitchFamily="34" charset="-122"/>
                <a:cs typeface="Segoe UI" pitchFamily="34" charset="-120"/>
              </a:rPr>
              <a:t>Start internal, expose deliberately</a:t>
            </a:r>
            <a:endParaRPr lang="en-US" sz="1250" dirty="0"/>
          </a:p>
        </p:txBody>
      </p:sp>
      <p:sp>
        <p:nvSpPr>
          <p:cNvPr id="15" name="Text 12"/>
          <p:cNvSpPr/>
          <p:nvPr/>
        </p:nvSpPr>
        <p:spPr>
          <a:xfrm>
            <a:off x="713232" y="2962656"/>
            <a:ext cx="4023360" cy="310896"/>
          </a:xfrm>
          <a:prstGeom prst="rect">
            <a:avLst/>
          </a:prstGeom>
          <a:noFill/>
          <a:ln/>
        </p:spPr>
        <p:txBody>
          <a:bodyPr wrap="square" lIns="0" tIns="0" rIns="0" bIns="0" rtlCol="0" anchor="t"/>
          <a:lstStyle/>
          <a:p>
            <a:pPr marL="0" indent="0">
              <a:lnSpc>
                <a:spcPct val="105000"/>
              </a:lnSpc>
              <a:buNone/>
            </a:pPr>
            <a:r>
              <a:rPr lang="en-US" sz="1000" dirty="0">
                <a:solidFill>
                  <a:srgbClr val="44566B"/>
                </a:solidFill>
                <a:latin typeface="Segoe UI" pitchFamily="34" charset="0"/>
                <a:ea typeface="Segoe UI" pitchFamily="34" charset="-122"/>
                <a:cs typeface="Segoe UI" pitchFamily="34" charset="-120"/>
              </a:rPr>
              <a:t>ClusterIP by default; external exposure is a reviewed decision.</a:t>
            </a:r>
            <a:endParaRPr lang="en-US" sz="1000" dirty="0"/>
          </a:p>
        </p:txBody>
      </p:sp>
      <p:sp>
        <p:nvSpPr>
          <p:cNvPr id="16" name="item accent">
            <a:extLst>
              <a:ext uri="{C183D7F6-B498-43B3-948B-1728B52AA6E4}">
                <adec:decorative xmlns:adec="http://schemas.microsoft.com/office/drawing/2017/decorative" val="1"/>
              </a:ext>
            </a:extLst>
          </p:cNvPr>
          <p:cNvSpPr/>
          <p:nvPr/>
        </p:nvSpPr>
        <p:spPr>
          <a:xfrm>
            <a:off x="502920" y="3346704"/>
            <a:ext cx="41148" cy="548640"/>
          </a:xfrm>
          <a:prstGeom prst="rect">
            <a:avLst/>
          </a:prstGeom>
          <a:solidFill>
            <a:srgbClr val="17A9DB"/>
          </a:solidFill>
          <a:ln w="12700">
            <a:solidFill>
              <a:srgbClr val="333333"/>
            </a:solidFill>
            <a:prstDash val="solid"/>
          </a:ln>
        </p:spPr>
        <p:txBody>
          <a:bodyPr/>
          <a:lstStyle/>
          <a:p>
            <a:endParaRPr lang="en-IN"/>
          </a:p>
        </p:txBody>
      </p:sp>
      <p:sp>
        <p:nvSpPr>
          <p:cNvPr id="17" name="Text 14"/>
          <p:cNvSpPr/>
          <p:nvPr/>
        </p:nvSpPr>
        <p:spPr>
          <a:xfrm>
            <a:off x="713232" y="3346704"/>
            <a:ext cx="4023360" cy="256032"/>
          </a:xfrm>
          <a:prstGeom prst="rect">
            <a:avLst/>
          </a:prstGeom>
          <a:noFill/>
          <a:ln/>
        </p:spPr>
        <p:txBody>
          <a:bodyPr wrap="square" lIns="0" tIns="0" rIns="0" bIns="0" rtlCol="0" anchor="ctr"/>
          <a:lstStyle/>
          <a:p>
            <a:pPr marL="0" indent="0">
              <a:buNone/>
            </a:pPr>
            <a:r>
              <a:rPr lang="en-US" sz="1250" b="1" dirty="0">
                <a:solidFill>
                  <a:srgbClr val="0E2233"/>
                </a:solidFill>
                <a:latin typeface="Segoe UI" pitchFamily="34" charset="0"/>
                <a:ea typeface="Segoe UI" pitchFamily="34" charset="-122"/>
                <a:cs typeface="Segoe UI" pitchFamily="34" charset="-120"/>
              </a:rPr>
              <a:t>Keep state out of the Pod</a:t>
            </a:r>
            <a:endParaRPr lang="en-US" sz="1250" dirty="0"/>
          </a:p>
        </p:txBody>
      </p:sp>
      <p:sp>
        <p:nvSpPr>
          <p:cNvPr id="18" name="Text 15"/>
          <p:cNvSpPr/>
          <p:nvPr/>
        </p:nvSpPr>
        <p:spPr>
          <a:xfrm>
            <a:off x="713232" y="3584448"/>
            <a:ext cx="4023360" cy="310896"/>
          </a:xfrm>
          <a:prstGeom prst="rect">
            <a:avLst/>
          </a:prstGeom>
          <a:noFill/>
          <a:ln/>
        </p:spPr>
        <p:txBody>
          <a:bodyPr wrap="square" lIns="0" tIns="0" rIns="0" bIns="0" rtlCol="0" anchor="t"/>
          <a:lstStyle/>
          <a:p>
            <a:pPr marL="0" indent="0">
              <a:lnSpc>
                <a:spcPct val="105000"/>
              </a:lnSpc>
              <a:buNone/>
            </a:pPr>
            <a:r>
              <a:rPr lang="en-US" sz="1000" dirty="0">
                <a:solidFill>
                  <a:srgbClr val="44566B"/>
                </a:solidFill>
                <a:latin typeface="Segoe UI" pitchFamily="34" charset="0"/>
                <a:ea typeface="Segoe UI" pitchFamily="34" charset="-122"/>
                <a:cs typeface="Segoe UI" pitchFamily="34" charset="-120"/>
              </a:rPr>
              <a:t>Managed data services first; PersistentVolumeClaims when you must.</a:t>
            </a:r>
            <a:endParaRPr lang="en-US" sz="1000" dirty="0"/>
          </a:p>
        </p:txBody>
      </p:sp>
      <p:sp>
        <p:nvSpPr>
          <p:cNvPr id="19" name="item accent">
            <a:extLst>
              <a:ext uri="{C183D7F6-B498-43B3-948B-1728B52AA6E4}">
                <adec:decorative xmlns:adec="http://schemas.microsoft.com/office/drawing/2017/decorative" val="1"/>
              </a:ext>
            </a:extLst>
          </p:cNvPr>
          <p:cNvSpPr/>
          <p:nvPr/>
        </p:nvSpPr>
        <p:spPr>
          <a:xfrm>
            <a:off x="502920" y="3968496"/>
            <a:ext cx="41148" cy="548640"/>
          </a:xfrm>
          <a:prstGeom prst="rect">
            <a:avLst/>
          </a:prstGeom>
          <a:solidFill>
            <a:srgbClr val="0B63CE"/>
          </a:solidFill>
          <a:ln w="12700">
            <a:solidFill>
              <a:srgbClr val="333333"/>
            </a:solidFill>
            <a:prstDash val="solid"/>
          </a:ln>
        </p:spPr>
        <p:txBody>
          <a:bodyPr/>
          <a:lstStyle/>
          <a:p>
            <a:endParaRPr lang="en-IN"/>
          </a:p>
        </p:txBody>
      </p:sp>
      <p:sp>
        <p:nvSpPr>
          <p:cNvPr id="20" name="Text 17"/>
          <p:cNvSpPr/>
          <p:nvPr/>
        </p:nvSpPr>
        <p:spPr>
          <a:xfrm>
            <a:off x="713232" y="3968496"/>
            <a:ext cx="4023360" cy="256032"/>
          </a:xfrm>
          <a:prstGeom prst="rect">
            <a:avLst/>
          </a:prstGeom>
          <a:noFill/>
          <a:ln/>
        </p:spPr>
        <p:txBody>
          <a:bodyPr wrap="square" lIns="0" tIns="0" rIns="0" bIns="0" rtlCol="0" anchor="ctr"/>
          <a:lstStyle/>
          <a:p>
            <a:pPr marL="0" indent="0">
              <a:buNone/>
            </a:pPr>
            <a:r>
              <a:rPr lang="en-US" sz="1250" b="1" dirty="0">
                <a:solidFill>
                  <a:srgbClr val="0E2233"/>
                </a:solidFill>
                <a:latin typeface="Segoe UI" pitchFamily="34" charset="0"/>
                <a:ea typeface="Segoe UI" pitchFamily="34" charset="-122"/>
                <a:cs typeface="Segoe UI" pitchFamily="34" charset="-120"/>
              </a:rPr>
              <a:t>Tell the truth in your probes</a:t>
            </a:r>
            <a:endParaRPr lang="en-US" sz="1250" dirty="0"/>
          </a:p>
        </p:txBody>
      </p:sp>
      <p:sp>
        <p:nvSpPr>
          <p:cNvPr id="21" name="Text 18"/>
          <p:cNvSpPr/>
          <p:nvPr/>
        </p:nvSpPr>
        <p:spPr>
          <a:xfrm>
            <a:off x="713232" y="4206240"/>
            <a:ext cx="4023360" cy="310896"/>
          </a:xfrm>
          <a:prstGeom prst="rect">
            <a:avLst/>
          </a:prstGeom>
          <a:noFill/>
          <a:ln/>
        </p:spPr>
        <p:txBody>
          <a:bodyPr wrap="square" lIns="0" tIns="0" rIns="0" bIns="0" rtlCol="0" anchor="t"/>
          <a:lstStyle/>
          <a:p>
            <a:pPr marL="0" indent="0">
              <a:lnSpc>
                <a:spcPct val="105000"/>
              </a:lnSpc>
              <a:buNone/>
            </a:pPr>
            <a:r>
              <a:rPr lang="en-US" sz="1000" dirty="0">
                <a:solidFill>
                  <a:srgbClr val="44566B"/>
                </a:solidFill>
                <a:latin typeface="Segoe UI" pitchFamily="34" charset="0"/>
                <a:ea typeface="Segoe UI" pitchFamily="34" charset="-122"/>
                <a:cs typeface="Segoe UI" pitchFamily="34" charset="-120"/>
              </a:rPr>
              <a:t>Liveness for the process, readiness for dependencies, startup for slow boots.</a:t>
            </a:r>
            <a:endParaRPr lang="en-US" sz="1000" dirty="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41</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3C89-4332-F2D5-4FAB-5F79BB539093}"/>
            </a:ext>
          </a:extLst>
        </p:cNvPr>
        <p:cNvGrpSpPr/>
        <p:nvPr/>
      </p:nvGrpSpPr>
      <p:grpSpPr>
        <a:xfrm>
          <a:off x="0" y="0"/>
          <a:ext cx="0" cy="0"/>
          <a:chOff x="0" y="0"/>
          <a:chExt cx="0" cy="0"/>
        </a:xfrm>
      </p:grpSpPr>
      <p:pic>
        <p:nvPicPr>
          <p:cNvPr id="2" name="Image 0" descr="Abstract illustration of stacked shipping containers and connected blocks, representing containerised applications">
            <a:extLst>
              <a:ext uri="{FF2B5EF4-FFF2-40B4-BE49-F238E27FC236}">
                <a16:creationId xmlns:a16="http://schemas.microsoft.com/office/drawing/2014/main" id="{A08A7310-BA2B-BE79-0133-91FE12EE740C}"/>
              </a:ext>
            </a:extLst>
          </p:cNvPr>
          <p:cNvPicPr>
            <a:picLocks noChangeAspect="1"/>
          </p:cNvPicPr>
          <p:nvPr/>
        </p:nvPicPr>
        <p:blipFill>
          <a:blip r:embed="rId3"/>
          <a:srcRect t="1064" b="1064"/>
          <a:stretch/>
        </p:blipFill>
        <p:spPr>
          <a:xfrm>
            <a:off x="0" y="0"/>
            <a:ext cx="9144000" cy="5143500"/>
          </a:xfrm>
          <a:prstGeom prst="rect">
            <a:avLst/>
          </a:prstGeom>
        </p:spPr>
      </p:pic>
      <p:sp>
        <p:nvSpPr>
          <p:cNvPr id="3" name="image scrim">
            <a:extLst>
              <a:ext uri="{FF2B5EF4-FFF2-40B4-BE49-F238E27FC236}">
                <a16:creationId xmlns:a16="http://schemas.microsoft.com/office/drawing/2014/main" id="{212A8FAB-3E0E-9BBD-A46C-93F372D83DF9}"/>
              </a:ex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A2E4E">
              <a:alpha val="78000"/>
            </a:srgbClr>
          </a:solidFill>
          <a:ln w="12700">
            <a:solidFill>
              <a:srgbClr val="333333"/>
            </a:solidFill>
            <a:prstDash val="solid"/>
          </a:ln>
        </p:spPr>
        <p:txBody>
          <a:bodyPr/>
          <a:lstStyle/>
          <a:p>
            <a:endParaRPr lang="en-IN"/>
          </a:p>
        </p:txBody>
      </p:sp>
      <p:sp>
        <p:nvSpPr>
          <p:cNvPr id="4" name="title panel">
            <a:extLst>
              <a:ext uri="{FF2B5EF4-FFF2-40B4-BE49-F238E27FC236}">
                <a16:creationId xmlns:a16="http://schemas.microsoft.com/office/drawing/2014/main" id="{6E184C11-889E-228C-857F-54C77354DA83}"/>
              </a:ext>
              <a:ext uri="{C183D7F6-B498-43B3-948B-1728B52AA6E4}">
                <adec:decorative xmlns:adec="http://schemas.microsoft.com/office/drawing/2017/decorative" val="1"/>
              </a:ext>
            </a:extLst>
          </p:cNvPr>
          <p:cNvSpPr/>
          <p:nvPr/>
        </p:nvSpPr>
        <p:spPr>
          <a:xfrm>
            <a:off x="0" y="0"/>
            <a:ext cx="5394960" cy="5143500"/>
          </a:xfrm>
          <a:prstGeom prst="rect">
            <a:avLst/>
          </a:prstGeom>
          <a:solidFill>
            <a:srgbClr val="0A2E4E">
              <a:alpha val="92000"/>
            </a:srgbClr>
          </a:solidFill>
          <a:ln w="12700">
            <a:solidFill>
              <a:srgbClr val="333333"/>
            </a:solidFill>
            <a:prstDash val="solid"/>
          </a:ln>
        </p:spPr>
        <p:txBody>
          <a:bodyPr/>
          <a:lstStyle/>
          <a:p>
            <a:endParaRPr lang="en-IN"/>
          </a:p>
        </p:txBody>
      </p:sp>
      <p:sp>
        <p:nvSpPr>
          <p:cNvPr id="5" name="rule">
            <a:extLst>
              <a:ext uri="{FF2B5EF4-FFF2-40B4-BE49-F238E27FC236}">
                <a16:creationId xmlns:a16="http://schemas.microsoft.com/office/drawing/2014/main" id="{836610E6-205D-B95B-E856-9E9B6C7EB4DE}"/>
              </a:ext>
              <a:ext uri="{C183D7F6-B498-43B3-948B-1728B52AA6E4}">
                <adec:decorative xmlns:adec="http://schemas.microsoft.com/office/drawing/2017/decorative" val="1"/>
              </a:ext>
            </a:extLst>
          </p:cNvPr>
          <p:cNvSpPr/>
          <p:nvPr/>
        </p:nvSpPr>
        <p:spPr>
          <a:xfrm>
            <a:off x="640080" y="1234440"/>
            <a:ext cx="685800" cy="41148"/>
          </a:xfrm>
          <a:prstGeom prst="rect">
            <a:avLst/>
          </a:prstGeom>
          <a:solidFill>
            <a:srgbClr val="17A9DB"/>
          </a:solidFill>
          <a:ln w="12700">
            <a:solidFill>
              <a:srgbClr val="333333"/>
            </a:solidFill>
            <a:prstDash val="solid"/>
          </a:ln>
        </p:spPr>
        <p:txBody>
          <a:bodyPr/>
          <a:lstStyle/>
          <a:p>
            <a:endParaRPr lang="en-IN"/>
          </a:p>
        </p:txBody>
      </p:sp>
      <p:sp>
        <p:nvSpPr>
          <p:cNvPr id="6" name="Text 3">
            <a:extLst>
              <a:ext uri="{FF2B5EF4-FFF2-40B4-BE49-F238E27FC236}">
                <a16:creationId xmlns:a16="http://schemas.microsoft.com/office/drawing/2014/main" id="{2BED7871-0CD9-7F93-8264-89D01D62470A}"/>
              </a:ext>
            </a:extLst>
          </p:cNvPr>
          <p:cNvSpPr/>
          <p:nvPr/>
        </p:nvSpPr>
        <p:spPr>
          <a:xfrm>
            <a:off x="640080" y="1481328"/>
            <a:ext cx="4572000" cy="256032"/>
          </a:xfrm>
          <a:prstGeom prst="rect">
            <a:avLst/>
          </a:prstGeom>
          <a:noFill/>
          <a:ln/>
        </p:spPr>
        <p:txBody>
          <a:bodyPr wrap="square" lIns="0" tIns="0" rIns="0" bIns="0" rtlCol="0" anchor="ctr"/>
          <a:lstStyle/>
          <a:p>
            <a:pPr marL="0" indent="0">
              <a:buNone/>
            </a:pPr>
            <a:r>
              <a:rPr lang="en-US" sz="1100" b="1" kern="0" spc="240" dirty="0">
                <a:solidFill>
                  <a:srgbClr val="17A9DB"/>
                </a:solidFill>
                <a:latin typeface="Segoe UI" pitchFamily="34" charset="0"/>
                <a:ea typeface="Segoe UI" pitchFamily="34" charset="-122"/>
                <a:cs typeface="Segoe UI" pitchFamily="34" charset="-120"/>
              </a:rPr>
              <a:t>Day - 2</a:t>
            </a:r>
            <a:endParaRPr lang="en-US" sz="1100" dirty="0"/>
          </a:p>
        </p:txBody>
      </p:sp>
      <p:sp>
        <p:nvSpPr>
          <p:cNvPr id="7" name="Text 4">
            <a:extLst>
              <a:ext uri="{FF2B5EF4-FFF2-40B4-BE49-F238E27FC236}">
                <a16:creationId xmlns:a16="http://schemas.microsoft.com/office/drawing/2014/main" id="{8C0DFE8A-1BB0-BE11-2B9F-42B5F06B57D5}"/>
              </a:ext>
            </a:extLst>
          </p:cNvPr>
          <p:cNvSpPr/>
          <p:nvPr/>
        </p:nvSpPr>
        <p:spPr>
          <a:xfrm>
            <a:off x="640080" y="1755648"/>
            <a:ext cx="4480560" cy="914400"/>
          </a:xfrm>
          <a:prstGeom prst="rect">
            <a:avLst/>
          </a:prstGeom>
          <a:noFill/>
          <a:ln/>
        </p:spPr>
        <p:txBody>
          <a:bodyPr wrap="square" lIns="0" tIns="0" rIns="0" bIns="0" rtlCol="0" anchor="t"/>
          <a:lstStyle/>
          <a:p>
            <a:pPr marL="0" indent="0">
              <a:lnSpc>
                <a:spcPct val="100000"/>
              </a:lnSpc>
              <a:buNone/>
            </a:pPr>
            <a:r>
              <a:rPr lang="en-US" sz="3100" b="1" dirty="0">
                <a:solidFill>
                  <a:srgbClr val="FFFFFF"/>
                </a:solidFill>
                <a:latin typeface="Segoe UI" pitchFamily="34" charset="0"/>
                <a:ea typeface="Segoe UI" pitchFamily="34" charset="-122"/>
                <a:cs typeface="Segoe UI" pitchFamily="34" charset="-120"/>
              </a:rPr>
              <a:t>Azure Kubernetes Service</a:t>
            </a:r>
            <a:endParaRPr lang="en-US" sz="3100" dirty="0"/>
          </a:p>
        </p:txBody>
      </p:sp>
      <p:sp>
        <p:nvSpPr>
          <p:cNvPr id="8" name="Text 5">
            <a:extLst>
              <a:ext uri="{FF2B5EF4-FFF2-40B4-BE49-F238E27FC236}">
                <a16:creationId xmlns:a16="http://schemas.microsoft.com/office/drawing/2014/main" id="{4861D68A-73D8-0EB1-0CC5-64004170EDDE}"/>
              </a:ext>
            </a:extLst>
          </p:cNvPr>
          <p:cNvSpPr/>
          <p:nvPr/>
        </p:nvSpPr>
        <p:spPr>
          <a:xfrm>
            <a:off x="640080" y="2670048"/>
            <a:ext cx="4754880" cy="384048"/>
          </a:xfrm>
          <a:prstGeom prst="rect">
            <a:avLst/>
          </a:prstGeom>
          <a:noFill/>
          <a:ln/>
        </p:spPr>
        <p:txBody>
          <a:bodyPr wrap="square" lIns="0" tIns="0" rIns="0" bIns="0" rtlCol="0" anchor="ctr"/>
          <a:lstStyle/>
          <a:p>
            <a:pPr marL="0" indent="0">
              <a:buNone/>
            </a:pPr>
            <a:r>
              <a:rPr lang="en-US" sz="2100" dirty="0">
                <a:solidFill>
                  <a:srgbClr val="BBD9F2"/>
                </a:solidFill>
                <a:latin typeface="Segoe UI" pitchFamily="34" charset="0"/>
                <a:ea typeface="Segoe UI" pitchFamily="34" charset="-122"/>
                <a:cs typeface="Segoe UI" pitchFamily="34" charset="-120"/>
              </a:rPr>
              <a:t>for Application Teams</a:t>
            </a:r>
            <a:endParaRPr lang="en-US" sz="2100" dirty="0"/>
          </a:p>
        </p:txBody>
      </p:sp>
      <p:sp>
        <p:nvSpPr>
          <p:cNvPr id="9" name="Text 6">
            <a:extLst>
              <a:ext uri="{FF2B5EF4-FFF2-40B4-BE49-F238E27FC236}">
                <a16:creationId xmlns:a16="http://schemas.microsoft.com/office/drawing/2014/main" id="{800DF32A-3F94-2A1C-1EAE-913E1E59542F}"/>
              </a:ext>
            </a:extLst>
          </p:cNvPr>
          <p:cNvSpPr/>
          <p:nvPr/>
        </p:nvSpPr>
        <p:spPr>
          <a:xfrm>
            <a:off x="640080" y="3154680"/>
            <a:ext cx="4663440" cy="640080"/>
          </a:xfrm>
          <a:prstGeom prst="rect">
            <a:avLst/>
          </a:prstGeom>
          <a:noFill/>
          <a:ln/>
        </p:spPr>
        <p:txBody>
          <a:bodyPr wrap="square" lIns="0" tIns="0" rIns="0" bIns="0" rtlCol="0" anchor="t"/>
          <a:lstStyle/>
          <a:p>
            <a:pPr marL="0" indent="0">
              <a:lnSpc>
                <a:spcPct val="125000"/>
              </a:lnSpc>
              <a:buNone/>
            </a:pPr>
            <a:r>
              <a:rPr lang="en-US" sz="1200" dirty="0">
                <a:solidFill>
                  <a:srgbClr val="D6E7F6"/>
                </a:solidFill>
                <a:latin typeface="Segoe UI" pitchFamily="34" charset="0"/>
                <a:ea typeface="Segoe UI" pitchFamily="34" charset="-122"/>
                <a:cs typeface="Segoe UI" pitchFamily="34" charset="-120"/>
              </a:rPr>
              <a:t>Fundamentals, deployment, connectivity, configuration,</a:t>
            </a:r>
            <a:endParaRPr lang="en-US" sz="1200" dirty="0"/>
          </a:p>
          <a:p>
            <a:pPr marL="0" indent="0">
              <a:lnSpc>
                <a:spcPct val="125000"/>
              </a:lnSpc>
              <a:buNone/>
            </a:pPr>
            <a:r>
              <a:rPr lang="en-US" sz="1200" dirty="0">
                <a:solidFill>
                  <a:srgbClr val="D6E7F6"/>
                </a:solidFill>
                <a:latin typeface="Segoe UI" pitchFamily="34" charset="0"/>
                <a:ea typeface="Segoe UI" pitchFamily="34" charset="-122"/>
                <a:cs typeface="Segoe UI" pitchFamily="34" charset="-120"/>
              </a:rPr>
              <a:t>storage and application health on managed Kubernetes</a:t>
            </a:r>
            <a:endParaRPr lang="en-US" sz="1200" dirty="0"/>
          </a:p>
        </p:txBody>
      </p:sp>
      <p:sp>
        <p:nvSpPr>
          <p:cNvPr id="10" name="divider">
            <a:extLst>
              <a:ext uri="{FF2B5EF4-FFF2-40B4-BE49-F238E27FC236}">
                <a16:creationId xmlns:a16="http://schemas.microsoft.com/office/drawing/2014/main" id="{E0AC4AA4-86FD-8B7A-A7D4-921C6FDDBFBC}"/>
              </a:ext>
              <a:ext uri="{C183D7F6-B498-43B3-948B-1728B52AA6E4}">
                <adec:decorative xmlns:adec="http://schemas.microsoft.com/office/drawing/2017/decorative" val="1"/>
              </a:ext>
            </a:extLst>
          </p:cNvPr>
          <p:cNvSpPr/>
          <p:nvPr/>
        </p:nvSpPr>
        <p:spPr>
          <a:xfrm>
            <a:off x="640080" y="3886200"/>
            <a:ext cx="4206240" cy="18288"/>
          </a:xfrm>
          <a:prstGeom prst="rect">
            <a:avLst/>
          </a:prstGeom>
          <a:solidFill>
            <a:srgbClr val="FFFFFF">
              <a:alpha val="45000"/>
            </a:srgbClr>
          </a:solidFill>
          <a:ln w="12700">
            <a:solidFill>
              <a:srgbClr val="333333"/>
            </a:solidFill>
            <a:prstDash val="solid"/>
          </a:ln>
        </p:spPr>
        <p:txBody>
          <a:bodyPr/>
          <a:lstStyle/>
          <a:p>
            <a:endParaRPr lang="en-IN"/>
          </a:p>
        </p:txBody>
      </p:sp>
    </p:spTree>
    <p:extLst>
      <p:ext uri="{BB962C8B-B14F-4D97-AF65-F5344CB8AC3E}">
        <p14:creationId xmlns:p14="http://schemas.microsoft.com/office/powerpoint/2010/main" val="12821561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Agenda</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section panel">
            <a:extLst>
              <a:ext uri="{C183D7F6-B498-43B3-948B-1728B52AA6E4}">
                <adec:decorative xmlns:adec="http://schemas.microsoft.com/office/drawing/2017/decorative" val="1"/>
              </a:ext>
            </a:extLst>
          </p:cNvPr>
          <p:cNvSpPr/>
          <p:nvPr/>
        </p:nvSpPr>
        <p:spPr>
          <a:xfrm>
            <a:off x="502920" y="1234440"/>
            <a:ext cx="3977640" cy="3291840"/>
          </a:xfrm>
          <a:prstGeom prst="rect">
            <a:avLst/>
          </a:prstGeom>
          <a:solidFill>
            <a:srgbClr val="F6F9FD"/>
          </a:solidFill>
          <a:ln w="9525">
            <a:solidFill>
              <a:srgbClr val="D8E5F2"/>
            </a:solidFill>
            <a:prstDash val="solid"/>
          </a:ln>
        </p:spPr>
        <p:txBody>
          <a:bodyPr/>
          <a:lstStyle/>
          <a:p>
            <a:endParaRPr lang="en-IN"/>
          </a:p>
        </p:txBody>
      </p:sp>
      <p:sp>
        <p:nvSpPr>
          <p:cNvPr id="7" name="section header">
            <a:extLst>
              <a:ext uri="{C183D7F6-B498-43B3-948B-1728B52AA6E4}">
                <adec:decorative xmlns:adec="http://schemas.microsoft.com/office/drawing/2017/decorative" val="1"/>
              </a:ext>
            </a:extLst>
          </p:cNvPr>
          <p:cNvSpPr/>
          <p:nvPr/>
        </p:nvSpPr>
        <p:spPr>
          <a:xfrm>
            <a:off x="502920" y="1234440"/>
            <a:ext cx="3977640" cy="457200"/>
          </a:xfrm>
          <a:prstGeom prst="rect">
            <a:avLst/>
          </a:prstGeom>
          <a:solidFill>
            <a:srgbClr val="0B63CE"/>
          </a:solidFill>
          <a:ln w="12700">
            <a:solidFill>
              <a:srgbClr val="333333"/>
            </a:solidFill>
            <a:prstDash val="solid"/>
          </a:ln>
        </p:spPr>
        <p:txBody>
          <a:bodyPr/>
          <a:lstStyle/>
          <a:p>
            <a:endParaRPr lang="en-IN"/>
          </a:p>
        </p:txBody>
      </p:sp>
      <p:sp>
        <p:nvSpPr>
          <p:cNvPr id="8" name="Text 6"/>
          <p:cNvSpPr/>
          <p:nvPr/>
        </p:nvSpPr>
        <p:spPr>
          <a:xfrm>
            <a:off x="685800" y="1234440"/>
            <a:ext cx="3657600" cy="457200"/>
          </a:xfrm>
          <a:prstGeom prst="rect">
            <a:avLst/>
          </a:prstGeom>
          <a:noFill/>
          <a:ln/>
        </p:spPr>
        <p:txBody>
          <a:bodyPr wrap="square" lIns="0" tIns="0" rIns="0" bIns="0" rtlCol="0" anchor="ctr"/>
          <a:lstStyle/>
          <a:p>
            <a:pPr marL="0" indent="0">
              <a:buNone/>
            </a:pPr>
            <a:r>
              <a:rPr lang="en-US" sz="950" b="1">
                <a:solidFill>
                  <a:srgbClr val="FFFFFF"/>
                </a:solidFill>
                <a:latin typeface="Segoe UI" pitchFamily="34" charset="0"/>
                <a:ea typeface="Segoe UI" pitchFamily="34" charset="-122"/>
                <a:cs typeface="Segoe UI" pitchFamily="34" charset="-120"/>
              </a:rPr>
              <a:t>SECTION 2  ·  Application Operations and Security</a:t>
            </a:r>
            <a:endParaRPr lang="en-US" sz="1050"/>
          </a:p>
        </p:txBody>
      </p:sp>
      <p:sp>
        <p:nvSpPr>
          <p:cNvPr id="9" name="Text 7"/>
          <p:cNvSpPr/>
          <p:nvPr/>
        </p:nvSpPr>
        <p:spPr>
          <a:xfrm>
            <a:off x="731520" y="1847088"/>
            <a:ext cx="1005840" cy="219456"/>
          </a:xfrm>
          <a:prstGeom prst="rect">
            <a:avLst/>
          </a:prstGeom>
          <a:noFill/>
          <a:ln/>
        </p:spPr>
        <p:txBody>
          <a:bodyPr wrap="square" lIns="0" tIns="0" rIns="0" bIns="0" rtlCol="0" anchor="ctr"/>
          <a:lstStyle/>
          <a:p>
            <a:pPr marL="0" indent="0">
              <a:buNone/>
            </a:pPr>
            <a:r>
              <a:rPr lang="en-US" sz="900" b="1" kern="0" spc="100">
                <a:solidFill>
                  <a:srgbClr val="0B63CE"/>
                </a:solidFill>
                <a:latin typeface="Segoe UI" pitchFamily="34" charset="0"/>
                <a:ea typeface="Segoe UI" pitchFamily="34" charset="-122"/>
                <a:cs typeface="Segoe UI" pitchFamily="34" charset="-120"/>
              </a:rPr>
              <a:t>MODULE 7</a:t>
            </a:r>
            <a:endParaRPr lang="en-US" sz="900"/>
          </a:p>
        </p:txBody>
      </p:sp>
      <p:sp>
        <p:nvSpPr>
          <p:cNvPr id="10" name="Text 8"/>
          <p:cNvSpPr/>
          <p:nvPr/>
        </p:nvSpPr>
        <p:spPr>
          <a:xfrm>
            <a:off x="731520" y="2048256"/>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Namespace and Resource Management</a:t>
            </a:r>
            <a:endParaRPr lang="en-US" sz="1200"/>
          </a:p>
        </p:txBody>
      </p:sp>
      <p:sp>
        <p:nvSpPr>
          <p:cNvPr id="11" name="Text 9"/>
          <p:cNvSpPr/>
          <p:nvPr/>
        </p:nvSpPr>
        <p:spPr>
          <a:xfrm>
            <a:off x="731520" y="2505456"/>
            <a:ext cx="1005840" cy="219456"/>
          </a:xfrm>
          <a:prstGeom prst="rect">
            <a:avLst/>
          </a:prstGeom>
          <a:noFill/>
          <a:ln/>
        </p:spPr>
        <p:txBody>
          <a:bodyPr wrap="square" lIns="0" tIns="0" rIns="0" bIns="0" rtlCol="0" anchor="ctr"/>
          <a:lstStyle/>
          <a:p>
            <a:pPr marL="0" indent="0">
              <a:buNone/>
            </a:pPr>
            <a:r>
              <a:rPr lang="en-US" sz="900" b="1" kern="0" spc="100">
                <a:solidFill>
                  <a:srgbClr val="0B63CE"/>
                </a:solidFill>
                <a:latin typeface="Segoe UI" pitchFamily="34" charset="0"/>
                <a:ea typeface="Segoe UI" pitchFamily="34" charset="-122"/>
                <a:cs typeface="Segoe UI" pitchFamily="34" charset="-120"/>
              </a:rPr>
              <a:t>MODULE 8</a:t>
            </a:r>
            <a:endParaRPr lang="en-US" sz="900"/>
          </a:p>
        </p:txBody>
      </p:sp>
      <p:sp>
        <p:nvSpPr>
          <p:cNvPr id="12" name="Text 10"/>
          <p:cNvSpPr/>
          <p:nvPr/>
        </p:nvSpPr>
        <p:spPr>
          <a:xfrm>
            <a:off x="731520" y="2706624"/>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Security for Application Teams</a:t>
            </a:r>
            <a:endParaRPr lang="en-US" sz="1200"/>
          </a:p>
        </p:txBody>
      </p:sp>
      <p:sp>
        <p:nvSpPr>
          <p:cNvPr id="13" name="Text 11"/>
          <p:cNvSpPr/>
          <p:nvPr/>
        </p:nvSpPr>
        <p:spPr>
          <a:xfrm>
            <a:off x="731520" y="3163824"/>
            <a:ext cx="1005840" cy="219456"/>
          </a:xfrm>
          <a:prstGeom prst="rect">
            <a:avLst/>
          </a:prstGeom>
          <a:noFill/>
          <a:ln/>
        </p:spPr>
        <p:txBody>
          <a:bodyPr wrap="square" lIns="0" tIns="0" rIns="0" bIns="0" rtlCol="0" anchor="ctr"/>
          <a:lstStyle/>
          <a:p>
            <a:pPr marL="0" indent="0">
              <a:buNone/>
            </a:pPr>
            <a:r>
              <a:rPr lang="en-US" sz="900" b="1" kern="0" spc="100">
                <a:solidFill>
                  <a:srgbClr val="0B63CE"/>
                </a:solidFill>
                <a:latin typeface="Segoe UI" pitchFamily="34" charset="0"/>
                <a:ea typeface="Segoe UI" pitchFamily="34" charset="-122"/>
                <a:cs typeface="Segoe UI" pitchFamily="34" charset="-120"/>
              </a:rPr>
              <a:t>RECAP</a:t>
            </a:r>
            <a:endParaRPr lang="en-US" sz="900"/>
          </a:p>
        </p:txBody>
      </p:sp>
      <p:sp>
        <p:nvSpPr>
          <p:cNvPr id="14" name="Text 12"/>
          <p:cNvSpPr/>
          <p:nvPr/>
        </p:nvSpPr>
        <p:spPr>
          <a:xfrm>
            <a:off x="731520" y="3364992"/>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Day 1 — Modules 1 to 6 in brief</a:t>
            </a:r>
            <a:endParaRPr lang="en-US" sz="1200"/>
          </a:p>
        </p:txBody>
      </p:sp>
      <p:sp>
        <p:nvSpPr>
          <p:cNvPr id="15" name="Text 13"/>
          <p:cNvSpPr/>
          <p:nvPr/>
        </p:nvSpPr>
        <p:spPr>
          <a:xfrm>
            <a:off x="731520" y="3822192"/>
            <a:ext cx="1005840" cy="219456"/>
          </a:xfrm>
          <a:prstGeom prst="rect">
            <a:avLst/>
          </a:prstGeom>
          <a:noFill/>
          <a:ln/>
        </p:spPr>
        <p:txBody>
          <a:bodyPr wrap="square" lIns="0" tIns="0" rIns="0" bIns="0" rtlCol="0" anchor="ctr"/>
          <a:lstStyle/>
          <a:p>
            <a:pPr marL="0" indent="0">
              <a:buNone/>
            </a:pPr>
            <a:r>
              <a:rPr lang="en-US" sz="900" b="1" kern="0" spc="100">
                <a:solidFill>
                  <a:srgbClr val="0B63CE"/>
                </a:solidFill>
                <a:latin typeface="Segoe UI" pitchFamily="34" charset="0"/>
                <a:ea typeface="Segoe UI" pitchFamily="34" charset="-122"/>
                <a:cs typeface="Segoe UI" pitchFamily="34" charset="-120"/>
              </a:rPr>
              <a:t>HANDS-ON</a:t>
            </a:r>
            <a:endParaRPr lang="en-US" sz="900"/>
          </a:p>
        </p:txBody>
      </p:sp>
      <p:sp>
        <p:nvSpPr>
          <p:cNvPr id="16" name="Text 14"/>
          <p:cNvSpPr/>
          <p:nvPr/>
        </p:nvSpPr>
        <p:spPr>
          <a:xfrm>
            <a:off x="731520" y="4023360"/>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Namespace, quota and RBAC exercises</a:t>
            </a:r>
            <a:endParaRPr lang="en-US" sz="1200"/>
          </a:p>
        </p:txBody>
      </p:sp>
      <p:sp>
        <p:nvSpPr>
          <p:cNvPr id="17" name="section panel">
            <a:extLst>
              <a:ext uri="{C183D7F6-B498-43B3-948B-1728B52AA6E4}">
                <adec:decorative xmlns:adec="http://schemas.microsoft.com/office/drawing/2017/decorative" val="1"/>
              </a:ext>
            </a:extLst>
          </p:cNvPr>
          <p:cNvSpPr/>
          <p:nvPr/>
        </p:nvSpPr>
        <p:spPr>
          <a:xfrm>
            <a:off x="4663440" y="1234440"/>
            <a:ext cx="3977640" cy="3291840"/>
          </a:xfrm>
          <a:prstGeom prst="rect">
            <a:avLst/>
          </a:prstGeom>
          <a:solidFill>
            <a:srgbClr val="F6F9FD"/>
          </a:solidFill>
          <a:ln w="9525">
            <a:solidFill>
              <a:srgbClr val="D8E5F2"/>
            </a:solidFill>
            <a:prstDash val="solid"/>
          </a:ln>
        </p:spPr>
        <p:txBody>
          <a:bodyPr/>
          <a:lstStyle/>
          <a:p>
            <a:endParaRPr lang="en-IN"/>
          </a:p>
        </p:txBody>
      </p:sp>
      <p:sp>
        <p:nvSpPr>
          <p:cNvPr id="18" name="section header">
            <a:extLst>
              <a:ext uri="{C183D7F6-B498-43B3-948B-1728B52AA6E4}">
                <adec:decorative xmlns:adec="http://schemas.microsoft.com/office/drawing/2017/decorative" val="1"/>
              </a:ext>
            </a:extLst>
          </p:cNvPr>
          <p:cNvSpPr/>
          <p:nvPr/>
        </p:nvSpPr>
        <p:spPr>
          <a:xfrm>
            <a:off x="4663440" y="1234440"/>
            <a:ext cx="3977640" cy="457200"/>
          </a:xfrm>
          <a:prstGeom prst="rect">
            <a:avLst/>
          </a:prstGeom>
          <a:solidFill>
            <a:srgbClr val="0A2E4E"/>
          </a:solidFill>
          <a:ln w="12700">
            <a:solidFill>
              <a:srgbClr val="333333"/>
            </a:solidFill>
            <a:prstDash val="solid"/>
          </a:ln>
        </p:spPr>
        <p:txBody>
          <a:bodyPr/>
          <a:lstStyle/>
          <a:p>
            <a:endParaRPr lang="en-IN"/>
          </a:p>
        </p:txBody>
      </p:sp>
      <p:sp>
        <p:nvSpPr>
          <p:cNvPr id="19" name="Text 17"/>
          <p:cNvSpPr/>
          <p:nvPr/>
        </p:nvSpPr>
        <p:spPr>
          <a:xfrm>
            <a:off x="4846320" y="1234440"/>
            <a:ext cx="3657600" cy="457200"/>
          </a:xfrm>
          <a:prstGeom prst="rect">
            <a:avLst/>
          </a:prstGeom>
          <a:noFill/>
          <a:ln/>
        </p:spPr>
        <p:txBody>
          <a:bodyPr wrap="square" lIns="0" tIns="0" rIns="0" bIns="0" rtlCol="0" anchor="ctr"/>
          <a:lstStyle/>
          <a:p>
            <a:pPr marL="0" indent="0">
              <a:buNone/>
            </a:pPr>
            <a:r>
              <a:rPr lang="en-US" sz="850" b="1">
                <a:solidFill>
                  <a:srgbClr val="FFFFFF"/>
                </a:solidFill>
                <a:latin typeface="Segoe UI" pitchFamily="34" charset="0"/>
                <a:ea typeface="Segoe UI" pitchFamily="34" charset="-122"/>
                <a:cs typeface="Segoe UI" pitchFamily="34" charset="-120"/>
              </a:rPr>
              <a:t>SECTION 3  ·  CI/CD, Observability and Production Readiness</a:t>
            </a:r>
            <a:endParaRPr lang="en-US" sz="1050"/>
          </a:p>
        </p:txBody>
      </p:sp>
      <p:sp>
        <p:nvSpPr>
          <p:cNvPr id="20" name="Text 18"/>
          <p:cNvSpPr/>
          <p:nvPr/>
        </p:nvSpPr>
        <p:spPr>
          <a:xfrm>
            <a:off x="4892040" y="1847088"/>
            <a:ext cx="1005840" cy="219456"/>
          </a:xfrm>
          <a:prstGeom prst="rect">
            <a:avLst/>
          </a:prstGeom>
          <a:noFill/>
          <a:ln/>
        </p:spPr>
        <p:txBody>
          <a:bodyPr wrap="square" lIns="0" tIns="0" rIns="0" bIns="0" rtlCol="0" anchor="ctr"/>
          <a:lstStyle/>
          <a:p>
            <a:pPr marL="0" indent="0">
              <a:buNone/>
            </a:pPr>
            <a:r>
              <a:rPr lang="en-US" sz="900" b="1" kern="0" spc="100">
                <a:solidFill>
                  <a:srgbClr val="17A9DB"/>
                </a:solidFill>
                <a:latin typeface="Segoe UI" pitchFamily="34" charset="0"/>
                <a:ea typeface="Segoe UI" pitchFamily="34" charset="-122"/>
                <a:cs typeface="Segoe UI" pitchFamily="34" charset="-120"/>
              </a:rPr>
              <a:t>MODULE 9</a:t>
            </a:r>
            <a:endParaRPr lang="en-US" sz="900"/>
          </a:p>
        </p:txBody>
      </p:sp>
      <p:sp>
        <p:nvSpPr>
          <p:cNvPr id="21" name="Text 19"/>
          <p:cNvSpPr/>
          <p:nvPr/>
        </p:nvSpPr>
        <p:spPr>
          <a:xfrm>
            <a:off x="4892040" y="2048256"/>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Container Readiness and Deployment Decisions</a:t>
            </a:r>
            <a:endParaRPr lang="en-US" sz="1200"/>
          </a:p>
        </p:txBody>
      </p:sp>
      <p:sp>
        <p:nvSpPr>
          <p:cNvPr id="22" name="Text 20"/>
          <p:cNvSpPr/>
          <p:nvPr/>
        </p:nvSpPr>
        <p:spPr>
          <a:xfrm>
            <a:off x="4892040" y="2505456"/>
            <a:ext cx="1005840" cy="219456"/>
          </a:xfrm>
          <a:prstGeom prst="rect">
            <a:avLst/>
          </a:prstGeom>
          <a:noFill/>
          <a:ln/>
        </p:spPr>
        <p:txBody>
          <a:bodyPr wrap="square" lIns="0" tIns="0" rIns="0" bIns="0" rtlCol="0" anchor="ctr"/>
          <a:lstStyle/>
          <a:p>
            <a:pPr marL="0" indent="0">
              <a:buNone/>
            </a:pPr>
            <a:r>
              <a:rPr lang="en-US" sz="900" b="1" kern="0" spc="100">
                <a:solidFill>
                  <a:srgbClr val="17A9DB"/>
                </a:solidFill>
                <a:latin typeface="Segoe UI" pitchFamily="34" charset="0"/>
                <a:ea typeface="Segoe UI" pitchFamily="34" charset="-122"/>
                <a:cs typeface="Segoe UI" pitchFamily="34" charset="-120"/>
              </a:rPr>
              <a:t>MODULE 10</a:t>
            </a:r>
            <a:endParaRPr lang="en-US" sz="900"/>
          </a:p>
        </p:txBody>
      </p:sp>
      <p:sp>
        <p:nvSpPr>
          <p:cNvPr id="23" name="Text 21"/>
          <p:cNvSpPr/>
          <p:nvPr/>
        </p:nvSpPr>
        <p:spPr>
          <a:xfrm>
            <a:off x="4892040" y="2706624"/>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Ingress and Traffic Management</a:t>
            </a:r>
            <a:endParaRPr lang="en-US" sz="1200"/>
          </a:p>
        </p:txBody>
      </p:sp>
      <p:sp>
        <p:nvSpPr>
          <p:cNvPr id="24" name="Text 22"/>
          <p:cNvSpPr/>
          <p:nvPr/>
        </p:nvSpPr>
        <p:spPr>
          <a:xfrm>
            <a:off x="4892040" y="3163824"/>
            <a:ext cx="1005840" cy="219456"/>
          </a:xfrm>
          <a:prstGeom prst="rect">
            <a:avLst/>
          </a:prstGeom>
          <a:noFill/>
          <a:ln/>
        </p:spPr>
        <p:txBody>
          <a:bodyPr wrap="square" lIns="0" tIns="0" rIns="0" bIns="0" rtlCol="0" anchor="ctr"/>
          <a:lstStyle/>
          <a:p>
            <a:pPr marL="0" indent="0">
              <a:buNone/>
            </a:pPr>
            <a:r>
              <a:rPr lang="en-US" sz="900" b="1" kern="0" spc="100">
                <a:solidFill>
                  <a:srgbClr val="17A9DB"/>
                </a:solidFill>
                <a:latin typeface="Segoe UI" pitchFamily="34" charset="0"/>
                <a:ea typeface="Segoe UI" pitchFamily="34" charset="-122"/>
                <a:cs typeface="Segoe UI" pitchFamily="34" charset="-120"/>
              </a:rPr>
              <a:t>MODULE 11</a:t>
            </a:r>
            <a:endParaRPr lang="en-US" sz="900"/>
          </a:p>
        </p:txBody>
      </p:sp>
      <p:sp>
        <p:nvSpPr>
          <p:cNvPr id="26" name="Text 23"/>
          <p:cNvSpPr/>
          <p:nvPr/>
        </p:nvSpPr>
        <p:spPr>
          <a:xfrm>
            <a:off x="4892040" y="3364992"/>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Monitoring and Troubleshooting Applications</a:t>
            </a:r>
            <a:endParaRPr lang="en-US" sz="1200"/>
          </a:p>
        </p:txBody>
      </p:sp>
      <p:sp>
        <p:nvSpPr>
          <p:cNvPr id="27" name="Text 24"/>
          <p:cNvSpPr/>
          <p:nvPr/>
        </p:nvSpPr>
        <p:spPr>
          <a:xfrm>
            <a:off x="4892040" y="3822192"/>
            <a:ext cx="1005840" cy="219456"/>
          </a:xfrm>
          <a:prstGeom prst="rect">
            <a:avLst/>
          </a:prstGeom>
          <a:noFill/>
          <a:ln/>
        </p:spPr>
        <p:txBody>
          <a:bodyPr wrap="square" lIns="0" tIns="0" rIns="0" bIns="0" rtlCol="0" anchor="ctr"/>
          <a:lstStyle/>
          <a:p>
            <a:pPr marL="0" indent="0">
              <a:buNone/>
            </a:pPr>
            <a:r>
              <a:rPr lang="en-US" sz="900" b="1" kern="0" spc="100">
                <a:solidFill>
                  <a:srgbClr val="17A9DB"/>
                </a:solidFill>
                <a:latin typeface="Segoe UI" pitchFamily="34" charset="0"/>
                <a:ea typeface="Segoe UI" pitchFamily="34" charset="-122"/>
                <a:cs typeface="Segoe UI" pitchFamily="34" charset="-120"/>
              </a:rPr>
              <a:t>MODULE 12</a:t>
            </a:r>
            <a:endParaRPr lang="en-US" sz="900"/>
          </a:p>
        </p:txBody>
      </p:sp>
      <p:sp>
        <p:nvSpPr>
          <p:cNvPr id="28" name="Text 25"/>
          <p:cNvSpPr/>
          <p:nvPr/>
        </p:nvSpPr>
        <p:spPr>
          <a:xfrm>
            <a:off x="4892040" y="4023360"/>
            <a:ext cx="3520440" cy="36576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CI/CD for AKS Applications</a:t>
            </a:r>
            <a:endParaRPr lang="en-US" sz="12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background">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A2E4E"/>
          </a:solidFill>
          <a:ln w="12700">
            <a:solidFill>
              <a:srgbClr val="333333"/>
            </a:solidFill>
            <a:prstDash val="solid"/>
          </a:ln>
        </p:spPr>
        <p:txBody>
          <a:bodyPr/>
          <a:lstStyle/>
          <a:p>
            <a:endParaRPr lang="en-IN"/>
          </a:p>
        </p:txBody>
      </p:sp>
      <p:pic>
        <p:nvPicPr>
          <p:cNvPr id="3" name="Image 0" descr="Abstract technical illustration supporting the section theme"/>
          <p:cNvPicPr>
            <a:picLocks noChangeAspect="1"/>
          </p:cNvPicPr>
          <p:nvPr/>
        </p:nvPicPr>
        <p:blipFill>
          <a:blip r:embed="rId3">
            <a:alphaModFix amt="80000"/>
          </a:blip>
          <a:srcRect l="24987" r="24987"/>
          <a:stretch/>
        </p:blipFill>
        <p:spPr>
          <a:xfrm>
            <a:off x="4572000" y="0"/>
            <a:ext cx="4572000" cy="5143500"/>
          </a:xfrm>
          <a:prstGeom prst="rect">
            <a:avLst/>
          </a:prstGeom>
        </p:spPr>
      </p:pic>
      <p:sp>
        <p:nvSpPr>
          <p:cNvPr id="4" name="gradient blend">
            <a:extLst>
              <a:ext uri="{C183D7F6-B498-43B3-948B-1728B52AA6E4}">
                <adec:decorative xmlns:adec="http://schemas.microsoft.com/office/drawing/2017/decorative" val="1"/>
              </a:ext>
            </a:extLst>
          </p:cNvPr>
          <p:cNvSpPr/>
          <p:nvPr/>
        </p:nvSpPr>
        <p:spPr>
          <a:xfrm>
            <a:off x="4160520" y="0"/>
            <a:ext cx="420624" cy="5143500"/>
          </a:xfrm>
          <a:prstGeom prst="rect">
            <a:avLst/>
          </a:prstGeom>
          <a:solidFill>
            <a:srgbClr val="0A2E4E">
              <a:alpha val="55000"/>
            </a:srgbClr>
          </a:solidFill>
          <a:ln w="12700">
            <a:solidFill>
              <a:srgbClr val="333333"/>
            </a:solidFill>
            <a:prstDash val="solid"/>
          </a:ln>
        </p:spPr>
        <p:txBody>
          <a:bodyPr/>
          <a:lstStyle/>
          <a:p>
            <a:endParaRPr lang="en-IN"/>
          </a:p>
        </p:txBody>
      </p:sp>
      <p:sp>
        <p:nvSpPr>
          <p:cNvPr id="5" name="Text 2"/>
          <p:cNvSpPr/>
          <p:nvPr/>
        </p:nvSpPr>
        <p:spPr>
          <a:xfrm>
            <a:off x="640080" y="1600200"/>
            <a:ext cx="3657600" cy="228600"/>
          </a:xfrm>
          <a:prstGeom prst="rect">
            <a:avLst/>
          </a:prstGeom>
          <a:noFill/>
          <a:ln/>
        </p:spPr>
        <p:txBody>
          <a:bodyPr wrap="square" lIns="0" tIns="0" rIns="0" bIns="0" rtlCol="0" anchor="ctr"/>
          <a:lstStyle/>
          <a:p>
            <a:pPr marL="0" indent="0">
              <a:buNone/>
            </a:pPr>
            <a:r>
              <a:rPr lang="en-US" sz="1050" b="1" kern="0" spc="200">
                <a:solidFill>
                  <a:srgbClr val="17A9DB"/>
                </a:solidFill>
                <a:latin typeface="Segoe UI" pitchFamily="34" charset="0"/>
                <a:ea typeface="Segoe UI" pitchFamily="34" charset="-122"/>
                <a:cs typeface="Segoe UI" pitchFamily="34" charset="-120"/>
              </a:rPr>
              <a:t>SECTION 2</a:t>
            </a:r>
            <a:endParaRPr lang="en-US" sz="1050"/>
          </a:p>
        </p:txBody>
      </p:sp>
      <p:sp>
        <p:nvSpPr>
          <p:cNvPr id="6" name="Text 3"/>
          <p:cNvSpPr/>
          <p:nvPr/>
        </p:nvSpPr>
        <p:spPr>
          <a:xfrm>
            <a:off x="640080" y="1874520"/>
            <a:ext cx="3749040" cy="1005840"/>
          </a:xfrm>
          <a:prstGeom prst="rect">
            <a:avLst/>
          </a:prstGeom>
          <a:noFill/>
          <a:ln/>
        </p:spPr>
        <p:txBody>
          <a:bodyPr wrap="square" lIns="0" tIns="0" rIns="0" bIns="0" rtlCol="0" anchor="t"/>
          <a:lstStyle/>
          <a:p>
            <a:pPr marL="0" indent="0">
              <a:lnSpc>
                <a:spcPct val="98000"/>
              </a:lnSpc>
              <a:buNone/>
            </a:pPr>
            <a:r>
              <a:rPr lang="en-US" sz="2100" b="1">
                <a:solidFill>
                  <a:srgbClr val="FFFFFF"/>
                </a:solidFill>
                <a:latin typeface="Segoe UI" pitchFamily="34" charset="0"/>
                <a:ea typeface="Segoe UI" pitchFamily="34" charset="-122"/>
                <a:cs typeface="Segoe UI" pitchFamily="34" charset="-120"/>
              </a:rPr>
              <a:t>Application Operations and Security on AKS</a:t>
            </a:r>
            <a:endParaRPr lang="en-US" sz="2100"/>
          </a:p>
        </p:txBody>
      </p:sp>
      <p:sp>
        <p:nvSpPr>
          <p:cNvPr id="7" name="rule">
            <a:extLst>
              <a:ext uri="{C183D7F6-B498-43B3-948B-1728B52AA6E4}">
                <adec:decorative xmlns:adec="http://schemas.microsoft.com/office/drawing/2017/decorative" val="1"/>
              </a:ext>
            </a:extLst>
          </p:cNvPr>
          <p:cNvSpPr/>
          <p:nvPr/>
        </p:nvSpPr>
        <p:spPr>
          <a:xfrm>
            <a:off x="640080" y="3017520"/>
            <a:ext cx="640080" cy="32004"/>
          </a:xfrm>
          <a:prstGeom prst="rect">
            <a:avLst/>
          </a:prstGeom>
          <a:solidFill>
            <a:srgbClr val="17A9DB"/>
          </a:solidFill>
          <a:ln w="12700">
            <a:solidFill>
              <a:srgbClr val="333333"/>
            </a:solidFill>
            <a:prstDash val="solid"/>
          </a:ln>
        </p:spPr>
        <p:txBody>
          <a:bodyPr/>
          <a:lstStyle/>
          <a:p>
            <a:endParaRPr lang="en-IN"/>
          </a:p>
        </p:txBody>
      </p:sp>
      <p:sp>
        <p:nvSpPr>
          <p:cNvPr id="8" name="Text 5"/>
          <p:cNvSpPr/>
          <p:nvPr/>
        </p:nvSpPr>
        <p:spPr>
          <a:xfrm>
            <a:off x="640080" y="3200400"/>
            <a:ext cx="3566160" cy="914400"/>
          </a:xfrm>
          <a:prstGeom prst="rect">
            <a:avLst/>
          </a:prstGeom>
          <a:noFill/>
          <a:ln/>
        </p:spPr>
        <p:txBody>
          <a:bodyPr wrap="square" lIns="0" tIns="0" rIns="0" bIns="0" rtlCol="0" anchor="ctr"/>
          <a:lstStyle/>
          <a:p>
            <a:pPr marL="0" indent="0">
              <a:lnSpc>
                <a:spcPct val="125000"/>
              </a:lnSpc>
              <a:buNone/>
            </a:pPr>
            <a:r>
              <a:rPr lang="en-US" sz="1200">
                <a:solidFill>
                  <a:srgbClr val="C7DAEC"/>
                </a:solidFill>
                <a:latin typeface="Segoe UI" pitchFamily="34" charset="0"/>
                <a:ea typeface="Segoe UI" pitchFamily="34" charset="-122"/>
                <a:cs typeface="Segoe UI" pitchFamily="34" charset="-120"/>
              </a:rPr>
              <a:t>Giving every application team a predictable, safe share of the cluster — namespaces, quotas, identity and secrets.</a:t>
            </a:r>
            <a:endParaRPr lang="en-US" sz="1200"/>
          </a:p>
        </p:txBody>
      </p:sp>
      <p:sp>
        <p:nvSpPr>
          <p:cNvPr id="9" name="Text 6"/>
          <p:cNvSpPr/>
          <p:nvPr/>
        </p:nvSpPr>
        <p:spPr>
          <a:xfrm>
            <a:off x="640080" y="4160520"/>
            <a:ext cx="2743200" cy="274320"/>
          </a:xfrm>
          <a:prstGeom prst="rect">
            <a:avLst/>
          </a:prstGeom>
          <a:noFill/>
          <a:ln/>
        </p:spPr>
        <p:txBody>
          <a:bodyPr wrap="square" lIns="0" tIns="0" rIns="0" bIns="0" rtlCol="0" anchor="ctr"/>
          <a:lstStyle/>
          <a:p>
            <a:pPr marL="0" indent="0">
              <a:buNone/>
            </a:pPr>
            <a:r>
              <a:rPr lang="en-US" sz="1100" b="1">
                <a:solidFill>
                  <a:srgbClr val="17A9DB"/>
                </a:solidFill>
                <a:latin typeface="Segoe UI" pitchFamily="34" charset="0"/>
                <a:ea typeface="Segoe UI" pitchFamily="34" charset="-122"/>
                <a:cs typeface="Segoe UI" pitchFamily="34" charset="-120"/>
              </a:rPr>
              <a:t>Modules 7 – 8</a:t>
            </a:r>
            <a:endParaRPr lang="en-US" sz="11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7 · NAMESPACE AND RESOURCE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200" b="1">
                <a:solidFill>
                  <a:srgbClr val="0E2233"/>
                </a:solidFill>
                <a:latin typeface="Segoe UI" pitchFamily="34" charset="0"/>
                <a:ea typeface="Segoe UI" pitchFamily="34" charset="-122"/>
                <a:cs typeface="Segoe UI" pitchFamily="34" charset="-120"/>
              </a:rPr>
              <a:t>Namespace strategy</a:t>
            </a:r>
            <a:endParaRPr lang="en-US" sz="22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00">
                <a:solidFill>
                  <a:srgbClr val="44566B"/>
                </a:solidFill>
                <a:latin typeface="Segoe UI" pitchFamily="34" charset="0"/>
                <a:ea typeface="Segoe UI" pitchFamily="34" charset="-122"/>
                <a:cs typeface="Segoe UI" pitchFamily="34" charset="-120"/>
              </a:rPr>
              <a:t>A namespace is how you divide one cluster into named, manageable slices for teams and environments.</a:t>
            </a:r>
            <a:endParaRPr lang="en-US" sz="1000"/>
          </a:p>
        </p:txBody>
      </p:sp>
      <p:sp>
        <p:nvSpPr>
          <p:cNvPr id="100" name="card">
            <a:extLst>
              <a:ext uri="{C183D7F6-B498-43B3-948B-1728B52AA6E4}">
                <adec:decorative xmlns:adec="http://schemas.microsoft.com/office/drawing/2017/decorative" val="1"/>
              </a:ext>
            </a:extLst>
          </p:cNvPr>
          <p:cNvSpPr/>
          <p:nvPr/>
        </p:nvSpPr>
        <p:spPr>
          <a:xfrm>
            <a:off x="502920" y="1417320"/>
            <a:ext cx="3968496" cy="833120"/>
          </a:xfrm>
          <a:prstGeom prst="rect">
            <a:avLst/>
          </a:prstGeom>
          <a:solidFill>
            <a:srgbClr val="F6F9FD"/>
          </a:solidFill>
          <a:ln w="9525">
            <a:solidFill>
              <a:srgbClr val="D8E5F2"/>
            </a:solidFill>
            <a:prstDash val="solid"/>
          </a:ln>
        </p:spPr>
        <p:txBody>
          <a:bodyPr/>
          <a:lstStyle/>
          <a:p>
            <a:endParaRPr lang="en-IN"/>
          </a:p>
        </p:txBody>
      </p:sp>
      <p:sp>
        <p:nvSpPr>
          <p:cNvPr id="101" name="card accent">
            <a:extLst>
              <a:ext uri="{C183D7F6-B498-43B3-948B-1728B52AA6E4}">
                <adec:decorative xmlns:adec="http://schemas.microsoft.com/office/drawing/2017/decorative" val="1"/>
              </a:ext>
            </a:extLst>
          </p:cNvPr>
          <p:cNvSpPr/>
          <p:nvPr/>
        </p:nvSpPr>
        <p:spPr>
          <a:xfrm>
            <a:off x="502920" y="1417320"/>
            <a:ext cx="3968496" cy="41148"/>
          </a:xfrm>
          <a:prstGeom prst="rect">
            <a:avLst/>
          </a:prstGeom>
          <a:solidFill>
            <a:srgbClr val="0B63CE"/>
          </a:solidFill>
          <a:ln w="12700">
            <a:solidFill>
              <a:srgbClr val="333333"/>
            </a:solidFill>
            <a:prstDash val="solid"/>
          </a:ln>
        </p:spPr>
        <p:txBody>
          <a:bodyPr/>
          <a:lstStyle/>
          <a:p>
            <a:endParaRPr lang="en-IN"/>
          </a:p>
        </p:txBody>
      </p:sp>
      <p:sp>
        <p:nvSpPr>
          <p:cNvPr id="102" name="Text eyebrow 1"/>
          <p:cNvSpPr/>
          <p:nvPr/>
        </p:nvSpPr>
        <p:spPr>
          <a:xfrm>
            <a:off x="704088" y="1527048"/>
            <a:ext cx="3566160" cy="166000"/>
          </a:xfrm>
          <a:prstGeom prst="rect">
            <a:avLst/>
          </a:prstGeom>
          <a:noFill/>
          <a:ln/>
        </p:spPr>
        <p:txBody>
          <a:bodyPr wrap="square" lIns="0" tIns="0" rIns="0" bIns="0" rtlCol="0" anchor="ctr"/>
          <a:lstStyle/>
          <a:p>
            <a:pPr marL="0" indent="0">
              <a:buNone/>
            </a:pPr>
            <a:r>
              <a:rPr lang="en-US" sz="800" b="1" kern="0" spc="120">
                <a:solidFill>
                  <a:srgbClr val="0B63CE"/>
                </a:solidFill>
                <a:latin typeface="Segoe UI" pitchFamily="34" charset="0"/>
                <a:ea typeface="Segoe UI" pitchFamily="34" charset="-122"/>
                <a:cs typeface="Segoe UI" pitchFamily="34" charset="-120"/>
              </a:rPr>
              <a:t>BOUNDARY</a:t>
            </a:r>
            <a:endParaRPr lang="en-US" sz="800"/>
          </a:p>
        </p:txBody>
      </p:sp>
      <p:sp>
        <p:nvSpPr>
          <p:cNvPr id="103" name="Text heading 1"/>
          <p:cNvSpPr/>
          <p:nvPr/>
        </p:nvSpPr>
        <p:spPr>
          <a:xfrm>
            <a:off x="704088" y="1700784"/>
            <a:ext cx="3566160" cy="205740"/>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A logical partition, not a wall</a:t>
            </a:r>
            <a:endParaRPr lang="en-US" sz="1150"/>
          </a:p>
        </p:txBody>
      </p:sp>
      <p:sp>
        <p:nvSpPr>
          <p:cNvPr id="104" name="Text body 1"/>
          <p:cNvSpPr/>
          <p:nvPr/>
        </p:nvSpPr>
        <p:spPr>
          <a:xfrm>
            <a:off x="704088" y="1897380"/>
            <a:ext cx="3566160" cy="320000"/>
          </a:xfrm>
          <a:prstGeom prst="rect">
            <a:avLst/>
          </a:prstGeom>
          <a:noFill/>
          <a:ln/>
        </p:spPr>
        <p:txBody>
          <a:bodyPr wrap="square" lIns="0" tIns="0" rIns="0" bIns="0" rtlCol="0" anchor="t"/>
          <a:lstStyle/>
          <a:p>
            <a:pPr marL="0" indent="0">
              <a:lnSpc>
                <a:spcPct val="110000"/>
              </a:lnSpc>
              <a:buNone/>
            </a:pPr>
            <a:r>
              <a:rPr lang="en-US" sz="750">
                <a:solidFill>
                  <a:srgbClr val="44566B"/>
                </a:solidFill>
                <a:latin typeface="Segoe UI" pitchFamily="34" charset="0"/>
                <a:ea typeface="Segoe UI" pitchFamily="34" charset="-122"/>
                <a:cs typeface="Segoe UI" pitchFamily="34" charset="-120"/>
              </a:rPr>
              <a:t>A namespace groups Deployments, Services, ConfigMaps and Secrets under one name. On its own it stops nothing — you add RBAC, quotas and network policy to make it a real boundary.</a:t>
            </a:r>
            <a:endParaRPr lang="en-US" sz="750"/>
          </a:p>
        </p:txBody>
      </p:sp>
      <p:sp>
        <p:nvSpPr>
          <p:cNvPr id="105" name="card">
            <a:extLst>
              <a:ext uri="{C183D7F6-B498-43B3-948B-1728B52AA6E4}">
                <adec:decorative xmlns:adec="http://schemas.microsoft.com/office/drawing/2017/decorative" val="1"/>
              </a:ext>
            </a:extLst>
          </p:cNvPr>
          <p:cNvSpPr/>
          <p:nvPr/>
        </p:nvSpPr>
        <p:spPr>
          <a:xfrm>
            <a:off x="4672584" y="1417320"/>
            <a:ext cx="3968496" cy="833120"/>
          </a:xfrm>
          <a:prstGeom prst="rect">
            <a:avLst/>
          </a:prstGeom>
          <a:solidFill>
            <a:srgbClr val="F6F9FD"/>
          </a:solidFill>
          <a:ln w="9525">
            <a:solidFill>
              <a:srgbClr val="D8E5F2"/>
            </a:solidFill>
            <a:prstDash val="solid"/>
          </a:ln>
        </p:spPr>
        <p:txBody>
          <a:bodyPr/>
          <a:lstStyle/>
          <a:p>
            <a:endParaRPr lang="en-IN"/>
          </a:p>
        </p:txBody>
      </p:sp>
      <p:sp>
        <p:nvSpPr>
          <p:cNvPr id="106" name="card accent">
            <a:extLst>
              <a:ext uri="{C183D7F6-B498-43B3-948B-1728B52AA6E4}">
                <adec:decorative xmlns:adec="http://schemas.microsoft.com/office/drawing/2017/decorative" val="1"/>
              </a:ext>
            </a:extLst>
          </p:cNvPr>
          <p:cNvSpPr/>
          <p:nvPr/>
        </p:nvSpPr>
        <p:spPr>
          <a:xfrm>
            <a:off x="4672584" y="1417320"/>
            <a:ext cx="3968496" cy="41148"/>
          </a:xfrm>
          <a:prstGeom prst="rect">
            <a:avLst/>
          </a:prstGeom>
          <a:solidFill>
            <a:srgbClr val="17A9DB"/>
          </a:solidFill>
          <a:ln w="12700">
            <a:solidFill>
              <a:srgbClr val="333333"/>
            </a:solidFill>
            <a:prstDash val="solid"/>
          </a:ln>
        </p:spPr>
        <p:txBody>
          <a:bodyPr/>
          <a:lstStyle/>
          <a:p>
            <a:endParaRPr lang="en-IN"/>
          </a:p>
        </p:txBody>
      </p:sp>
      <p:sp>
        <p:nvSpPr>
          <p:cNvPr id="107" name="Text eyebrow 2"/>
          <p:cNvSpPr/>
          <p:nvPr/>
        </p:nvSpPr>
        <p:spPr>
          <a:xfrm>
            <a:off x="4873752" y="1527048"/>
            <a:ext cx="3566160" cy="166000"/>
          </a:xfrm>
          <a:prstGeom prst="rect">
            <a:avLst/>
          </a:prstGeom>
          <a:noFill/>
          <a:ln/>
        </p:spPr>
        <p:txBody>
          <a:bodyPr wrap="square" lIns="0" tIns="0" rIns="0" bIns="0" rtlCol="0" anchor="ctr"/>
          <a:lstStyle/>
          <a:p>
            <a:pPr marL="0" indent="0">
              <a:buNone/>
            </a:pPr>
            <a:r>
              <a:rPr lang="en-US" sz="800" b="1" kern="0" spc="120">
                <a:solidFill>
                  <a:srgbClr val="17A9DB"/>
                </a:solidFill>
                <a:latin typeface="Segoe UI" pitchFamily="34" charset="0"/>
                <a:ea typeface="Segoe UI" pitchFamily="34" charset="-122"/>
                <a:cs typeface="Segoe UI" pitchFamily="34" charset="-120"/>
              </a:rPr>
              <a:t>NAMING</a:t>
            </a:r>
            <a:endParaRPr lang="en-US" sz="800"/>
          </a:p>
        </p:txBody>
      </p:sp>
      <p:sp>
        <p:nvSpPr>
          <p:cNvPr id="108" name="Text heading 2"/>
          <p:cNvSpPr/>
          <p:nvPr/>
        </p:nvSpPr>
        <p:spPr>
          <a:xfrm>
            <a:off x="4873752" y="1700784"/>
            <a:ext cx="3566160" cy="205740"/>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Agree a convention early</a:t>
            </a:r>
            <a:endParaRPr lang="en-US" sz="1150"/>
          </a:p>
        </p:txBody>
      </p:sp>
      <p:sp>
        <p:nvSpPr>
          <p:cNvPr id="109" name="Text body 2"/>
          <p:cNvSpPr/>
          <p:nvPr/>
        </p:nvSpPr>
        <p:spPr>
          <a:xfrm>
            <a:off x="4873752" y="1897380"/>
            <a:ext cx="3566160" cy="320000"/>
          </a:xfrm>
          <a:prstGeom prst="rect">
            <a:avLst/>
          </a:prstGeom>
          <a:noFill/>
          <a:ln/>
        </p:spPr>
        <p:txBody>
          <a:bodyPr wrap="square" lIns="0" tIns="0" rIns="0" bIns="0" rtlCol="0" anchor="t"/>
          <a:lstStyle/>
          <a:p>
            <a:pPr marL="0" indent="0">
              <a:lnSpc>
                <a:spcPct val="110000"/>
              </a:lnSpc>
              <a:buNone/>
            </a:pPr>
            <a:r>
              <a:rPr lang="en-US" sz="750">
                <a:solidFill>
                  <a:srgbClr val="44566B"/>
                </a:solidFill>
                <a:latin typeface="Segoe UI" pitchFamily="34" charset="0"/>
                <a:ea typeface="Segoe UI" pitchFamily="34" charset="-122"/>
                <a:cs typeface="Segoe UI" pitchFamily="34" charset="-120"/>
              </a:rPr>
              <a:t>Something predictable such as team-app-environment, for example payments-api-dev. Automation, quotas and access rules are all keyed off the name, so renaming later is expensive.</a:t>
            </a:r>
            <a:endParaRPr lang="en-US" sz="750"/>
          </a:p>
        </p:txBody>
      </p:sp>
      <p:sp>
        <p:nvSpPr>
          <p:cNvPr id="110" name="card">
            <a:extLst>
              <a:ext uri="{C183D7F6-B498-43B3-948B-1728B52AA6E4}">
                <adec:decorative xmlns:adec="http://schemas.microsoft.com/office/drawing/2017/decorative" val="1"/>
              </a:ext>
            </a:extLst>
          </p:cNvPr>
          <p:cNvSpPr/>
          <p:nvPr/>
        </p:nvSpPr>
        <p:spPr>
          <a:xfrm>
            <a:off x="502920" y="2372360"/>
            <a:ext cx="3968496" cy="833120"/>
          </a:xfrm>
          <a:prstGeom prst="rect">
            <a:avLst/>
          </a:prstGeom>
          <a:solidFill>
            <a:srgbClr val="F6F9FD"/>
          </a:solidFill>
          <a:ln w="9525">
            <a:solidFill>
              <a:srgbClr val="D8E5F2"/>
            </a:solidFill>
            <a:prstDash val="solid"/>
          </a:ln>
        </p:spPr>
        <p:txBody>
          <a:bodyPr/>
          <a:lstStyle/>
          <a:p>
            <a:endParaRPr lang="en-IN"/>
          </a:p>
        </p:txBody>
      </p:sp>
      <p:sp>
        <p:nvSpPr>
          <p:cNvPr id="111" name="card accent">
            <a:extLst>
              <a:ext uri="{C183D7F6-B498-43B3-948B-1728B52AA6E4}">
                <adec:decorative xmlns:adec="http://schemas.microsoft.com/office/drawing/2017/decorative" val="1"/>
              </a:ext>
            </a:extLst>
          </p:cNvPr>
          <p:cNvSpPr/>
          <p:nvPr/>
        </p:nvSpPr>
        <p:spPr>
          <a:xfrm>
            <a:off x="502920" y="2372360"/>
            <a:ext cx="3968496" cy="41148"/>
          </a:xfrm>
          <a:prstGeom prst="rect">
            <a:avLst/>
          </a:prstGeom>
          <a:solidFill>
            <a:srgbClr val="0B63CE"/>
          </a:solidFill>
          <a:ln w="12700">
            <a:solidFill>
              <a:srgbClr val="333333"/>
            </a:solidFill>
            <a:prstDash val="solid"/>
          </a:ln>
        </p:spPr>
        <p:txBody>
          <a:bodyPr/>
          <a:lstStyle/>
          <a:p>
            <a:endParaRPr lang="en-IN"/>
          </a:p>
        </p:txBody>
      </p:sp>
      <p:sp>
        <p:nvSpPr>
          <p:cNvPr id="112" name="Text eyebrow 3"/>
          <p:cNvSpPr/>
          <p:nvPr/>
        </p:nvSpPr>
        <p:spPr>
          <a:xfrm>
            <a:off x="704088" y="2482088"/>
            <a:ext cx="3566160" cy="166000"/>
          </a:xfrm>
          <a:prstGeom prst="rect">
            <a:avLst/>
          </a:prstGeom>
          <a:noFill/>
          <a:ln/>
        </p:spPr>
        <p:txBody>
          <a:bodyPr wrap="square" lIns="0" tIns="0" rIns="0" bIns="0" rtlCol="0" anchor="ctr"/>
          <a:lstStyle/>
          <a:p>
            <a:pPr marL="0" indent="0">
              <a:buNone/>
            </a:pPr>
            <a:r>
              <a:rPr lang="en-US" sz="800" b="1" kern="0" spc="120">
                <a:solidFill>
                  <a:srgbClr val="0B63CE"/>
                </a:solidFill>
                <a:latin typeface="Segoe UI" pitchFamily="34" charset="0"/>
                <a:ea typeface="Segoe UI" pitchFamily="34" charset="-122"/>
                <a:cs typeface="Segoe UI" pitchFamily="34" charset="-120"/>
              </a:rPr>
              <a:t>PER TEAM</a:t>
            </a:r>
            <a:endParaRPr lang="en-US" sz="800"/>
          </a:p>
        </p:txBody>
      </p:sp>
      <p:sp>
        <p:nvSpPr>
          <p:cNvPr id="113" name="Text heading 3"/>
          <p:cNvSpPr/>
          <p:nvPr/>
        </p:nvSpPr>
        <p:spPr>
          <a:xfrm>
            <a:off x="704088" y="2655824"/>
            <a:ext cx="3566160" cy="205740"/>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One namespace per application team</a:t>
            </a:r>
            <a:endParaRPr lang="en-US" sz="1150"/>
          </a:p>
        </p:txBody>
      </p:sp>
      <p:sp>
        <p:nvSpPr>
          <p:cNvPr id="114" name="Text body 3"/>
          <p:cNvSpPr/>
          <p:nvPr/>
        </p:nvSpPr>
        <p:spPr>
          <a:xfrm>
            <a:off x="704088" y="2852420"/>
            <a:ext cx="3566160" cy="320000"/>
          </a:xfrm>
          <a:prstGeom prst="rect">
            <a:avLst/>
          </a:prstGeom>
          <a:noFill/>
          <a:ln/>
        </p:spPr>
        <p:txBody>
          <a:bodyPr wrap="square" lIns="0" tIns="0" rIns="0" bIns="0" rtlCol="0" anchor="t"/>
          <a:lstStyle/>
          <a:p>
            <a:pPr marL="0" indent="0">
              <a:lnSpc>
                <a:spcPct val="110000"/>
              </a:lnSpc>
              <a:buNone/>
            </a:pPr>
            <a:r>
              <a:rPr lang="en-US" sz="750">
                <a:solidFill>
                  <a:srgbClr val="44566B"/>
                </a:solidFill>
                <a:latin typeface="Segoe UI" pitchFamily="34" charset="0"/>
                <a:ea typeface="Segoe UI" pitchFamily="34" charset="-122"/>
                <a:cs typeface="Segoe UI" pitchFamily="34" charset="-120"/>
              </a:rPr>
              <a:t>Ownership becomes obvious, permissions stay small, and one team’s mistake cannot delete another team’s workloads.</a:t>
            </a:r>
            <a:endParaRPr lang="en-US" sz="750"/>
          </a:p>
        </p:txBody>
      </p:sp>
      <p:sp>
        <p:nvSpPr>
          <p:cNvPr id="115" name="card">
            <a:extLst>
              <a:ext uri="{C183D7F6-B498-43B3-948B-1728B52AA6E4}">
                <adec:decorative xmlns:adec="http://schemas.microsoft.com/office/drawing/2017/decorative" val="1"/>
              </a:ext>
            </a:extLst>
          </p:cNvPr>
          <p:cNvSpPr/>
          <p:nvPr/>
        </p:nvSpPr>
        <p:spPr>
          <a:xfrm>
            <a:off x="4672584" y="2372360"/>
            <a:ext cx="3968496" cy="833120"/>
          </a:xfrm>
          <a:prstGeom prst="rect">
            <a:avLst/>
          </a:prstGeom>
          <a:solidFill>
            <a:srgbClr val="F6F9FD"/>
          </a:solidFill>
          <a:ln w="9525">
            <a:solidFill>
              <a:srgbClr val="D8E5F2"/>
            </a:solidFill>
            <a:prstDash val="solid"/>
          </a:ln>
        </p:spPr>
        <p:txBody>
          <a:bodyPr/>
          <a:lstStyle/>
          <a:p>
            <a:endParaRPr lang="en-IN"/>
          </a:p>
        </p:txBody>
      </p:sp>
      <p:sp>
        <p:nvSpPr>
          <p:cNvPr id="116" name="card accent">
            <a:extLst>
              <a:ext uri="{C183D7F6-B498-43B3-948B-1728B52AA6E4}">
                <adec:decorative xmlns:adec="http://schemas.microsoft.com/office/drawing/2017/decorative" val="1"/>
              </a:ext>
            </a:extLst>
          </p:cNvPr>
          <p:cNvSpPr/>
          <p:nvPr/>
        </p:nvSpPr>
        <p:spPr>
          <a:xfrm>
            <a:off x="4672584" y="2372360"/>
            <a:ext cx="3968496" cy="41148"/>
          </a:xfrm>
          <a:prstGeom prst="rect">
            <a:avLst/>
          </a:prstGeom>
          <a:solidFill>
            <a:srgbClr val="17A9DB"/>
          </a:solidFill>
          <a:ln w="12700">
            <a:solidFill>
              <a:srgbClr val="333333"/>
            </a:solidFill>
            <a:prstDash val="solid"/>
          </a:ln>
        </p:spPr>
        <p:txBody>
          <a:bodyPr/>
          <a:lstStyle/>
          <a:p>
            <a:endParaRPr lang="en-IN"/>
          </a:p>
        </p:txBody>
      </p:sp>
      <p:sp>
        <p:nvSpPr>
          <p:cNvPr id="117" name="Text eyebrow 4"/>
          <p:cNvSpPr/>
          <p:nvPr/>
        </p:nvSpPr>
        <p:spPr>
          <a:xfrm>
            <a:off x="4873752" y="2482088"/>
            <a:ext cx="3566160" cy="166000"/>
          </a:xfrm>
          <a:prstGeom prst="rect">
            <a:avLst/>
          </a:prstGeom>
          <a:noFill/>
          <a:ln/>
        </p:spPr>
        <p:txBody>
          <a:bodyPr wrap="square" lIns="0" tIns="0" rIns="0" bIns="0" rtlCol="0" anchor="ctr"/>
          <a:lstStyle/>
          <a:p>
            <a:pPr marL="0" indent="0">
              <a:buNone/>
            </a:pPr>
            <a:r>
              <a:rPr lang="en-US" sz="800" b="1" kern="0" spc="120">
                <a:solidFill>
                  <a:srgbClr val="17A9DB"/>
                </a:solidFill>
                <a:latin typeface="Segoe UI" pitchFamily="34" charset="0"/>
                <a:ea typeface="Segoe UI" pitchFamily="34" charset="-122"/>
                <a:cs typeface="Segoe UI" pitchFamily="34" charset="-120"/>
              </a:rPr>
              <a:t>PER ENVIRONMENT</a:t>
            </a:r>
            <a:endParaRPr lang="en-US" sz="800"/>
          </a:p>
        </p:txBody>
      </p:sp>
      <p:sp>
        <p:nvSpPr>
          <p:cNvPr id="118" name="Text heading 4"/>
          <p:cNvSpPr/>
          <p:nvPr/>
        </p:nvSpPr>
        <p:spPr>
          <a:xfrm>
            <a:off x="4873752" y="2655824"/>
            <a:ext cx="3566160" cy="205740"/>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Keep dev, test and production apart</a:t>
            </a:r>
            <a:endParaRPr lang="en-US" sz="1150"/>
          </a:p>
        </p:txBody>
      </p:sp>
      <p:sp>
        <p:nvSpPr>
          <p:cNvPr id="119" name="Text body 4"/>
          <p:cNvSpPr/>
          <p:nvPr/>
        </p:nvSpPr>
        <p:spPr>
          <a:xfrm>
            <a:off x="4873752" y="2852420"/>
            <a:ext cx="3566160" cy="320000"/>
          </a:xfrm>
          <a:prstGeom prst="rect">
            <a:avLst/>
          </a:prstGeom>
          <a:noFill/>
          <a:ln/>
        </p:spPr>
        <p:txBody>
          <a:bodyPr wrap="square" lIns="0" tIns="0" rIns="0" bIns="0" rtlCol="0" anchor="t"/>
          <a:lstStyle/>
          <a:p>
            <a:pPr marL="0" indent="0">
              <a:lnSpc>
                <a:spcPct val="110000"/>
              </a:lnSpc>
              <a:buNone/>
            </a:pPr>
            <a:r>
              <a:rPr lang="en-US" sz="750">
                <a:solidFill>
                  <a:srgbClr val="44566B"/>
                </a:solidFill>
                <a:latin typeface="Segoe UI" pitchFamily="34" charset="0"/>
                <a:ea typeface="Segoe UI" pitchFamily="34" charset="-122"/>
                <a:cs typeface="Segoe UI" pitchFamily="34" charset="-120"/>
              </a:rPr>
              <a:t>Separate clusters are the safest split for production. Where a cluster is shared, give each environment its own namespace, quota and access list.</a:t>
            </a:r>
            <a:endParaRPr lang="en-US" sz="750"/>
          </a:p>
        </p:txBody>
      </p:sp>
      <p:sp>
        <p:nvSpPr>
          <p:cNvPr id="120" name="card">
            <a:extLst>
              <a:ext uri="{C183D7F6-B498-43B3-948B-1728B52AA6E4}">
                <adec:decorative xmlns:adec="http://schemas.microsoft.com/office/drawing/2017/decorative" val="1"/>
              </a:ext>
            </a:extLst>
          </p:cNvPr>
          <p:cNvSpPr/>
          <p:nvPr/>
        </p:nvSpPr>
        <p:spPr>
          <a:xfrm>
            <a:off x="502920" y="3327400"/>
            <a:ext cx="3968496" cy="833120"/>
          </a:xfrm>
          <a:prstGeom prst="rect">
            <a:avLst/>
          </a:prstGeom>
          <a:solidFill>
            <a:srgbClr val="F6F9FD"/>
          </a:solidFill>
          <a:ln w="9525">
            <a:solidFill>
              <a:srgbClr val="D8E5F2"/>
            </a:solidFill>
            <a:prstDash val="solid"/>
          </a:ln>
        </p:spPr>
        <p:txBody>
          <a:bodyPr/>
          <a:lstStyle/>
          <a:p>
            <a:endParaRPr lang="en-IN"/>
          </a:p>
        </p:txBody>
      </p:sp>
      <p:sp>
        <p:nvSpPr>
          <p:cNvPr id="121" name="card accent">
            <a:extLst>
              <a:ext uri="{C183D7F6-B498-43B3-948B-1728B52AA6E4}">
                <adec:decorative xmlns:adec="http://schemas.microsoft.com/office/drawing/2017/decorative" val="1"/>
              </a:ext>
            </a:extLst>
          </p:cNvPr>
          <p:cNvSpPr/>
          <p:nvPr/>
        </p:nvSpPr>
        <p:spPr>
          <a:xfrm>
            <a:off x="502920" y="3327400"/>
            <a:ext cx="3968496" cy="41148"/>
          </a:xfrm>
          <a:prstGeom prst="rect">
            <a:avLst/>
          </a:prstGeom>
          <a:solidFill>
            <a:srgbClr val="0B63CE"/>
          </a:solidFill>
          <a:ln w="12700">
            <a:solidFill>
              <a:srgbClr val="333333"/>
            </a:solidFill>
            <a:prstDash val="solid"/>
          </a:ln>
        </p:spPr>
        <p:txBody>
          <a:bodyPr/>
          <a:lstStyle/>
          <a:p>
            <a:endParaRPr lang="en-IN"/>
          </a:p>
        </p:txBody>
      </p:sp>
      <p:sp>
        <p:nvSpPr>
          <p:cNvPr id="122" name="Text eyebrow 5"/>
          <p:cNvSpPr/>
          <p:nvPr/>
        </p:nvSpPr>
        <p:spPr>
          <a:xfrm>
            <a:off x="704088" y="3437128"/>
            <a:ext cx="3566160" cy="166000"/>
          </a:xfrm>
          <a:prstGeom prst="rect">
            <a:avLst/>
          </a:prstGeom>
          <a:noFill/>
          <a:ln/>
        </p:spPr>
        <p:txBody>
          <a:bodyPr wrap="square" lIns="0" tIns="0" rIns="0" bIns="0" rtlCol="0" anchor="ctr"/>
          <a:lstStyle/>
          <a:p>
            <a:pPr marL="0" indent="0">
              <a:buNone/>
            </a:pPr>
            <a:r>
              <a:rPr lang="en-US" sz="800" b="1" kern="0" spc="120">
                <a:solidFill>
                  <a:srgbClr val="0B63CE"/>
                </a:solidFill>
                <a:latin typeface="Segoe UI" pitchFamily="34" charset="0"/>
                <a:ea typeface="Segoe UI" pitchFamily="34" charset="-122"/>
                <a:cs typeface="Segoe UI" pitchFamily="34" charset="-120"/>
              </a:rPr>
              <a:t>SCOPE</a:t>
            </a:r>
            <a:endParaRPr lang="en-US" sz="800"/>
          </a:p>
        </p:txBody>
      </p:sp>
      <p:sp>
        <p:nvSpPr>
          <p:cNvPr id="123" name="Text heading 5"/>
          <p:cNvSpPr/>
          <p:nvPr/>
        </p:nvSpPr>
        <p:spPr>
          <a:xfrm>
            <a:off x="704088" y="3610864"/>
            <a:ext cx="3566160" cy="205740"/>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Not everything is namespaced</a:t>
            </a:r>
            <a:endParaRPr lang="en-US" sz="1150"/>
          </a:p>
        </p:txBody>
      </p:sp>
      <p:sp>
        <p:nvSpPr>
          <p:cNvPr id="124" name="Text body 5"/>
          <p:cNvSpPr/>
          <p:nvPr/>
        </p:nvSpPr>
        <p:spPr>
          <a:xfrm>
            <a:off x="704088" y="3807460"/>
            <a:ext cx="3566160" cy="320000"/>
          </a:xfrm>
          <a:prstGeom prst="rect">
            <a:avLst/>
          </a:prstGeom>
          <a:noFill/>
          <a:ln/>
        </p:spPr>
        <p:txBody>
          <a:bodyPr wrap="square" lIns="0" tIns="0" rIns="0" bIns="0" rtlCol="0" anchor="t"/>
          <a:lstStyle/>
          <a:p>
            <a:pPr marL="0" indent="0">
              <a:lnSpc>
                <a:spcPct val="110000"/>
              </a:lnSpc>
              <a:buNone/>
            </a:pPr>
            <a:r>
              <a:rPr lang="en-US" sz="750">
                <a:solidFill>
                  <a:srgbClr val="44566B"/>
                </a:solidFill>
                <a:latin typeface="Segoe UI" pitchFamily="34" charset="0"/>
                <a:ea typeface="Segoe UI" pitchFamily="34" charset="-122"/>
                <a:cs typeface="Segoe UI" pitchFamily="34" charset="-120"/>
              </a:rPr>
              <a:t>Nodes, PersistentVolumes, StorageClasses and ClusterRoles are cluster-wide. Run kubectl api-resources --namespaced=false to see what sits outside your slice.</a:t>
            </a:r>
            <a:endParaRPr lang="en-US" sz="750"/>
          </a:p>
        </p:txBody>
      </p:sp>
      <p:sp>
        <p:nvSpPr>
          <p:cNvPr id="125" name="card">
            <a:extLst>
              <a:ext uri="{C183D7F6-B498-43B3-948B-1728B52AA6E4}">
                <adec:decorative xmlns:adec="http://schemas.microsoft.com/office/drawing/2017/decorative" val="1"/>
              </a:ext>
            </a:extLst>
          </p:cNvPr>
          <p:cNvSpPr/>
          <p:nvPr/>
        </p:nvSpPr>
        <p:spPr>
          <a:xfrm>
            <a:off x="4672584" y="3327400"/>
            <a:ext cx="3968496" cy="833120"/>
          </a:xfrm>
          <a:prstGeom prst="rect">
            <a:avLst/>
          </a:prstGeom>
          <a:solidFill>
            <a:srgbClr val="F6F9FD"/>
          </a:solidFill>
          <a:ln w="9525">
            <a:solidFill>
              <a:srgbClr val="D8E5F2"/>
            </a:solidFill>
            <a:prstDash val="solid"/>
          </a:ln>
        </p:spPr>
        <p:txBody>
          <a:bodyPr/>
          <a:lstStyle/>
          <a:p>
            <a:endParaRPr lang="en-IN"/>
          </a:p>
        </p:txBody>
      </p:sp>
      <p:sp>
        <p:nvSpPr>
          <p:cNvPr id="126" name="card accent">
            <a:extLst>
              <a:ext uri="{C183D7F6-B498-43B3-948B-1728B52AA6E4}">
                <adec:decorative xmlns:adec="http://schemas.microsoft.com/office/drawing/2017/decorative" val="1"/>
              </a:ext>
            </a:extLst>
          </p:cNvPr>
          <p:cNvSpPr/>
          <p:nvPr/>
        </p:nvSpPr>
        <p:spPr>
          <a:xfrm>
            <a:off x="4672584" y="3327400"/>
            <a:ext cx="3968496" cy="41148"/>
          </a:xfrm>
          <a:prstGeom prst="rect">
            <a:avLst/>
          </a:prstGeom>
          <a:solidFill>
            <a:srgbClr val="17A9DB"/>
          </a:solidFill>
          <a:ln w="12700">
            <a:solidFill>
              <a:srgbClr val="333333"/>
            </a:solidFill>
            <a:prstDash val="solid"/>
          </a:ln>
        </p:spPr>
        <p:txBody>
          <a:bodyPr/>
          <a:lstStyle/>
          <a:p>
            <a:endParaRPr lang="en-IN"/>
          </a:p>
        </p:txBody>
      </p:sp>
      <p:sp>
        <p:nvSpPr>
          <p:cNvPr id="127" name="Text eyebrow 6"/>
          <p:cNvSpPr/>
          <p:nvPr/>
        </p:nvSpPr>
        <p:spPr>
          <a:xfrm>
            <a:off x="4873752" y="3437128"/>
            <a:ext cx="3566160" cy="166000"/>
          </a:xfrm>
          <a:prstGeom prst="rect">
            <a:avLst/>
          </a:prstGeom>
          <a:noFill/>
          <a:ln/>
        </p:spPr>
        <p:txBody>
          <a:bodyPr wrap="square" lIns="0" tIns="0" rIns="0" bIns="0" rtlCol="0" anchor="ctr"/>
          <a:lstStyle/>
          <a:p>
            <a:pPr marL="0" indent="0">
              <a:buNone/>
            </a:pPr>
            <a:r>
              <a:rPr lang="en-US" sz="800" b="1" kern="0" spc="120">
                <a:solidFill>
                  <a:srgbClr val="17A9DB"/>
                </a:solidFill>
                <a:latin typeface="Segoe UI" pitchFamily="34" charset="0"/>
                <a:ea typeface="Segoe UI" pitchFamily="34" charset="-122"/>
                <a:cs typeface="Segoe UI" pitchFamily="34" charset="-120"/>
              </a:rPr>
              <a:t>DEFAULTS</a:t>
            </a:r>
            <a:endParaRPr lang="en-US" sz="800"/>
          </a:p>
        </p:txBody>
      </p:sp>
      <p:sp>
        <p:nvSpPr>
          <p:cNvPr id="128" name="Text heading 6"/>
          <p:cNvSpPr/>
          <p:nvPr/>
        </p:nvSpPr>
        <p:spPr>
          <a:xfrm>
            <a:off x="4873752" y="3610864"/>
            <a:ext cx="3566160" cy="205740"/>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Never ship to default</a:t>
            </a:r>
            <a:endParaRPr lang="en-US" sz="1150"/>
          </a:p>
        </p:txBody>
      </p:sp>
      <p:sp>
        <p:nvSpPr>
          <p:cNvPr id="129" name="Text body 6"/>
          <p:cNvSpPr/>
          <p:nvPr/>
        </p:nvSpPr>
        <p:spPr>
          <a:xfrm>
            <a:off x="4873752" y="3807460"/>
            <a:ext cx="3566160" cy="320000"/>
          </a:xfrm>
          <a:prstGeom prst="rect">
            <a:avLst/>
          </a:prstGeom>
          <a:noFill/>
          <a:ln/>
        </p:spPr>
        <p:txBody>
          <a:bodyPr wrap="square" lIns="0" tIns="0" rIns="0" bIns="0" rtlCol="0" anchor="t"/>
          <a:lstStyle/>
          <a:p>
            <a:pPr marL="0" indent="0">
              <a:lnSpc>
                <a:spcPct val="110000"/>
              </a:lnSpc>
              <a:buNone/>
            </a:pPr>
            <a:r>
              <a:rPr lang="en-US" sz="750">
                <a:solidFill>
                  <a:srgbClr val="44566B"/>
                </a:solidFill>
                <a:latin typeface="Segoe UI" pitchFamily="34" charset="0"/>
                <a:ea typeface="Segoe UI" pitchFamily="34" charset="-122"/>
                <a:cs typeface="Segoe UI" pitchFamily="34" charset="-120"/>
              </a:rPr>
              <a:t>Set your working namespace with kubectl config set-context --current --namespace=payments-dev so a forgotten flag cannot deploy to the wrong place.</a:t>
            </a:r>
            <a:endParaRPr lang="en-US" sz="750"/>
          </a:p>
        </p:txBody>
      </p:sp>
      <p:sp>
        <p:nvSpPr>
          <p:cNvPr id="27" name="callout band">
            <a:extLst>
              <a:ext uri="{C183D7F6-B498-43B3-948B-1728B52AA6E4}">
                <adec:decorative xmlns:adec="http://schemas.microsoft.com/office/drawing/2017/decorative" val="1"/>
              </a:ext>
            </a:extLst>
          </p:cNvPr>
          <p:cNvSpPr/>
          <p:nvPr/>
        </p:nvSpPr>
        <p:spPr>
          <a:xfrm>
            <a:off x="502920" y="4297680"/>
            <a:ext cx="8138160" cy="411480"/>
          </a:xfrm>
          <a:prstGeom prst="rect">
            <a:avLst/>
          </a:prstGeom>
          <a:solidFill>
            <a:srgbClr val="EDF4FC"/>
          </a:solidFill>
          <a:ln w="12700">
            <a:solidFill>
              <a:srgbClr val="333333"/>
            </a:solidFill>
            <a:prstDash val="solid"/>
          </a:ln>
        </p:spPr>
        <p:txBody>
          <a:bodyPr/>
          <a:lstStyle/>
          <a:p>
            <a:endParaRPr lang="en-IN"/>
          </a:p>
        </p:txBody>
      </p:sp>
      <p:sp>
        <p:nvSpPr>
          <p:cNvPr id="28" name="callout accent">
            <a:extLst>
              <a:ext uri="{C183D7F6-B498-43B3-948B-1728B52AA6E4}">
                <adec:decorative xmlns:adec="http://schemas.microsoft.com/office/drawing/2017/decorative" val="1"/>
              </a:ext>
            </a:extLst>
          </p:cNvPr>
          <p:cNvSpPr/>
          <p:nvPr/>
        </p:nvSpPr>
        <p:spPr>
          <a:xfrm>
            <a:off x="502920" y="4297680"/>
            <a:ext cx="45720" cy="411480"/>
          </a:xfrm>
          <a:prstGeom prst="rect">
            <a:avLst/>
          </a:prstGeom>
          <a:solidFill>
            <a:srgbClr val="F2A93B"/>
          </a:solidFill>
          <a:ln w="12700">
            <a:solidFill>
              <a:srgbClr val="333333"/>
            </a:solidFill>
            <a:prstDash val="solid"/>
          </a:ln>
        </p:spPr>
        <p:txBody>
          <a:bodyPr/>
          <a:lstStyle/>
          <a:p>
            <a:endParaRPr lang="en-IN"/>
          </a:p>
        </p:txBody>
      </p:sp>
      <p:sp>
        <p:nvSpPr>
          <p:cNvPr id="29" name="Text 27"/>
          <p:cNvSpPr/>
          <p:nvPr/>
        </p:nvSpPr>
        <p:spPr>
          <a:xfrm>
            <a:off x="704088" y="4297680"/>
            <a:ext cx="7754112" cy="411480"/>
          </a:xfrm>
          <a:prstGeom prst="rect">
            <a:avLst/>
          </a:prstGeom>
          <a:noFill/>
          <a:ln/>
        </p:spPr>
        <p:txBody>
          <a:bodyPr wrap="square" lIns="0" tIns="0" rIns="0" bIns="0" rtlCol="0" anchor="ctr"/>
          <a:lstStyle/>
          <a:p>
            <a:pPr marL="0" indent="0">
              <a:buNone/>
            </a:pPr>
            <a:r>
              <a:rPr lang="en-US" sz="1000" b="1">
                <a:solidFill>
                  <a:srgbClr val="F2A93B"/>
                </a:solidFill>
                <a:latin typeface="Segoe UI" pitchFamily="34" charset="0"/>
                <a:ea typeface="Segoe UI" pitchFamily="34" charset="-122"/>
                <a:cs typeface="Segoe UI" pitchFamily="34" charset="-120"/>
              </a:rPr>
              <a:t>Rule of thumb   </a:t>
            </a:r>
            <a:r>
              <a:rPr lang="en-US" sz="1050">
                <a:solidFill>
                  <a:srgbClr val="0E2233"/>
                </a:solidFill>
                <a:latin typeface="Segoe UI" pitchFamily="34" charset="0"/>
                <a:ea typeface="Segoe UI" pitchFamily="34" charset="-122"/>
                <a:cs typeface="Segoe UI" pitchFamily="34" charset="-120"/>
              </a:rPr>
              <a:t>A namespace should map to a team that owns a budget and an on-call rota, not to every microservice.</a:t>
            </a:r>
            <a:endParaRPr lang="en-US" sz="100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7 · NAMESPACE AND RESOURCE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Resource requests and limits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975">
                <a:solidFill>
                  <a:srgbClr val="44566B"/>
                </a:solidFill>
                <a:latin typeface="Segoe UI" pitchFamily="34" charset="0"/>
                <a:ea typeface="Segoe UI" pitchFamily="34" charset="-122"/>
                <a:cs typeface="Segoe UI" pitchFamily="34" charset="-120"/>
              </a:rPr>
              <a:t>Requests decide where a Pod is placed. Limits decide how far it may go once it is running.</a:t>
            </a:r>
            <a:endParaRPr lang="en-US" sz="975"/>
          </a:p>
        </p:txBody>
      </p:sp>
      <p:sp>
        <p:nvSpPr>
          <p:cNvPr id="7" name="Text 5"/>
          <p:cNvSpPr/>
          <p:nvPr/>
        </p:nvSpPr>
        <p:spPr>
          <a:xfrm>
            <a:off x="502920" y="1481328"/>
            <a:ext cx="4023360" cy="2194560"/>
          </a:xfrm>
          <a:prstGeom prst="rect">
            <a:avLst/>
          </a:prstGeom>
          <a:noFill/>
          <a:ln/>
        </p:spPr>
        <p:txBody>
          <a:bodyPr wrap="square" lIns="0" tIns="0" rIns="0" bIns="0" rtlCol="0" anchor="t"/>
          <a:lstStyle/>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A request is a reservation — the scheduler only places the Pod on a node that still has that much CPU and memory free</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A limit is a ceiling enforced at runtime by the node, whatever the node has spare</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CPU is compressible: crossing the CPU limit throttles the container, it is not killed</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Memory is not compressible: crossing the memory limit terminates the container with OOMKilled and it restarts</a:t>
            </a:r>
            <a:endParaRPr lang="en-US" sz="1150"/>
          </a:p>
        </p:txBody>
      </p:sp>
      <p:sp>
        <p:nvSpPr>
          <p:cNvPr id="8" name="pod frame">
            <a:extLst>
              <a:ext uri="{C183D7F6-B498-43B3-948B-1728B52AA6E4}">
                <adec:decorative xmlns:adec="http://schemas.microsoft.com/office/drawing/2017/decorative" val="1"/>
              </a:ext>
            </a:extLst>
          </p:cNvPr>
          <p:cNvSpPr/>
          <p:nvPr/>
        </p:nvSpPr>
        <p:spPr>
          <a:xfrm>
            <a:off x="502920" y="3657600"/>
            <a:ext cx="4023360" cy="960120"/>
          </a:xfrm>
          <a:prstGeom prst="rect">
            <a:avLst/>
          </a:prstGeom>
          <a:solidFill>
            <a:srgbClr val="EDF4FC"/>
          </a:solidFill>
          <a:ln w="12700">
            <a:solidFill>
              <a:srgbClr val="17A9DB"/>
            </a:solidFill>
            <a:prstDash val="solid"/>
          </a:ln>
        </p:spPr>
        <p:txBody>
          <a:bodyPr/>
          <a:lstStyle/>
          <a:p>
            <a:endParaRPr lang="en-IN"/>
          </a:p>
        </p:txBody>
      </p:sp>
      <p:sp>
        <p:nvSpPr>
          <p:cNvPr id="9" name="Text 7"/>
          <p:cNvSpPr/>
          <p:nvPr/>
        </p:nvSpPr>
        <p:spPr>
          <a:xfrm>
            <a:off x="630936" y="3712464"/>
            <a:ext cx="2011680" cy="219456"/>
          </a:xfrm>
          <a:prstGeom prst="rect">
            <a:avLst/>
          </a:prstGeom>
          <a:noFill/>
          <a:ln/>
        </p:spPr>
        <p:txBody>
          <a:bodyPr wrap="square" lIns="0" tIns="0" rIns="0" bIns="0" rtlCol="0" anchor="ctr"/>
          <a:lstStyle/>
          <a:p>
            <a:pPr marL="0" indent="0">
              <a:buNone/>
            </a:pPr>
            <a:r>
              <a:rPr lang="en-US" sz="950" b="1">
                <a:solidFill>
                  <a:srgbClr val="0A2E4E"/>
                </a:solidFill>
                <a:latin typeface="Segoe UI" pitchFamily="34" charset="0"/>
                <a:ea typeface="Segoe UI" pitchFamily="34" charset="-122"/>
                <a:cs typeface="Segoe UI" pitchFamily="34" charset="-120"/>
              </a:rPr>
              <a:t>Node — 4 vCPU / 16 GiB allocatable</a:t>
            </a:r>
            <a:endParaRPr lang="en-US" sz="950"/>
          </a:p>
        </p:txBody>
      </p:sp>
      <p:sp>
        <p:nvSpPr>
          <p:cNvPr id="10" name="container box">
            <a:extLst>
              <a:ext uri="{C183D7F6-B498-43B3-948B-1728B52AA6E4}">
                <adec:decorative xmlns:adec="http://schemas.microsoft.com/office/drawing/2017/decorative" val="1"/>
              </a:ext>
            </a:extLst>
          </p:cNvPr>
          <p:cNvSpPr/>
          <p:nvPr/>
        </p:nvSpPr>
        <p:spPr>
          <a:xfrm>
            <a:off x="64922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1" name="Text 9"/>
          <p:cNvSpPr/>
          <p:nvPr/>
        </p:nvSpPr>
        <p:spPr>
          <a:xfrm>
            <a:off x="704088" y="4005072"/>
            <a:ext cx="1719072" cy="219456"/>
          </a:xfrm>
          <a:prstGeom prst="rect">
            <a:avLst/>
          </a:prstGeom>
          <a:noFill/>
          <a:ln/>
        </p:spPr>
        <p:txBody>
          <a:bodyPr wrap="square" lIns="0" tIns="0" rIns="0" bIns="0" rtlCol="0" anchor="ctr"/>
          <a:lstStyle/>
          <a:p>
            <a:pPr marL="0" indent="0" algn="ctr">
              <a:buNone/>
            </a:pPr>
            <a:r>
              <a:rPr lang="en-US" sz="950" b="1">
                <a:solidFill>
                  <a:srgbClr val="0E2233"/>
                </a:solidFill>
                <a:latin typeface="Segoe UI" pitchFamily="34" charset="0"/>
                <a:ea typeface="Segoe UI" pitchFamily="34" charset="-122"/>
                <a:cs typeface="Segoe UI" pitchFamily="34" charset="-120"/>
              </a:rPr>
              <a:t>requests</a:t>
            </a:r>
            <a:endParaRPr lang="en-US" sz="950"/>
          </a:p>
        </p:txBody>
      </p:sp>
      <p:sp>
        <p:nvSpPr>
          <p:cNvPr id="12" name="Text 10"/>
          <p:cNvSpPr/>
          <p:nvPr/>
        </p:nvSpPr>
        <p:spPr>
          <a:xfrm>
            <a:off x="704088" y="4224528"/>
            <a:ext cx="1719072" cy="219456"/>
          </a:xfrm>
          <a:prstGeom prst="rect">
            <a:avLst/>
          </a:prstGeom>
          <a:noFill/>
          <a:ln/>
        </p:spPr>
        <p:txBody>
          <a:bodyPr wrap="square" lIns="0" tIns="0" rIns="0" bIns="0" rtlCol="0" anchor="ctr"/>
          <a:lstStyle/>
          <a:p>
            <a:pPr marL="0" indent="0" algn="ctr">
              <a:buNone/>
            </a:pPr>
            <a:r>
              <a:rPr lang="en-US" sz="700">
                <a:solidFill>
                  <a:srgbClr val="7C8FA3"/>
                </a:solidFill>
                <a:latin typeface="Segoe UI" pitchFamily="34" charset="0"/>
                <a:ea typeface="Segoe UI" pitchFamily="34" charset="-122"/>
                <a:cs typeface="Segoe UI" pitchFamily="34" charset="-120"/>
              </a:rPr>
              <a:t>500m CPU / 512Mi — reserved</a:t>
            </a:r>
            <a:endParaRPr lang="en-US" sz="850"/>
          </a:p>
        </p:txBody>
      </p:sp>
      <p:sp>
        <p:nvSpPr>
          <p:cNvPr id="13" name="container box">
            <a:extLst>
              <a:ext uri="{C183D7F6-B498-43B3-948B-1728B52AA6E4}">
                <adec:decorative xmlns:adec="http://schemas.microsoft.com/office/drawing/2017/decorative" val="1"/>
              </a:ext>
            </a:extLst>
          </p:cNvPr>
          <p:cNvSpPr/>
          <p:nvPr/>
        </p:nvSpPr>
        <p:spPr>
          <a:xfrm>
            <a:off x="256946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4" name="Text 12"/>
          <p:cNvSpPr/>
          <p:nvPr/>
        </p:nvSpPr>
        <p:spPr>
          <a:xfrm>
            <a:off x="2624328" y="4005072"/>
            <a:ext cx="1719072" cy="219456"/>
          </a:xfrm>
          <a:prstGeom prst="rect">
            <a:avLst/>
          </a:prstGeom>
          <a:noFill/>
          <a:ln/>
        </p:spPr>
        <p:txBody>
          <a:bodyPr wrap="square" lIns="0" tIns="0" rIns="0" bIns="0" rtlCol="0" anchor="ctr"/>
          <a:lstStyle/>
          <a:p>
            <a:pPr marL="0" indent="0" algn="ctr">
              <a:buNone/>
            </a:pPr>
            <a:r>
              <a:rPr lang="en-US" sz="950" b="1">
                <a:solidFill>
                  <a:srgbClr val="0E2233"/>
                </a:solidFill>
                <a:latin typeface="Segoe UI" pitchFamily="34" charset="0"/>
                <a:ea typeface="Segoe UI" pitchFamily="34" charset="-122"/>
                <a:cs typeface="Segoe UI" pitchFamily="34" charset="-120"/>
              </a:rPr>
              <a:t>limits</a:t>
            </a:r>
            <a:endParaRPr lang="en-US" sz="950"/>
          </a:p>
        </p:txBody>
      </p:sp>
      <p:sp>
        <p:nvSpPr>
          <p:cNvPr id="15" name="Text 13"/>
          <p:cNvSpPr/>
          <p:nvPr/>
        </p:nvSpPr>
        <p:spPr>
          <a:xfrm>
            <a:off x="2624328" y="4224528"/>
            <a:ext cx="1719072" cy="219456"/>
          </a:xfrm>
          <a:prstGeom prst="rect">
            <a:avLst/>
          </a:prstGeom>
          <a:noFill/>
          <a:ln/>
        </p:spPr>
        <p:txBody>
          <a:bodyPr wrap="square" lIns="0" tIns="0" rIns="0" bIns="0" rtlCol="0" anchor="ctr"/>
          <a:lstStyle/>
          <a:p>
            <a:pPr marL="0" indent="0" algn="ctr">
              <a:buNone/>
            </a:pPr>
            <a:r>
              <a:rPr lang="en-US" sz="700">
                <a:solidFill>
                  <a:srgbClr val="7C8FA3"/>
                </a:solidFill>
                <a:latin typeface="Segoe UI" pitchFamily="34" charset="0"/>
                <a:ea typeface="Segoe UI" pitchFamily="34" charset="-122"/>
                <a:cs typeface="Segoe UI" pitchFamily="34" charset="-120"/>
              </a:rPr>
              <a:t>1000m CPU / 1Gi — ceiling</a:t>
            </a:r>
            <a:endParaRPr lang="en-US" sz="850"/>
          </a:p>
        </p:txBody>
      </p:sp>
      <p:sp>
        <p:nvSpPr>
          <p:cNvPr id="16" name="code panel">
            <a:extLst>
              <a:ext uri="{C183D7F6-B498-43B3-948B-1728B52AA6E4}">
                <adec:decorative xmlns:adec="http://schemas.microsoft.com/office/drawing/2017/decorative" val="1"/>
              </a:ext>
            </a:extLst>
          </p:cNvPr>
          <p:cNvSpPr/>
          <p:nvPr/>
        </p:nvSpPr>
        <p:spPr>
          <a:xfrm>
            <a:off x="4754880" y="1481328"/>
            <a:ext cx="388620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17" name="code panel header">
            <a:extLst>
              <a:ext uri="{C183D7F6-B498-43B3-948B-1728B52AA6E4}">
                <adec:decorative xmlns:adec="http://schemas.microsoft.com/office/drawing/2017/decorative" val="1"/>
              </a:ext>
            </a:extLst>
          </p:cNvPr>
          <p:cNvSpPr/>
          <p:nvPr/>
        </p:nvSpPr>
        <p:spPr>
          <a:xfrm>
            <a:off x="4754880" y="1481328"/>
            <a:ext cx="3886200" cy="256032"/>
          </a:xfrm>
          <a:prstGeom prst="rect">
            <a:avLst/>
          </a:prstGeom>
          <a:solidFill>
            <a:srgbClr val="0F3D66"/>
          </a:solidFill>
          <a:ln w="12700">
            <a:solidFill>
              <a:srgbClr val="333333"/>
            </a:solidFill>
            <a:prstDash val="solid"/>
          </a:ln>
        </p:spPr>
        <p:txBody>
          <a:bodyPr/>
          <a:lstStyle/>
          <a:p>
            <a:endParaRPr lang="en-IN"/>
          </a:p>
        </p:txBody>
      </p:sp>
      <p:sp>
        <p:nvSpPr>
          <p:cNvPr id="18" name="Text 16"/>
          <p:cNvSpPr/>
          <p:nvPr/>
        </p:nvSpPr>
        <p:spPr>
          <a:xfrm>
            <a:off x="4901184" y="1481328"/>
            <a:ext cx="359359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deployment.yaml — resources</a:t>
            </a:r>
            <a:endParaRPr lang="en-US" sz="850"/>
          </a:p>
        </p:txBody>
      </p:sp>
      <p:sp>
        <p:nvSpPr>
          <p:cNvPr id="19" name="Text 17"/>
          <p:cNvSpPr/>
          <p:nvPr/>
        </p:nvSpPr>
        <p:spPr>
          <a:xfrm>
            <a:off x="4901184" y="1810512"/>
            <a:ext cx="3593592" cy="2121408"/>
          </a:xfrm>
          <a:prstGeom prst="rect">
            <a:avLst/>
          </a:prstGeom>
          <a:noFill/>
          <a:ln/>
        </p:spPr>
        <p:txBody>
          <a:bodyPr wrap="square" lIns="0" tIns="0" rIns="0" bIns="0" rtlCol="0" anchor="t"/>
          <a:lstStyle/>
          <a:p>
            <a:pPr marL="0" indent="0">
              <a:lnSpc>
                <a:spcPct val="112000"/>
              </a:lnSpc>
              <a:buNone/>
            </a:pPr>
            <a:r>
              <a:rPr lang="en-US" sz="829">
                <a:solidFill>
                  <a:srgbClr val="D7ECF8"/>
                </a:solidFill>
                <a:latin typeface="Consolas" pitchFamily="34" charset="0"/>
                <a:ea typeface="Consolas" pitchFamily="34" charset="-122"/>
                <a:cs typeface="Consolas" pitchFamily="34" charset="-120"/>
              </a:rPr>
              <a:t>resources:</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requests:</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cpu: "500m"</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memory: "512Mi"</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limits:</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cpu: "1000m"</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memory: "1Gi"</a:t>
            </a:r>
            <a:endParaRPr lang="en-US" sz="829"/>
          </a:p>
          <a:p>
            <a:pPr marL="0" indent="0">
              <a:lnSpc>
                <a:spcPct val="112000"/>
              </a:lnSpc>
              <a:buNone/>
            </a:pPr>
            <a:r>
              <a:rPr lang="en-US" sz="829">
                <a:solidFill>
                  <a:srgbClr val="7C8FA3"/>
                </a:solidFill>
                <a:latin typeface="Consolas" pitchFamily="34" charset="0"/>
                <a:ea typeface="Consolas" pitchFamily="34" charset="-122"/>
                <a:cs typeface="Consolas" pitchFamily="34" charset="-120"/>
              </a:rPr>
              <a:t># requests -&gt; scheduling</a:t>
            </a:r>
            <a:endParaRPr lang="en-US" sz="829"/>
          </a:p>
          <a:p>
            <a:pPr marL="0" indent="0">
              <a:lnSpc>
                <a:spcPct val="112000"/>
              </a:lnSpc>
              <a:buNone/>
            </a:pPr>
            <a:r>
              <a:rPr lang="en-US" sz="829">
                <a:solidFill>
                  <a:srgbClr val="7C8FA3"/>
                </a:solidFill>
                <a:latin typeface="Consolas" pitchFamily="34" charset="0"/>
                <a:ea typeface="Consolas" pitchFamily="34" charset="-122"/>
                <a:cs typeface="Consolas" pitchFamily="34" charset="-120"/>
              </a:rPr>
              <a:t># limits   -&gt; runtime cap</a:t>
            </a:r>
            <a:endParaRPr lang="en-US" sz="829"/>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7 · NAMESPACE AND RESOURCE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What happens when the limits are reached</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50">
                <a:solidFill>
                  <a:srgbClr val="44566B"/>
                </a:solidFill>
                <a:latin typeface="Segoe UI" pitchFamily="34" charset="0"/>
                <a:ea typeface="Segoe UI" pitchFamily="34" charset="-122"/>
                <a:cs typeface="Segoe UI" pitchFamily="34" charset="-120"/>
              </a:rPr>
              <a:t>Three very different failure signatures — knowing which one you are looking at saves hours of debugging.</a:t>
            </a:r>
            <a:endParaRPr lang="en-US" sz="1050"/>
          </a:p>
        </p:txBody>
      </p:sp>
      <p:sp>
        <p:nvSpPr>
          <p:cNvPr id="7" name="card">
            <a:extLst>
              <a:ext uri="{C183D7F6-B498-43B3-948B-1728B52AA6E4}">
                <adec:decorative xmlns:adec="http://schemas.microsoft.com/office/drawing/2017/decorative" val="1"/>
              </a:ext>
            </a:extLst>
          </p:cNvPr>
          <p:cNvSpPr/>
          <p:nvPr/>
        </p:nvSpPr>
        <p:spPr>
          <a:xfrm>
            <a:off x="502920" y="1481328"/>
            <a:ext cx="2578608" cy="1691640"/>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2578608" cy="41148"/>
          </a:xfrm>
          <a:prstGeom prst="rect">
            <a:avLst/>
          </a:prstGeom>
          <a:solidFill>
            <a:srgbClr val="F2A93B"/>
          </a:solidFill>
          <a:ln w="12700">
            <a:solidFill>
              <a:srgbClr val="333333"/>
            </a:solidFill>
            <a:prstDash val="solid"/>
          </a:ln>
        </p:spPr>
        <p:txBody>
          <a:bodyPr/>
          <a:lstStyle/>
          <a:p>
            <a:endParaRPr lang="en-IN"/>
          </a:p>
        </p:txBody>
      </p:sp>
      <p:sp>
        <p:nvSpPr>
          <p:cNvPr id="9" name="Text 7"/>
          <p:cNvSpPr/>
          <p:nvPr/>
        </p:nvSpPr>
        <p:spPr>
          <a:xfrm>
            <a:off x="704088" y="1664208"/>
            <a:ext cx="2176272" cy="228600"/>
          </a:xfrm>
          <a:prstGeom prst="rect">
            <a:avLst/>
          </a:prstGeom>
          <a:noFill/>
          <a:ln/>
        </p:spPr>
        <p:txBody>
          <a:bodyPr wrap="square" lIns="0" tIns="0" rIns="0" bIns="0" rtlCol="0" anchor="ctr"/>
          <a:lstStyle/>
          <a:p>
            <a:pPr marL="0" indent="0">
              <a:buNone/>
            </a:pPr>
            <a:r>
              <a:rPr lang="en-US" sz="900" b="1" kern="0" spc="120">
                <a:solidFill>
                  <a:srgbClr val="F2A93B"/>
                </a:solidFill>
                <a:latin typeface="Segoe UI" pitchFamily="34" charset="0"/>
                <a:ea typeface="Segoe UI" pitchFamily="34" charset="-122"/>
                <a:cs typeface="Segoe UI" pitchFamily="34" charset="-120"/>
              </a:rPr>
              <a:t>CPU LIMIT</a:t>
            </a:r>
            <a:endParaRPr lang="en-US" sz="900"/>
          </a:p>
        </p:txBody>
      </p:sp>
      <p:sp>
        <p:nvSpPr>
          <p:cNvPr id="10" name="Text 8"/>
          <p:cNvSpPr/>
          <p:nvPr/>
        </p:nvSpPr>
        <p:spPr>
          <a:xfrm>
            <a:off x="704088" y="1920240"/>
            <a:ext cx="2176272" cy="4358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Why is it suddenly slow?</a:t>
            </a:r>
            <a:endParaRPr lang="en-US" sz="1250"/>
          </a:p>
        </p:txBody>
      </p:sp>
      <p:sp>
        <p:nvSpPr>
          <p:cNvPr id="11" name="Text 9"/>
          <p:cNvSpPr/>
          <p:nvPr/>
        </p:nvSpPr>
        <p:spPr>
          <a:xfrm>
            <a:off x="704088" y="2420112"/>
            <a:ext cx="2176272" cy="569976"/>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The container is throttled, never killed. Latency rises and queues build while the process still reports healthy. Look for high cpu throttling in Container Insights rather than restarts.</a:t>
            </a:r>
            <a:endParaRPr lang="en-US" sz="1000"/>
          </a:p>
        </p:txBody>
      </p:sp>
      <p:sp>
        <p:nvSpPr>
          <p:cNvPr id="12" name="card">
            <a:extLst>
              <a:ext uri="{C183D7F6-B498-43B3-948B-1728B52AA6E4}">
                <adec:decorative xmlns:adec="http://schemas.microsoft.com/office/drawing/2017/decorative" val="1"/>
              </a:ext>
            </a:extLst>
          </p:cNvPr>
          <p:cNvSpPr/>
          <p:nvPr/>
        </p:nvSpPr>
        <p:spPr>
          <a:xfrm>
            <a:off x="3282696" y="1481328"/>
            <a:ext cx="2578608" cy="1691640"/>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3282696" y="1481328"/>
            <a:ext cx="2578608" cy="41148"/>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3483864" y="1664208"/>
            <a:ext cx="2176272" cy="228600"/>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MEMORY LIMIT</a:t>
            </a:r>
            <a:endParaRPr lang="en-US" sz="900"/>
          </a:p>
        </p:txBody>
      </p:sp>
      <p:sp>
        <p:nvSpPr>
          <p:cNvPr id="15" name="Text 13"/>
          <p:cNvSpPr/>
          <p:nvPr/>
        </p:nvSpPr>
        <p:spPr>
          <a:xfrm>
            <a:off x="3483864" y="1920240"/>
            <a:ext cx="2176272" cy="4358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Why did it restart?</a:t>
            </a:r>
            <a:endParaRPr lang="en-US" sz="1250"/>
          </a:p>
        </p:txBody>
      </p:sp>
      <p:sp>
        <p:nvSpPr>
          <p:cNvPr id="16" name="Text 14"/>
          <p:cNvSpPr/>
          <p:nvPr/>
        </p:nvSpPr>
        <p:spPr>
          <a:xfrm>
            <a:off x="3483864" y="2420112"/>
            <a:ext cx="2176272" cy="569976"/>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The container is terminated as OOMKilled and restarted by the kubelet. kubectl describe pod shows Last State: Terminated, Reason: OOMKilled — raise the limit or fix the leak.</a:t>
            </a:r>
            <a:endParaRPr lang="en-US" sz="1000"/>
          </a:p>
        </p:txBody>
      </p:sp>
      <p:sp>
        <p:nvSpPr>
          <p:cNvPr id="17" name="card">
            <a:extLst>
              <a:ext uri="{C183D7F6-B498-43B3-948B-1728B52AA6E4}">
                <adec:decorative xmlns:adec="http://schemas.microsoft.com/office/drawing/2017/decorative" val="1"/>
              </a:ext>
            </a:extLst>
          </p:cNvPr>
          <p:cNvSpPr/>
          <p:nvPr/>
        </p:nvSpPr>
        <p:spPr>
          <a:xfrm>
            <a:off x="6062472" y="1481328"/>
            <a:ext cx="2578608" cy="1691640"/>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6062472" y="1481328"/>
            <a:ext cx="2578608" cy="41148"/>
          </a:xfrm>
          <a:prstGeom prst="rect">
            <a:avLst/>
          </a:prstGeom>
          <a:solidFill>
            <a:srgbClr val="D0483C"/>
          </a:solidFill>
          <a:ln w="12700">
            <a:solidFill>
              <a:srgbClr val="333333"/>
            </a:solidFill>
            <a:prstDash val="solid"/>
          </a:ln>
        </p:spPr>
        <p:txBody>
          <a:bodyPr/>
          <a:lstStyle/>
          <a:p>
            <a:endParaRPr lang="en-IN"/>
          </a:p>
        </p:txBody>
      </p:sp>
      <p:sp>
        <p:nvSpPr>
          <p:cNvPr id="19" name="Text 17"/>
          <p:cNvSpPr/>
          <p:nvPr/>
        </p:nvSpPr>
        <p:spPr>
          <a:xfrm>
            <a:off x="6263640" y="1664208"/>
            <a:ext cx="2176272" cy="228600"/>
          </a:xfrm>
          <a:prstGeom prst="rect">
            <a:avLst/>
          </a:prstGeom>
          <a:noFill/>
          <a:ln/>
        </p:spPr>
        <p:txBody>
          <a:bodyPr wrap="square" lIns="0" tIns="0" rIns="0" bIns="0" rtlCol="0" anchor="ctr"/>
          <a:lstStyle/>
          <a:p>
            <a:pPr marL="0" indent="0">
              <a:buNone/>
            </a:pPr>
            <a:r>
              <a:rPr lang="en-US" sz="900" b="1" kern="0" spc="120">
                <a:solidFill>
                  <a:srgbClr val="D0483C"/>
                </a:solidFill>
                <a:latin typeface="Segoe UI" pitchFamily="34" charset="0"/>
                <a:ea typeface="Segoe UI" pitchFamily="34" charset="-122"/>
                <a:cs typeface="Segoe UI" pitchFamily="34" charset="-120"/>
              </a:rPr>
              <a:t>NOTHING SET</a:t>
            </a:r>
            <a:endParaRPr lang="en-US" sz="900"/>
          </a:p>
        </p:txBody>
      </p:sp>
      <p:sp>
        <p:nvSpPr>
          <p:cNvPr id="20" name="Text 18"/>
          <p:cNvSpPr/>
          <p:nvPr/>
        </p:nvSpPr>
        <p:spPr>
          <a:xfrm>
            <a:off x="6263640" y="1920240"/>
            <a:ext cx="2176272" cy="4358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Why is it unpredictable?</a:t>
            </a:r>
            <a:endParaRPr lang="en-US" sz="1250"/>
          </a:p>
        </p:txBody>
      </p:sp>
      <p:sp>
        <p:nvSpPr>
          <p:cNvPr id="21" name="Text 19"/>
          <p:cNvSpPr/>
          <p:nvPr/>
        </p:nvSpPr>
        <p:spPr>
          <a:xfrm>
            <a:off x="6263640" y="2420112"/>
            <a:ext cx="2176272" cy="569976"/>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With no requests the scheduler is guessing, and one noisy Pod can starve its neighbours on the same node. Nodes under memory pressure evict these Pods first.</a:t>
            </a:r>
            <a:endParaRPr lang="en-US" sz="1000"/>
          </a:p>
        </p:txBody>
      </p:sp>
      <p:sp>
        <p:nvSpPr>
          <p:cNvPr id="22" name="timeline">
            <a:extLst>
              <a:ext uri="{C183D7F6-B498-43B3-948B-1728B52AA6E4}">
                <adec:decorative xmlns:adec="http://schemas.microsoft.com/office/drawing/2017/decorative" val="1"/>
              </a:ext>
            </a:extLst>
          </p:cNvPr>
          <p:cNvSpPr/>
          <p:nvPr/>
        </p:nvSpPr>
        <p:spPr>
          <a:xfrm>
            <a:off x="502920" y="3566160"/>
            <a:ext cx="8138160" cy="54864"/>
          </a:xfrm>
          <a:prstGeom prst="rect">
            <a:avLst/>
          </a:prstGeom>
          <a:solidFill>
            <a:srgbClr val="D8E5F2"/>
          </a:solidFill>
          <a:ln w="12700">
            <a:solidFill>
              <a:srgbClr val="333333"/>
            </a:solidFill>
            <a:prstDash val="solid"/>
          </a:ln>
        </p:spPr>
        <p:txBody>
          <a:bodyPr/>
          <a:lstStyle/>
          <a:p>
            <a:endParaRPr lang="en-IN"/>
          </a:p>
        </p:txBody>
      </p:sp>
      <p:sp>
        <p:nvSpPr>
          <p:cNvPr id="23" name="timeline marker">
            <a:extLst>
              <a:ext uri="{C183D7F6-B498-43B3-948B-1728B52AA6E4}">
                <adec:decorative xmlns:adec="http://schemas.microsoft.com/office/drawing/2017/decorative" val="1"/>
              </a:ext>
            </a:extLst>
          </p:cNvPr>
          <p:cNvSpPr/>
          <p:nvPr/>
        </p:nvSpPr>
        <p:spPr>
          <a:xfrm>
            <a:off x="502920" y="3502152"/>
            <a:ext cx="182880" cy="182880"/>
          </a:xfrm>
          <a:prstGeom prst="ellipse">
            <a:avLst/>
          </a:prstGeom>
          <a:solidFill>
            <a:srgbClr val="7C8FA3"/>
          </a:solidFill>
          <a:ln w="12700">
            <a:solidFill>
              <a:srgbClr val="333333"/>
            </a:solidFill>
            <a:prstDash val="solid"/>
          </a:ln>
        </p:spPr>
        <p:txBody>
          <a:bodyPr/>
          <a:lstStyle/>
          <a:p>
            <a:endParaRPr lang="en-IN"/>
          </a:p>
        </p:txBody>
      </p:sp>
      <p:sp>
        <p:nvSpPr>
          <p:cNvPr id="24" name="Text 22"/>
          <p:cNvSpPr/>
          <p:nvPr/>
        </p:nvSpPr>
        <p:spPr>
          <a:xfrm>
            <a:off x="182880" y="3730752"/>
            <a:ext cx="2011680" cy="457200"/>
          </a:xfrm>
          <a:prstGeom prst="rect">
            <a:avLst/>
          </a:prstGeom>
          <a:noFill/>
          <a:ln/>
        </p:spPr>
        <p:txBody>
          <a:bodyPr wrap="square" lIns="0" tIns="0" rIns="0" bIns="0" rtlCol="0" anchor="t"/>
          <a:lstStyle/>
          <a:p>
            <a:pPr marL="0" indent="0" algn="ctr">
              <a:lnSpc>
                <a:spcPct val="105000"/>
              </a:lnSpc>
              <a:buNone/>
            </a:pPr>
            <a:r>
              <a:rPr lang="en-US" sz="900">
                <a:solidFill>
                  <a:srgbClr val="44566B"/>
                </a:solidFill>
                <a:latin typeface="Segoe UI" pitchFamily="34" charset="0"/>
                <a:ea typeface="Segoe UI" pitchFamily="34" charset="-122"/>
                <a:cs typeface="Segoe UI" pitchFamily="34" charset="-120"/>
              </a:rPr>
              <a:t>Guaranteed</a:t>
            </a:r>
            <a:endParaRPr lang="en-US" sz="900"/>
          </a:p>
        </p:txBody>
      </p:sp>
      <p:sp>
        <p:nvSpPr>
          <p:cNvPr id="25" name="timeline marker">
            <a:extLst>
              <a:ext uri="{C183D7F6-B498-43B3-948B-1728B52AA6E4}">
                <adec:decorative xmlns:adec="http://schemas.microsoft.com/office/drawing/2017/decorative" val="1"/>
              </a:ext>
            </a:extLst>
          </p:cNvPr>
          <p:cNvSpPr/>
          <p:nvPr/>
        </p:nvSpPr>
        <p:spPr>
          <a:xfrm>
            <a:off x="2286000" y="3502152"/>
            <a:ext cx="182880" cy="182880"/>
          </a:xfrm>
          <a:prstGeom prst="ellipse">
            <a:avLst/>
          </a:prstGeom>
          <a:solidFill>
            <a:srgbClr val="F2A93B"/>
          </a:solidFill>
          <a:ln w="12700">
            <a:solidFill>
              <a:srgbClr val="333333"/>
            </a:solidFill>
            <a:prstDash val="solid"/>
          </a:ln>
        </p:spPr>
        <p:txBody>
          <a:bodyPr/>
          <a:lstStyle/>
          <a:p>
            <a:endParaRPr lang="en-IN"/>
          </a:p>
        </p:txBody>
      </p:sp>
      <p:sp>
        <p:nvSpPr>
          <p:cNvPr id="26" name="Text 24"/>
          <p:cNvSpPr/>
          <p:nvPr/>
        </p:nvSpPr>
        <p:spPr>
          <a:xfrm>
            <a:off x="1965960" y="3730752"/>
            <a:ext cx="2011680" cy="457200"/>
          </a:xfrm>
          <a:prstGeom prst="rect">
            <a:avLst/>
          </a:prstGeom>
          <a:noFill/>
          <a:ln/>
        </p:spPr>
        <p:txBody>
          <a:bodyPr wrap="square" lIns="0" tIns="0" rIns="0" bIns="0" rtlCol="0" anchor="t"/>
          <a:lstStyle/>
          <a:p>
            <a:pPr marL="0" indent="0" algn="ctr">
              <a:lnSpc>
                <a:spcPct val="105000"/>
              </a:lnSpc>
              <a:buNone/>
            </a:pPr>
            <a:r>
              <a:rPr lang="en-US" sz="900">
                <a:solidFill>
                  <a:srgbClr val="44566B"/>
                </a:solidFill>
                <a:latin typeface="Segoe UI" pitchFamily="34" charset="0"/>
                <a:ea typeface="Segoe UI" pitchFamily="34" charset="-122"/>
                <a:cs typeface="Segoe UI" pitchFamily="34" charset="-120"/>
              </a:rPr>
              <a:t>Burstable</a:t>
            </a:r>
            <a:endParaRPr lang="en-US" sz="900"/>
          </a:p>
        </p:txBody>
      </p:sp>
      <p:sp>
        <p:nvSpPr>
          <p:cNvPr id="27" name="timeline marker">
            <a:extLst>
              <a:ext uri="{C183D7F6-B498-43B3-948B-1728B52AA6E4}">
                <adec:decorative xmlns:adec="http://schemas.microsoft.com/office/drawing/2017/decorative" val="1"/>
              </a:ext>
            </a:extLst>
          </p:cNvPr>
          <p:cNvSpPr/>
          <p:nvPr/>
        </p:nvSpPr>
        <p:spPr>
          <a:xfrm>
            <a:off x="4480560" y="3502152"/>
            <a:ext cx="182880" cy="182880"/>
          </a:xfrm>
          <a:prstGeom prst="ellipse">
            <a:avLst/>
          </a:prstGeom>
          <a:solidFill>
            <a:srgbClr val="2E9E6B"/>
          </a:solidFill>
          <a:ln w="12700">
            <a:solidFill>
              <a:srgbClr val="333333"/>
            </a:solidFill>
            <a:prstDash val="solid"/>
          </a:ln>
        </p:spPr>
        <p:txBody>
          <a:bodyPr/>
          <a:lstStyle/>
          <a:p>
            <a:endParaRPr lang="en-IN"/>
          </a:p>
        </p:txBody>
      </p:sp>
      <p:sp>
        <p:nvSpPr>
          <p:cNvPr id="28" name="Text 26"/>
          <p:cNvSpPr/>
          <p:nvPr/>
        </p:nvSpPr>
        <p:spPr>
          <a:xfrm>
            <a:off x="4160520" y="3730752"/>
            <a:ext cx="2011680" cy="457200"/>
          </a:xfrm>
          <a:prstGeom prst="rect">
            <a:avLst/>
          </a:prstGeom>
          <a:noFill/>
          <a:ln/>
        </p:spPr>
        <p:txBody>
          <a:bodyPr wrap="square" lIns="0" tIns="0" rIns="0" bIns="0" rtlCol="0" anchor="t"/>
          <a:lstStyle/>
          <a:p>
            <a:pPr marL="0" indent="0" algn="ctr">
              <a:lnSpc>
                <a:spcPct val="105000"/>
              </a:lnSpc>
              <a:buNone/>
            </a:pPr>
            <a:r>
              <a:rPr lang="en-US" sz="900">
                <a:solidFill>
                  <a:srgbClr val="44566B"/>
                </a:solidFill>
                <a:latin typeface="Segoe UI" pitchFamily="34" charset="0"/>
                <a:ea typeface="Segoe UI" pitchFamily="34" charset="-122"/>
                <a:cs typeface="Segoe UI" pitchFamily="34" charset="-120"/>
              </a:rPr>
              <a:t>BestEffort</a:t>
            </a:r>
            <a:endParaRPr lang="en-US" sz="900"/>
          </a:p>
        </p:txBody>
      </p:sp>
      <p:sp>
        <p:nvSpPr>
          <p:cNvPr id="29" name="timeline marker">
            <a:extLst>
              <a:ext uri="{C183D7F6-B498-43B3-948B-1728B52AA6E4}">
                <adec:decorative xmlns:adec="http://schemas.microsoft.com/office/drawing/2017/decorative" val="1"/>
              </a:ext>
            </a:extLst>
          </p:cNvPr>
          <p:cNvSpPr/>
          <p:nvPr/>
        </p:nvSpPr>
        <p:spPr>
          <a:xfrm>
            <a:off x="5852160" y="3502152"/>
            <a:ext cx="182880" cy="182880"/>
          </a:xfrm>
          <a:prstGeom prst="ellipse">
            <a:avLst/>
          </a:prstGeom>
          <a:solidFill>
            <a:srgbClr val="0B63CE"/>
          </a:solidFill>
          <a:ln w="12700">
            <a:solidFill>
              <a:srgbClr val="333333"/>
            </a:solidFill>
            <a:prstDash val="solid"/>
          </a:ln>
        </p:spPr>
        <p:txBody>
          <a:bodyPr/>
          <a:lstStyle/>
          <a:p>
            <a:endParaRPr lang="en-IN"/>
          </a:p>
        </p:txBody>
      </p:sp>
      <p:sp>
        <p:nvSpPr>
          <p:cNvPr id="30" name="Text 28"/>
          <p:cNvSpPr/>
          <p:nvPr/>
        </p:nvSpPr>
        <p:spPr>
          <a:xfrm>
            <a:off x="5532120" y="3730752"/>
            <a:ext cx="2011680" cy="457200"/>
          </a:xfrm>
          <a:prstGeom prst="rect">
            <a:avLst/>
          </a:prstGeom>
          <a:noFill/>
          <a:ln/>
        </p:spPr>
        <p:txBody>
          <a:bodyPr wrap="square" lIns="0" tIns="0" rIns="0" bIns="0" rtlCol="0" anchor="t"/>
          <a:lstStyle/>
          <a:p>
            <a:pPr marL="0" indent="0" algn="ctr">
              <a:lnSpc>
                <a:spcPct val="105000"/>
              </a:lnSpc>
              <a:buNone/>
            </a:pPr>
            <a:r>
              <a:rPr lang="en-US" sz="900">
                <a:solidFill>
                  <a:srgbClr val="44566B"/>
                </a:solidFill>
                <a:latin typeface="Segoe UI" pitchFamily="34" charset="0"/>
                <a:ea typeface="Segoe UI" pitchFamily="34" charset="-122"/>
                <a:cs typeface="Segoe UI" pitchFamily="34" charset="-120"/>
              </a:rPr>
              <a:t>Evicted first</a:t>
            </a:r>
            <a:endParaRPr lang="en-US" sz="900"/>
          </a:p>
        </p:txBody>
      </p:sp>
      <p:sp>
        <p:nvSpPr>
          <p:cNvPr id="31"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2"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33" name="Text 31"/>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D0483C"/>
                </a:solidFill>
                <a:latin typeface="Segoe UI" pitchFamily="34" charset="0"/>
                <a:ea typeface="Segoe UI" pitchFamily="34" charset="-122"/>
                <a:cs typeface="Segoe UI" pitchFamily="34" charset="-120"/>
              </a:rPr>
              <a:t>Rule of thumb   </a:t>
            </a:r>
            <a:r>
              <a:rPr lang="en-US" sz="1050">
                <a:solidFill>
                  <a:srgbClr val="0E2233"/>
                </a:solidFill>
                <a:latin typeface="Segoe UI" pitchFamily="34" charset="0"/>
                <a:ea typeface="Segoe UI" pitchFamily="34" charset="-122"/>
                <a:cs typeface="Segoe UI" pitchFamily="34" charset="-120"/>
              </a:rPr>
              <a:t>set requests and limits on every production container; Guaranteed for critical workloads, Burstable for the rest.</a:t>
            </a:r>
            <a:endParaRPr lang="en-US" sz="100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7 · NAMESPACE AND RESOURCE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ResourceQuota — capping a namespace</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A quota is the platform team’s contract with an application team: this much of the cluster, and no more.</a:t>
            </a:r>
            <a:endParaRPr lang="en-US" sz="1150"/>
          </a:p>
        </p:txBody>
      </p:sp>
      <p:sp>
        <p:nvSpPr>
          <p:cNvPr id="7" name="code panel">
            <a:extLst>
              <a:ext uri="{C183D7F6-B498-43B3-948B-1728B52AA6E4}">
                <adec:decorative xmlns:adec="http://schemas.microsoft.com/office/drawing/2017/decorative" val="1"/>
              </a:ext>
            </a:extLst>
          </p:cNvPr>
          <p:cNvSpPr/>
          <p:nvPr/>
        </p:nvSpPr>
        <p:spPr>
          <a:xfrm>
            <a:off x="502920" y="1481328"/>
            <a:ext cx="4023360" cy="25146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02336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73075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quota.yaml</a:t>
            </a:r>
            <a:endParaRPr lang="en-US" sz="850"/>
          </a:p>
        </p:txBody>
      </p:sp>
      <p:sp>
        <p:nvSpPr>
          <p:cNvPr id="10" name="Text 8"/>
          <p:cNvSpPr/>
          <p:nvPr/>
        </p:nvSpPr>
        <p:spPr>
          <a:xfrm>
            <a:off x="649224" y="1810512"/>
            <a:ext cx="3730752" cy="2039112"/>
          </a:xfrm>
          <a:prstGeom prst="rect">
            <a:avLst/>
          </a:prstGeom>
          <a:noFill/>
          <a:ln/>
        </p:spPr>
        <p:txBody>
          <a:bodyPr wrap="square" lIns="0" tIns="0" rIns="0" bIns="0" rtlCol="0" anchor="t"/>
          <a:lstStyle/>
          <a:p>
            <a:pPr marL="0" indent="0">
              <a:lnSpc>
                <a:spcPct val="112000"/>
              </a:lnSpc>
              <a:buNone/>
            </a:pPr>
            <a:r>
              <a:rPr lang="en-US" sz="796">
                <a:solidFill>
                  <a:srgbClr val="D7ECF8"/>
                </a:solidFill>
                <a:latin typeface="Consolas" pitchFamily="34" charset="0"/>
                <a:ea typeface="Consolas" pitchFamily="34" charset="-122"/>
                <a:cs typeface="Consolas" pitchFamily="34" charset="-120"/>
              </a:rPr>
              <a:t>apiVersion: v1</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kind: ResourceQuota</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metadata:</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 payments-quota</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namespace: payments-dev</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spec:</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hard:</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requests.cpu: "8"</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requests.memory: 16Gi</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limits.cpu: "16"</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limits.memory: 32Gi</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pods: "50"</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persistentvolumeclaims: "10"</a:t>
            </a:r>
            <a:endParaRPr lang="en-US" sz="796"/>
          </a:p>
          <a:p>
            <a:pPr marL="0" indent="0">
              <a:lnSpc>
                <a:spcPct val="112000"/>
              </a:lnSpc>
              <a:buNone/>
            </a:pPr>
            <a:endParaRPr lang="en-US" sz="796"/>
          </a:p>
          <a:p>
            <a:pPr marL="0" indent="0">
              <a:lnSpc>
                <a:spcPct val="112000"/>
              </a:lnSpc>
              <a:buNone/>
            </a:pPr>
            <a:endParaRPr lang="en-US" sz="796"/>
          </a:p>
        </p:txBody>
      </p:sp>
      <p:sp>
        <p:nvSpPr>
          <p:cNvPr id="11" name="card">
            <a:extLst>
              <a:ext uri="{C183D7F6-B498-43B3-948B-1728B52AA6E4}">
                <adec:decorative xmlns:adec="http://schemas.microsoft.com/office/drawing/2017/decorative" val="1"/>
              </a:ext>
            </a:extLst>
          </p:cNvPr>
          <p:cNvSpPr/>
          <p:nvPr/>
        </p:nvSpPr>
        <p:spPr>
          <a:xfrm>
            <a:off x="4709160" y="1481328"/>
            <a:ext cx="3931920" cy="75285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4709160" y="1481328"/>
            <a:ext cx="3931920" cy="41148"/>
          </a:xfrm>
          <a:prstGeom prst="rect">
            <a:avLst/>
          </a:prstGeom>
          <a:solidFill>
            <a:srgbClr val="D0483C"/>
          </a:solidFill>
          <a:ln w="12700">
            <a:solidFill>
              <a:srgbClr val="333333"/>
            </a:solidFill>
            <a:prstDash val="solid"/>
          </a:ln>
        </p:spPr>
        <p:txBody>
          <a:bodyPr/>
          <a:lstStyle/>
          <a:p>
            <a:endParaRPr lang="en-IN"/>
          </a:p>
        </p:txBody>
      </p:sp>
      <p:sp>
        <p:nvSpPr>
          <p:cNvPr id="13" name="Text 11"/>
          <p:cNvSpPr/>
          <p:nvPr/>
        </p:nvSpPr>
        <p:spPr>
          <a:xfrm>
            <a:off x="4910328" y="1591056"/>
            <a:ext cx="3529584" cy="173736"/>
          </a:xfrm>
          <a:prstGeom prst="rect">
            <a:avLst/>
          </a:prstGeom>
          <a:noFill/>
          <a:ln/>
        </p:spPr>
        <p:txBody>
          <a:bodyPr wrap="square" lIns="0" tIns="0" rIns="0" bIns="0" rtlCol="0" anchor="ctr"/>
          <a:lstStyle/>
          <a:p>
            <a:pPr marL="0" indent="0">
              <a:buNone/>
            </a:pPr>
            <a:r>
              <a:rPr lang="en-US" sz="900" b="1" kern="0" spc="120">
                <a:solidFill>
                  <a:srgbClr val="D0483C"/>
                </a:solidFill>
                <a:latin typeface="Segoe UI" pitchFamily="34" charset="0"/>
                <a:ea typeface="Segoe UI" pitchFamily="34" charset="-122"/>
                <a:cs typeface="Segoe UI" pitchFamily="34" charset="-120"/>
              </a:rPr>
              <a:t>SCOPE</a:t>
            </a:r>
            <a:endParaRPr lang="en-US" sz="900"/>
          </a:p>
        </p:txBody>
      </p:sp>
      <p:sp>
        <p:nvSpPr>
          <p:cNvPr id="14" name="Text 12"/>
          <p:cNvSpPr/>
          <p:nvPr/>
        </p:nvSpPr>
        <p:spPr>
          <a:xfrm>
            <a:off x="4910328" y="1792224"/>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What a quota caps</a:t>
            </a:r>
            <a:endParaRPr lang="en-US" sz="850"/>
          </a:p>
        </p:txBody>
      </p:sp>
      <p:sp>
        <p:nvSpPr>
          <p:cNvPr id="15" name="Text 13"/>
          <p:cNvSpPr/>
          <p:nvPr/>
        </p:nvSpPr>
        <p:spPr>
          <a:xfrm>
            <a:off x="4910328" y="2040636"/>
            <a:ext cx="3529584" cy="146304"/>
          </a:xfrm>
          <a:prstGeom prst="rect">
            <a:avLst/>
          </a:prstGeom>
          <a:noFill/>
          <a:ln/>
        </p:spPr>
        <p:txBody>
          <a:bodyPr wrap="square" lIns="0" tIns="0" rIns="0" bIns="0" rtlCol="0" anchor="t"/>
          <a:lstStyle/>
          <a:p>
            <a:pPr marL="0" indent="0">
              <a:lnSpc>
                <a:spcPct val="115000"/>
              </a:lnSpc>
              <a:buNone/>
            </a:pPr>
            <a:r>
              <a:rPr lang="en-US" sz="700">
                <a:solidFill>
                  <a:srgbClr val="44566B"/>
                </a:solidFill>
                <a:latin typeface="Segoe UI" pitchFamily="34" charset="0"/>
                <a:ea typeface="Segoe UI" pitchFamily="34" charset="-122"/>
                <a:cs typeface="Segoe UI" pitchFamily="34" charset="-120"/>
              </a:rPr>
              <a:t>Total CPU and memory requests and limits across the namespace, plus object counts such as Pods, Services, Secrets and PersistentVolumeClaims.</a:t>
            </a:r>
            <a:endParaRPr lang="en-US" sz="700"/>
          </a:p>
        </p:txBody>
      </p:sp>
      <p:sp>
        <p:nvSpPr>
          <p:cNvPr id="16" name="card">
            <a:extLst>
              <a:ext uri="{C183D7F6-B498-43B3-948B-1728B52AA6E4}">
                <adec:decorative xmlns:adec="http://schemas.microsoft.com/office/drawing/2017/decorative" val="1"/>
              </a:ext>
            </a:extLst>
          </p:cNvPr>
          <p:cNvSpPr/>
          <p:nvPr/>
        </p:nvSpPr>
        <p:spPr>
          <a:xfrm>
            <a:off x="4709160" y="2362200"/>
            <a:ext cx="3931920" cy="752856"/>
          </a:xfrm>
          <a:prstGeom prst="rect">
            <a:avLst/>
          </a:prstGeom>
          <a:solidFill>
            <a:srgbClr val="F6F9FD"/>
          </a:solidFill>
          <a:ln w="9525">
            <a:solidFill>
              <a:srgbClr val="D8E5F2"/>
            </a:solidFill>
            <a:prstDash val="solid"/>
          </a:ln>
        </p:spPr>
        <p:txBody>
          <a:bodyPr/>
          <a:lstStyle/>
          <a:p>
            <a:endParaRPr lang="en-IN"/>
          </a:p>
        </p:txBody>
      </p:sp>
      <p:sp>
        <p:nvSpPr>
          <p:cNvPr id="17" name="card accent">
            <a:extLst>
              <a:ext uri="{C183D7F6-B498-43B3-948B-1728B52AA6E4}">
                <adec:decorative xmlns:adec="http://schemas.microsoft.com/office/drawing/2017/decorative" val="1"/>
              </a:ext>
            </a:extLst>
          </p:cNvPr>
          <p:cNvSpPr/>
          <p:nvPr/>
        </p:nvSpPr>
        <p:spPr>
          <a:xfrm>
            <a:off x="4709160" y="2362200"/>
            <a:ext cx="3931920" cy="41148"/>
          </a:xfrm>
          <a:prstGeom prst="rect">
            <a:avLst/>
          </a:prstGeom>
          <a:solidFill>
            <a:srgbClr val="0B63CE"/>
          </a:solidFill>
          <a:ln w="12700">
            <a:solidFill>
              <a:srgbClr val="333333"/>
            </a:solidFill>
            <a:prstDash val="solid"/>
          </a:ln>
        </p:spPr>
        <p:txBody>
          <a:bodyPr/>
          <a:lstStyle/>
          <a:p>
            <a:endParaRPr lang="en-IN"/>
          </a:p>
        </p:txBody>
      </p:sp>
      <p:sp>
        <p:nvSpPr>
          <p:cNvPr id="18" name="Text 16"/>
          <p:cNvSpPr/>
          <p:nvPr/>
        </p:nvSpPr>
        <p:spPr>
          <a:xfrm>
            <a:off x="4910328" y="2471928"/>
            <a:ext cx="3529584" cy="173736"/>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REQUIRED</a:t>
            </a:r>
            <a:endParaRPr lang="en-US" sz="900"/>
          </a:p>
        </p:txBody>
      </p:sp>
      <p:sp>
        <p:nvSpPr>
          <p:cNvPr id="19" name="Text 17"/>
          <p:cNvSpPr/>
          <p:nvPr/>
        </p:nvSpPr>
        <p:spPr>
          <a:xfrm>
            <a:off x="4910328" y="2673096"/>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Requests become mandatory</a:t>
            </a:r>
            <a:endParaRPr lang="en-US" sz="850"/>
          </a:p>
        </p:txBody>
      </p:sp>
      <p:sp>
        <p:nvSpPr>
          <p:cNvPr id="20" name="Text 18"/>
          <p:cNvSpPr/>
          <p:nvPr/>
        </p:nvSpPr>
        <p:spPr>
          <a:xfrm>
            <a:off x="4910328" y="2921508"/>
            <a:ext cx="3529584" cy="146304"/>
          </a:xfrm>
          <a:prstGeom prst="rect">
            <a:avLst/>
          </a:prstGeom>
          <a:noFill/>
          <a:ln/>
        </p:spPr>
        <p:txBody>
          <a:bodyPr wrap="square" lIns="0" tIns="0" rIns="0" bIns="0" rtlCol="0" anchor="t"/>
          <a:lstStyle/>
          <a:p>
            <a:pPr marL="0" indent="0">
              <a:lnSpc>
                <a:spcPct val="115000"/>
              </a:lnSpc>
              <a:buNone/>
            </a:pPr>
            <a:r>
              <a:rPr lang="en-US" sz="700">
                <a:solidFill>
                  <a:srgbClr val="44566B"/>
                </a:solidFill>
                <a:latin typeface="Segoe UI" pitchFamily="34" charset="0"/>
                <a:ea typeface="Segoe UI" pitchFamily="34" charset="-122"/>
                <a:cs typeface="Segoe UI" pitchFamily="34" charset="-120"/>
              </a:rPr>
              <a:t>Once a quota tracks requests.cpu or requests.memory, every new Pod must declare them or the API server rejects it. Pair the quota with a LimitRange.</a:t>
            </a:r>
            <a:endParaRPr lang="en-US" sz="700"/>
          </a:p>
        </p:txBody>
      </p:sp>
      <p:sp>
        <p:nvSpPr>
          <p:cNvPr id="21" name="card">
            <a:extLst>
              <a:ext uri="{C183D7F6-B498-43B3-948B-1728B52AA6E4}">
                <adec:decorative xmlns:adec="http://schemas.microsoft.com/office/drawing/2017/decorative" val="1"/>
              </a:ext>
            </a:extLst>
          </p:cNvPr>
          <p:cNvSpPr/>
          <p:nvPr/>
        </p:nvSpPr>
        <p:spPr>
          <a:xfrm>
            <a:off x="4709160" y="3243072"/>
            <a:ext cx="3931920" cy="752856"/>
          </a:xfrm>
          <a:prstGeom prst="rect">
            <a:avLst/>
          </a:prstGeom>
          <a:solidFill>
            <a:srgbClr val="F6F9FD"/>
          </a:solidFill>
          <a:ln w="9525">
            <a:solidFill>
              <a:srgbClr val="D8E5F2"/>
            </a:solidFill>
            <a:prstDash val="solid"/>
          </a:ln>
        </p:spPr>
        <p:txBody>
          <a:bodyPr/>
          <a:lstStyle/>
          <a:p>
            <a:endParaRPr lang="en-IN"/>
          </a:p>
        </p:txBody>
      </p:sp>
      <p:sp>
        <p:nvSpPr>
          <p:cNvPr id="22" name="card accent">
            <a:extLst>
              <a:ext uri="{C183D7F6-B498-43B3-948B-1728B52AA6E4}">
                <adec:decorative xmlns:adec="http://schemas.microsoft.com/office/drawing/2017/decorative" val="1"/>
              </a:ext>
            </a:extLst>
          </p:cNvPr>
          <p:cNvSpPr/>
          <p:nvPr/>
        </p:nvSpPr>
        <p:spPr>
          <a:xfrm>
            <a:off x="4709160" y="3243072"/>
            <a:ext cx="3931920" cy="41148"/>
          </a:xfrm>
          <a:prstGeom prst="rect">
            <a:avLst/>
          </a:prstGeom>
          <a:solidFill>
            <a:srgbClr val="2E9E6B"/>
          </a:solidFill>
          <a:ln w="12700">
            <a:solidFill>
              <a:srgbClr val="333333"/>
            </a:solidFill>
            <a:prstDash val="solid"/>
          </a:ln>
        </p:spPr>
        <p:txBody>
          <a:bodyPr/>
          <a:lstStyle/>
          <a:p>
            <a:endParaRPr lang="en-IN"/>
          </a:p>
        </p:txBody>
      </p:sp>
      <p:sp>
        <p:nvSpPr>
          <p:cNvPr id="23" name="Text 21"/>
          <p:cNvSpPr/>
          <p:nvPr/>
        </p:nvSpPr>
        <p:spPr>
          <a:xfrm>
            <a:off x="4910328" y="3352800"/>
            <a:ext cx="3529584" cy="173736"/>
          </a:xfrm>
          <a:prstGeom prst="rect">
            <a:avLst/>
          </a:prstGeom>
          <a:noFill/>
          <a:ln/>
        </p:spPr>
        <p:txBody>
          <a:bodyPr wrap="square" lIns="0" tIns="0" rIns="0" bIns="0" rtlCol="0" anchor="ctr"/>
          <a:lstStyle/>
          <a:p>
            <a:pPr marL="0" indent="0">
              <a:buNone/>
            </a:pPr>
            <a:r>
              <a:rPr lang="en-US" sz="900" b="1" kern="0" spc="120">
                <a:solidFill>
                  <a:srgbClr val="2E9E6B"/>
                </a:solidFill>
                <a:latin typeface="Segoe UI" pitchFamily="34" charset="0"/>
                <a:ea typeface="Segoe UI" pitchFamily="34" charset="-122"/>
                <a:cs typeface="Segoe UI" pitchFamily="34" charset="-120"/>
              </a:rPr>
              <a:t>DIAGNOSE</a:t>
            </a:r>
            <a:endParaRPr lang="en-US" sz="900"/>
          </a:p>
        </p:txBody>
      </p:sp>
      <p:sp>
        <p:nvSpPr>
          <p:cNvPr id="24" name="Text 22"/>
          <p:cNvSpPr/>
          <p:nvPr/>
        </p:nvSpPr>
        <p:spPr>
          <a:xfrm>
            <a:off x="4910328" y="3553968"/>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Check usage before you blame</a:t>
            </a:r>
            <a:endParaRPr lang="en-US" sz="850"/>
          </a:p>
        </p:txBody>
      </p:sp>
      <p:sp>
        <p:nvSpPr>
          <p:cNvPr id="25" name="Text 23"/>
          <p:cNvSpPr/>
          <p:nvPr/>
        </p:nvSpPr>
        <p:spPr>
          <a:xfrm>
            <a:off x="4910328" y="3802380"/>
            <a:ext cx="3529584" cy="146304"/>
          </a:xfrm>
          <a:prstGeom prst="rect">
            <a:avLst/>
          </a:prstGeom>
          <a:noFill/>
          <a:ln/>
        </p:spPr>
        <p:txBody>
          <a:bodyPr wrap="square" lIns="0" tIns="0" rIns="0" bIns="0" rtlCol="0" anchor="t"/>
          <a:lstStyle/>
          <a:p>
            <a:pPr marL="0" indent="0">
              <a:lnSpc>
                <a:spcPct val="115000"/>
              </a:lnSpc>
              <a:buNone/>
            </a:pPr>
            <a:r>
              <a:rPr lang="en-US" sz="750">
                <a:solidFill>
                  <a:srgbClr val="44566B"/>
                </a:solidFill>
                <a:latin typeface="Segoe UI" pitchFamily="34" charset="0"/>
                <a:ea typeface="Segoe UI" pitchFamily="34" charset="-122"/>
                <a:cs typeface="Segoe UI" pitchFamily="34" charset="-120"/>
              </a:rPr>
              <a:t>kubectl describe quota -n payments-dev shows used against hard for every tracked resource.</a:t>
            </a:r>
            <a:endParaRPr lang="en-US" sz="750"/>
          </a:p>
        </p:txBody>
      </p:sp>
      <p:sp>
        <p:nvSpPr>
          <p:cNvPr id="26"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7"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28" name="Text 26"/>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D0483C"/>
                </a:solidFill>
                <a:latin typeface="Segoe UI" pitchFamily="34" charset="0"/>
                <a:ea typeface="Segoe UI" pitchFamily="34" charset="-122"/>
                <a:cs typeface="Segoe UI" pitchFamily="34" charset="-120"/>
              </a:rPr>
              <a:t>Classic symptom   </a:t>
            </a:r>
            <a:r>
              <a:rPr lang="en-US" sz="950">
                <a:solidFill>
                  <a:srgbClr val="0E2233"/>
                </a:solidFill>
                <a:latin typeface="Segoe UI" pitchFamily="34" charset="0"/>
                <a:ea typeface="Segoe UI" pitchFamily="34" charset="-122"/>
                <a:cs typeface="Segoe UI" pitchFamily="34" charset="-120"/>
              </a:rPr>
              <a:t>the Deployment is created but no Pods appear. The quota rejection is on the ReplicaSet events, so run kubectl describe rs, not describe deploy.</a:t>
            </a:r>
            <a:endParaRPr lang="en-US" sz="1000"/>
          </a:p>
        </p:txBody>
      </p:sp>
      <p:sp>
        <p:nvSpPr>
          <p:cNvPr id="29"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7 · NAMESPACE AND RESOURCE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LimitRange — sensible defaults per namespace</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A LimitRange fills in what developers forget and rejects values that are obviously wrong.</a:t>
            </a:r>
            <a:endParaRPr lang="en-US" sz="1150"/>
          </a:p>
        </p:txBody>
      </p:sp>
      <p:sp>
        <p:nvSpPr>
          <p:cNvPr id="7" name="Text 5"/>
          <p:cNvSpPr/>
          <p:nvPr/>
        </p:nvSpPr>
        <p:spPr>
          <a:xfrm>
            <a:off x="502920" y="1481328"/>
            <a:ext cx="4023360" cy="1865376"/>
          </a:xfrm>
          <a:prstGeom prst="rect">
            <a:avLst/>
          </a:prstGeom>
          <a:noFill/>
          <a:ln/>
        </p:spPr>
        <p:txBody>
          <a:bodyPr wrap="square" lIns="0" tIns="0" rIns="0" bIns="0" rtlCol="0" anchor="t"/>
          <a:lstStyle/>
          <a:p>
            <a:pPr marL="342900" indent="-342900">
              <a:spcAft>
                <a:spcPts val="900"/>
              </a:spcAft>
              <a:buSzPct val="100000"/>
              <a:buChar char="•"/>
            </a:pPr>
            <a:r>
              <a:rPr lang="en-US" sz="875">
                <a:solidFill>
                  <a:srgbClr val="44566B"/>
                </a:solidFill>
                <a:latin typeface="Segoe UI" pitchFamily="34" charset="0"/>
                <a:ea typeface="Segoe UI" pitchFamily="34" charset="-122"/>
                <a:cs typeface="Segoe UI" pitchFamily="34" charset="-120"/>
              </a:rPr>
              <a:t>Applies defaults at creation time to any container that does not set its own requests or limits</a:t>
            </a:r>
            <a:endParaRPr lang="en-US" sz="875"/>
          </a:p>
          <a:p>
            <a:pPr marL="342900" indent="-342900">
              <a:spcAft>
                <a:spcPts val="900"/>
              </a:spcAft>
              <a:buSzPct val="100000"/>
              <a:buChar char="•"/>
            </a:pPr>
            <a:r>
              <a:rPr lang="en-US" sz="875">
                <a:solidFill>
                  <a:srgbClr val="44566B"/>
                </a:solidFill>
                <a:latin typeface="Segoe UI" pitchFamily="34" charset="0"/>
                <a:ea typeface="Segoe UI" pitchFamily="34" charset="-122"/>
                <a:cs typeface="Segoe UI" pitchFamily="34" charset="-120"/>
              </a:rPr>
              <a:t>Enforces a minimum and a maximum, so nobody claims half the cluster for a test Pod</a:t>
            </a:r>
            <a:endParaRPr lang="en-US" sz="875"/>
          </a:p>
          <a:p>
            <a:pPr marL="342900" indent="-342900">
              <a:spcAft>
                <a:spcPts val="900"/>
              </a:spcAft>
              <a:buSzPct val="100000"/>
              <a:buChar char="•"/>
            </a:pPr>
            <a:r>
              <a:rPr lang="en-US" sz="875">
                <a:solidFill>
                  <a:srgbClr val="44566B"/>
                </a:solidFill>
                <a:latin typeface="Segoe UI" pitchFamily="34" charset="0"/>
                <a:ea typeface="Segoe UI" pitchFamily="34" charset="-122"/>
                <a:cs typeface="Segoe UI" pitchFamily="34" charset="-120"/>
              </a:rPr>
              <a:t>Works per namespace, and is the natural partner to a ResourceQuota</a:t>
            </a:r>
            <a:endParaRPr lang="en-US" sz="875"/>
          </a:p>
        </p:txBody>
      </p:sp>
      <p:sp>
        <p:nvSpPr>
          <p:cNvPr id="8" name="code panel">
            <a:extLst>
              <a:ext uri="{C183D7F6-B498-43B3-948B-1728B52AA6E4}">
                <adec:decorative xmlns:adec="http://schemas.microsoft.com/office/drawing/2017/decorative" val="1"/>
              </a:ext>
            </a:extLst>
          </p:cNvPr>
          <p:cNvSpPr/>
          <p:nvPr/>
        </p:nvSpPr>
        <p:spPr>
          <a:xfrm>
            <a:off x="4709160" y="1481328"/>
            <a:ext cx="3931920" cy="186537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9" name="code panel header">
            <a:extLst>
              <a:ext uri="{C183D7F6-B498-43B3-948B-1728B52AA6E4}">
                <adec:decorative xmlns:adec="http://schemas.microsoft.com/office/drawing/2017/decorative" val="1"/>
              </a:ext>
            </a:extLst>
          </p:cNvPr>
          <p:cNvSpPr/>
          <p:nvPr/>
        </p:nvSpPr>
        <p:spPr>
          <a:xfrm>
            <a:off x="4709160" y="1481328"/>
            <a:ext cx="3931920" cy="256032"/>
          </a:xfrm>
          <a:prstGeom prst="rect">
            <a:avLst/>
          </a:prstGeom>
          <a:solidFill>
            <a:srgbClr val="0F3D66"/>
          </a:solidFill>
          <a:ln w="12700">
            <a:solidFill>
              <a:srgbClr val="333333"/>
            </a:solidFill>
            <a:prstDash val="solid"/>
          </a:ln>
        </p:spPr>
        <p:txBody>
          <a:bodyPr/>
          <a:lstStyle/>
          <a:p>
            <a:endParaRPr lang="en-IN"/>
          </a:p>
        </p:txBody>
      </p:sp>
      <p:sp>
        <p:nvSpPr>
          <p:cNvPr id="10" name="Text 8"/>
          <p:cNvSpPr/>
          <p:nvPr/>
        </p:nvSpPr>
        <p:spPr>
          <a:xfrm>
            <a:off x="4855464" y="1481328"/>
            <a:ext cx="363931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limitrange.yaml</a:t>
            </a:r>
            <a:endParaRPr lang="en-US" sz="850"/>
          </a:p>
        </p:txBody>
      </p:sp>
      <p:sp>
        <p:nvSpPr>
          <p:cNvPr id="11" name="Text 9"/>
          <p:cNvSpPr/>
          <p:nvPr/>
        </p:nvSpPr>
        <p:spPr>
          <a:xfrm>
            <a:off x="4855464" y="1810512"/>
            <a:ext cx="3639312" cy="1389888"/>
          </a:xfrm>
          <a:prstGeom prst="rect">
            <a:avLst/>
          </a:prstGeom>
          <a:noFill/>
          <a:ln/>
        </p:spPr>
        <p:txBody>
          <a:bodyPr wrap="square" lIns="0" tIns="0" rIns="0" bIns="0" rtlCol="0" anchor="t"/>
          <a:lstStyle/>
          <a:p>
            <a:pPr marL="0" indent="0">
              <a:lnSpc>
                <a:spcPct val="112000"/>
              </a:lnSpc>
              <a:buNone/>
            </a:pPr>
            <a:r>
              <a:rPr lang="en-US" sz="700">
                <a:solidFill>
                  <a:srgbClr val="D7ECF8"/>
                </a:solidFill>
                <a:latin typeface="Consolas" pitchFamily="34" charset="0"/>
                <a:ea typeface="Consolas" pitchFamily="34" charset="-122"/>
                <a:cs typeface="Consolas" pitchFamily="34" charset="-120"/>
              </a:rPr>
              <a:t>apiVersion: v1</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kind: LimitRange</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metadata:</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name: payments-defaults</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namespace: payments-dev</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spec:</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limits:</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 type: Container</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default:</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cpu: 500m</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memory: 512Mi</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defaultRequest:</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cpu: 200m</a:t>
            </a:r>
            <a:endParaRPr lang="en-US" sz="700"/>
          </a:p>
          <a:p>
            <a:pPr marL="0" indent="0">
              <a:lnSpc>
                <a:spcPct val="112000"/>
              </a:lnSpc>
              <a:buNone/>
            </a:pPr>
            <a:r>
              <a:rPr lang="en-US" sz="700">
                <a:solidFill>
                  <a:srgbClr val="D7ECF8"/>
                </a:solidFill>
                <a:latin typeface="Consolas" pitchFamily="34" charset="0"/>
                <a:ea typeface="Consolas" pitchFamily="34" charset="-122"/>
                <a:cs typeface="Consolas" pitchFamily="34" charset="-120"/>
              </a:rPr>
              <a:t>      memory: 256Mi</a:t>
            </a:r>
            <a:endParaRPr lang="en-US" sz="700"/>
          </a:p>
        </p:txBody>
      </p:sp>
      <p:sp>
        <p:nvSpPr>
          <p:cNvPr id="12"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3"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DEFAULTS</a:t>
            </a:r>
            <a:endParaRPr lang="en-US" sz="1100"/>
          </a:p>
        </p:txBody>
      </p:sp>
      <p:sp>
        <p:nvSpPr>
          <p:cNvPr id="15" name="Text 13"/>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Containers with nothing set inherit default and defaultRequest automatically.</a:t>
            </a:r>
            <a:endParaRPr lang="en-US" sz="800"/>
          </a:p>
        </p:txBody>
      </p:sp>
      <p:sp>
        <p:nvSpPr>
          <p:cNvPr id="16"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7"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18" name="Text 16"/>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GUARDRAILS</a:t>
            </a:r>
            <a:endParaRPr lang="en-US" sz="1100"/>
          </a:p>
        </p:txBody>
      </p:sp>
      <p:sp>
        <p:nvSpPr>
          <p:cNvPr id="19" name="Text 17"/>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min and max reject Pods that ask for too little or far too much.</a:t>
            </a:r>
            <a:endParaRPr lang="en-US" sz="800"/>
          </a:p>
        </p:txBody>
      </p:sp>
      <p:sp>
        <p:nvSpPr>
          <p:cNvPr id="20"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1"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F2A93B"/>
          </a:solidFill>
          <a:ln w="12700">
            <a:solidFill>
              <a:srgbClr val="333333"/>
            </a:solidFill>
            <a:prstDash val="solid"/>
          </a:ln>
        </p:spPr>
        <p:txBody>
          <a:bodyPr/>
          <a:lstStyle/>
          <a:p>
            <a:endParaRPr lang="en-IN"/>
          </a:p>
        </p:txBody>
      </p:sp>
      <p:sp>
        <p:nvSpPr>
          <p:cNvPr id="22" name="Text 20"/>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AT CREATION</a:t>
            </a:r>
            <a:endParaRPr lang="en-US" sz="1100"/>
          </a:p>
        </p:txBody>
      </p:sp>
      <p:sp>
        <p:nvSpPr>
          <p:cNvPr id="23" name="Text 21"/>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Applied when the Pod is admitted — existing Pods are not changed retrospectively.</a:t>
            </a:r>
            <a:endParaRPr lang="en-US" sz="800"/>
          </a:p>
        </p:txBody>
      </p:sp>
      <p:sp>
        <p:nvSpPr>
          <p:cNvPr id="26" name="callout bar">
            <a:extLst>
              <a:ext uri="{C183D7F6-B498-43B3-948B-1728B52AA6E4}">
                <adec:decorative xmlns:adec="http://schemas.microsoft.com/office/drawing/2017/decorative" val="1"/>
              </a:ext>
            </a:extLst>
          </p:cNvPr>
          <p:cNvSpPr/>
          <p:nvPr/>
        </p:nvSpPr>
        <p:spPr>
          <a:xfrm>
            <a:off x="502920" y="4206240"/>
            <a:ext cx="8138160" cy="402336"/>
          </a:xfrm>
          <a:prstGeom prst="rect">
            <a:avLst/>
          </a:prstGeom>
          <a:solidFill>
            <a:srgbClr val="EDF4FC"/>
          </a:solidFill>
          <a:ln w="12700">
            <a:solidFill>
              <a:srgbClr val="333333"/>
            </a:solidFill>
            <a:prstDash val="solid"/>
          </a:ln>
        </p:spPr>
        <p:txBody>
          <a:bodyPr/>
          <a:lstStyle/>
          <a:p>
            <a:endParaRPr lang="en-IN"/>
          </a:p>
        </p:txBody>
      </p:sp>
      <p:sp>
        <p:nvSpPr>
          <p:cNvPr id="27" name="callout accent">
            <a:extLst>
              <a:ext uri="{C183D7F6-B498-43B3-948B-1728B52AA6E4}">
                <adec:decorative xmlns:adec="http://schemas.microsoft.com/office/drawing/2017/decorative" val="1"/>
              </a:ext>
            </a:extLst>
          </p:cNvPr>
          <p:cNvSpPr/>
          <p:nvPr/>
        </p:nvSpPr>
        <p:spPr>
          <a:xfrm>
            <a:off x="502920" y="4206240"/>
            <a:ext cx="45720" cy="402336"/>
          </a:xfrm>
          <a:prstGeom prst="rect">
            <a:avLst/>
          </a:prstGeom>
          <a:solidFill>
            <a:srgbClr val="0B63CE"/>
          </a:solidFill>
          <a:ln w="12700">
            <a:solidFill>
              <a:srgbClr val="333333"/>
            </a:solidFill>
            <a:prstDash val="solid"/>
          </a:ln>
        </p:spPr>
        <p:txBody>
          <a:bodyPr/>
          <a:lstStyle/>
          <a:p>
            <a:endParaRPr lang="en-IN"/>
          </a:p>
        </p:txBody>
      </p:sp>
      <p:sp>
        <p:nvSpPr>
          <p:cNvPr id="28" name="Text 26"/>
          <p:cNvSpPr/>
          <p:nvPr/>
        </p:nvSpPr>
        <p:spPr>
          <a:xfrm>
            <a:off x="685800" y="4206240"/>
            <a:ext cx="7772400" cy="402336"/>
          </a:xfrm>
          <a:prstGeom prst="rect">
            <a:avLst/>
          </a:prstGeom>
          <a:noFill/>
          <a:ln/>
        </p:spPr>
        <p:txBody>
          <a:bodyPr wrap="square" lIns="0" tIns="0" rIns="0" bIns="0" rtlCol="0" anchor="ctr"/>
          <a:lstStyle/>
          <a:p>
            <a:pPr marL="0" indent="0">
              <a:buNone/>
            </a:pPr>
            <a:r>
              <a:rPr lang="en-US" sz="900">
                <a:solidFill>
                  <a:srgbClr val="0E2233"/>
                </a:solidFill>
                <a:latin typeface="Segoe UI" pitchFamily="34" charset="0"/>
                <a:ea typeface="Segoe UI" pitchFamily="34" charset="-122"/>
                <a:cs typeface="Segoe UI" pitchFamily="34" charset="-120"/>
              </a:rPr>
              <a:t>Quota plus LimitRange together — the quota sets the namespace budget, the LimitRange makes sure every Pod declares its share of it.</a:t>
            </a:r>
            <a:endParaRPr lang="en-US" sz="9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7 · NAMESPACE AND RESOURCE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100" b="1">
                <a:solidFill>
                  <a:srgbClr val="0E2233"/>
                </a:solidFill>
                <a:latin typeface="Segoe UI" pitchFamily="34" charset="0"/>
                <a:ea typeface="Segoe UI" pitchFamily="34" charset="-122"/>
                <a:cs typeface="Segoe UI" pitchFamily="34" charset="-120"/>
              </a:rPr>
              <a:t>Multi-team application isolation</a:t>
            </a:r>
            <a:endParaRPr lang="en-US" sz="21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2"/>
          <p:cNvSpPr/>
          <p:nvPr/>
        </p:nvSpPr>
        <p:spPr>
          <a:xfrm>
            <a:off x="502920" y="1055000"/>
            <a:ext cx="8138160" cy="201168"/>
          </a:xfrm>
          <a:prstGeom prst="rect">
            <a:avLst/>
          </a:prstGeom>
          <a:noFill/>
          <a:ln/>
        </p:spPr>
        <p:txBody>
          <a:bodyPr wrap="square" lIns="0" tIns="0" rIns="0" bIns="0" rtlCol="0" anchor="ctr"/>
          <a:lstStyle/>
          <a:p>
            <a:pPr marL="0" indent="0">
              <a:buNone/>
            </a:pPr>
            <a:r>
              <a:rPr lang="en-US" sz="1050">
                <a:solidFill>
                  <a:srgbClr val="44566B"/>
                </a:solidFill>
                <a:latin typeface="Segoe UI" pitchFamily="34" charset="0"/>
                <a:ea typeface="Segoe UI" pitchFamily="34" charset="-122"/>
                <a:cs typeface="Segoe UI" pitchFamily="34" charset="-120"/>
              </a:rPr>
              <a:t>Real isolation on a shared cluster comes from layers, not from one setting.</a:t>
            </a:r>
            <a:endParaRPr lang="en-US" sz="1050"/>
          </a:p>
        </p:txBody>
      </p:sp>
      <p:sp>
        <p:nvSpPr>
          <p:cNvPr id="7" name="card">
            <a:extLst>
              <a:ext uri="{C183D7F6-B498-43B3-948B-1728B52AA6E4}">
                <adec:decorative xmlns:adec="http://schemas.microsoft.com/office/drawing/2017/decorative" val="1"/>
              </a:ext>
            </a:extLst>
          </p:cNvPr>
          <p:cNvSpPr/>
          <p:nvPr/>
        </p:nvSpPr>
        <p:spPr>
          <a:xfrm>
            <a:off x="502920" y="1320000"/>
            <a:ext cx="3968496" cy="880000"/>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320000"/>
            <a:ext cx="3968496" cy="41148"/>
          </a:xfrm>
          <a:prstGeom prst="rect">
            <a:avLst/>
          </a:prstGeom>
          <a:solidFill>
            <a:srgbClr val="0B63CE"/>
          </a:solidFill>
          <a:ln w="12700">
            <a:solidFill>
              <a:srgbClr val="333333"/>
            </a:solidFill>
            <a:prstDash val="solid"/>
          </a:ln>
        </p:spPr>
        <p:txBody>
          <a:bodyPr/>
          <a:lstStyle/>
          <a:p>
            <a:endParaRPr lang="en-IN"/>
          </a:p>
        </p:txBody>
      </p:sp>
      <p:sp>
        <p:nvSpPr>
          <p:cNvPr id="9" name="Text 7"/>
          <p:cNvSpPr/>
          <p:nvPr/>
        </p:nvSpPr>
        <p:spPr>
          <a:xfrm>
            <a:off x="704088" y="1430000"/>
            <a:ext cx="3566160" cy="170000"/>
          </a:xfrm>
          <a:prstGeom prst="rect">
            <a:avLst/>
          </a:prstGeom>
          <a:noFill/>
          <a:ln/>
        </p:spPr>
        <p:txBody>
          <a:bodyPr wrap="square" lIns="0" tIns="0" rIns="0" bIns="0" rtlCol="0" anchor="ctr"/>
          <a:lstStyle/>
          <a:p>
            <a:pPr marL="0" indent="0">
              <a:buNone/>
            </a:pPr>
            <a:r>
              <a:rPr lang="en-US" sz="850" b="1" kern="0" spc="120">
                <a:solidFill>
                  <a:srgbClr val="0B63CE"/>
                </a:solidFill>
                <a:latin typeface="Segoe UI" pitchFamily="34" charset="0"/>
                <a:ea typeface="Segoe UI" pitchFamily="34" charset="-122"/>
                <a:cs typeface="Segoe UI" pitchFamily="34" charset="-120"/>
              </a:rPr>
              <a:t>NAMESPACE</a:t>
            </a:r>
            <a:endParaRPr lang="en-US" sz="850"/>
          </a:p>
        </p:txBody>
      </p:sp>
      <p:sp>
        <p:nvSpPr>
          <p:cNvPr id="10" name="Text 8"/>
          <p:cNvSpPr/>
          <p:nvPr/>
        </p:nvSpPr>
        <p:spPr>
          <a:xfrm>
            <a:off x="704088" y="1600000"/>
            <a:ext cx="3566160" cy="23000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The organising unit</a:t>
            </a:r>
            <a:endParaRPr lang="en-US" sz="1200"/>
          </a:p>
        </p:txBody>
      </p:sp>
      <p:sp>
        <p:nvSpPr>
          <p:cNvPr id="11" name="Text 9"/>
          <p:cNvSpPr/>
          <p:nvPr/>
        </p:nvSpPr>
        <p:spPr>
          <a:xfrm>
            <a:off x="704088" y="1840000"/>
            <a:ext cx="3566160" cy="33000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One namespace per team and environment gives every other control something to attach to.</a:t>
            </a:r>
            <a:endParaRPr lang="en-US" sz="850"/>
          </a:p>
        </p:txBody>
      </p:sp>
      <p:sp>
        <p:nvSpPr>
          <p:cNvPr id="12" name="card">
            <a:extLst>
              <a:ext uri="{C183D7F6-B498-43B3-948B-1728B52AA6E4}">
                <adec:decorative xmlns:adec="http://schemas.microsoft.com/office/drawing/2017/decorative" val="1"/>
              </a:ext>
            </a:extLst>
          </p:cNvPr>
          <p:cNvSpPr/>
          <p:nvPr/>
        </p:nvSpPr>
        <p:spPr>
          <a:xfrm>
            <a:off x="4672584" y="1320000"/>
            <a:ext cx="3968496" cy="880000"/>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4672584" y="1320000"/>
            <a:ext cx="3968496" cy="41148"/>
          </a:xfrm>
          <a:prstGeom prst="rect">
            <a:avLst/>
          </a:prstGeom>
          <a:solidFill>
            <a:srgbClr val="17A9DB"/>
          </a:solidFill>
          <a:ln w="12700">
            <a:solidFill>
              <a:srgbClr val="333333"/>
            </a:solidFill>
            <a:prstDash val="solid"/>
          </a:ln>
        </p:spPr>
        <p:txBody>
          <a:bodyPr/>
          <a:lstStyle/>
          <a:p>
            <a:endParaRPr lang="en-IN"/>
          </a:p>
        </p:txBody>
      </p:sp>
      <p:sp>
        <p:nvSpPr>
          <p:cNvPr id="14" name="Text 12"/>
          <p:cNvSpPr/>
          <p:nvPr/>
        </p:nvSpPr>
        <p:spPr>
          <a:xfrm>
            <a:off x="4873752" y="1430000"/>
            <a:ext cx="3566160" cy="170000"/>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RBAC</a:t>
            </a:r>
            <a:endParaRPr lang="en-US" sz="850"/>
          </a:p>
        </p:txBody>
      </p:sp>
      <p:sp>
        <p:nvSpPr>
          <p:cNvPr id="15" name="Text 13"/>
          <p:cNvSpPr/>
          <p:nvPr/>
        </p:nvSpPr>
        <p:spPr>
          <a:xfrm>
            <a:off x="4873752" y="1600000"/>
            <a:ext cx="3566160" cy="23000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Least privilege by default</a:t>
            </a:r>
            <a:endParaRPr lang="en-US" sz="1200"/>
          </a:p>
        </p:txBody>
      </p:sp>
      <p:sp>
        <p:nvSpPr>
          <p:cNvPr id="16" name="Text 14"/>
          <p:cNvSpPr/>
          <p:nvPr/>
        </p:nvSpPr>
        <p:spPr>
          <a:xfrm>
            <a:off x="4873752" y="1840000"/>
            <a:ext cx="3566160" cy="33000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Bind each team to edit rights in their own namespace only, and keep cluster-wide roles for the platform team.</a:t>
            </a:r>
            <a:endParaRPr lang="en-US" sz="850"/>
          </a:p>
        </p:txBody>
      </p:sp>
      <p:sp>
        <p:nvSpPr>
          <p:cNvPr id="17" name="card">
            <a:extLst>
              <a:ext uri="{C183D7F6-B498-43B3-948B-1728B52AA6E4}">
                <adec:decorative xmlns:adec="http://schemas.microsoft.com/office/drawing/2017/decorative" val="1"/>
              </a:ext>
            </a:extLst>
          </p:cNvPr>
          <p:cNvSpPr/>
          <p:nvPr/>
        </p:nvSpPr>
        <p:spPr>
          <a:xfrm>
            <a:off x="502920" y="2245000"/>
            <a:ext cx="3968496" cy="880000"/>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502920" y="2245000"/>
            <a:ext cx="3968496" cy="41148"/>
          </a:xfrm>
          <a:prstGeom prst="rect">
            <a:avLst/>
          </a:prstGeom>
          <a:solidFill>
            <a:srgbClr val="0B63CE"/>
          </a:solidFill>
          <a:ln w="12700">
            <a:solidFill>
              <a:srgbClr val="333333"/>
            </a:solidFill>
            <a:prstDash val="solid"/>
          </a:ln>
        </p:spPr>
        <p:txBody>
          <a:bodyPr/>
          <a:lstStyle/>
          <a:p>
            <a:endParaRPr lang="en-IN"/>
          </a:p>
        </p:txBody>
      </p:sp>
      <p:sp>
        <p:nvSpPr>
          <p:cNvPr id="19" name="Text 17"/>
          <p:cNvSpPr/>
          <p:nvPr/>
        </p:nvSpPr>
        <p:spPr>
          <a:xfrm>
            <a:off x="704088" y="2355000"/>
            <a:ext cx="3566160" cy="170000"/>
          </a:xfrm>
          <a:prstGeom prst="rect">
            <a:avLst/>
          </a:prstGeom>
          <a:noFill/>
          <a:ln/>
        </p:spPr>
        <p:txBody>
          <a:bodyPr wrap="square" lIns="0" tIns="0" rIns="0" bIns="0" rtlCol="0" anchor="ctr"/>
          <a:lstStyle/>
          <a:p>
            <a:pPr marL="0" indent="0">
              <a:buNone/>
            </a:pPr>
            <a:r>
              <a:rPr lang="en-US" sz="850" b="1" kern="0" spc="120">
                <a:solidFill>
                  <a:srgbClr val="0B63CE"/>
                </a:solidFill>
                <a:latin typeface="Segoe UI" pitchFamily="34" charset="0"/>
                <a:ea typeface="Segoe UI" pitchFamily="34" charset="-122"/>
                <a:cs typeface="Segoe UI" pitchFamily="34" charset="-120"/>
              </a:rPr>
              <a:t>QUOTA</a:t>
            </a:r>
            <a:endParaRPr lang="en-US" sz="850"/>
          </a:p>
        </p:txBody>
      </p:sp>
      <p:sp>
        <p:nvSpPr>
          <p:cNvPr id="20" name="Text 18"/>
          <p:cNvSpPr/>
          <p:nvPr/>
        </p:nvSpPr>
        <p:spPr>
          <a:xfrm>
            <a:off x="704088" y="2525000"/>
            <a:ext cx="3566160" cy="23000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A budget nobody can exceed</a:t>
            </a:r>
            <a:endParaRPr lang="en-US" sz="1200"/>
          </a:p>
        </p:txBody>
      </p:sp>
      <p:sp>
        <p:nvSpPr>
          <p:cNvPr id="21" name="Text 19"/>
          <p:cNvSpPr/>
          <p:nvPr/>
        </p:nvSpPr>
        <p:spPr>
          <a:xfrm>
            <a:off x="704088" y="2765000"/>
            <a:ext cx="3566160" cy="33000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ResourceQuota and LimitRange stop one team consuming the capacity another team is paying for.</a:t>
            </a:r>
            <a:endParaRPr lang="en-US" sz="850"/>
          </a:p>
        </p:txBody>
      </p:sp>
      <p:sp>
        <p:nvSpPr>
          <p:cNvPr id="22" name="card">
            <a:extLst>
              <a:ext uri="{C183D7F6-B498-43B3-948B-1728B52AA6E4}">
                <adec:decorative xmlns:adec="http://schemas.microsoft.com/office/drawing/2017/decorative" val="1"/>
              </a:ext>
            </a:extLst>
          </p:cNvPr>
          <p:cNvSpPr/>
          <p:nvPr/>
        </p:nvSpPr>
        <p:spPr>
          <a:xfrm>
            <a:off x="4672584" y="2245000"/>
            <a:ext cx="3968496" cy="880000"/>
          </a:xfrm>
          <a:prstGeom prst="rect">
            <a:avLst/>
          </a:prstGeom>
          <a:solidFill>
            <a:srgbClr val="F6F9FD"/>
          </a:solidFill>
          <a:ln w="9525">
            <a:solidFill>
              <a:srgbClr val="D8E5F2"/>
            </a:solidFill>
            <a:prstDash val="solid"/>
          </a:ln>
        </p:spPr>
        <p:txBody>
          <a:bodyPr/>
          <a:lstStyle/>
          <a:p>
            <a:endParaRPr lang="en-IN"/>
          </a:p>
        </p:txBody>
      </p:sp>
      <p:sp>
        <p:nvSpPr>
          <p:cNvPr id="23" name="card accent">
            <a:extLst>
              <a:ext uri="{C183D7F6-B498-43B3-948B-1728B52AA6E4}">
                <adec:decorative xmlns:adec="http://schemas.microsoft.com/office/drawing/2017/decorative" val="1"/>
              </a:ext>
            </a:extLst>
          </p:cNvPr>
          <p:cNvSpPr/>
          <p:nvPr/>
        </p:nvSpPr>
        <p:spPr>
          <a:xfrm>
            <a:off x="4672584" y="2245000"/>
            <a:ext cx="3968496" cy="41148"/>
          </a:xfrm>
          <a:prstGeom prst="rect">
            <a:avLst/>
          </a:prstGeom>
          <a:solidFill>
            <a:srgbClr val="17A9DB"/>
          </a:solidFill>
          <a:ln w="12700">
            <a:solidFill>
              <a:srgbClr val="333333"/>
            </a:solidFill>
            <a:prstDash val="solid"/>
          </a:ln>
        </p:spPr>
        <p:txBody>
          <a:bodyPr/>
          <a:lstStyle/>
          <a:p>
            <a:endParaRPr lang="en-IN"/>
          </a:p>
        </p:txBody>
      </p:sp>
      <p:sp>
        <p:nvSpPr>
          <p:cNvPr id="24" name="Text 22"/>
          <p:cNvSpPr/>
          <p:nvPr/>
        </p:nvSpPr>
        <p:spPr>
          <a:xfrm>
            <a:off x="4873752" y="2355000"/>
            <a:ext cx="3566160" cy="170000"/>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NETWORK POLICY</a:t>
            </a:r>
            <a:endParaRPr lang="en-US" sz="850"/>
          </a:p>
        </p:txBody>
      </p:sp>
      <p:sp>
        <p:nvSpPr>
          <p:cNvPr id="25" name="Text 23"/>
          <p:cNvSpPr/>
          <p:nvPr/>
        </p:nvSpPr>
        <p:spPr>
          <a:xfrm>
            <a:off x="4873752" y="2525000"/>
            <a:ext cx="3566160" cy="23000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Deny first, then allow</a:t>
            </a:r>
            <a:endParaRPr lang="en-US" sz="1200"/>
          </a:p>
        </p:txBody>
      </p:sp>
      <p:sp>
        <p:nvSpPr>
          <p:cNvPr id="26" name="Text 24"/>
          <p:cNvSpPr/>
          <p:nvPr/>
        </p:nvSpPr>
        <p:spPr>
          <a:xfrm>
            <a:off x="4873752" y="2765000"/>
            <a:ext cx="3566160" cy="33000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Without policy, any Pod can call any Pod. Start with a default-deny rule per namespace and open only the traffic that is needed.</a:t>
            </a:r>
            <a:endParaRPr lang="en-US" sz="850"/>
          </a:p>
        </p:txBody>
      </p:sp>
      <p:sp>
        <p:nvSpPr>
          <p:cNvPr id="31" name="card">
            <a:extLst>
              <a:ext uri="{C183D7F6-B498-43B3-948B-1728B52AA6E4}">
                <adec:decorative xmlns:adec="http://schemas.microsoft.com/office/drawing/2017/decorative" val="1"/>
              </a:ext>
            </a:extLst>
          </p:cNvPr>
          <p:cNvSpPr/>
          <p:nvPr/>
        </p:nvSpPr>
        <p:spPr>
          <a:xfrm>
            <a:off x="502920" y="3170000"/>
            <a:ext cx="3968496" cy="880000"/>
          </a:xfrm>
          <a:prstGeom prst="rect">
            <a:avLst/>
          </a:prstGeom>
          <a:solidFill>
            <a:srgbClr val="F6F9FD"/>
          </a:solidFill>
          <a:ln w="9525">
            <a:solidFill>
              <a:srgbClr val="D8E5F2"/>
            </a:solidFill>
            <a:prstDash val="solid"/>
          </a:ln>
        </p:spPr>
        <p:txBody>
          <a:bodyPr/>
          <a:lstStyle/>
          <a:p>
            <a:endParaRPr lang="en-IN"/>
          </a:p>
        </p:txBody>
      </p:sp>
      <p:sp>
        <p:nvSpPr>
          <p:cNvPr id="32" name="card accent">
            <a:extLst>
              <a:ext uri="{C183D7F6-B498-43B3-948B-1728B52AA6E4}">
                <adec:decorative xmlns:adec="http://schemas.microsoft.com/office/drawing/2017/decorative" val="1"/>
              </a:ext>
            </a:extLst>
          </p:cNvPr>
          <p:cNvSpPr/>
          <p:nvPr/>
        </p:nvSpPr>
        <p:spPr>
          <a:xfrm>
            <a:off x="502920" y="3170000"/>
            <a:ext cx="3968496" cy="41148"/>
          </a:xfrm>
          <a:prstGeom prst="rect">
            <a:avLst/>
          </a:prstGeom>
          <a:solidFill>
            <a:srgbClr val="0B63CE"/>
          </a:solidFill>
          <a:ln w="12700">
            <a:solidFill>
              <a:srgbClr val="333333"/>
            </a:solidFill>
            <a:prstDash val="solid"/>
          </a:ln>
        </p:spPr>
        <p:txBody>
          <a:bodyPr/>
          <a:lstStyle/>
          <a:p>
            <a:endParaRPr lang="en-IN"/>
          </a:p>
        </p:txBody>
      </p:sp>
      <p:sp>
        <p:nvSpPr>
          <p:cNvPr id="33" name="Text 31"/>
          <p:cNvSpPr/>
          <p:nvPr/>
        </p:nvSpPr>
        <p:spPr>
          <a:xfrm>
            <a:off x="704088" y="3280000"/>
            <a:ext cx="3566160" cy="170000"/>
          </a:xfrm>
          <a:prstGeom prst="rect">
            <a:avLst/>
          </a:prstGeom>
          <a:noFill/>
          <a:ln/>
        </p:spPr>
        <p:txBody>
          <a:bodyPr wrap="square" lIns="0" tIns="0" rIns="0" bIns="0" rtlCol="0" anchor="ctr"/>
          <a:lstStyle/>
          <a:p>
            <a:pPr marL="0" indent="0">
              <a:buNone/>
            </a:pPr>
            <a:r>
              <a:rPr lang="en-US" sz="850" b="1" kern="0" spc="120">
                <a:solidFill>
                  <a:srgbClr val="0B63CE"/>
                </a:solidFill>
                <a:latin typeface="Segoe UI" pitchFamily="34" charset="0"/>
                <a:ea typeface="Segoe UI" pitchFamily="34" charset="-122"/>
                <a:cs typeface="Segoe UI" pitchFamily="34" charset="-120"/>
              </a:rPr>
              <a:t>NODE POOLS</a:t>
            </a:r>
            <a:endParaRPr lang="en-US" sz="850"/>
          </a:p>
        </p:txBody>
      </p:sp>
      <p:sp>
        <p:nvSpPr>
          <p:cNvPr id="34" name="Text 32"/>
          <p:cNvSpPr/>
          <p:nvPr/>
        </p:nvSpPr>
        <p:spPr>
          <a:xfrm>
            <a:off x="704088" y="3450000"/>
            <a:ext cx="3566160" cy="23000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Physical separation when it matters</a:t>
            </a:r>
            <a:endParaRPr lang="en-US" sz="1200"/>
          </a:p>
        </p:txBody>
      </p:sp>
      <p:sp>
        <p:nvSpPr>
          <p:cNvPr id="35" name="Text 33"/>
          <p:cNvSpPr/>
          <p:nvPr/>
        </p:nvSpPr>
        <p:spPr>
          <a:xfrm>
            <a:off x="704088" y="3690000"/>
            <a:ext cx="3566160" cy="33000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Taints, tolerations and node selectors keep sensitive or noisy workloads on dedicated node pools.</a:t>
            </a:r>
            <a:endParaRPr lang="en-US" sz="850"/>
          </a:p>
        </p:txBody>
      </p:sp>
      <p:sp>
        <p:nvSpPr>
          <p:cNvPr id="36" name="card">
            <a:extLst>
              <a:ext uri="{C183D7F6-B498-43B3-948B-1728B52AA6E4}">
                <adec:decorative xmlns:adec="http://schemas.microsoft.com/office/drawing/2017/decorative" val="1"/>
              </a:ext>
            </a:extLst>
          </p:cNvPr>
          <p:cNvSpPr/>
          <p:nvPr/>
        </p:nvSpPr>
        <p:spPr>
          <a:xfrm>
            <a:off x="4672584" y="3170000"/>
            <a:ext cx="3968496" cy="880000"/>
          </a:xfrm>
          <a:prstGeom prst="rect">
            <a:avLst/>
          </a:prstGeom>
          <a:solidFill>
            <a:srgbClr val="F6F9FD"/>
          </a:solidFill>
          <a:ln w="9525">
            <a:solidFill>
              <a:srgbClr val="D8E5F2"/>
            </a:solidFill>
            <a:prstDash val="solid"/>
          </a:ln>
        </p:spPr>
        <p:txBody>
          <a:bodyPr/>
          <a:lstStyle/>
          <a:p>
            <a:endParaRPr lang="en-IN"/>
          </a:p>
        </p:txBody>
      </p:sp>
      <p:sp>
        <p:nvSpPr>
          <p:cNvPr id="37" name="card accent">
            <a:extLst>
              <a:ext uri="{C183D7F6-B498-43B3-948B-1728B52AA6E4}">
                <adec:decorative xmlns:adec="http://schemas.microsoft.com/office/drawing/2017/decorative" val="1"/>
              </a:ext>
            </a:extLst>
          </p:cNvPr>
          <p:cNvSpPr/>
          <p:nvPr/>
        </p:nvSpPr>
        <p:spPr>
          <a:xfrm>
            <a:off x="4672584" y="3170000"/>
            <a:ext cx="3968496" cy="41148"/>
          </a:xfrm>
          <a:prstGeom prst="rect">
            <a:avLst/>
          </a:prstGeom>
          <a:solidFill>
            <a:srgbClr val="17A9DB"/>
          </a:solidFill>
          <a:ln w="12700">
            <a:solidFill>
              <a:srgbClr val="333333"/>
            </a:solidFill>
            <a:prstDash val="solid"/>
          </a:ln>
        </p:spPr>
        <p:txBody>
          <a:bodyPr/>
          <a:lstStyle/>
          <a:p>
            <a:endParaRPr lang="en-IN"/>
          </a:p>
        </p:txBody>
      </p:sp>
      <p:sp>
        <p:nvSpPr>
          <p:cNvPr id="38" name="Text 36"/>
          <p:cNvSpPr/>
          <p:nvPr/>
        </p:nvSpPr>
        <p:spPr>
          <a:xfrm>
            <a:off x="4873752" y="3280000"/>
            <a:ext cx="3566160" cy="170000"/>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IMAGES</a:t>
            </a:r>
            <a:endParaRPr lang="en-US" sz="850"/>
          </a:p>
        </p:txBody>
      </p:sp>
      <p:sp>
        <p:nvSpPr>
          <p:cNvPr id="39" name="Text 37"/>
          <p:cNvSpPr/>
          <p:nvPr/>
        </p:nvSpPr>
        <p:spPr>
          <a:xfrm>
            <a:off x="4873752" y="3450000"/>
            <a:ext cx="3566160" cy="230000"/>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One trusted supply chain</a:t>
            </a:r>
            <a:endParaRPr lang="en-US" sz="1200"/>
          </a:p>
        </p:txBody>
      </p:sp>
      <p:sp>
        <p:nvSpPr>
          <p:cNvPr id="40" name="Text 38"/>
          <p:cNvSpPr/>
          <p:nvPr/>
        </p:nvSpPr>
        <p:spPr>
          <a:xfrm>
            <a:off x="4873752" y="3690000"/>
            <a:ext cx="3566160" cy="33000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A shared Azure Container Registry with per-team repositories and scanning keeps provenance clear across teams.</a:t>
            </a:r>
            <a:endParaRPr lang="en-US" sz="850"/>
          </a:p>
        </p:txBody>
      </p:sp>
      <p:sp>
        <p:nvSpPr>
          <p:cNvPr id="27"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8"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29" name="Text 2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F2A93B"/>
                </a:solidFill>
                <a:latin typeface="Segoe UI" pitchFamily="34" charset="0"/>
                <a:ea typeface="Segoe UI" pitchFamily="34" charset="-122"/>
                <a:cs typeface="Segoe UI" pitchFamily="34" charset="-120"/>
              </a:rPr>
              <a:t>Shared cluster or cluster per team?   </a:t>
            </a:r>
            <a:r>
              <a:rPr lang="en-US" sz="1000">
                <a:solidFill>
                  <a:srgbClr val="0E2233"/>
                </a:solidFill>
                <a:latin typeface="Segoe UI" pitchFamily="34" charset="0"/>
                <a:ea typeface="Segoe UI" pitchFamily="34" charset="-122"/>
                <a:cs typeface="Segoe UI" pitchFamily="34" charset="-120"/>
              </a:rPr>
              <a:t>Use shared clusters for cost and consistency, dedicated clusters where compliance or blast radius demands it.</a:t>
            </a:r>
            <a:endParaRPr lang="en-US" sz="100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8 · SECURITY FOR APPLICATION TEAMS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Service accounts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975">
                <a:solidFill>
                  <a:srgbClr val="44566B"/>
                </a:solidFill>
                <a:latin typeface="Segoe UI" pitchFamily="34" charset="0"/>
                <a:ea typeface="Segoe UI" pitchFamily="34" charset="-122"/>
                <a:cs typeface="Segoe UI" pitchFamily="34" charset="-120"/>
              </a:rPr>
              <a:t>A service account is the identity your Pod uses when it talks to the Kubernetes API — the application’s equivalent of a user account.</a:t>
            </a:r>
            <a:endParaRPr lang="en-US" sz="975"/>
          </a:p>
        </p:txBody>
      </p:sp>
      <p:sp>
        <p:nvSpPr>
          <p:cNvPr id="7" name="Text 5"/>
          <p:cNvSpPr/>
          <p:nvPr/>
        </p:nvSpPr>
        <p:spPr>
          <a:xfrm>
            <a:off x="502920" y="1481328"/>
            <a:ext cx="4023360" cy="2194560"/>
          </a:xfrm>
          <a:prstGeom prst="rect">
            <a:avLst/>
          </a:prstGeom>
          <a:noFill/>
          <a:ln/>
        </p:spPr>
        <p:txBody>
          <a:bodyPr wrap="square" lIns="0" tIns="0" rIns="0" bIns="0" rtlCol="0" anchor="t"/>
          <a:lstStyle/>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Every Pod runs as a service account; if you do not name one it silently uses default in its namespace</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The default account should have no permissions — never grant rights to it, create a purpose-made account instead</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Permissions come from RoleBindings, so an account is only as powerful as what you bind to it</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Set automountServiceAccountToken: false when the application never calls the Kubernetes API</a:t>
            </a:r>
            <a:endParaRPr lang="en-US" sz="1150"/>
          </a:p>
        </p:txBody>
      </p:sp>
      <p:sp>
        <p:nvSpPr>
          <p:cNvPr id="8" name="pod frame">
            <a:extLst>
              <a:ext uri="{C183D7F6-B498-43B3-948B-1728B52AA6E4}">
                <adec:decorative xmlns:adec="http://schemas.microsoft.com/office/drawing/2017/decorative" val="1"/>
              </a:ext>
            </a:extLst>
          </p:cNvPr>
          <p:cNvSpPr/>
          <p:nvPr/>
        </p:nvSpPr>
        <p:spPr>
          <a:xfrm>
            <a:off x="502920" y="3657600"/>
            <a:ext cx="4023360" cy="960120"/>
          </a:xfrm>
          <a:prstGeom prst="rect">
            <a:avLst/>
          </a:prstGeom>
          <a:solidFill>
            <a:srgbClr val="EDF4FC"/>
          </a:solidFill>
          <a:ln w="12700">
            <a:solidFill>
              <a:srgbClr val="17A9DB"/>
            </a:solidFill>
            <a:prstDash val="solid"/>
          </a:ln>
        </p:spPr>
        <p:txBody>
          <a:bodyPr/>
          <a:lstStyle/>
          <a:p>
            <a:endParaRPr lang="en-IN"/>
          </a:p>
        </p:txBody>
      </p:sp>
      <p:sp>
        <p:nvSpPr>
          <p:cNvPr id="9" name="Text 7"/>
          <p:cNvSpPr/>
          <p:nvPr/>
        </p:nvSpPr>
        <p:spPr>
          <a:xfrm>
            <a:off x="630936" y="3712464"/>
            <a:ext cx="2011680" cy="219456"/>
          </a:xfrm>
          <a:prstGeom prst="rect">
            <a:avLst/>
          </a:prstGeom>
          <a:noFill/>
          <a:ln/>
        </p:spPr>
        <p:txBody>
          <a:bodyPr wrap="square" lIns="0" tIns="0" rIns="0" bIns="0" rtlCol="0" anchor="ctr"/>
          <a:lstStyle/>
          <a:p>
            <a:pPr marL="0" indent="0">
              <a:buNone/>
            </a:pPr>
            <a:r>
              <a:rPr lang="en-US" sz="950" b="1">
                <a:solidFill>
                  <a:srgbClr val="0A2E4E"/>
                </a:solidFill>
                <a:latin typeface="Segoe UI" pitchFamily="34" charset="0"/>
                <a:ea typeface="Segoe UI" pitchFamily="34" charset="-122"/>
                <a:cs typeface="Segoe UI" pitchFamily="34" charset="-120"/>
              </a:rPr>
              <a:t>Namespace — payments-dev</a:t>
            </a:r>
            <a:endParaRPr lang="en-US" sz="950"/>
          </a:p>
        </p:txBody>
      </p:sp>
      <p:sp>
        <p:nvSpPr>
          <p:cNvPr id="10" name="container box">
            <a:extLst>
              <a:ext uri="{C183D7F6-B498-43B3-948B-1728B52AA6E4}">
                <adec:decorative xmlns:adec="http://schemas.microsoft.com/office/drawing/2017/decorative" val="1"/>
              </a:ext>
            </a:extLst>
          </p:cNvPr>
          <p:cNvSpPr/>
          <p:nvPr/>
        </p:nvSpPr>
        <p:spPr>
          <a:xfrm>
            <a:off x="64922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1" name="Text 9"/>
          <p:cNvSpPr/>
          <p:nvPr/>
        </p:nvSpPr>
        <p:spPr>
          <a:xfrm>
            <a:off x="704088" y="4005072"/>
            <a:ext cx="1719072" cy="219456"/>
          </a:xfrm>
          <a:prstGeom prst="rect">
            <a:avLst/>
          </a:prstGeom>
          <a:noFill/>
          <a:ln/>
        </p:spPr>
        <p:txBody>
          <a:bodyPr wrap="square" lIns="0" tIns="0" rIns="0" bIns="0" rtlCol="0" anchor="ctr"/>
          <a:lstStyle/>
          <a:p>
            <a:pPr marL="0" indent="0" algn="ctr">
              <a:buNone/>
            </a:pPr>
            <a:r>
              <a:rPr lang="en-US" sz="950" b="1">
                <a:solidFill>
                  <a:srgbClr val="0E2233"/>
                </a:solidFill>
                <a:latin typeface="Segoe UI" pitchFamily="34" charset="0"/>
                <a:ea typeface="Segoe UI" pitchFamily="34" charset="-122"/>
                <a:cs typeface="Segoe UI" pitchFamily="34" charset="-120"/>
              </a:rPr>
              <a:t>ServiceAccount</a:t>
            </a:r>
            <a:endParaRPr lang="en-US" sz="950"/>
          </a:p>
        </p:txBody>
      </p:sp>
      <p:sp>
        <p:nvSpPr>
          <p:cNvPr id="12" name="Text 10"/>
          <p:cNvSpPr/>
          <p:nvPr/>
        </p:nvSpPr>
        <p:spPr>
          <a:xfrm>
            <a:off x="704088" y="4224528"/>
            <a:ext cx="1719072" cy="219456"/>
          </a:xfrm>
          <a:prstGeom prst="rect">
            <a:avLst/>
          </a:prstGeom>
          <a:noFill/>
          <a:ln/>
        </p:spPr>
        <p:txBody>
          <a:bodyPr wrap="square" lIns="0" tIns="0" rIns="0" bIns="0" rtlCol="0" anchor="ctr"/>
          <a:lstStyle/>
          <a:p>
            <a:pPr marL="0" indent="0" algn="ctr">
              <a:buNone/>
            </a:pPr>
            <a:r>
              <a:rPr lang="en-US" sz="850">
                <a:solidFill>
                  <a:srgbClr val="7C8FA3"/>
                </a:solidFill>
                <a:latin typeface="Segoe UI" pitchFamily="34" charset="0"/>
                <a:ea typeface="Segoe UI" pitchFamily="34" charset="-122"/>
                <a:cs typeface="Segoe UI" pitchFamily="34" charset="-120"/>
              </a:rPr>
              <a:t>payments-api-sa</a:t>
            </a:r>
            <a:endParaRPr lang="en-US" sz="850"/>
          </a:p>
        </p:txBody>
      </p:sp>
      <p:sp>
        <p:nvSpPr>
          <p:cNvPr id="13" name="container box">
            <a:extLst>
              <a:ext uri="{C183D7F6-B498-43B3-948B-1728B52AA6E4}">
                <adec:decorative xmlns:adec="http://schemas.microsoft.com/office/drawing/2017/decorative" val="1"/>
              </a:ext>
            </a:extLst>
          </p:cNvPr>
          <p:cNvSpPr/>
          <p:nvPr/>
        </p:nvSpPr>
        <p:spPr>
          <a:xfrm>
            <a:off x="256946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4" name="Text 12"/>
          <p:cNvSpPr/>
          <p:nvPr/>
        </p:nvSpPr>
        <p:spPr>
          <a:xfrm>
            <a:off x="2624328" y="4005072"/>
            <a:ext cx="1719072" cy="219456"/>
          </a:xfrm>
          <a:prstGeom prst="rect">
            <a:avLst/>
          </a:prstGeom>
          <a:noFill/>
          <a:ln/>
        </p:spPr>
        <p:txBody>
          <a:bodyPr wrap="square" lIns="0" tIns="0" rIns="0" bIns="0" rtlCol="0" anchor="ctr"/>
          <a:lstStyle/>
          <a:p>
            <a:pPr marL="0" indent="0" algn="ctr">
              <a:buNone/>
            </a:pPr>
            <a:r>
              <a:rPr lang="en-US" sz="950" b="1">
                <a:solidFill>
                  <a:srgbClr val="0E2233"/>
                </a:solidFill>
                <a:latin typeface="Segoe UI" pitchFamily="34" charset="0"/>
                <a:ea typeface="Segoe UI" pitchFamily="34" charset="-122"/>
                <a:cs typeface="Segoe UI" pitchFamily="34" charset="-120"/>
              </a:rPr>
              <a:t>RoleBinding</a:t>
            </a:r>
            <a:endParaRPr lang="en-US" sz="950"/>
          </a:p>
        </p:txBody>
      </p:sp>
      <p:sp>
        <p:nvSpPr>
          <p:cNvPr id="15" name="Text 13"/>
          <p:cNvSpPr/>
          <p:nvPr/>
        </p:nvSpPr>
        <p:spPr>
          <a:xfrm>
            <a:off x="2624328" y="4224528"/>
            <a:ext cx="1719072" cy="219456"/>
          </a:xfrm>
          <a:prstGeom prst="rect">
            <a:avLst/>
          </a:prstGeom>
          <a:noFill/>
          <a:ln/>
        </p:spPr>
        <p:txBody>
          <a:bodyPr wrap="square" lIns="0" tIns="0" rIns="0" bIns="0" rtlCol="0" anchor="ctr"/>
          <a:lstStyle/>
          <a:p>
            <a:pPr marL="0" indent="0" algn="ctr">
              <a:buNone/>
            </a:pPr>
            <a:r>
              <a:rPr lang="en-US" sz="850">
                <a:solidFill>
                  <a:srgbClr val="7C8FA3"/>
                </a:solidFill>
                <a:latin typeface="Segoe UI" pitchFamily="34" charset="0"/>
                <a:ea typeface="Segoe UI" pitchFamily="34" charset="-122"/>
                <a:cs typeface="Segoe UI" pitchFamily="34" charset="-120"/>
              </a:rPr>
              <a:t>read ConfigMaps only</a:t>
            </a:r>
            <a:endParaRPr lang="en-US" sz="850"/>
          </a:p>
        </p:txBody>
      </p:sp>
      <p:sp>
        <p:nvSpPr>
          <p:cNvPr id="16" name="code panel">
            <a:extLst>
              <a:ext uri="{C183D7F6-B498-43B3-948B-1728B52AA6E4}">
                <adec:decorative xmlns:adec="http://schemas.microsoft.com/office/drawing/2017/decorative" val="1"/>
              </a:ext>
            </a:extLst>
          </p:cNvPr>
          <p:cNvSpPr/>
          <p:nvPr/>
        </p:nvSpPr>
        <p:spPr>
          <a:xfrm>
            <a:off x="4754880" y="1481328"/>
            <a:ext cx="388620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17" name="code panel header">
            <a:extLst>
              <a:ext uri="{C183D7F6-B498-43B3-948B-1728B52AA6E4}">
                <adec:decorative xmlns:adec="http://schemas.microsoft.com/office/drawing/2017/decorative" val="1"/>
              </a:ext>
            </a:extLst>
          </p:cNvPr>
          <p:cNvSpPr/>
          <p:nvPr/>
        </p:nvSpPr>
        <p:spPr>
          <a:xfrm>
            <a:off x="4754880" y="1481328"/>
            <a:ext cx="3886200" cy="256032"/>
          </a:xfrm>
          <a:prstGeom prst="rect">
            <a:avLst/>
          </a:prstGeom>
          <a:solidFill>
            <a:srgbClr val="0F3D66"/>
          </a:solidFill>
          <a:ln w="12700">
            <a:solidFill>
              <a:srgbClr val="333333"/>
            </a:solidFill>
            <a:prstDash val="solid"/>
          </a:ln>
        </p:spPr>
        <p:txBody>
          <a:bodyPr/>
          <a:lstStyle/>
          <a:p>
            <a:endParaRPr lang="en-IN"/>
          </a:p>
        </p:txBody>
      </p:sp>
      <p:sp>
        <p:nvSpPr>
          <p:cNvPr id="18" name="Text 16"/>
          <p:cNvSpPr/>
          <p:nvPr/>
        </p:nvSpPr>
        <p:spPr>
          <a:xfrm>
            <a:off x="4901184" y="1481328"/>
            <a:ext cx="359359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serviceaccount.yaml</a:t>
            </a:r>
            <a:endParaRPr lang="en-US" sz="850"/>
          </a:p>
        </p:txBody>
      </p:sp>
      <p:sp>
        <p:nvSpPr>
          <p:cNvPr id="19" name="Text 17"/>
          <p:cNvSpPr/>
          <p:nvPr/>
        </p:nvSpPr>
        <p:spPr>
          <a:xfrm>
            <a:off x="4901184" y="1810512"/>
            <a:ext cx="3593592" cy="2121408"/>
          </a:xfrm>
          <a:prstGeom prst="rect">
            <a:avLst/>
          </a:prstGeom>
          <a:noFill/>
          <a:ln/>
        </p:spPr>
        <p:txBody>
          <a:bodyPr wrap="square" lIns="0" tIns="0" rIns="0" bIns="0" rtlCol="0" anchor="t"/>
          <a:lstStyle/>
          <a:p>
            <a:pPr marL="0" indent="0">
              <a:lnSpc>
                <a:spcPct val="112000"/>
              </a:lnSpc>
              <a:buNone/>
            </a:pPr>
            <a:r>
              <a:rPr lang="en-US" sz="829">
                <a:solidFill>
                  <a:srgbClr val="D7ECF8"/>
                </a:solidFill>
                <a:latin typeface="Consolas" pitchFamily="34" charset="0"/>
                <a:ea typeface="Consolas" pitchFamily="34" charset="-122"/>
                <a:cs typeface="Consolas" pitchFamily="34" charset="-120"/>
              </a:rPr>
              <a:t>apiVersion: v1</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kind: ServiceAccount</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metadata:</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name: payments-api-sa</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namespace: payments-dev</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spec:</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serviceAccountName: payments-api-sa</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automountServiceAccountToken: false</a:t>
            </a:r>
            <a:endParaRPr lang="en-US" sz="829"/>
          </a:p>
          <a:p>
            <a:pPr marL="0" indent="0">
              <a:lnSpc>
                <a:spcPct val="112000"/>
              </a:lnSpc>
              <a:buNone/>
            </a:pPr>
            <a:r>
              <a:rPr lang="en-US" sz="829">
                <a:solidFill>
                  <a:srgbClr val="D7ECF8"/>
                </a:solidFill>
                <a:latin typeface="Consolas" pitchFamily="34" charset="0"/>
                <a:ea typeface="Consolas" pitchFamily="34" charset="-122"/>
                <a:cs typeface="Consolas" pitchFamily="34" charset="-120"/>
              </a:rPr>
              <a:t># reference the account in the Pod template</a:t>
            </a:r>
            <a:endParaRPr lang="en-US" sz="829"/>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8 · SECURITY FOR APPLICATION TEAMS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RBAC basics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50">
                <a:solidFill>
                  <a:srgbClr val="44566B"/>
                </a:solidFill>
                <a:latin typeface="Segoe UI" pitchFamily="34" charset="0"/>
                <a:ea typeface="Segoe UI" pitchFamily="34" charset="-122"/>
                <a:cs typeface="Segoe UI" pitchFamily="34" charset="-120"/>
              </a:rPr>
              <a:t>Four nouns explain almost all of Kubernetes access control: who, what, where, and the binding that joins them.</a:t>
            </a:r>
            <a:endParaRPr lang="en-US" sz="1050"/>
          </a:p>
        </p:txBody>
      </p:sp>
      <p:sp>
        <p:nvSpPr>
          <p:cNvPr id="7" name="client box">
            <a:extLst>
              <a:ext uri="{C183D7F6-B498-43B3-948B-1728B52AA6E4}">
                <adec:decorative xmlns:adec="http://schemas.microsoft.com/office/drawing/2017/decorative" val="1"/>
              </a:ext>
            </a:extLst>
          </p:cNvPr>
          <p:cNvSpPr/>
          <p:nvPr/>
        </p:nvSpPr>
        <p:spPr>
          <a:xfrm>
            <a:off x="502920" y="1737360"/>
            <a:ext cx="1737360" cy="868680"/>
          </a:xfrm>
          <a:prstGeom prst="rect">
            <a:avLst/>
          </a:prstGeom>
          <a:solidFill>
            <a:srgbClr val="F6F9FD"/>
          </a:solidFill>
          <a:ln w="12700">
            <a:solidFill>
              <a:srgbClr val="D8E5F2"/>
            </a:solidFill>
            <a:prstDash val="solid"/>
          </a:ln>
        </p:spPr>
        <p:txBody>
          <a:bodyPr/>
          <a:lstStyle/>
          <a:p>
            <a:endParaRPr lang="en-IN"/>
          </a:p>
        </p:txBody>
      </p:sp>
      <p:sp>
        <p:nvSpPr>
          <p:cNvPr id="8" name="Text 6"/>
          <p:cNvSpPr/>
          <p:nvPr/>
        </p:nvSpPr>
        <p:spPr>
          <a:xfrm>
            <a:off x="502920" y="1810512"/>
            <a:ext cx="1737360" cy="274320"/>
          </a:xfrm>
          <a:prstGeom prst="rect">
            <a:avLst/>
          </a:prstGeom>
          <a:noFill/>
          <a:ln/>
        </p:spPr>
        <p:txBody>
          <a:bodyPr wrap="square" lIns="0" tIns="0" rIns="0" bIns="0" rtlCol="0" anchor="ctr"/>
          <a:lstStyle/>
          <a:p>
            <a:pPr marL="0" indent="0" algn="ctr">
              <a:buNone/>
            </a:pPr>
            <a:r>
              <a:rPr lang="en-US" sz="1200" b="1">
                <a:solidFill>
                  <a:srgbClr val="0E2233"/>
                </a:solidFill>
                <a:latin typeface="Segoe UI" pitchFamily="34" charset="0"/>
                <a:ea typeface="Segoe UI" pitchFamily="34" charset="-122"/>
                <a:cs typeface="Segoe UI" pitchFamily="34" charset="-120"/>
              </a:rPr>
              <a:t>Subject</a:t>
            </a:r>
            <a:endParaRPr lang="en-US" sz="1200"/>
          </a:p>
        </p:txBody>
      </p:sp>
      <p:sp>
        <p:nvSpPr>
          <p:cNvPr id="9" name="Text 7"/>
          <p:cNvSpPr/>
          <p:nvPr/>
        </p:nvSpPr>
        <p:spPr>
          <a:xfrm>
            <a:off x="548640" y="2084832"/>
            <a:ext cx="1645920" cy="457200"/>
          </a:xfrm>
          <a:prstGeom prst="rect">
            <a:avLst/>
          </a:prstGeom>
          <a:noFill/>
          <a:ln/>
        </p:spPr>
        <p:txBody>
          <a:bodyPr wrap="square" lIns="0" tIns="0" rIns="0" bIns="0" rtlCol="0" anchor="t"/>
          <a:lstStyle/>
          <a:p>
            <a:pPr marL="0" indent="0" algn="ctr">
              <a:buNone/>
            </a:pPr>
            <a:r>
              <a:rPr lang="en-US" sz="900">
                <a:solidFill>
                  <a:srgbClr val="44566B"/>
                </a:solidFill>
                <a:latin typeface="Segoe UI" pitchFamily="34" charset="0"/>
                <a:ea typeface="Segoe UI" pitchFamily="34" charset="-122"/>
                <a:cs typeface="Segoe UI" pitchFamily="34" charset="-120"/>
              </a:rPr>
              <a:t>user, group or</a:t>
            </a:r>
            <a:endParaRPr lang="en-US" sz="900"/>
          </a:p>
          <a:p>
            <a:pPr marL="0" indent="0" algn="ctr">
              <a:buNone/>
            </a:pPr>
            <a:r>
              <a:rPr lang="en-US" sz="900">
                <a:solidFill>
                  <a:srgbClr val="44566B"/>
                </a:solidFill>
                <a:latin typeface="Segoe UI" pitchFamily="34" charset="0"/>
                <a:ea typeface="Segoe UI" pitchFamily="34" charset="-122"/>
                <a:cs typeface="Segoe UI" pitchFamily="34" charset="-120"/>
              </a:rPr>
              <a:t>service account</a:t>
            </a:r>
            <a:endParaRPr lang="en-US" sz="900"/>
          </a:p>
        </p:txBody>
      </p:sp>
      <p:sp>
        <p:nvSpPr>
          <p:cNvPr id="10" name="flow arrow">
            <a:extLst>
              <a:ext uri="{C183D7F6-B498-43B3-948B-1728B52AA6E4}">
                <adec:decorative xmlns:adec="http://schemas.microsoft.com/office/drawing/2017/decorative" val="1"/>
              </a:ext>
            </a:extLst>
          </p:cNvPr>
          <p:cNvSpPr/>
          <p:nvPr/>
        </p:nvSpPr>
        <p:spPr>
          <a:xfrm>
            <a:off x="2331720" y="2084832"/>
            <a:ext cx="548640" cy="201168"/>
          </a:xfrm>
          <a:prstGeom prst="rightArrow">
            <a:avLst/>
          </a:prstGeom>
          <a:solidFill>
            <a:srgbClr val="17A9DB"/>
          </a:solidFill>
          <a:ln w="12700">
            <a:solidFill>
              <a:srgbClr val="333333"/>
            </a:solidFill>
            <a:prstDash val="solid"/>
          </a:ln>
        </p:spPr>
        <p:txBody>
          <a:bodyPr/>
          <a:lstStyle/>
          <a:p>
            <a:endParaRPr lang="en-IN"/>
          </a:p>
        </p:txBody>
      </p:sp>
      <p:sp>
        <p:nvSpPr>
          <p:cNvPr id="11" name="service box">
            <a:extLst>
              <a:ext uri="{C183D7F6-B498-43B3-948B-1728B52AA6E4}">
                <adec:decorative xmlns:adec="http://schemas.microsoft.com/office/drawing/2017/decorative" val="1"/>
              </a:ext>
            </a:extLst>
          </p:cNvPr>
          <p:cNvSpPr/>
          <p:nvPr/>
        </p:nvSpPr>
        <p:spPr>
          <a:xfrm>
            <a:off x="2971800" y="1600200"/>
            <a:ext cx="2377440" cy="1417320"/>
          </a:xfrm>
          <a:prstGeom prst="rect">
            <a:avLst/>
          </a:prstGeom>
          <a:solidFill>
            <a:srgbClr val="0A2E4E"/>
          </a:solidFill>
          <a:ln w="12700">
            <a:solidFill>
              <a:srgbClr val="333333"/>
            </a:solidFill>
            <a:prstDash val="solid"/>
          </a:ln>
        </p:spPr>
        <p:txBody>
          <a:bodyPr/>
          <a:lstStyle/>
          <a:p>
            <a:endParaRPr lang="en-IN"/>
          </a:p>
        </p:txBody>
      </p:sp>
      <p:sp>
        <p:nvSpPr>
          <p:cNvPr id="12" name="Text 10"/>
          <p:cNvSpPr/>
          <p:nvPr/>
        </p:nvSpPr>
        <p:spPr>
          <a:xfrm>
            <a:off x="2971800" y="1691640"/>
            <a:ext cx="2377440" cy="274320"/>
          </a:xfrm>
          <a:prstGeom prst="rect">
            <a:avLst/>
          </a:prstGeom>
          <a:noFill/>
          <a:ln/>
        </p:spPr>
        <p:txBody>
          <a:bodyPr wrap="square" lIns="0" tIns="0" rIns="0" bIns="0" rtlCol="0" anchor="ctr"/>
          <a:lstStyle/>
          <a:p>
            <a:pPr marL="0" indent="0" algn="ctr">
              <a:buNone/>
            </a:pPr>
            <a:r>
              <a:rPr lang="en-US" sz="1300" b="1">
                <a:solidFill>
                  <a:srgbClr val="FFFFFF"/>
                </a:solidFill>
                <a:latin typeface="Segoe UI" pitchFamily="34" charset="0"/>
                <a:ea typeface="Segoe UI" pitchFamily="34" charset="-122"/>
                <a:cs typeface="Segoe UI" pitchFamily="34" charset="-120"/>
              </a:rPr>
              <a:t>RoleBinding</a:t>
            </a:r>
            <a:endParaRPr lang="en-US" sz="1300"/>
          </a:p>
        </p:txBody>
      </p:sp>
      <p:sp>
        <p:nvSpPr>
          <p:cNvPr id="13" name="Text 11"/>
          <p:cNvSpPr/>
          <p:nvPr/>
        </p:nvSpPr>
        <p:spPr>
          <a:xfrm>
            <a:off x="2971800" y="1965960"/>
            <a:ext cx="2377440" cy="237744"/>
          </a:xfrm>
          <a:prstGeom prst="rect">
            <a:avLst/>
          </a:prstGeom>
          <a:noFill/>
          <a:ln/>
        </p:spPr>
        <p:txBody>
          <a:bodyPr wrap="square" lIns="0" tIns="0" rIns="0" bIns="0" rtlCol="0" anchor="ctr"/>
          <a:lstStyle/>
          <a:p>
            <a:pPr marL="0" indent="0" algn="ctr">
              <a:buNone/>
            </a:pPr>
            <a:r>
              <a:rPr lang="en-US" sz="1000">
                <a:solidFill>
                  <a:srgbClr val="17A9DB"/>
                </a:solidFill>
                <a:latin typeface="Consolas" pitchFamily="34" charset="0"/>
                <a:ea typeface="Consolas" pitchFamily="34" charset="-122"/>
                <a:cs typeface="Consolas" pitchFamily="34" charset="-120"/>
              </a:rPr>
              <a:t>joins subject to role</a:t>
            </a:r>
            <a:endParaRPr lang="en-US" sz="1000"/>
          </a:p>
        </p:txBody>
      </p:sp>
      <p:sp>
        <p:nvSpPr>
          <p:cNvPr id="14" name="Text 12"/>
          <p:cNvSpPr/>
          <p:nvPr/>
        </p:nvSpPr>
        <p:spPr>
          <a:xfrm>
            <a:off x="3063240" y="2212848"/>
            <a:ext cx="2194560" cy="731520"/>
          </a:xfrm>
          <a:prstGeom prst="rect">
            <a:avLst/>
          </a:prstGeom>
          <a:noFill/>
          <a:ln/>
        </p:spPr>
        <p:txBody>
          <a:bodyPr wrap="square" lIns="0" tIns="0" rIns="0" bIns="0" rtlCol="0" anchor="t"/>
          <a:lstStyle/>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Role: verbs on</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resources — get, list,</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watch, create, update</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and delete</a:t>
            </a:r>
            <a:endParaRPr lang="en-US" sz="900"/>
          </a:p>
        </p:txBody>
      </p:sp>
      <p:sp>
        <p:nvSpPr>
          <p:cNvPr id="15" name="flow arrow">
            <a:extLst>
              <a:ext uri="{C183D7F6-B498-43B3-948B-1728B52AA6E4}">
                <adec:decorative xmlns:adec="http://schemas.microsoft.com/office/drawing/2017/decorative" val="1"/>
              </a:ext>
            </a:extLst>
          </p:cNvPr>
          <p:cNvSpPr/>
          <p:nvPr/>
        </p:nvSpPr>
        <p:spPr>
          <a:xfrm>
            <a:off x="5440680" y="2084832"/>
            <a:ext cx="502920" cy="201168"/>
          </a:xfrm>
          <a:prstGeom prst="rightArrow">
            <a:avLst/>
          </a:prstGeom>
          <a:solidFill>
            <a:srgbClr val="17A9DB"/>
          </a:solidFill>
          <a:ln w="12700">
            <a:solidFill>
              <a:srgbClr val="333333"/>
            </a:solidFill>
            <a:prstDash val="solid"/>
          </a:ln>
        </p:spPr>
        <p:txBody>
          <a:bodyPr/>
          <a:lstStyle/>
          <a:p>
            <a:endParaRPr lang="en-IN"/>
          </a:p>
        </p:txBody>
      </p:sp>
      <p:sp>
        <p:nvSpPr>
          <p:cNvPr id="16" name="pod box">
            <a:extLst>
              <a:ext uri="{C183D7F6-B498-43B3-948B-1728B52AA6E4}">
                <adec:decorative xmlns:adec="http://schemas.microsoft.com/office/drawing/2017/decorative" val="1"/>
              </a:ext>
            </a:extLst>
          </p:cNvPr>
          <p:cNvSpPr/>
          <p:nvPr/>
        </p:nvSpPr>
        <p:spPr>
          <a:xfrm>
            <a:off x="6035040" y="1572768"/>
            <a:ext cx="2606040" cy="420624"/>
          </a:xfrm>
          <a:prstGeom prst="rect">
            <a:avLst/>
          </a:prstGeom>
          <a:solidFill>
            <a:srgbClr val="EDF4FC"/>
          </a:solidFill>
          <a:ln w="9525">
            <a:solidFill>
              <a:srgbClr val="0B63CE"/>
            </a:solidFill>
            <a:prstDash val="solid"/>
          </a:ln>
        </p:spPr>
        <p:txBody>
          <a:bodyPr/>
          <a:lstStyle/>
          <a:p>
            <a:endParaRPr lang="en-IN"/>
          </a:p>
        </p:txBody>
      </p:sp>
      <p:sp>
        <p:nvSpPr>
          <p:cNvPr id="17" name="Text 15"/>
          <p:cNvSpPr/>
          <p:nvPr/>
        </p:nvSpPr>
        <p:spPr>
          <a:xfrm>
            <a:off x="6126480" y="1572768"/>
            <a:ext cx="2423160" cy="420624"/>
          </a:xfrm>
          <a:prstGeom prst="rect">
            <a:avLst/>
          </a:prstGeom>
          <a:noFill/>
          <a:ln/>
        </p:spPr>
        <p:txBody>
          <a:bodyPr wrap="square" lIns="0" tIns="0" rIns="0" bIns="0" rtlCol="0" anchor="ctr"/>
          <a:lstStyle/>
          <a:p>
            <a:pPr marL="0" indent="0">
              <a:buNone/>
            </a:pPr>
            <a:r>
              <a:rPr lang="en-US" sz="950">
                <a:solidFill>
                  <a:srgbClr val="0A2E4E"/>
                </a:solidFill>
                <a:latin typeface="Segoe UI" pitchFamily="34" charset="0"/>
                <a:ea typeface="Segoe UI" pitchFamily="34" charset="-122"/>
                <a:cs typeface="Segoe UI" pitchFamily="34" charset="-120"/>
              </a:rPr>
              <a:t>Pods</a:t>
            </a:r>
            <a:endParaRPr lang="en-US" sz="950"/>
          </a:p>
        </p:txBody>
      </p:sp>
      <p:sp>
        <p:nvSpPr>
          <p:cNvPr id="18" name="pod box">
            <a:extLst>
              <a:ext uri="{C183D7F6-B498-43B3-948B-1728B52AA6E4}">
                <adec:decorative xmlns:adec="http://schemas.microsoft.com/office/drawing/2017/decorative" val="1"/>
              </a:ext>
            </a:extLst>
          </p:cNvPr>
          <p:cNvSpPr/>
          <p:nvPr/>
        </p:nvSpPr>
        <p:spPr>
          <a:xfrm>
            <a:off x="6035040" y="2084832"/>
            <a:ext cx="2606040" cy="420624"/>
          </a:xfrm>
          <a:prstGeom prst="rect">
            <a:avLst/>
          </a:prstGeom>
          <a:solidFill>
            <a:srgbClr val="EDF4FC"/>
          </a:solidFill>
          <a:ln w="9525">
            <a:solidFill>
              <a:srgbClr val="0B63CE"/>
            </a:solidFill>
            <a:prstDash val="solid"/>
          </a:ln>
        </p:spPr>
        <p:txBody>
          <a:bodyPr/>
          <a:lstStyle/>
          <a:p>
            <a:endParaRPr lang="en-IN"/>
          </a:p>
        </p:txBody>
      </p:sp>
      <p:sp>
        <p:nvSpPr>
          <p:cNvPr id="19" name="Text 17"/>
          <p:cNvSpPr/>
          <p:nvPr/>
        </p:nvSpPr>
        <p:spPr>
          <a:xfrm>
            <a:off x="6126480" y="2084832"/>
            <a:ext cx="2423160" cy="420624"/>
          </a:xfrm>
          <a:prstGeom prst="rect">
            <a:avLst/>
          </a:prstGeom>
          <a:noFill/>
          <a:ln/>
        </p:spPr>
        <p:txBody>
          <a:bodyPr wrap="square" lIns="0" tIns="0" rIns="0" bIns="0" rtlCol="0" anchor="ctr"/>
          <a:lstStyle/>
          <a:p>
            <a:pPr marL="0" indent="0">
              <a:buNone/>
            </a:pPr>
            <a:r>
              <a:rPr lang="en-US" sz="950">
                <a:solidFill>
                  <a:srgbClr val="0A2E4E"/>
                </a:solidFill>
                <a:latin typeface="Segoe UI" pitchFamily="34" charset="0"/>
                <a:ea typeface="Segoe UI" pitchFamily="34" charset="-122"/>
                <a:cs typeface="Segoe UI" pitchFamily="34" charset="-120"/>
              </a:rPr>
              <a:t>Secrets</a:t>
            </a:r>
            <a:endParaRPr lang="en-US" sz="950"/>
          </a:p>
        </p:txBody>
      </p:sp>
      <p:sp>
        <p:nvSpPr>
          <p:cNvPr id="20" name="pod box">
            <a:extLst>
              <a:ext uri="{C183D7F6-B498-43B3-948B-1728B52AA6E4}">
                <adec:decorative xmlns:adec="http://schemas.microsoft.com/office/drawing/2017/decorative" val="1"/>
              </a:ext>
            </a:extLst>
          </p:cNvPr>
          <p:cNvSpPr/>
          <p:nvPr/>
        </p:nvSpPr>
        <p:spPr>
          <a:xfrm>
            <a:off x="6035040" y="2596896"/>
            <a:ext cx="2606040" cy="420624"/>
          </a:xfrm>
          <a:prstGeom prst="rect">
            <a:avLst/>
          </a:prstGeom>
          <a:solidFill>
            <a:srgbClr val="EDF4FC"/>
          </a:solidFill>
          <a:ln w="9525">
            <a:solidFill>
              <a:srgbClr val="0B63CE"/>
            </a:solidFill>
            <a:prstDash val="solid"/>
          </a:ln>
        </p:spPr>
        <p:txBody>
          <a:bodyPr/>
          <a:lstStyle/>
          <a:p>
            <a:endParaRPr lang="en-IN"/>
          </a:p>
        </p:txBody>
      </p:sp>
      <p:sp>
        <p:nvSpPr>
          <p:cNvPr id="21" name="Text 19"/>
          <p:cNvSpPr/>
          <p:nvPr/>
        </p:nvSpPr>
        <p:spPr>
          <a:xfrm>
            <a:off x="6126480" y="2596896"/>
            <a:ext cx="2423160" cy="420624"/>
          </a:xfrm>
          <a:prstGeom prst="rect">
            <a:avLst/>
          </a:prstGeom>
          <a:noFill/>
          <a:ln/>
        </p:spPr>
        <p:txBody>
          <a:bodyPr wrap="square" lIns="0" tIns="0" rIns="0" bIns="0" rtlCol="0" anchor="ctr"/>
          <a:lstStyle/>
          <a:p>
            <a:pPr marL="0" indent="0">
              <a:buNone/>
            </a:pPr>
            <a:r>
              <a:rPr lang="en-US" sz="950">
                <a:solidFill>
                  <a:srgbClr val="0A2E4E"/>
                </a:solidFill>
                <a:latin typeface="Segoe UI" pitchFamily="34" charset="0"/>
                <a:ea typeface="Segoe UI" pitchFamily="34" charset="-122"/>
                <a:cs typeface="Segoe UI" pitchFamily="34" charset="-120"/>
              </a:rPr>
              <a:t>Deployments</a:t>
            </a:r>
            <a:endParaRPr lang="en-US" sz="950"/>
          </a:p>
        </p:txBody>
      </p:sp>
      <p:sp>
        <p:nvSpPr>
          <p:cNvPr id="22" name="stat block">
            <a:extLst>
              <a:ext uri="{C183D7F6-B498-43B3-948B-1728B52AA6E4}">
                <adec:decorative xmlns:adec="http://schemas.microsoft.com/office/drawing/2017/decorative" val="1"/>
              </a:ext>
            </a:extLst>
          </p:cNvPr>
          <p:cNvSpPr/>
          <p:nvPr/>
        </p:nvSpPr>
        <p:spPr>
          <a:xfrm>
            <a:off x="502920"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3" name="stat accent">
            <a:extLst>
              <a:ext uri="{C183D7F6-B498-43B3-948B-1728B52AA6E4}">
                <adec:decorative xmlns:adec="http://schemas.microsoft.com/office/drawing/2017/decorative" val="1"/>
              </a:ext>
            </a:extLst>
          </p:cNvPr>
          <p:cNvSpPr/>
          <p:nvPr/>
        </p:nvSpPr>
        <p:spPr>
          <a:xfrm>
            <a:off x="502920" y="3246120"/>
            <a:ext cx="45720" cy="621792"/>
          </a:xfrm>
          <a:prstGeom prst="rect">
            <a:avLst/>
          </a:prstGeom>
          <a:solidFill>
            <a:srgbClr val="0B63CE"/>
          </a:solidFill>
          <a:ln w="12700">
            <a:solidFill>
              <a:srgbClr val="333333"/>
            </a:solidFill>
            <a:prstDash val="solid"/>
          </a:ln>
        </p:spPr>
        <p:txBody>
          <a:bodyPr/>
          <a:lstStyle/>
          <a:p>
            <a:endParaRPr lang="en-IN"/>
          </a:p>
        </p:txBody>
      </p:sp>
      <p:sp>
        <p:nvSpPr>
          <p:cNvPr id="24" name="Text 22"/>
          <p:cNvSpPr/>
          <p:nvPr/>
        </p:nvSpPr>
        <p:spPr>
          <a:xfrm>
            <a:off x="685800"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Role</a:t>
            </a:r>
            <a:endParaRPr lang="en-US" sz="1100"/>
          </a:p>
        </p:txBody>
      </p:sp>
      <p:sp>
        <p:nvSpPr>
          <p:cNvPr id="25" name="Text 23"/>
          <p:cNvSpPr/>
          <p:nvPr/>
        </p:nvSpPr>
        <p:spPr>
          <a:xfrm>
            <a:off x="685800" y="3557016"/>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Permissions inside one namespace — the everyday choice for application teams.</a:t>
            </a:r>
            <a:endParaRPr lang="en-US" sz="700"/>
          </a:p>
        </p:txBody>
      </p:sp>
      <p:sp>
        <p:nvSpPr>
          <p:cNvPr id="26" name="stat block">
            <a:extLst>
              <a:ext uri="{C183D7F6-B498-43B3-948B-1728B52AA6E4}">
                <adec:decorative xmlns:adec="http://schemas.microsoft.com/office/drawing/2017/decorative" val="1"/>
              </a:ext>
            </a:extLst>
          </p:cNvPr>
          <p:cNvSpPr/>
          <p:nvPr/>
        </p:nvSpPr>
        <p:spPr>
          <a:xfrm>
            <a:off x="3282696"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3282696" y="3246120"/>
            <a:ext cx="45720" cy="621792"/>
          </a:xfrm>
          <a:prstGeom prst="rect">
            <a:avLst/>
          </a:prstGeom>
          <a:solidFill>
            <a:srgbClr val="F2A93B"/>
          </a:solidFill>
          <a:ln w="12700">
            <a:solidFill>
              <a:srgbClr val="333333"/>
            </a:solidFill>
            <a:prstDash val="solid"/>
          </a:ln>
        </p:spPr>
        <p:txBody>
          <a:bodyPr/>
          <a:lstStyle/>
          <a:p>
            <a:endParaRPr lang="en-IN"/>
          </a:p>
        </p:txBody>
      </p:sp>
      <p:sp>
        <p:nvSpPr>
          <p:cNvPr id="28" name="Text 26"/>
          <p:cNvSpPr/>
          <p:nvPr/>
        </p:nvSpPr>
        <p:spPr>
          <a:xfrm>
            <a:off x="3465576"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ClusterRole</a:t>
            </a:r>
            <a:endParaRPr lang="en-US" sz="1100"/>
          </a:p>
        </p:txBody>
      </p:sp>
      <p:sp>
        <p:nvSpPr>
          <p:cNvPr id="29" name="Text 27"/>
          <p:cNvSpPr/>
          <p:nvPr/>
        </p:nvSpPr>
        <p:spPr>
          <a:xfrm>
            <a:off x="3465576" y="3557016"/>
            <a:ext cx="2258568" cy="256032"/>
          </a:xfrm>
          <a:prstGeom prst="rect">
            <a:avLst/>
          </a:prstGeom>
          <a:noFill/>
          <a:ln/>
        </p:spPr>
        <p:txBody>
          <a:bodyPr wrap="square" lIns="0" tIns="0" rIns="0" bIns="0" rtlCol="0" anchor="t"/>
          <a:lstStyle/>
          <a:p>
            <a:pPr marL="0" indent="0">
              <a:lnSpc>
                <a:spcPct val="105000"/>
              </a:lnSpc>
              <a:buNone/>
            </a:pPr>
            <a:r>
              <a:rPr lang="en-US" sz="650">
                <a:solidFill>
                  <a:srgbClr val="44566B"/>
                </a:solidFill>
                <a:latin typeface="Segoe UI" pitchFamily="34" charset="0"/>
                <a:ea typeface="Segoe UI" pitchFamily="34" charset="-122"/>
                <a:cs typeface="Segoe UI" pitchFamily="34" charset="-120"/>
              </a:rPr>
              <a:t>Permissions cluster-wide or over non-namespaced objects such as nodes and PersistentVolumes.</a:t>
            </a:r>
            <a:endParaRPr lang="en-US" sz="650"/>
          </a:p>
        </p:txBody>
      </p:sp>
      <p:sp>
        <p:nvSpPr>
          <p:cNvPr id="30" name="stat block">
            <a:extLst>
              <a:ext uri="{C183D7F6-B498-43B3-948B-1728B52AA6E4}">
                <adec:decorative xmlns:adec="http://schemas.microsoft.com/office/drawing/2017/decorative" val="1"/>
              </a:ext>
            </a:extLst>
          </p:cNvPr>
          <p:cNvSpPr/>
          <p:nvPr/>
        </p:nvSpPr>
        <p:spPr>
          <a:xfrm>
            <a:off x="6062472"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6062472" y="3246120"/>
            <a:ext cx="45720" cy="621792"/>
          </a:xfrm>
          <a:prstGeom prst="rect">
            <a:avLst/>
          </a:prstGeom>
          <a:solidFill>
            <a:srgbClr val="17A9DB"/>
          </a:solidFill>
          <a:ln w="12700">
            <a:solidFill>
              <a:srgbClr val="333333"/>
            </a:solidFill>
            <a:prstDash val="solid"/>
          </a:ln>
        </p:spPr>
        <p:txBody>
          <a:bodyPr/>
          <a:lstStyle/>
          <a:p>
            <a:endParaRPr lang="en-IN"/>
          </a:p>
        </p:txBody>
      </p:sp>
      <p:sp>
        <p:nvSpPr>
          <p:cNvPr id="32" name="Text 30"/>
          <p:cNvSpPr/>
          <p:nvPr/>
        </p:nvSpPr>
        <p:spPr>
          <a:xfrm>
            <a:off x="6245352"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Binding</a:t>
            </a:r>
            <a:endParaRPr lang="en-US" sz="1100"/>
          </a:p>
        </p:txBody>
      </p:sp>
      <p:sp>
        <p:nvSpPr>
          <p:cNvPr id="33" name="Text 31"/>
          <p:cNvSpPr/>
          <p:nvPr/>
        </p:nvSpPr>
        <p:spPr>
          <a:xfrm>
            <a:off x="6245352" y="3557016"/>
            <a:ext cx="2258568" cy="256032"/>
          </a:xfrm>
          <a:prstGeom prst="rect">
            <a:avLst/>
          </a:prstGeom>
          <a:noFill/>
          <a:ln/>
        </p:spPr>
        <p:txBody>
          <a:bodyPr wrap="square" lIns="0" tIns="0" rIns="0" bIns="0" rtlCol="0" anchor="t"/>
          <a:lstStyle/>
          <a:p>
            <a:pPr marL="0" indent="0">
              <a:lnSpc>
                <a:spcPct val="105000"/>
              </a:lnSpc>
              <a:buNone/>
            </a:pPr>
            <a:r>
              <a:rPr lang="en-US" sz="650">
                <a:solidFill>
                  <a:srgbClr val="44566B"/>
                </a:solidFill>
                <a:latin typeface="Segoe UI" pitchFamily="34" charset="0"/>
                <a:ea typeface="Segoe UI" pitchFamily="34" charset="-122"/>
                <a:cs typeface="Segoe UI" pitchFamily="34" charset="-120"/>
              </a:rPr>
              <a:t>RoleBinding applies in one namespace; ClusterRoleBinding applies everywhere. Same role, very different blast radius.</a:t>
            </a:r>
            <a:endParaRPr lang="en-US" sz="650"/>
          </a:p>
        </p:txBody>
      </p:sp>
      <p:sp>
        <p:nvSpPr>
          <p:cNvPr id="34"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5"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36" name="Text 34"/>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F2A93B"/>
                </a:solidFill>
                <a:latin typeface="Segoe UI" pitchFamily="34" charset="0"/>
                <a:ea typeface="Segoe UI" pitchFamily="34" charset="-122"/>
                <a:cs typeface="Segoe UI" pitchFamily="34" charset="-120"/>
              </a:rPr>
              <a:t>Two layers on AKS   </a:t>
            </a:r>
            <a:r>
              <a:rPr lang="en-US" sz="1050">
                <a:solidFill>
                  <a:srgbClr val="0E2233"/>
                </a:solidFill>
                <a:latin typeface="Segoe UI" pitchFamily="34" charset="0"/>
                <a:ea typeface="Segoe UI" pitchFamily="34" charset="-122"/>
                <a:cs typeface="Segoe UI" pitchFamily="34" charset="-120"/>
              </a:rPr>
              <a:t>Azure RBAC controls who may reach the cluster, Kubernetes RBAC controls what they may do inside it. Test with kubectl auth can-i.</a:t>
            </a:r>
            <a:endParaRPr lang="en-US" sz="1000"/>
          </a:p>
        </p:txBody>
      </p:sp>
      <p:sp>
        <p:nvSpPr>
          <p:cNvPr id="3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8 · SECURITY FOR APPLICATION TEAMS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Secret management</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A Secret looks like a ConfigMap and is consumed the same way — but how you store and source it is what matters.</a:t>
            </a:r>
            <a:endParaRPr lang="en-US" sz="1150"/>
          </a:p>
        </p:txBody>
      </p:sp>
      <p:sp>
        <p:nvSpPr>
          <p:cNvPr id="7" name="code panel">
            <a:extLst>
              <a:ext uri="{C183D7F6-B498-43B3-948B-1728B52AA6E4}">
                <adec:decorative xmlns:adec="http://schemas.microsoft.com/office/drawing/2017/decorative" val="1"/>
              </a:ext>
            </a:extLst>
          </p:cNvPr>
          <p:cNvSpPr/>
          <p:nvPr/>
        </p:nvSpPr>
        <p:spPr>
          <a:xfrm>
            <a:off x="502920" y="1481328"/>
            <a:ext cx="4023360" cy="25146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02336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73075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secret-usage.yaml</a:t>
            </a:r>
            <a:endParaRPr lang="en-US" sz="850"/>
          </a:p>
        </p:txBody>
      </p:sp>
      <p:sp>
        <p:nvSpPr>
          <p:cNvPr id="10" name="Text 8"/>
          <p:cNvSpPr/>
          <p:nvPr/>
        </p:nvSpPr>
        <p:spPr>
          <a:xfrm>
            <a:off x="649224" y="1810512"/>
            <a:ext cx="3730752" cy="2039112"/>
          </a:xfrm>
          <a:prstGeom prst="rect">
            <a:avLst/>
          </a:prstGeom>
          <a:noFill/>
          <a:ln/>
        </p:spPr>
        <p:txBody>
          <a:bodyPr wrap="square" lIns="0" tIns="0" rIns="0" bIns="0" rtlCol="0" anchor="t"/>
          <a:lstStyle/>
          <a:p>
            <a:pPr marL="0" indent="0">
              <a:lnSpc>
                <a:spcPct val="112000"/>
              </a:lnSpc>
              <a:buNone/>
            </a:pPr>
            <a:r>
              <a:rPr lang="en-US" sz="796">
                <a:solidFill>
                  <a:srgbClr val="D7ECF8"/>
                </a:solidFill>
                <a:latin typeface="Consolas" pitchFamily="34" charset="0"/>
                <a:ea typeface="Consolas" pitchFamily="34" charset="-122"/>
                <a:cs typeface="Consolas" pitchFamily="34" charset="-120"/>
              </a:rPr>
              <a:t>apiVersion: v1</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kind: Secret</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metadata:</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 payments-db</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type: Opaque</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stringData:</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connectionString: "Server=..."</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env:</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 DB_CONN</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valueFrom:</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secretKeyRef:</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 payments-db</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key: connectionString</a:t>
            </a:r>
            <a:endParaRPr lang="en-US" sz="796"/>
          </a:p>
        </p:txBody>
      </p:sp>
      <p:sp>
        <p:nvSpPr>
          <p:cNvPr id="11" name="card">
            <a:extLst>
              <a:ext uri="{C183D7F6-B498-43B3-948B-1728B52AA6E4}">
                <adec:decorative xmlns:adec="http://schemas.microsoft.com/office/drawing/2017/decorative" val="1"/>
              </a:ext>
            </a:extLst>
          </p:cNvPr>
          <p:cNvSpPr/>
          <p:nvPr/>
        </p:nvSpPr>
        <p:spPr>
          <a:xfrm>
            <a:off x="4709160" y="1481328"/>
            <a:ext cx="3931920" cy="75285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4709160" y="1481328"/>
            <a:ext cx="3931920" cy="41148"/>
          </a:xfrm>
          <a:prstGeom prst="rect">
            <a:avLst/>
          </a:prstGeom>
          <a:solidFill>
            <a:srgbClr val="D0483C"/>
          </a:solidFill>
          <a:ln w="12700">
            <a:solidFill>
              <a:srgbClr val="333333"/>
            </a:solidFill>
            <a:prstDash val="solid"/>
          </a:ln>
        </p:spPr>
        <p:txBody>
          <a:bodyPr/>
          <a:lstStyle/>
          <a:p>
            <a:endParaRPr lang="en-IN"/>
          </a:p>
        </p:txBody>
      </p:sp>
      <p:sp>
        <p:nvSpPr>
          <p:cNvPr id="13" name="Text 11"/>
          <p:cNvSpPr/>
          <p:nvPr/>
        </p:nvSpPr>
        <p:spPr>
          <a:xfrm>
            <a:off x="4910328" y="1591056"/>
            <a:ext cx="3529584" cy="173736"/>
          </a:xfrm>
          <a:prstGeom prst="rect">
            <a:avLst/>
          </a:prstGeom>
          <a:noFill/>
          <a:ln/>
        </p:spPr>
        <p:txBody>
          <a:bodyPr wrap="square" lIns="0" tIns="0" rIns="0" bIns="0" rtlCol="0" anchor="ctr"/>
          <a:lstStyle/>
          <a:p>
            <a:pPr marL="0" indent="0">
              <a:buNone/>
            </a:pPr>
            <a:r>
              <a:rPr lang="en-US" sz="900" b="1" kern="0" spc="120">
                <a:solidFill>
                  <a:srgbClr val="D0483C"/>
                </a:solidFill>
                <a:latin typeface="Segoe UI" pitchFamily="34" charset="0"/>
                <a:ea typeface="Segoe UI" pitchFamily="34" charset="-122"/>
                <a:cs typeface="Segoe UI" pitchFamily="34" charset="-120"/>
              </a:rPr>
              <a:t>IMPORTANT</a:t>
            </a:r>
            <a:endParaRPr lang="en-US" sz="900"/>
          </a:p>
        </p:txBody>
      </p:sp>
      <p:sp>
        <p:nvSpPr>
          <p:cNvPr id="14" name="Text 12"/>
          <p:cNvSpPr/>
          <p:nvPr/>
        </p:nvSpPr>
        <p:spPr>
          <a:xfrm>
            <a:off x="4910328" y="1792224"/>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Base64 is not encryption</a:t>
            </a:r>
            <a:endParaRPr lang="en-US" sz="850"/>
          </a:p>
        </p:txBody>
      </p:sp>
      <p:sp>
        <p:nvSpPr>
          <p:cNvPr id="15" name="Text 13"/>
          <p:cNvSpPr/>
          <p:nvPr/>
        </p:nvSpPr>
        <p:spPr>
          <a:xfrm>
            <a:off x="4910328" y="2040636"/>
            <a:ext cx="3529584" cy="146304"/>
          </a:xfrm>
          <a:prstGeom prst="rect">
            <a:avLst/>
          </a:prstGeom>
          <a:noFill/>
          <a:ln/>
        </p:spPr>
        <p:txBody>
          <a:bodyPr wrap="square" lIns="0" tIns="0" rIns="0" bIns="0" rtlCol="0" anchor="t"/>
          <a:lstStyle/>
          <a:p>
            <a:pPr marL="0" indent="0">
              <a:lnSpc>
                <a:spcPct val="115000"/>
              </a:lnSpc>
              <a:buNone/>
            </a:pPr>
            <a:r>
              <a:rPr lang="en-US" sz="725">
                <a:solidFill>
                  <a:srgbClr val="44566B"/>
                </a:solidFill>
                <a:latin typeface="Segoe UI" pitchFamily="34" charset="0"/>
                <a:ea typeface="Segoe UI" pitchFamily="34" charset="-122"/>
                <a:cs typeface="Segoe UI" pitchFamily="34" charset="-120"/>
              </a:rPr>
              <a:t>Anyone who can read the Secret can decode it in one command. Access control, not encoding, is what protects it.</a:t>
            </a:r>
            <a:endParaRPr lang="en-US" sz="825"/>
          </a:p>
        </p:txBody>
      </p:sp>
      <p:sp>
        <p:nvSpPr>
          <p:cNvPr id="16" name="card">
            <a:extLst>
              <a:ext uri="{C183D7F6-B498-43B3-948B-1728B52AA6E4}">
                <adec:decorative xmlns:adec="http://schemas.microsoft.com/office/drawing/2017/decorative" val="1"/>
              </a:ext>
            </a:extLst>
          </p:cNvPr>
          <p:cNvSpPr/>
          <p:nvPr/>
        </p:nvSpPr>
        <p:spPr>
          <a:xfrm>
            <a:off x="4709160" y="2362200"/>
            <a:ext cx="3931920" cy="752856"/>
          </a:xfrm>
          <a:prstGeom prst="rect">
            <a:avLst/>
          </a:prstGeom>
          <a:solidFill>
            <a:srgbClr val="F6F9FD"/>
          </a:solidFill>
          <a:ln w="9525">
            <a:solidFill>
              <a:srgbClr val="D8E5F2"/>
            </a:solidFill>
            <a:prstDash val="solid"/>
          </a:ln>
        </p:spPr>
        <p:txBody>
          <a:bodyPr/>
          <a:lstStyle/>
          <a:p>
            <a:endParaRPr lang="en-IN"/>
          </a:p>
        </p:txBody>
      </p:sp>
      <p:sp>
        <p:nvSpPr>
          <p:cNvPr id="17" name="card accent">
            <a:extLst>
              <a:ext uri="{C183D7F6-B498-43B3-948B-1728B52AA6E4}">
                <adec:decorative xmlns:adec="http://schemas.microsoft.com/office/drawing/2017/decorative" val="1"/>
              </a:ext>
            </a:extLst>
          </p:cNvPr>
          <p:cNvSpPr/>
          <p:nvPr/>
        </p:nvSpPr>
        <p:spPr>
          <a:xfrm>
            <a:off x="4709160" y="2362200"/>
            <a:ext cx="3931920" cy="41148"/>
          </a:xfrm>
          <a:prstGeom prst="rect">
            <a:avLst/>
          </a:prstGeom>
          <a:solidFill>
            <a:srgbClr val="0B63CE"/>
          </a:solidFill>
          <a:ln w="12700">
            <a:solidFill>
              <a:srgbClr val="333333"/>
            </a:solidFill>
            <a:prstDash val="solid"/>
          </a:ln>
        </p:spPr>
        <p:txBody>
          <a:bodyPr/>
          <a:lstStyle/>
          <a:p>
            <a:endParaRPr lang="en-IN"/>
          </a:p>
        </p:txBody>
      </p:sp>
      <p:sp>
        <p:nvSpPr>
          <p:cNvPr id="18" name="Text 16"/>
          <p:cNvSpPr/>
          <p:nvPr/>
        </p:nvSpPr>
        <p:spPr>
          <a:xfrm>
            <a:off x="4910328" y="2471928"/>
            <a:ext cx="3529584" cy="173736"/>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PROTECT</a:t>
            </a:r>
            <a:endParaRPr lang="en-US" sz="900"/>
          </a:p>
        </p:txBody>
      </p:sp>
      <p:sp>
        <p:nvSpPr>
          <p:cNvPr id="19" name="Text 17"/>
          <p:cNvSpPr/>
          <p:nvPr/>
        </p:nvSpPr>
        <p:spPr>
          <a:xfrm>
            <a:off x="4910328" y="2673096"/>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Keep them out of Git</a:t>
            </a:r>
            <a:endParaRPr lang="en-US" sz="850"/>
          </a:p>
        </p:txBody>
      </p:sp>
      <p:sp>
        <p:nvSpPr>
          <p:cNvPr id="20" name="Text 18"/>
          <p:cNvSpPr/>
          <p:nvPr/>
        </p:nvSpPr>
        <p:spPr>
          <a:xfrm>
            <a:off x="4910328" y="2921508"/>
            <a:ext cx="3529584" cy="146304"/>
          </a:xfrm>
          <a:prstGeom prst="rect">
            <a:avLst/>
          </a:prstGeom>
          <a:noFill/>
          <a:ln/>
        </p:spPr>
        <p:txBody>
          <a:bodyPr wrap="square" lIns="0" tIns="0" rIns="0" bIns="0" rtlCol="0" anchor="t"/>
          <a:lstStyle/>
          <a:p>
            <a:pPr marL="0" indent="0">
              <a:lnSpc>
                <a:spcPct val="115000"/>
              </a:lnSpc>
              <a:buNone/>
            </a:pPr>
            <a:r>
              <a:rPr lang="en-US" sz="725">
                <a:solidFill>
                  <a:srgbClr val="44566B"/>
                </a:solidFill>
                <a:latin typeface="Segoe UI" pitchFamily="34" charset="0"/>
                <a:ea typeface="Segoe UI" pitchFamily="34" charset="-122"/>
                <a:cs typeface="Segoe UI" pitchFamily="34" charset="-120"/>
              </a:rPr>
              <a:t>Never commit a Secret manifest. Source values from Azure Key Vault at deploy time or mount them at runtime.</a:t>
            </a:r>
            <a:endParaRPr lang="en-US" sz="825"/>
          </a:p>
        </p:txBody>
      </p:sp>
      <p:sp>
        <p:nvSpPr>
          <p:cNvPr id="21" name="card">
            <a:extLst>
              <a:ext uri="{C183D7F6-B498-43B3-948B-1728B52AA6E4}">
                <adec:decorative xmlns:adec="http://schemas.microsoft.com/office/drawing/2017/decorative" val="1"/>
              </a:ext>
            </a:extLst>
          </p:cNvPr>
          <p:cNvSpPr/>
          <p:nvPr/>
        </p:nvSpPr>
        <p:spPr>
          <a:xfrm>
            <a:off x="4709160" y="3243072"/>
            <a:ext cx="3931920" cy="752856"/>
          </a:xfrm>
          <a:prstGeom prst="rect">
            <a:avLst/>
          </a:prstGeom>
          <a:solidFill>
            <a:srgbClr val="F6F9FD"/>
          </a:solidFill>
          <a:ln w="9525">
            <a:solidFill>
              <a:srgbClr val="D8E5F2"/>
            </a:solidFill>
            <a:prstDash val="solid"/>
          </a:ln>
        </p:spPr>
        <p:txBody>
          <a:bodyPr/>
          <a:lstStyle/>
          <a:p>
            <a:endParaRPr lang="en-IN"/>
          </a:p>
        </p:txBody>
      </p:sp>
      <p:sp>
        <p:nvSpPr>
          <p:cNvPr id="22" name="card accent">
            <a:extLst>
              <a:ext uri="{C183D7F6-B498-43B3-948B-1728B52AA6E4}">
                <adec:decorative xmlns:adec="http://schemas.microsoft.com/office/drawing/2017/decorative" val="1"/>
              </a:ext>
            </a:extLst>
          </p:cNvPr>
          <p:cNvSpPr/>
          <p:nvPr/>
        </p:nvSpPr>
        <p:spPr>
          <a:xfrm>
            <a:off x="4709160" y="3243072"/>
            <a:ext cx="3931920" cy="41148"/>
          </a:xfrm>
          <a:prstGeom prst="rect">
            <a:avLst/>
          </a:prstGeom>
          <a:solidFill>
            <a:srgbClr val="2E9E6B"/>
          </a:solidFill>
          <a:ln w="12700">
            <a:solidFill>
              <a:srgbClr val="333333"/>
            </a:solidFill>
            <a:prstDash val="solid"/>
          </a:ln>
        </p:spPr>
        <p:txBody>
          <a:bodyPr/>
          <a:lstStyle/>
          <a:p>
            <a:endParaRPr lang="en-IN"/>
          </a:p>
        </p:txBody>
      </p:sp>
      <p:sp>
        <p:nvSpPr>
          <p:cNvPr id="23" name="Text 21"/>
          <p:cNvSpPr/>
          <p:nvPr/>
        </p:nvSpPr>
        <p:spPr>
          <a:xfrm>
            <a:off x="4910328" y="3352800"/>
            <a:ext cx="3529584" cy="173736"/>
          </a:xfrm>
          <a:prstGeom prst="rect">
            <a:avLst/>
          </a:prstGeom>
          <a:noFill/>
          <a:ln/>
        </p:spPr>
        <p:txBody>
          <a:bodyPr wrap="square" lIns="0" tIns="0" rIns="0" bIns="0" rtlCol="0" anchor="ctr"/>
          <a:lstStyle/>
          <a:p>
            <a:pPr marL="0" indent="0">
              <a:buNone/>
            </a:pPr>
            <a:r>
              <a:rPr lang="en-US" sz="900" b="1" kern="0" spc="120">
                <a:solidFill>
                  <a:srgbClr val="2E9E6B"/>
                </a:solidFill>
                <a:latin typeface="Segoe UI" pitchFamily="34" charset="0"/>
                <a:ea typeface="Segoe UI" pitchFamily="34" charset="-122"/>
                <a:cs typeface="Segoe UI" pitchFamily="34" charset="-120"/>
              </a:rPr>
              <a:t>PREFER</a:t>
            </a:r>
            <a:endParaRPr lang="en-US" sz="900"/>
          </a:p>
        </p:txBody>
      </p:sp>
      <p:sp>
        <p:nvSpPr>
          <p:cNvPr id="24" name="Text 22"/>
          <p:cNvSpPr/>
          <p:nvPr/>
        </p:nvSpPr>
        <p:spPr>
          <a:xfrm>
            <a:off x="4910328" y="3553968"/>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Prefer files over environment variables</a:t>
            </a:r>
            <a:endParaRPr lang="en-US" sz="825"/>
          </a:p>
        </p:txBody>
      </p:sp>
      <p:sp>
        <p:nvSpPr>
          <p:cNvPr id="25" name="Text 23"/>
          <p:cNvSpPr/>
          <p:nvPr/>
        </p:nvSpPr>
        <p:spPr>
          <a:xfrm>
            <a:off x="4910328" y="3802380"/>
            <a:ext cx="3529584" cy="146304"/>
          </a:xfrm>
          <a:prstGeom prst="rect">
            <a:avLst/>
          </a:prstGeom>
          <a:noFill/>
          <a:ln/>
        </p:spPr>
        <p:txBody>
          <a:bodyPr wrap="square" lIns="0" tIns="0" rIns="0" bIns="0" rtlCol="0" anchor="t"/>
          <a:lstStyle/>
          <a:p>
            <a:pPr marL="0" indent="0">
              <a:lnSpc>
                <a:spcPct val="115000"/>
              </a:lnSpc>
              <a:buNone/>
            </a:pPr>
            <a:r>
              <a:rPr lang="en-US" sz="725">
                <a:solidFill>
                  <a:srgbClr val="44566B"/>
                </a:solidFill>
                <a:latin typeface="Segoe UI" pitchFamily="34" charset="0"/>
                <a:ea typeface="Segoe UI" pitchFamily="34" charset="-122"/>
                <a:cs typeface="Segoe UI" pitchFamily="34" charset="-120"/>
              </a:rPr>
              <a:t>Mounted secrets can be rotated without a restart and are less likely to end up in logs or crash dumps.</a:t>
            </a:r>
            <a:endParaRPr lang="en-US" sz="825"/>
          </a:p>
        </p:txBody>
      </p:sp>
      <p:sp>
        <p:nvSpPr>
          <p:cNvPr id="26"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7"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28" name="Text 26"/>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D0483C"/>
                </a:solidFill>
                <a:latin typeface="Segoe UI" pitchFamily="34" charset="0"/>
                <a:ea typeface="Segoe UI" pitchFamily="34" charset="-122"/>
                <a:cs typeface="Segoe UI" pitchFamily="34" charset="-120"/>
              </a:rPr>
              <a:t>Non-negotiable   </a:t>
            </a:r>
            <a:r>
              <a:rPr lang="en-US" sz="1050">
                <a:solidFill>
                  <a:srgbClr val="0E2233"/>
                </a:solidFill>
                <a:latin typeface="Segoe UI" pitchFamily="34" charset="0"/>
                <a:ea typeface="Segoe UI" pitchFamily="34" charset="-122"/>
                <a:cs typeface="Segoe UI" pitchFamily="34" charset="-120"/>
              </a:rPr>
              <a:t>Restrict get and list on Secrets to the service accounts that genuinely need them — a namespace-wide read on Secrets is a namespace-wide breach.</a:t>
            </a:r>
            <a:endParaRPr lang="en-US" sz="1000"/>
          </a:p>
        </p:txBody>
      </p:sp>
      <p:sp>
        <p:nvSpPr>
          <p:cNvPr id="29"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8 · SECURITY FOR APPLICATION TEAMS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Secrets from Azure Key Vault</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00">
                <a:solidFill>
                  <a:srgbClr val="44566B"/>
                </a:solidFill>
                <a:latin typeface="Segoe UI" pitchFamily="34" charset="0"/>
                <a:ea typeface="Segoe UI" pitchFamily="34" charset="-122"/>
                <a:cs typeface="Segoe UI" pitchFamily="34" charset="-120"/>
              </a:rPr>
              <a:t>Keep the source of truth in Key Vault and let the cluster fetch values at runtime, so nothing sensitive lives in your manifests.</a:t>
            </a:r>
            <a:endParaRPr lang="en-US" sz="1100"/>
          </a:p>
        </p:txBody>
      </p:sp>
      <p:sp>
        <p:nvSpPr>
          <p:cNvPr id="7" name="component box">
            <a:extLst>
              <a:ext uri="{C183D7F6-B498-43B3-948B-1728B52AA6E4}">
                <adec:decorative xmlns:adec="http://schemas.microsoft.com/office/drawing/2017/decorative" val="1"/>
              </a:ext>
            </a:extLst>
          </p:cNvPr>
          <p:cNvSpPr/>
          <p:nvPr/>
        </p:nvSpPr>
        <p:spPr>
          <a:xfrm>
            <a:off x="502920" y="1600200"/>
            <a:ext cx="2286000" cy="1371600"/>
          </a:xfrm>
          <a:prstGeom prst="rect">
            <a:avLst/>
          </a:prstGeom>
          <a:solidFill>
            <a:srgbClr val="F6F9FD"/>
          </a:solidFill>
          <a:ln w="12700">
            <a:solidFill>
              <a:srgbClr val="D8E5F2"/>
            </a:solidFill>
            <a:prstDash val="solid"/>
          </a:ln>
        </p:spPr>
        <p:txBody>
          <a:bodyPr/>
          <a:lstStyle/>
          <a:p>
            <a:endParaRPr lang="en-IN"/>
          </a:p>
        </p:txBody>
      </p:sp>
      <p:sp>
        <p:nvSpPr>
          <p:cNvPr id="8" name="Text 6"/>
          <p:cNvSpPr/>
          <p:nvPr/>
        </p:nvSpPr>
        <p:spPr>
          <a:xfrm>
            <a:off x="612648" y="1728216"/>
            <a:ext cx="2066544" cy="274320"/>
          </a:xfrm>
          <a:prstGeom prst="rect">
            <a:avLst/>
          </a:prstGeom>
          <a:noFill/>
          <a:ln/>
        </p:spPr>
        <p:txBody>
          <a:bodyPr wrap="square" lIns="0" tIns="0" rIns="0" bIns="0" rtlCol="0" anchor="ctr"/>
          <a:lstStyle/>
          <a:p>
            <a:pPr marL="0" indent="0" algn="ctr">
              <a:buNone/>
            </a:pPr>
            <a:r>
              <a:rPr lang="en-US" sz="1150" b="1">
                <a:solidFill>
                  <a:srgbClr val="0E2233"/>
                </a:solidFill>
                <a:latin typeface="Segoe UI" pitchFamily="34" charset="0"/>
                <a:ea typeface="Segoe UI" pitchFamily="34" charset="-122"/>
                <a:cs typeface="Segoe UI" pitchFamily="34" charset="-120"/>
              </a:rPr>
              <a:t>Azure Key Vault</a:t>
            </a:r>
            <a:endParaRPr lang="en-US" sz="1150"/>
          </a:p>
        </p:txBody>
      </p:sp>
      <p:sp>
        <p:nvSpPr>
          <p:cNvPr id="9" name="Text 7"/>
          <p:cNvSpPr/>
          <p:nvPr/>
        </p:nvSpPr>
        <p:spPr>
          <a:xfrm>
            <a:off x="612648" y="2020824"/>
            <a:ext cx="2066544" cy="841248"/>
          </a:xfrm>
          <a:prstGeom prst="rect">
            <a:avLst/>
          </a:prstGeom>
          <a:noFill/>
          <a:ln/>
        </p:spPr>
        <p:txBody>
          <a:bodyPr wrap="square" lIns="0" tIns="0" rIns="0" bIns="0" rtlCol="0" anchor="t"/>
          <a:lstStyle/>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central store, versioned,</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audited</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secrets, keys and certificates</a:t>
            </a:r>
            <a:endParaRPr lang="en-US" sz="950"/>
          </a:p>
        </p:txBody>
      </p:sp>
      <p:sp>
        <p:nvSpPr>
          <p:cNvPr id="10" name="component box">
            <a:extLst>
              <a:ext uri="{C183D7F6-B498-43B3-948B-1728B52AA6E4}">
                <adec:decorative xmlns:adec="http://schemas.microsoft.com/office/drawing/2017/decorative" val="1"/>
              </a:ext>
            </a:extLst>
          </p:cNvPr>
          <p:cNvSpPr/>
          <p:nvPr/>
        </p:nvSpPr>
        <p:spPr>
          <a:xfrm>
            <a:off x="3429000" y="1600200"/>
            <a:ext cx="2286000" cy="1371600"/>
          </a:xfrm>
          <a:prstGeom prst="rect">
            <a:avLst/>
          </a:prstGeom>
          <a:solidFill>
            <a:srgbClr val="0A2E4E"/>
          </a:solidFill>
          <a:ln w="12700">
            <a:solidFill>
              <a:srgbClr val="0A2E4E"/>
            </a:solidFill>
            <a:prstDash val="solid"/>
          </a:ln>
        </p:spPr>
        <p:txBody>
          <a:bodyPr/>
          <a:lstStyle/>
          <a:p>
            <a:endParaRPr lang="en-IN"/>
          </a:p>
        </p:txBody>
      </p:sp>
      <p:sp>
        <p:nvSpPr>
          <p:cNvPr id="11" name="Text 9"/>
          <p:cNvSpPr/>
          <p:nvPr/>
        </p:nvSpPr>
        <p:spPr>
          <a:xfrm>
            <a:off x="3538728" y="1728216"/>
            <a:ext cx="2066544" cy="274320"/>
          </a:xfrm>
          <a:prstGeom prst="rect">
            <a:avLst/>
          </a:prstGeom>
          <a:noFill/>
          <a:ln/>
        </p:spPr>
        <p:txBody>
          <a:bodyPr wrap="square" lIns="0" tIns="0" rIns="0" bIns="0" rtlCol="0" anchor="ctr"/>
          <a:lstStyle/>
          <a:p>
            <a:pPr marL="0" indent="0" algn="ctr">
              <a:buNone/>
            </a:pPr>
            <a:r>
              <a:rPr lang="en-US" sz="1150" b="1">
                <a:solidFill>
                  <a:srgbClr val="FFFFFF"/>
                </a:solidFill>
                <a:latin typeface="Segoe UI" pitchFamily="34" charset="0"/>
                <a:ea typeface="Segoe UI" pitchFamily="34" charset="-122"/>
                <a:cs typeface="Segoe UI" pitchFamily="34" charset="-120"/>
              </a:rPr>
              <a:t>Secrets Store CSI Driver</a:t>
            </a:r>
            <a:endParaRPr lang="en-US" sz="1150"/>
          </a:p>
        </p:txBody>
      </p:sp>
      <p:sp>
        <p:nvSpPr>
          <p:cNvPr id="12" name="Text 10"/>
          <p:cNvSpPr/>
          <p:nvPr/>
        </p:nvSpPr>
        <p:spPr>
          <a:xfrm>
            <a:off x="3538728" y="2020824"/>
            <a:ext cx="2066544" cy="841248"/>
          </a:xfrm>
          <a:prstGeom prst="rect">
            <a:avLst/>
          </a:prstGeom>
          <a:noFill/>
          <a:ln/>
        </p:spPr>
        <p:txBody>
          <a:bodyPr wrap="square" lIns="0" tIns="0" rIns="0" bIns="0" rtlCol="0" anchor="t"/>
          <a:lstStyle/>
          <a:p>
            <a:pPr marL="0" indent="0" algn="ctr">
              <a:lnSpc>
                <a:spcPct val="115000"/>
              </a:lnSpc>
              <a:buNone/>
            </a:pPr>
            <a:r>
              <a:rPr lang="en-US" sz="950">
                <a:solidFill>
                  <a:srgbClr val="D6E7F6"/>
                </a:solidFill>
                <a:latin typeface="Segoe UI" pitchFamily="34" charset="0"/>
                <a:ea typeface="Segoe UI" pitchFamily="34" charset="-122"/>
                <a:cs typeface="Segoe UI" pitchFamily="34" charset="-120"/>
              </a:rPr>
              <a:t>add-on enabled on the cluster</a:t>
            </a:r>
            <a:endParaRPr lang="en-US" sz="950"/>
          </a:p>
          <a:p>
            <a:pPr marL="0" indent="0" algn="ctr">
              <a:lnSpc>
                <a:spcPct val="115000"/>
              </a:lnSpc>
              <a:buNone/>
            </a:pPr>
            <a:r>
              <a:rPr lang="en-US" sz="950">
                <a:solidFill>
                  <a:srgbClr val="D6E7F6"/>
                </a:solidFill>
                <a:latin typeface="Segoe UI" pitchFamily="34" charset="0"/>
                <a:ea typeface="Segoe UI" pitchFamily="34" charset="-122"/>
                <a:cs typeface="Segoe UI" pitchFamily="34" charset="-120"/>
              </a:rPr>
              <a:t>SecretProviderClass defines</a:t>
            </a:r>
            <a:endParaRPr lang="en-US" sz="950"/>
          </a:p>
          <a:p>
            <a:pPr marL="0" indent="0" algn="ctr">
              <a:lnSpc>
                <a:spcPct val="115000"/>
              </a:lnSpc>
              <a:buNone/>
            </a:pPr>
            <a:r>
              <a:rPr lang="en-US" sz="950">
                <a:solidFill>
                  <a:srgbClr val="D6E7F6"/>
                </a:solidFill>
                <a:latin typeface="Segoe UI" pitchFamily="34" charset="0"/>
                <a:ea typeface="Segoe UI" pitchFamily="34" charset="-122"/>
                <a:cs typeface="Segoe UI" pitchFamily="34" charset="-120"/>
              </a:rPr>
              <a:t>what to fetch</a:t>
            </a:r>
            <a:endParaRPr lang="en-US" sz="950"/>
          </a:p>
        </p:txBody>
      </p:sp>
      <p:sp>
        <p:nvSpPr>
          <p:cNvPr id="13" name="component box">
            <a:extLst>
              <a:ext uri="{C183D7F6-B498-43B3-948B-1728B52AA6E4}">
                <adec:decorative xmlns:adec="http://schemas.microsoft.com/office/drawing/2017/decorative" val="1"/>
              </a:ext>
            </a:extLst>
          </p:cNvPr>
          <p:cNvSpPr/>
          <p:nvPr/>
        </p:nvSpPr>
        <p:spPr>
          <a:xfrm>
            <a:off x="6355080" y="1600200"/>
            <a:ext cx="2286000" cy="1371600"/>
          </a:xfrm>
          <a:prstGeom prst="rect">
            <a:avLst/>
          </a:prstGeom>
          <a:solidFill>
            <a:srgbClr val="F6F9FD"/>
          </a:solidFill>
          <a:ln w="12700">
            <a:solidFill>
              <a:srgbClr val="D8E5F2"/>
            </a:solidFill>
            <a:prstDash val="solid"/>
          </a:ln>
        </p:spPr>
        <p:txBody>
          <a:bodyPr/>
          <a:lstStyle/>
          <a:p>
            <a:endParaRPr lang="en-IN"/>
          </a:p>
        </p:txBody>
      </p:sp>
      <p:sp>
        <p:nvSpPr>
          <p:cNvPr id="14" name="Text 12"/>
          <p:cNvSpPr/>
          <p:nvPr/>
        </p:nvSpPr>
        <p:spPr>
          <a:xfrm>
            <a:off x="6464808" y="1728216"/>
            <a:ext cx="2066544" cy="274320"/>
          </a:xfrm>
          <a:prstGeom prst="rect">
            <a:avLst/>
          </a:prstGeom>
          <a:noFill/>
          <a:ln/>
        </p:spPr>
        <p:txBody>
          <a:bodyPr wrap="square" lIns="0" tIns="0" rIns="0" bIns="0" rtlCol="0" anchor="ctr"/>
          <a:lstStyle/>
          <a:p>
            <a:pPr marL="0" indent="0" algn="ctr">
              <a:buNone/>
            </a:pPr>
            <a:r>
              <a:rPr lang="en-US" sz="1150" b="1">
                <a:solidFill>
                  <a:srgbClr val="0E2233"/>
                </a:solidFill>
                <a:latin typeface="Segoe UI" pitchFamily="34" charset="0"/>
                <a:ea typeface="Segoe UI" pitchFamily="34" charset="-122"/>
                <a:cs typeface="Segoe UI" pitchFamily="34" charset="-120"/>
              </a:rPr>
              <a:t>Pod</a:t>
            </a:r>
            <a:endParaRPr lang="en-US" sz="1150"/>
          </a:p>
        </p:txBody>
      </p:sp>
      <p:sp>
        <p:nvSpPr>
          <p:cNvPr id="15" name="Text 13"/>
          <p:cNvSpPr/>
          <p:nvPr/>
        </p:nvSpPr>
        <p:spPr>
          <a:xfrm>
            <a:off x="6464808" y="2020824"/>
            <a:ext cx="2066544" cy="841248"/>
          </a:xfrm>
          <a:prstGeom prst="rect">
            <a:avLst/>
          </a:prstGeom>
          <a:noFill/>
          <a:ln/>
        </p:spPr>
        <p:txBody>
          <a:bodyPr wrap="square" lIns="0" tIns="0" rIns="0" bIns="0" rtlCol="0" anchor="t"/>
          <a:lstStyle/>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values mounted as files</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optionally synced to a</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Kubernetes Secret</a:t>
            </a:r>
            <a:endParaRPr lang="en-US" sz="950"/>
          </a:p>
        </p:txBody>
      </p:sp>
      <p:sp>
        <p:nvSpPr>
          <p:cNvPr id="16" name="flow arrow">
            <a:extLst>
              <a:ext uri="{C183D7F6-B498-43B3-948B-1728B52AA6E4}">
                <adec:decorative xmlns:adec="http://schemas.microsoft.com/office/drawing/2017/decorative" val="1"/>
              </a:ext>
            </a:extLst>
          </p:cNvPr>
          <p:cNvSpPr/>
          <p:nvPr/>
        </p:nvSpPr>
        <p:spPr>
          <a:xfrm>
            <a:off x="2898648" y="2185416"/>
            <a:ext cx="420624" cy="201168"/>
          </a:xfrm>
          <a:prstGeom prst="rightArrow">
            <a:avLst/>
          </a:prstGeom>
          <a:solidFill>
            <a:srgbClr val="17A9DB"/>
          </a:solidFill>
          <a:ln w="12700">
            <a:solidFill>
              <a:srgbClr val="333333"/>
            </a:solidFill>
            <a:prstDash val="solid"/>
          </a:ln>
        </p:spPr>
        <p:txBody>
          <a:bodyPr/>
          <a:lstStyle/>
          <a:p>
            <a:endParaRPr lang="en-IN"/>
          </a:p>
        </p:txBody>
      </p:sp>
      <p:sp>
        <p:nvSpPr>
          <p:cNvPr id="17" name="flow arrow">
            <a:extLst>
              <a:ext uri="{C183D7F6-B498-43B3-948B-1728B52AA6E4}">
                <adec:decorative xmlns:adec="http://schemas.microsoft.com/office/drawing/2017/decorative" val="1"/>
              </a:ext>
            </a:extLst>
          </p:cNvPr>
          <p:cNvSpPr/>
          <p:nvPr/>
        </p:nvSpPr>
        <p:spPr>
          <a:xfrm>
            <a:off x="5824728" y="2185416"/>
            <a:ext cx="420624" cy="201168"/>
          </a:xfrm>
          <a:prstGeom prst="rightArrow">
            <a:avLst/>
          </a:prstGeom>
          <a:solidFill>
            <a:srgbClr val="17A9DB"/>
          </a:solidFill>
          <a:ln w="12700">
            <a:solidFill>
              <a:srgbClr val="333333"/>
            </a:solidFill>
            <a:prstDash val="solid"/>
          </a:ln>
        </p:spPr>
        <p:txBody>
          <a:bodyPr/>
          <a:lstStyle/>
          <a:p>
            <a:endParaRPr lang="en-IN"/>
          </a:p>
        </p:txBody>
      </p:sp>
      <p:sp>
        <p:nvSpPr>
          <p:cNvPr id="18" name="Text 16"/>
          <p:cNvSpPr/>
          <p:nvPr/>
        </p:nvSpPr>
        <p:spPr>
          <a:xfrm>
            <a:off x="2743200" y="2395728"/>
            <a:ext cx="777240" cy="201168"/>
          </a:xfrm>
          <a:prstGeom prst="rect">
            <a:avLst/>
          </a:prstGeom>
          <a:noFill/>
          <a:ln/>
        </p:spPr>
        <p:txBody>
          <a:bodyPr wrap="square" lIns="0" tIns="0" rIns="0" bIns="0" rtlCol="0" anchor="ctr"/>
          <a:lstStyle/>
          <a:p>
            <a:pPr marL="0" indent="0" algn="ctr">
              <a:buNone/>
            </a:pPr>
            <a:r>
              <a:rPr lang="en-US" sz="800">
                <a:solidFill>
                  <a:srgbClr val="7C8FA3"/>
                </a:solidFill>
                <a:latin typeface="Segoe UI" pitchFamily="34" charset="0"/>
                <a:ea typeface="Segoe UI" pitchFamily="34" charset="-122"/>
                <a:cs typeface="Segoe UI" pitchFamily="34" charset="-120"/>
              </a:rPr>
              <a:t>workload identity</a:t>
            </a:r>
            <a:endParaRPr lang="en-US" sz="800"/>
          </a:p>
        </p:txBody>
      </p:sp>
      <p:sp>
        <p:nvSpPr>
          <p:cNvPr id="19" name="Text 17"/>
          <p:cNvSpPr/>
          <p:nvPr/>
        </p:nvSpPr>
        <p:spPr>
          <a:xfrm>
            <a:off x="5669280" y="2395728"/>
            <a:ext cx="777240" cy="201168"/>
          </a:xfrm>
          <a:prstGeom prst="rect">
            <a:avLst/>
          </a:prstGeom>
          <a:noFill/>
          <a:ln/>
        </p:spPr>
        <p:txBody>
          <a:bodyPr wrap="square" lIns="0" tIns="0" rIns="0" bIns="0" rtlCol="0" anchor="ctr"/>
          <a:lstStyle/>
          <a:p>
            <a:pPr marL="0" indent="0" algn="ctr">
              <a:buNone/>
            </a:pPr>
            <a:r>
              <a:rPr lang="en-US" sz="800">
                <a:solidFill>
                  <a:srgbClr val="7C8FA3"/>
                </a:solidFill>
                <a:latin typeface="Segoe UI" pitchFamily="34" charset="0"/>
                <a:ea typeface="Segoe UI" pitchFamily="34" charset="-122"/>
                <a:cs typeface="Segoe UI" pitchFamily="34" charset="-120"/>
              </a:rPr>
              <a:t>mount /mnt/secrets</a:t>
            </a:r>
            <a:endParaRPr lang="en-US" sz="800"/>
          </a:p>
        </p:txBody>
      </p:sp>
      <p:sp>
        <p:nvSpPr>
          <p:cNvPr id="20" name="local store box">
            <a:extLst>
              <a:ext uri="{C183D7F6-B498-43B3-948B-1728B52AA6E4}">
                <adec:decorative xmlns:adec="http://schemas.microsoft.com/office/drawing/2017/decorative" val="1"/>
              </a:ext>
            </a:extLst>
          </p:cNvPr>
          <p:cNvSpPr/>
          <p:nvPr/>
        </p:nvSpPr>
        <p:spPr>
          <a:xfrm>
            <a:off x="3429000" y="2743200"/>
            <a:ext cx="2286000" cy="384048"/>
          </a:xfrm>
          <a:prstGeom prst="rect">
            <a:avLst/>
          </a:prstGeom>
          <a:solidFill>
            <a:srgbClr val="EDF4FC"/>
          </a:solidFill>
          <a:ln w="9525">
            <a:solidFill>
              <a:srgbClr val="0B63CE"/>
            </a:solidFill>
            <a:prstDash val="dash"/>
          </a:ln>
        </p:spPr>
        <p:txBody>
          <a:bodyPr/>
          <a:lstStyle/>
          <a:p>
            <a:endParaRPr lang="en-IN"/>
          </a:p>
        </p:txBody>
      </p:sp>
      <p:sp>
        <p:nvSpPr>
          <p:cNvPr id="21" name="Text 19"/>
          <p:cNvSpPr/>
          <p:nvPr/>
        </p:nvSpPr>
        <p:spPr>
          <a:xfrm>
            <a:off x="3520440" y="2743200"/>
            <a:ext cx="2103120" cy="384048"/>
          </a:xfrm>
          <a:prstGeom prst="rect">
            <a:avLst/>
          </a:prstGeom>
          <a:noFill/>
          <a:ln/>
        </p:spPr>
        <p:txBody>
          <a:bodyPr wrap="square" lIns="0" tIns="0" rIns="0" bIns="0" rtlCol="0" anchor="ctr"/>
          <a:lstStyle/>
          <a:p>
            <a:pPr marL="0" indent="0" algn="ctr">
              <a:lnSpc>
                <a:spcPct val="115000"/>
              </a:lnSpc>
              <a:buNone/>
            </a:pPr>
            <a:r>
              <a:rPr lang="en-US" sz="650">
                <a:solidFill>
                  <a:srgbClr val="0A2E4E"/>
                </a:solidFill>
                <a:latin typeface="Segoe UI" pitchFamily="34" charset="0"/>
                <a:ea typeface="Segoe UI" pitchFamily="34" charset="-122"/>
                <a:cs typeface="Segoe UI" pitchFamily="34" charset="-120"/>
              </a:rPr>
              <a:t>az aks enable-addons --addons azure-keyvault-secrets-provider</a:t>
            </a:r>
            <a:endParaRPr lang="en-US" sz="650"/>
          </a:p>
        </p:txBody>
      </p:sp>
      <p:sp>
        <p:nvSpPr>
          <p:cNvPr id="22"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3"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24" name="Text 22"/>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No credentials in YAML</a:t>
            </a:r>
            <a:endParaRPr lang="en-US" sz="1100"/>
          </a:p>
        </p:txBody>
      </p:sp>
      <p:sp>
        <p:nvSpPr>
          <p:cNvPr id="25" name="Text 23"/>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The manifest names the vault and the secret, never the value itself.</a:t>
            </a:r>
            <a:endParaRPr lang="en-US" sz="800"/>
          </a:p>
        </p:txBody>
      </p:sp>
      <p:sp>
        <p:nvSpPr>
          <p:cNvPr id="26"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28" name="Text 26"/>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Rotation without rebuilds</a:t>
            </a:r>
            <a:endParaRPr lang="en-US" sz="1100"/>
          </a:p>
        </p:txBody>
      </p:sp>
      <p:sp>
        <p:nvSpPr>
          <p:cNvPr id="29" name="Text 27"/>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Update the value in Key Vault and let the driver refresh the mounted file.</a:t>
            </a:r>
            <a:endParaRPr lang="en-US" sz="800"/>
          </a:p>
        </p:txBody>
      </p:sp>
      <p:sp>
        <p:nvSpPr>
          <p:cNvPr id="30"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32" name="Text 30"/>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One audit trail</a:t>
            </a:r>
            <a:endParaRPr lang="en-US" sz="1100"/>
          </a:p>
        </p:txBody>
      </p:sp>
      <p:sp>
        <p:nvSpPr>
          <p:cNvPr id="33" name="Text 31"/>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Every read is recorded against the vault, which is what auditors ask for.</a:t>
            </a:r>
            <a:endParaRPr lang="en-US" sz="80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8 · SECURITY FOR APPLICATION TEAMS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Image security best practices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a:solidFill>
                  <a:srgbClr val="44566B"/>
                </a:solidFill>
                <a:latin typeface="Segoe UI" pitchFamily="34" charset="0"/>
                <a:ea typeface="Segoe UI" pitchFamily="34" charset="-122"/>
                <a:cs typeface="Segoe UI" pitchFamily="34" charset="-120"/>
              </a:rPr>
              <a:t>Most container incidents start with what went into the image, long before the cluster is involved.</a:t>
            </a:r>
            <a:endParaRPr lang="en-US" sz="1125"/>
          </a:p>
        </p:txBody>
      </p:sp>
      <p:sp>
        <p:nvSpPr>
          <p:cNvPr id="7" name="card">
            <a:extLst>
              <a:ext uri="{C183D7F6-B498-43B3-948B-1728B52AA6E4}">
                <adec:decorative xmlns:adec="http://schemas.microsoft.com/office/drawing/2017/decorative" val="1"/>
              </a:ext>
            </a:extLst>
          </p:cNvPr>
          <p:cNvSpPr/>
          <p:nvPr/>
        </p:nvSpPr>
        <p:spPr>
          <a:xfrm>
            <a:off x="502920"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1883664" cy="41148"/>
          </a:xfrm>
          <a:prstGeom prst="rect">
            <a:avLst/>
          </a:prstGeom>
          <a:solidFill>
            <a:srgbClr val="0B63CE"/>
          </a:solidFill>
          <a:ln w="12700">
            <a:solidFill>
              <a:srgbClr val="333333"/>
            </a:solidFill>
            <a:prstDash val="solid"/>
          </a:ln>
        </p:spPr>
        <p:txBody>
          <a:bodyPr/>
          <a:lstStyle/>
          <a:p>
            <a:endParaRPr lang="en-IN"/>
          </a:p>
        </p:txBody>
      </p:sp>
      <p:sp>
        <p:nvSpPr>
          <p:cNvPr id="9" name="Text 7"/>
          <p:cNvSpPr/>
          <p:nvPr/>
        </p:nvSpPr>
        <p:spPr>
          <a:xfrm>
            <a:off x="704088" y="1664208"/>
            <a:ext cx="1481328" cy="228600"/>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BASE IMAGE</a:t>
            </a:r>
            <a:endParaRPr lang="en-US" sz="900"/>
          </a:p>
        </p:txBody>
      </p:sp>
      <p:sp>
        <p:nvSpPr>
          <p:cNvPr id="10" name="Text 8"/>
          <p:cNvSpPr/>
          <p:nvPr/>
        </p:nvSpPr>
        <p:spPr>
          <a:xfrm>
            <a:off x="704088" y="1920240"/>
            <a:ext cx="1481328" cy="42062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Start small and supported</a:t>
            </a:r>
            <a:endParaRPr lang="en-US" sz="1200"/>
          </a:p>
        </p:txBody>
      </p:sp>
      <p:sp>
        <p:nvSpPr>
          <p:cNvPr id="11" name="Text 9"/>
          <p:cNvSpPr/>
          <p:nvPr/>
        </p:nvSpPr>
        <p:spPr>
          <a:xfrm>
            <a:off x="704088" y="2404872"/>
            <a:ext cx="1481328" cy="310896"/>
          </a:xfrm>
          <a:prstGeom prst="rect">
            <a:avLst/>
          </a:prstGeom>
          <a:noFill/>
          <a:ln/>
        </p:spPr>
        <p:txBody>
          <a:bodyPr wrap="square" lIns="0" tIns="0" rIns="0" bIns="0" rtlCol="0" anchor="t"/>
          <a:lstStyle/>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Use slim, distroless or Mariner base images</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Fewer packages means fewer vulnerabilities</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Pull base images from a trusted registry, not the public internet</a:t>
            </a:r>
            <a:endParaRPr lang="en-US" sz="550"/>
          </a:p>
        </p:txBody>
      </p:sp>
      <p:sp>
        <p:nvSpPr>
          <p:cNvPr id="12" name="card">
            <a:extLst>
              <a:ext uri="{C183D7F6-B498-43B3-948B-1728B52AA6E4}">
                <adec:decorative xmlns:adec="http://schemas.microsoft.com/office/drawing/2017/decorative" val="1"/>
              </a:ext>
            </a:extLst>
          </p:cNvPr>
          <p:cNvSpPr/>
          <p:nvPr/>
        </p:nvSpPr>
        <p:spPr>
          <a:xfrm>
            <a:off x="2587752"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2587752" y="1481328"/>
            <a:ext cx="1883664" cy="41148"/>
          </a:xfrm>
          <a:prstGeom prst="rect">
            <a:avLst/>
          </a:prstGeom>
          <a:solidFill>
            <a:srgbClr val="17A9DB"/>
          </a:solidFill>
          <a:ln w="12700">
            <a:solidFill>
              <a:srgbClr val="333333"/>
            </a:solidFill>
            <a:prstDash val="solid"/>
          </a:ln>
        </p:spPr>
        <p:txBody>
          <a:bodyPr/>
          <a:lstStyle/>
          <a:p>
            <a:endParaRPr lang="en-IN"/>
          </a:p>
        </p:txBody>
      </p:sp>
      <p:sp>
        <p:nvSpPr>
          <p:cNvPr id="14" name="Text 12"/>
          <p:cNvSpPr/>
          <p:nvPr/>
        </p:nvSpPr>
        <p:spPr>
          <a:xfrm>
            <a:off x="2788920" y="1664208"/>
            <a:ext cx="1481328" cy="228600"/>
          </a:xfrm>
          <a:prstGeom prst="rect">
            <a:avLst/>
          </a:prstGeom>
          <a:noFill/>
          <a:ln/>
        </p:spPr>
        <p:txBody>
          <a:bodyPr wrap="square" lIns="0" tIns="0" rIns="0" bIns="0" rtlCol="0" anchor="ctr"/>
          <a:lstStyle/>
          <a:p>
            <a:pPr marL="0" indent="0">
              <a:buNone/>
            </a:pPr>
            <a:r>
              <a:rPr lang="en-US" sz="900" b="1" kern="0" spc="120">
                <a:solidFill>
                  <a:srgbClr val="17A9DB"/>
                </a:solidFill>
                <a:latin typeface="Segoe UI" pitchFamily="34" charset="0"/>
                <a:ea typeface="Segoe UI" pitchFamily="34" charset="-122"/>
                <a:cs typeface="Segoe UI" pitchFamily="34" charset="-120"/>
              </a:rPr>
              <a:t>TAGS</a:t>
            </a:r>
            <a:endParaRPr lang="en-US" sz="900"/>
          </a:p>
        </p:txBody>
      </p:sp>
      <p:sp>
        <p:nvSpPr>
          <p:cNvPr id="15" name="Text 13"/>
          <p:cNvSpPr/>
          <p:nvPr/>
        </p:nvSpPr>
        <p:spPr>
          <a:xfrm>
            <a:off x="2788920" y="1920240"/>
            <a:ext cx="1481328" cy="42062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Never deploy latest</a:t>
            </a:r>
            <a:endParaRPr lang="en-US" sz="1200"/>
          </a:p>
        </p:txBody>
      </p:sp>
      <p:sp>
        <p:nvSpPr>
          <p:cNvPr id="16" name="Text 14"/>
          <p:cNvSpPr/>
          <p:nvPr/>
        </p:nvSpPr>
        <p:spPr>
          <a:xfrm>
            <a:off x="2788920" y="2404872"/>
            <a:ext cx="1481328" cy="310896"/>
          </a:xfrm>
          <a:prstGeom prst="rect">
            <a:avLst/>
          </a:prstGeom>
          <a:noFill/>
          <a:ln/>
        </p:spPr>
        <p:txBody>
          <a:bodyPr wrap="square" lIns="0" tIns="0" rIns="0" bIns="0" rtlCol="0" anchor="t"/>
          <a:lstStyle/>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Tag with the build number or the Git commit</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Better still, deploy by image digest</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An immutable tag makes a rollback exact</a:t>
            </a:r>
            <a:endParaRPr lang="en-US" sz="550"/>
          </a:p>
        </p:txBody>
      </p:sp>
      <p:sp>
        <p:nvSpPr>
          <p:cNvPr id="17" name="card">
            <a:extLst>
              <a:ext uri="{C183D7F6-B498-43B3-948B-1728B52AA6E4}">
                <adec:decorative xmlns:adec="http://schemas.microsoft.com/office/drawing/2017/decorative" val="1"/>
              </a:ext>
            </a:extLst>
          </p:cNvPr>
          <p:cNvSpPr/>
          <p:nvPr/>
        </p:nvSpPr>
        <p:spPr>
          <a:xfrm>
            <a:off x="4672584"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4672584" y="1481328"/>
            <a:ext cx="1883664" cy="41148"/>
          </a:xfrm>
          <a:prstGeom prst="rect">
            <a:avLst/>
          </a:prstGeom>
          <a:solidFill>
            <a:srgbClr val="2E9E6B"/>
          </a:solidFill>
          <a:ln w="12700">
            <a:solidFill>
              <a:srgbClr val="333333"/>
            </a:solidFill>
            <a:prstDash val="solid"/>
          </a:ln>
        </p:spPr>
        <p:txBody>
          <a:bodyPr/>
          <a:lstStyle/>
          <a:p>
            <a:endParaRPr lang="en-IN"/>
          </a:p>
        </p:txBody>
      </p:sp>
      <p:sp>
        <p:nvSpPr>
          <p:cNvPr id="19" name="Text 17"/>
          <p:cNvSpPr/>
          <p:nvPr/>
        </p:nvSpPr>
        <p:spPr>
          <a:xfrm>
            <a:off x="4873752" y="1664208"/>
            <a:ext cx="1481328" cy="228600"/>
          </a:xfrm>
          <a:prstGeom prst="rect">
            <a:avLst/>
          </a:prstGeom>
          <a:noFill/>
          <a:ln/>
        </p:spPr>
        <p:txBody>
          <a:bodyPr wrap="square" lIns="0" tIns="0" rIns="0" bIns="0" rtlCol="0" anchor="ctr"/>
          <a:lstStyle/>
          <a:p>
            <a:pPr marL="0" indent="0">
              <a:buNone/>
            </a:pPr>
            <a:r>
              <a:rPr lang="en-US" sz="900" b="1" kern="0" spc="120">
                <a:solidFill>
                  <a:srgbClr val="2E9E6B"/>
                </a:solidFill>
                <a:latin typeface="Segoe UI" pitchFamily="34" charset="0"/>
                <a:ea typeface="Segoe UI" pitchFamily="34" charset="-122"/>
                <a:cs typeface="Segoe UI" pitchFamily="34" charset="-120"/>
              </a:rPr>
              <a:t>SCANNING</a:t>
            </a:r>
            <a:endParaRPr lang="en-US" sz="900"/>
          </a:p>
        </p:txBody>
      </p:sp>
      <p:sp>
        <p:nvSpPr>
          <p:cNvPr id="20" name="Text 18"/>
          <p:cNvSpPr/>
          <p:nvPr/>
        </p:nvSpPr>
        <p:spPr>
          <a:xfrm>
            <a:off x="4873752" y="1920240"/>
            <a:ext cx="1481328" cy="42062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Scan in the pipeline</a:t>
            </a:r>
            <a:endParaRPr lang="en-US" sz="1200"/>
          </a:p>
        </p:txBody>
      </p:sp>
      <p:sp>
        <p:nvSpPr>
          <p:cNvPr id="21" name="Text 19"/>
          <p:cNvSpPr/>
          <p:nvPr/>
        </p:nvSpPr>
        <p:spPr>
          <a:xfrm>
            <a:off x="4873752" y="2404872"/>
            <a:ext cx="1481328" cy="310896"/>
          </a:xfrm>
          <a:prstGeom prst="rect">
            <a:avLst/>
          </a:prstGeom>
          <a:noFill/>
          <a:ln/>
        </p:spPr>
        <p:txBody>
          <a:bodyPr wrap="square" lIns="0" tIns="0" rIns="0" bIns="0" rtlCol="0" anchor="t"/>
          <a:lstStyle/>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Microsoft Defender for Containers scans Azure Container Registry</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Fail the build on high and critical findings</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Rebuild regularly — new CVEs appear in old images</a:t>
            </a:r>
            <a:endParaRPr lang="en-US" sz="550"/>
          </a:p>
        </p:txBody>
      </p:sp>
      <p:sp>
        <p:nvSpPr>
          <p:cNvPr id="22" name="card">
            <a:extLst>
              <a:ext uri="{C183D7F6-B498-43B3-948B-1728B52AA6E4}">
                <adec:decorative xmlns:adec="http://schemas.microsoft.com/office/drawing/2017/decorative" val="1"/>
              </a:ext>
            </a:extLst>
          </p:cNvPr>
          <p:cNvSpPr/>
          <p:nvPr/>
        </p:nvSpPr>
        <p:spPr>
          <a:xfrm>
            <a:off x="6757416" y="1481328"/>
            <a:ext cx="1883664" cy="1417320"/>
          </a:xfrm>
          <a:prstGeom prst="rect">
            <a:avLst/>
          </a:prstGeom>
          <a:solidFill>
            <a:srgbClr val="F6F9FD"/>
          </a:solidFill>
          <a:ln w="9525">
            <a:solidFill>
              <a:srgbClr val="D8E5F2"/>
            </a:solidFill>
            <a:prstDash val="solid"/>
          </a:ln>
        </p:spPr>
        <p:txBody>
          <a:bodyPr/>
          <a:lstStyle/>
          <a:p>
            <a:endParaRPr lang="en-IN"/>
          </a:p>
        </p:txBody>
      </p:sp>
      <p:sp>
        <p:nvSpPr>
          <p:cNvPr id="23" name="card accent">
            <a:extLst>
              <a:ext uri="{C183D7F6-B498-43B3-948B-1728B52AA6E4}">
                <adec:decorative xmlns:adec="http://schemas.microsoft.com/office/drawing/2017/decorative" val="1"/>
              </a:ext>
            </a:extLst>
          </p:cNvPr>
          <p:cNvSpPr/>
          <p:nvPr/>
        </p:nvSpPr>
        <p:spPr>
          <a:xfrm>
            <a:off x="6757416" y="1481328"/>
            <a:ext cx="1883664" cy="41148"/>
          </a:xfrm>
          <a:prstGeom prst="rect">
            <a:avLst/>
          </a:prstGeom>
          <a:solidFill>
            <a:srgbClr val="0A2E4E"/>
          </a:solidFill>
          <a:ln w="12700">
            <a:solidFill>
              <a:srgbClr val="333333"/>
            </a:solidFill>
            <a:prstDash val="solid"/>
          </a:ln>
        </p:spPr>
        <p:txBody>
          <a:bodyPr/>
          <a:lstStyle/>
          <a:p>
            <a:endParaRPr lang="en-IN"/>
          </a:p>
        </p:txBody>
      </p:sp>
      <p:sp>
        <p:nvSpPr>
          <p:cNvPr id="24" name="Text 22"/>
          <p:cNvSpPr/>
          <p:nvPr/>
        </p:nvSpPr>
        <p:spPr>
          <a:xfrm>
            <a:off x="6958584" y="1664208"/>
            <a:ext cx="1481328" cy="228600"/>
          </a:xfrm>
          <a:prstGeom prst="rect">
            <a:avLst/>
          </a:prstGeom>
          <a:noFill/>
          <a:ln/>
        </p:spPr>
        <p:txBody>
          <a:bodyPr wrap="square" lIns="0" tIns="0" rIns="0" bIns="0" rtlCol="0" anchor="ctr"/>
          <a:lstStyle/>
          <a:p>
            <a:pPr marL="0" indent="0">
              <a:buNone/>
            </a:pPr>
            <a:r>
              <a:rPr lang="en-US" sz="900" b="1" kern="0" spc="120">
                <a:solidFill>
                  <a:srgbClr val="0A2E4E"/>
                </a:solidFill>
                <a:latin typeface="Segoe UI" pitchFamily="34" charset="0"/>
                <a:ea typeface="Segoe UI" pitchFamily="34" charset="-122"/>
                <a:cs typeface="Segoe UI" pitchFamily="34" charset="-120"/>
              </a:rPr>
              <a:t>RUNTIME</a:t>
            </a:r>
            <a:endParaRPr lang="en-US" sz="900"/>
          </a:p>
        </p:txBody>
      </p:sp>
      <p:sp>
        <p:nvSpPr>
          <p:cNvPr id="25" name="Text 23"/>
          <p:cNvSpPr/>
          <p:nvPr/>
        </p:nvSpPr>
        <p:spPr>
          <a:xfrm>
            <a:off x="6958584" y="1920240"/>
            <a:ext cx="1481328" cy="42062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Run with the least you need</a:t>
            </a:r>
            <a:endParaRPr lang="en-US" sz="1200"/>
          </a:p>
        </p:txBody>
      </p:sp>
      <p:sp>
        <p:nvSpPr>
          <p:cNvPr id="26" name="Text 24"/>
          <p:cNvSpPr/>
          <p:nvPr/>
        </p:nvSpPr>
        <p:spPr>
          <a:xfrm>
            <a:off x="6958584" y="2404872"/>
            <a:ext cx="1481328" cy="310896"/>
          </a:xfrm>
          <a:prstGeom prst="rect">
            <a:avLst/>
          </a:prstGeom>
          <a:noFill/>
          <a:ln/>
        </p:spPr>
        <p:txBody>
          <a:bodyPr wrap="square" lIns="0" tIns="0" rIns="0" bIns="0" rtlCol="0" anchor="t"/>
          <a:lstStyle/>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runAsNonRoot and a read-only root filesystem</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Drop all Linux capabilities you do not use</a:t>
            </a:r>
            <a:endParaRPr lang="en-US" sz="550"/>
          </a:p>
          <a:p>
            <a:pPr marL="114300" indent="-114300">
              <a:lnSpc>
                <a:spcPct val="105000"/>
              </a:lnSpc>
              <a:buSzPct val="100000"/>
              <a:buChar char="•"/>
            </a:pPr>
            <a:r>
              <a:rPr lang="en-US" sz="550">
                <a:solidFill>
                  <a:srgbClr val="44566B"/>
                </a:solidFill>
                <a:latin typeface="Segoe UI" pitchFamily="34" charset="0"/>
                <a:ea typeface="Segoe UI" pitchFamily="34" charset="-122"/>
                <a:cs typeface="Segoe UI" pitchFamily="34" charset="-120"/>
              </a:rPr>
              <a:t>No secrets baked into the image layers</a:t>
            </a:r>
            <a:endParaRPr lang="en-US" sz="550"/>
          </a:p>
        </p:txBody>
      </p:sp>
      <p:sp>
        <p:nvSpPr>
          <p:cNvPr id="27" name="Text 25"/>
          <p:cNvSpPr/>
          <p:nvPr/>
        </p:nvSpPr>
        <p:spPr>
          <a:xfrm>
            <a:off x="502920" y="2926080"/>
            <a:ext cx="4754880" cy="1152144"/>
          </a:xfrm>
          <a:prstGeom prst="rect">
            <a:avLst/>
          </a:prstGeom>
          <a:noFill/>
          <a:ln/>
        </p:spPr>
        <p:txBody>
          <a:bodyPr wrap="square" lIns="0" tIns="0" rIns="0" bIns="0" rtlCol="0" anchor="t"/>
          <a:lstStyle/>
          <a:p>
            <a:pPr marL="342900" indent="-342900">
              <a:spcAft>
                <a:spcPts val="600"/>
              </a:spcAft>
              <a:buSzPct val="100000"/>
              <a:buChar char="•"/>
            </a:pPr>
            <a:r>
              <a:rPr lang="en-US" sz="750">
                <a:solidFill>
                  <a:srgbClr val="44566B"/>
                </a:solidFill>
                <a:latin typeface="Segoe UI" pitchFamily="34" charset="0"/>
                <a:ea typeface="Segoe UI" pitchFamily="34" charset="-122"/>
                <a:cs typeface="Segoe UI" pitchFamily="34" charset="-120"/>
              </a:rPr>
              <a:t>Attach the registry with az aks update --attach-acr so managed identity handles pull credentials.</a:t>
            </a:r>
            <a:endParaRPr lang="en-US" sz="750"/>
          </a:p>
        </p:txBody>
      </p:sp>
      <p:sp>
        <p:nvSpPr>
          <p:cNvPr id="28" name="code panel">
            <a:extLst>
              <a:ext uri="{C183D7F6-B498-43B3-948B-1728B52AA6E4}">
                <adec:decorative xmlns:adec="http://schemas.microsoft.com/office/drawing/2017/decorative" val="1"/>
              </a:ext>
            </a:extLst>
          </p:cNvPr>
          <p:cNvSpPr/>
          <p:nvPr/>
        </p:nvSpPr>
        <p:spPr>
          <a:xfrm>
            <a:off x="5623560" y="2926080"/>
            <a:ext cx="3017520" cy="1152144"/>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9" name="code panel header">
            <a:extLst>
              <a:ext uri="{C183D7F6-B498-43B3-948B-1728B52AA6E4}">
                <adec:decorative xmlns:adec="http://schemas.microsoft.com/office/drawing/2017/decorative" val="1"/>
              </a:ext>
            </a:extLst>
          </p:cNvPr>
          <p:cNvSpPr/>
          <p:nvPr/>
        </p:nvSpPr>
        <p:spPr>
          <a:xfrm>
            <a:off x="5623560" y="2926080"/>
            <a:ext cx="3017520" cy="256032"/>
          </a:xfrm>
          <a:prstGeom prst="rect">
            <a:avLst/>
          </a:prstGeom>
          <a:solidFill>
            <a:srgbClr val="0F3D66"/>
          </a:solidFill>
          <a:ln w="12700">
            <a:solidFill>
              <a:srgbClr val="333333"/>
            </a:solidFill>
            <a:prstDash val="solid"/>
          </a:ln>
        </p:spPr>
        <p:txBody>
          <a:bodyPr/>
          <a:lstStyle/>
          <a:p>
            <a:endParaRPr lang="en-IN"/>
          </a:p>
        </p:txBody>
      </p:sp>
      <p:sp>
        <p:nvSpPr>
          <p:cNvPr id="30" name="Text 28"/>
          <p:cNvSpPr/>
          <p:nvPr/>
        </p:nvSpPr>
        <p:spPr>
          <a:xfrm>
            <a:off x="5769864" y="2926080"/>
            <a:ext cx="272491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Harden the Pod security context</a:t>
            </a:r>
            <a:endParaRPr lang="en-US" sz="850"/>
          </a:p>
        </p:txBody>
      </p:sp>
      <p:sp>
        <p:nvSpPr>
          <p:cNvPr id="31" name="Text 29"/>
          <p:cNvSpPr/>
          <p:nvPr/>
        </p:nvSpPr>
        <p:spPr>
          <a:xfrm>
            <a:off x="5769864" y="3255264"/>
            <a:ext cx="2724912" cy="676656"/>
          </a:xfrm>
          <a:prstGeom prst="rect">
            <a:avLst/>
          </a:prstGeom>
          <a:noFill/>
          <a:ln/>
        </p:spPr>
        <p:txBody>
          <a:bodyPr wrap="square" lIns="0" tIns="0" rIns="0" bIns="0" rtlCol="0" anchor="t"/>
          <a:lstStyle/>
          <a:p>
            <a:pPr marL="0" indent="0">
              <a:lnSpc>
                <a:spcPct val="112000"/>
              </a:lnSpc>
              <a:buNone/>
            </a:pPr>
            <a:r>
              <a:rPr lang="en-US" sz="793">
                <a:solidFill>
                  <a:srgbClr val="D7ECF8"/>
                </a:solidFill>
                <a:latin typeface="Consolas" pitchFamily="34" charset="0"/>
                <a:ea typeface="Consolas" pitchFamily="34" charset="-122"/>
                <a:cs typeface="Consolas" pitchFamily="34" charset="-120"/>
              </a:rPr>
              <a:t>securityContext:</a:t>
            </a:r>
            <a:endParaRPr lang="en-US" sz="793"/>
          </a:p>
          <a:p>
            <a:pPr marL="0" indent="0">
              <a:lnSpc>
                <a:spcPct val="112000"/>
              </a:lnSpc>
              <a:buNone/>
            </a:pPr>
            <a:r>
              <a:rPr lang="en-US" sz="793">
                <a:solidFill>
                  <a:srgbClr val="D7ECF8"/>
                </a:solidFill>
                <a:latin typeface="Consolas" pitchFamily="34" charset="0"/>
                <a:ea typeface="Consolas" pitchFamily="34" charset="-122"/>
                <a:cs typeface="Consolas" pitchFamily="34" charset="-120"/>
              </a:rPr>
              <a:t>  runAsNonRoot: true</a:t>
            </a:r>
            <a:endParaRPr lang="en-US" sz="793"/>
          </a:p>
          <a:p>
            <a:pPr marL="0" indent="0">
              <a:lnSpc>
                <a:spcPct val="112000"/>
              </a:lnSpc>
              <a:buNone/>
            </a:pPr>
            <a:r>
              <a:rPr lang="en-US" sz="793">
                <a:solidFill>
                  <a:srgbClr val="D7ECF8"/>
                </a:solidFill>
                <a:latin typeface="Consolas" pitchFamily="34" charset="0"/>
                <a:ea typeface="Consolas" pitchFamily="34" charset="-122"/>
                <a:cs typeface="Consolas" pitchFamily="34" charset="-120"/>
              </a:rPr>
              <a:t>  readOnlyRootFilesystem: true</a:t>
            </a:r>
            <a:endParaRPr lang="en-US" sz="793"/>
          </a:p>
          <a:p>
            <a:pPr marL="0" indent="0">
              <a:lnSpc>
                <a:spcPct val="112000"/>
              </a:lnSpc>
              <a:buNone/>
            </a:pPr>
            <a:r>
              <a:rPr lang="en-US" sz="793">
                <a:solidFill>
                  <a:srgbClr val="D7ECF8"/>
                </a:solidFill>
                <a:latin typeface="Consolas" pitchFamily="34" charset="0"/>
                <a:ea typeface="Consolas" pitchFamily="34" charset="-122"/>
                <a:cs typeface="Consolas" pitchFamily="34" charset="-120"/>
              </a:rPr>
              <a:t>  allowPrivilegeEscalation: false</a:t>
            </a:r>
            <a:endParaRPr lang="en-US" sz="793"/>
          </a:p>
          <a:p>
            <a:pPr marL="0" indent="0">
              <a:lnSpc>
                <a:spcPct val="112000"/>
              </a:lnSpc>
              <a:buNone/>
            </a:pPr>
            <a:endParaRPr lang="en-US" sz="793"/>
          </a:p>
        </p:txBody>
      </p:sp>
      <p:sp>
        <p:nvSpPr>
          <p:cNvPr id="32"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8 · SECURITY FOR APPLICATION TEAMS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Azure Workload Identity</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a:solidFill>
                  <a:srgbClr val="44566B"/>
                </a:solidFill>
                <a:latin typeface="Segoe UI" pitchFamily="34" charset="0"/>
                <a:ea typeface="Segoe UI" pitchFamily="34" charset="-122"/>
                <a:cs typeface="Segoe UI" pitchFamily="34" charset="-120"/>
              </a:rPr>
              <a:t>Let a Pod authenticate to Azure services as itself — no connection strings, no keys, nothing to rotate.</a:t>
            </a:r>
            <a:endParaRPr lang="en-US" sz="1125"/>
          </a:p>
        </p:txBody>
      </p:sp>
      <p:sp>
        <p:nvSpPr>
          <p:cNvPr id="7" name="step box">
            <a:extLst>
              <a:ext uri="{C183D7F6-B498-43B3-948B-1728B52AA6E4}">
                <adec:decorative xmlns:adec="http://schemas.microsoft.com/office/drawing/2017/decorative" val="1"/>
              </a:ext>
            </a:extLst>
          </p:cNvPr>
          <p:cNvSpPr/>
          <p:nvPr/>
        </p:nvSpPr>
        <p:spPr>
          <a:xfrm>
            <a:off x="502920" y="1508760"/>
            <a:ext cx="1378915" cy="960120"/>
          </a:xfrm>
          <a:prstGeom prst="rect">
            <a:avLst/>
          </a:prstGeom>
          <a:solidFill>
            <a:srgbClr val="EDF4FC"/>
          </a:solidFill>
          <a:ln w="12700">
            <a:solidFill>
              <a:srgbClr val="0B63CE"/>
            </a:solidFill>
            <a:prstDash val="solid"/>
          </a:ln>
        </p:spPr>
        <p:txBody>
          <a:bodyPr/>
          <a:lstStyle/>
          <a:p>
            <a:endParaRPr lang="en-IN"/>
          </a:p>
        </p:txBody>
      </p:sp>
      <p:sp>
        <p:nvSpPr>
          <p:cNvPr id="8" name="Text 6"/>
          <p:cNvSpPr/>
          <p:nvPr/>
        </p:nvSpPr>
        <p:spPr>
          <a:xfrm>
            <a:off x="594360" y="1618488"/>
            <a:ext cx="1196035" cy="310896"/>
          </a:xfrm>
          <a:prstGeom prst="rect">
            <a:avLst/>
          </a:prstGeom>
          <a:noFill/>
          <a:ln/>
        </p:spPr>
        <p:txBody>
          <a:bodyPr wrap="square" lIns="0" tIns="0" rIns="0" bIns="0" rtlCol="0" anchor="ctr"/>
          <a:lstStyle/>
          <a:p>
            <a:pPr marL="0" indent="0" algn="ctr">
              <a:buNone/>
            </a:pPr>
            <a:r>
              <a:rPr lang="en-US" sz="1100" b="1">
                <a:solidFill>
                  <a:srgbClr val="0E2233"/>
                </a:solidFill>
                <a:latin typeface="Segoe UI" pitchFamily="34" charset="0"/>
                <a:ea typeface="Segoe UI" pitchFamily="34" charset="-122"/>
                <a:cs typeface="Segoe UI" pitchFamily="34" charset="-120"/>
              </a:rPr>
              <a:t>Service account</a:t>
            </a:r>
            <a:endParaRPr lang="en-US" sz="1100"/>
          </a:p>
        </p:txBody>
      </p:sp>
      <p:sp>
        <p:nvSpPr>
          <p:cNvPr id="9" name="Text 7"/>
          <p:cNvSpPr/>
          <p:nvPr/>
        </p:nvSpPr>
        <p:spPr>
          <a:xfrm>
            <a:off x="612648" y="1929384"/>
            <a:ext cx="1159459" cy="448056"/>
          </a:xfrm>
          <a:prstGeom prst="rect">
            <a:avLst/>
          </a:prstGeom>
          <a:noFill/>
          <a:ln/>
        </p:spPr>
        <p:txBody>
          <a:bodyPr wrap="square" lIns="0" tIns="0" rIns="0" bIns="0" rtlCol="0" anchor="t"/>
          <a:lstStyle/>
          <a:p>
            <a:pPr marL="0" indent="0" algn="ctr">
              <a:lnSpc>
                <a:spcPct val="110000"/>
              </a:lnSpc>
              <a:buNone/>
            </a:pPr>
            <a:r>
              <a:rPr lang="en-US" sz="850">
                <a:solidFill>
                  <a:srgbClr val="44566B"/>
                </a:solidFill>
                <a:latin typeface="Segoe UI" pitchFamily="34" charset="0"/>
                <a:ea typeface="Segoe UI" pitchFamily="34" charset="-122"/>
                <a:cs typeface="Segoe UI" pitchFamily="34" charset="-120"/>
              </a:rPr>
              <a:t>annotated with the client ID</a:t>
            </a:r>
            <a:endParaRPr lang="en-US" sz="850"/>
          </a:p>
        </p:txBody>
      </p:sp>
      <p:sp>
        <p:nvSpPr>
          <p:cNvPr id="10" name="flow arrow">
            <a:extLst>
              <a:ext uri="{C183D7F6-B498-43B3-948B-1728B52AA6E4}">
                <adec:decorative xmlns:adec="http://schemas.microsoft.com/office/drawing/2017/decorative" val="1"/>
              </a:ext>
            </a:extLst>
          </p:cNvPr>
          <p:cNvSpPr/>
          <p:nvPr/>
        </p:nvSpPr>
        <p:spPr>
          <a:xfrm>
            <a:off x="1936699"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1" name="step box">
            <a:extLst>
              <a:ext uri="{C183D7F6-B498-43B3-948B-1728B52AA6E4}">
                <adec:decorative xmlns:adec="http://schemas.microsoft.com/office/drawing/2017/decorative" val="1"/>
              </a:ext>
            </a:extLst>
          </p:cNvPr>
          <p:cNvSpPr/>
          <p:nvPr/>
        </p:nvSpPr>
        <p:spPr>
          <a:xfrm>
            <a:off x="2192731" y="1508760"/>
            <a:ext cx="1378915" cy="960120"/>
          </a:xfrm>
          <a:prstGeom prst="rect">
            <a:avLst/>
          </a:prstGeom>
          <a:solidFill>
            <a:srgbClr val="E4F3FB"/>
          </a:solidFill>
          <a:ln w="12700">
            <a:solidFill>
              <a:srgbClr val="17A9DB"/>
            </a:solidFill>
            <a:prstDash val="solid"/>
          </a:ln>
        </p:spPr>
        <p:txBody>
          <a:bodyPr/>
          <a:lstStyle/>
          <a:p>
            <a:endParaRPr lang="en-IN"/>
          </a:p>
        </p:txBody>
      </p:sp>
      <p:sp>
        <p:nvSpPr>
          <p:cNvPr id="12" name="Text 10"/>
          <p:cNvSpPr/>
          <p:nvPr/>
        </p:nvSpPr>
        <p:spPr>
          <a:xfrm>
            <a:off x="2284171" y="1618488"/>
            <a:ext cx="1196035" cy="310896"/>
          </a:xfrm>
          <a:prstGeom prst="rect">
            <a:avLst/>
          </a:prstGeom>
          <a:noFill/>
          <a:ln/>
        </p:spPr>
        <p:txBody>
          <a:bodyPr wrap="square" lIns="0" tIns="0" rIns="0" bIns="0" rtlCol="0" anchor="ctr"/>
          <a:lstStyle/>
          <a:p>
            <a:pPr marL="0" indent="0" algn="ctr">
              <a:buNone/>
            </a:pPr>
            <a:r>
              <a:rPr lang="en-US" sz="1100" b="1">
                <a:solidFill>
                  <a:srgbClr val="0E2233"/>
                </a:solidFill>
                <a:latin typeface="Segoe UI" pitchFamily="34" charset="0"/>
                <a:ea typeface="Segoe UI" pitchFamily="34" charset="-122"/>
                <a:cs typeface="Segoe UI" pitchFamily="34" charset="-120"/>
              </a:rPr>
              <a:t>Projected token</a:t>
            </a:r>
            <a:endParaRPr lang="en-US" sz="1100"/>
          </a:p>
        </p:txBody>
      </p:sp>
      <p:sp>
        <p:nvSpPr>
          <p:cNvPr id="13" name="Text 11"/>
          <p:cNvSpPr/>
          <p:nvPr/>
        </p:nvSpPr>
        <p:spPr>
          <a:xfrm>
            <a:off x="2302459" y="1929384"/>
            <a:ext cx="1159459" cy="448056"/>
          </a:xfrm>
          <a:prstGeom prst="rect">
            <a:avLst/>
          </a:prstGeom>
          <a:noFill/>
          <a:ln/>
        </p:spPr>
        <p:txBody>
          <a:bodyPr wrap="square" lIns="0" tIns="0" rIns="0" bIns="0" rtlCol="0" anchor="t"/>
          <a:lstStyle/>
          <a:p>
            <a:pPr marL="0" indent="0" algn="ctr">
              <a:lnSpc>
                <a:spcPct val="110000"/>
              </a:lnSpc>
              <a:buNone/>
            </a:pPr>
            <a:r>
              <a:rPr lang="en-US" sz="850">
                <a:solidFill>
                  <a:srgbClr val="44566B"/>
                </a:solidFill>
                <a:latin typeface="Segoe UI" pitchFamily="34" charset="0"/>
                <a:ea typeface="Segoe UI" pitchFamily="34" charset="-122"/>
                <a:cs typeface="Segoe UI" pitchFamily="34" charset="-120"/>
              </a:rPr>
              <a:t>signed by the cluster issuer</a:t>
            </a:r>
            <a:endParaRPr lang="en-US" sz="850"/>
          </a:p>
        </p:txBody>
      </p:sp>
      <p:sp>
        <p:nvSpPr>
          <p:cNvPr id="14" name="flow arrow">
            <a:extLst>
              <a:ext uri="{C183D7F6-B498-43B3-948B-1728B52AA6E4}">
                <adec:decorative xmlns:adec="http://schemas.microsoft.com/office/drawing/2017/decorative" val="1"/>
              </a:ext>
            </a:extLst>
          </p:cNvPr>
          <p:cNvSpPr/>
          <p:nvPr/>
        </p:nvSpPr>
        <p:spPr>
          <a:xfrm>
            <a:off x="3626510"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5" name="step box">
            <a:extLst>
              <a:ext uri="{C183D7F6-B498-43B3-948B-1728B52AA6E4}">
                <adec:decorative xmlns:adec="http://schemas.microsoft.com/office/drawing/2017/decorative" val="1"/>
              </a:ext>
            </a:extLst>
          </p:cNvPr>
          <p:cNvSpPr/>
          <p:nvPr/>
        </p:nvSpPr>
        <p:spPr>
          <a:xfrm>
            <a:off x="3882542" y="1508760"/>
            <a:ext cx="1378915" cy="960120"/>
          </a:xfrm>
          <a:prstGeom prst="rect">
            <a:avLst/>
          </a:prstGeom>
          <a:solidFill>
            <a:srgbClr val="E4F3FB"/>
          </a:solidFill>
          <a:ln w="12700">
            <a:solidFill>
              <a:srgbClr val="17A9DB"/>
            </a:solidFill>
            <a:prstDash val="solid"/>
          </a:ln>
        </p:spPr>
        <p:txBody>
          <a:bodyPr/>
          <a:lstStyle/>
          <a:p>
            <a:endParaRPr lang="en-IN"/>
          </a:p>
        </p:txBody>
      </p:sp>
      <p:sp>
        <p:nvSpPr>
          <p:cNvPr id="16" name="Text 14"/>
          <p:cNvSpPr/>
          <p:nvPr/>
        </p:nvSpPr>
        <p:spPr>
          <a:xfrm>
            <a:off x="3973982" y="1618488"/>
            <a:ext cx="1196035" cy="310896"/>
          </a:xfrm>
          <a:prstGeom prst="rect">
            <a:avLst/>
          </a:prstGeom>
          <a:noFill/>
          <a:ln/>
        </p:spPr>
        <p:txBody>
          <a:bodyPr wrap="square" lIns="0" tIns="0" rIns="0" bIns="0" rtlCol="0" anchor="ctr"/>
          <a:lstStyle/>
          <a:p>
            <a:pPr marL="0" indent="0" algn="ctr">
              <a:buNone/>
            </a:pPr>
            <a:r>
              <a:rPr lang="en-US" sz="1100" b="1">
                <a:solidFill>
                  <a:srgbClr val="0E2233"/>
                </a:solidFill>
                <a:latin typeface="Segoe UI" pitchFamily="34" charset="0"/>
                <a:ea typeface="Segoe UI" pitchFamily="34" charset="-122"/>
                <a:cs typeface="Segoe UI" pitchFamily="34" charset="-120"/>
              </a:rPr>
              <a:t>Entra ID</a:t>
            </a:r>
            <a:endParaRPr lang="en-US" sz="1100"/>
          </a:p>
        </p:txBody>
      </p:sp>
      <p:sp>
        <p:nvSpPr>
          <p:cNvPr id="17" name="Text 15"/>
          <p:cNvSpPr/>
          <p:nvPr/>
        </p:nvSpPr>
        <p:spPr>
          <a:xfrm>
            <a:off x="3992270" y="1929384"/>
            <a:ext cx="1159459" cy="448056"/>
          </a:xfrm>
          <a:prstGeom prst="rect">
            <a:avLst/>
          </a:prstGeom>
          <a:noFill/>
          <a:ln/>
        </p:spPr>
        <p:txBody>
          <a:bodyPr wrap="square" lIns="0" tIns="0" rIns="0" bIns="0" rtlCol="0" anchor="t"/>
          <a:lstStyle/>
          <a:p>
            <a:pPr marL="0" indent="0" algn="ctr">
              <a:lnSpc>
                <a:spcPct val="110000"/>
              </a:lnSpc>
              <a:buNone/>
            </a:pPr>
            <a:r>
              <a:rPr lang="en-US" sz="850">
                <a:solidFill>
                  <a:srgbClr val="44566B"/>
                </a:solidFill>
                <a:latin typeface="Segoe UI" pitchFamily="34" charset="0"/>
                <a:ea typeface="Segoe UI" pitchFamily="34" charset="-122"/>
                <a:cs typeface="Segoe UI" pitchFamily="34" charset="-120"/>
              </a:rPr>
              <a:t>trusts the federated credential</a:t>
            </a:r>
            <a:endParaRPr lang="en-US" sz="850"/>
          </a:p>
        </p:txBody>
      </p:sp>
      <p:sp>
        <p:nvSpPr>
          <p:cNvPr id="18" name="flow arrow">
            <a:extLst>
              <a:ext uri="{C183D7F6-B498-43B3-948B-1728B52AA6E4}">
                <adec:decorative xmlns:adec="http://schemas.microsoft.com/office/drawing/2017/decorative" val="1"/>
              </a:ext>
            </a:extLst>
          </p:cNvPr>
          <p:cNvSpPr/>
          <p:nvPr/>
        </p:nvSpPr>
        <p:spPr>
          <a:xfrm>
            <a:off x="5316322"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9" name="step box">
            <a:extLst>
              <a:ext uri="{C183D7F6-B498-43B3-948B-1728B52AA6E4}">
                <adec:decorative xmlns:adec="http://schemas.microsoft.com/office/drawing/2017/decorative" val="1"/>
              </a:ext>
            </a:extLst>
          </p:cNvPr>
          <p:cNvSpPr/>
          <p:nvPr/>
        </p:nvSpPr>
        <p:spPr>
          <a:xfrm>
            <a:off x="5572354" y="1508760"/>
            <a:ext cx="1378915" cy="960120"/>
          </a:xfrm>
          <a:prstGeom prst="rect">
            <a:avLst/>
          </a:prstGeom>
          <a:solidFill>
            <a:srgbClr val="EDF4FC"/>
          </a:solidFill>
          <a:ln w="12700">
            <a:solidFill>
              <a:srgbClr val="0B63CE"/>
            </a:solidFill>
            <a:prstDash val="solid"/>
          </a:ln>
        </p:spPr>
        <p:txBody>
          <a:bodyPr/>
          <a:lstStyle/>
          <a:p>
            <a:endParaRPr lang="en-IN"/>
          </a:p>
        </p:txBody>
      </p:sp>
      <p:sp>
        <p:nvSpPr>
          <p:cNvPr id="20" name="Text 18"/>
          <p:cNvSpPr/>
          <p:nvPr/>
        </p:nvSpPr>
        <p:spPr>
          <a:xfrm>
            <a:off x="5663794" y="1618488"/>
            <a:ext cx="1196035" cy="310896"/>
          </a:xfrm>
          <a:prstGeom prst="rect">
            <a:avLst/>
          </a:prstGeom>
          <a:noFill/>
          <a:ln/>
        </p:spPr>
        <p:txBody>
          <a:bodyPr wrap="square" lIns="0" tIns="0" rIns="0" bIns="0" rtlCol="0" anchor="ctr"/>
          <a:lstStyle/>
          <a:p>
            <a:pPr marL="0" indent="0" algn="ctr">
              <a:buNone/>
            </a:pPr>
            <a:r>
              <a:rPr lang="en-US" sz="1100" b="1">
                <a:solidFill>
                  <a:srgbClr val="0E2233"/>
                </a:solidFill>
                <a:latin typeface="Segoe UI" pitchFamily="34" charset="0"/>
                <a:ea typeface="Segoe UI" pitchFamily="34" charset="-122"/>
                <a:cs typeface="Segoe UI" pitchFamily="34" charset="-120"/>
              </a:rPr>
              <a:t>Azure token</a:t>
            </a:r>
            <a:endParaRPr lang="en-US" sz="1100"/>
          </a:p>
        </p:txBody>
      </p:sp>
      <p:sp>
        <p:nvSpPr>
          <p:cNvPr id="21" name="Text 19"/>
          <p:cNvSpPr/>
          <p:nvPr/>
        </p:nvSpPr>
        <p:spPr>
          <a:xfrm>
            <a:off x="5682082" y="1929384"/>
            <a:ext cx="1159459" cy="448056"/>
          </a:xfrm>
          <a:prstGeom prst="rect">
            <a:avLst/>
          </a:prstGeom>
          <a:noFill/>
          <a:ln/>
        </p:spPr>
        <p:txBody>
          <a:bodyPr wrap="square" lIns="0" tIns="0" rIns="0" bIns="0" rtlCol="0" anchor="t"/>
          <a:lstStyle/>
          <a:p>
            <a:pPr marL="0" indent="0" algn="ctr">
              <a:lnSpc>
                <a:spcPct val="110000"/>
              </a:lnSpc>
              <a:buNone/>
            </a:pPr>
            <a:r>
              <a:rPr lang="en-US" sz="850">
                <a:solidFill>
                  <a:srgbClr val="44566B"/>
                </a:solidFill>
                <a:latin typeface="Segoe UI" pitchFamily="34" charset="0"/>
                <a:ea typeface="Segoe UI" pitchFamily="34" charset="-122"/>
                <a:cs typeface="Segoe UI" pitchFamily="34" charset="-120"/>
              </a:rPr>
              <a:t>Pod calls Key Vault or Storage</a:t>
            </a:r>
            <a:endParaRPr lang="en-US" sz="850"/>
          </a:p>
        </p:txBody>
      </p:sp>
      <p:sp>
        <p:nvSpPr>
          <p:cNvPr id="22" name="flow arrow">
            <a:extLst>
              <a:ext uri="{C183D7F6-B498-43B3-948B-1728B52AA6E4}">
                <adec:decorative xmlns:adec="http://schemas.microsoft.com/office/drawing/2017/decorative" val="1"/>
              </a:ext>
            </a:extLst>
          </p:cNvPr>
          <p:cNvSpPr/>
          <p:nvPr/>
        </p:nvSpPr>
        <p:spPr>
          <a:xfrm>
            <a:off x="7006133" y="1888236"/>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23" name="step box">
            <a:extLst>
              <a:ext uri="{C183D7F6-B498-43B3-948B-1728B52AA6E4}">
                <adec:decorative xmlns:adec="http://schemas.microsoft.com/office/drawing/2017/decorative" val="1"/>
              </a:ext>
            </a:extLst>
          </p:cNvPr>
          <p:cNvSpPr/>
          <p:nvPr/>
        </p:nvSpPr>
        <p:spPr>
          <a:xfrm>
            <a:off x="7262165" y="1508760"/>
            <a:ext cx="1378915" cy="960120"/>
          </a:xfrm>
          <a:prstGeom prst="rect">
            <a:avLst/>
          </a:prstGeom>
          <a:solidFill>
            <a:srgbClr val="E8F6EF"/>
          </a:solidFill>
          <a:ln w="12700">
            <a:solidFill>
              <a:srgbClr val="2E9E6B"/>
            </a:solidFill>
            <a:prstDash val="solid"/>
          </a:ln>
        </p:spPr>
        <p:txBody>
          <a:bodyPr/>
          <a:lstStyle/>
          <a:p>
            <a:endParaRPr lang="en-IN"/>
          </a:p>
        </p:txBody>
      </p:sp>
      <p:sp>
        <p:nvSpPr>
          <p:cNvPr id="24" name="Text 22"/>
          <p:cNvSpPr/>
          <p:nvPr/>
        </p:nvSpPr>
        <p:spPr>
          <a:xfrm>
            <a:off x="7353605" y="1618488"/>
            <a:ext cx="1196035" cy="310896"/>
          </a:xfrm>
          <a:prstGeom prst="rect">
            <a:avLst/>
          </a:prstGeom>
          <a:noFill/>
          <a:ln/>
        </p:spPr>
        <p:txBody>
          <a:bodyPr wrap="square" lIns="0" tIns="0" rIns="0" bIns="0" rtlCol="0" anchor="ctr"/>
          <a:lstStyle/>
          <a:p>
            <a:pPr marL="0" indent="0" algn="ctr">
              <a:buNone/>
            </a:pPr>
            <a:r>
              <a:rPr lang="en-US" sz="1100" b="1">
                <a:solidFill>
                  <a:srgbClr val="0E2233"/>
                </a:solidFill>
                <a:latin typeface="Segoe UI" pitchFamily="34" charset="0"/>
                <a:ea typeface="Segoe UI" pitchFamily="34" charset="-122"/>
                <a:cs typeface="Segoe UI" pitchFamily="34" charset="-120"/>
              </a:rPr>
              <a:t>Access granted</a:t>
            </a:r>
            <a:endParaRPr lang="en-US" sz="1100"/>
          </a:p>
        </p:txBody>
      </p:sp>
      <p:sp>
        <p:nvSpPr>
          <p:cNvPr id="25" name="Text 23"/>
          <p:cNvSpPr/>
          <p:nvPr/>
        </p:nvSpPr>
        <p:spPr>
          <a:xfrm>
            <a:off x="7371893" y="1929384"/>
            <a:ext cx="1159459" cy="448056"/>
          </a:xfrm>
          <a:prstGeom prst="rect">
            <a:avLst/>
          </a:prstGeom>
          <a:noFill/>
          <a:ln/>
        </p:spPr>
        <p:txBody>
          <a:bodyPr wrap="square" lIns="0" tIns="0" rIns="0" bIns="0" rtlCol="0" anchor="t"/>
          <a:lstStyle/>
          <a:p>
            <a:pPr marL="0" indent="0" algn="ctr">
              <a:lnSpc>
                <a:spcPct val="110000"/>
              </a:lnSpc>
              <a:buNone/>
            </a:pPr>
            <a:r>
              <a:rPr lang="en-US" sz="850">
                <a:solidFill>
                  <a:srgbClr val="44566B"/>
                </a:solidFill>
                <a:latin typeface="Segoe UI" pitchFamily="34" charset="0"/>
                <a:ea typeface="Segoe UI" pitchFamily="34" charset="-122"/>
                <a:cs typeface="Segoe UI" pitchFamily="34" charset="-120"/>
              </a:rPr>
              <a:t>scoped by Azure RBAC</a:t>
            </a:r>
            <a:endParaRPr lang="en-US" sz="850"/>
          </a:p>
        </p:txBody>
      </p:sp>
      <p:sp>
        <p:nvSpPr>
          <p:cNvPr id="26" name="code panel">
            <a:extLst>
              <a:ext uri="{C183D7F6-B498-43B3-948B-1728B52AA6E4}">
                <adec:decorative xmlns:adec="http://schemas.microsoft.com/office/drawing/2017/decorative" val="1"/>
              </a:ext>
            </a:extLst>
          </p:cNvPr>
          <p:cNvSpPr/>
          <p:nvPr/>
        </p:nvSpPr>
        <p:spPr>
          <a:xfrm>
            <a:off x="502920" y="2606040"/>
            <a:ext cx="4572000" cy="146304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7" name="code panel header">
            <a:extLst>
              <a:ext uri="{C183D7F6-B498-43B3-948B-1728B52AA6E4}">
                <adec:decorative xmlns:adec="http://schemas.microsoft.com/office/drawing/2017/decorative" val="1"/>
              </a:ext>
            </a:extLst>
          </p:cNvPr>
          <p:cNvSpPr/>
          <p:nvPr/>
        </p:nvSpPr>
        <p:spPr>
          <a:xfrm>
            <a:off x="502920" y="2606040"/>
            <a:ext cx="4572000" cy="256032"/>
          </a:xfrm>
          <a:prstGeom prst="rect">
            <a:avLst/>
          </a:prstGeom>
          <a:solidFill>
            <a:srgbClr val="0F3D66"/>
          </a:solidFill>
          <a:ln w="12700">
            <a:solidFill>
              <a:srgbClr val="333333"/>
            </a:solidFill>
            <a:prstDash val="solid"/>
          </a:ln>
        </p:spPr>
        <p:txBody>
          <a:bodyPr/>
          <a:lstStyle/>
          <a:p>
            <a:endParaRPr lang="en-IN"/>
          </a:p>
        </p:txBody>
      </p:sp>
      <p:sp>
        <p:nvSpPr>
          <p:cNvPr id="28" name="Text 26"/>
          <p:cNvSpPr/>
          <p:nvPr/>
        </p:nvSpPr>
        <p:spPr>
          <a:xfrm>
            <a:off x="649224" y="2606040"/>
            <a:ext cx="427939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workload-identity.yaml</a:t>
            </a:r>
            <a:endParaRPr lang="en-US" sz="850"/>
          </a:p>
        </p:txBody>
      </p:sp>
      <p:sp>
        <p:nvSpPr>
          <p:cNvPr id="29" name="Text 27"/>
          <p:cNvSpPr/>
          <p:nvPr/>
        </p:nvSpPr>
        <p:spPr>
          <a:xfrm>
            <a:off x="649224" y="2935224"/>
            <a:ext cx="4279392" cy="987552"/>
          </a:xfrm>
          <a:prstGeom prst="rect">
            <a:avLst/>
          </a:prstGeom>
          <a:noFill/>
          <a:ln/>
        </p:spPr>
        <p:txBody>
          <a:bodyPr wrap="square" lIns="0" tIns="0" rIns="0" bIns="0" rtlCol="0" anchor="t"/>
          <a:lstStyle/>
          <a:p>
            <a:pPr marL="0" indent="0">
              <a:lnSpc>
                <a:spcPct val="112000"/>
              </a:lnSpc>
              <a:buNone/>
            </a:pPr>
            <a:r>
              <a:rPr lang="en-US" sz="620">
                <a:solidFill>
                  <a:srgbClr val="D7ECF8"/>
                </a:solidFill>
                <a:latin typeface="Consolas" pitchFamily="34" charset="0"/>
                <a:ea typeface="Consolas" pitchFamily="34" charset="-122"/>
                <a:cs typeface="Consolas" pitchFamily="34" charset="-120"/>
              </a:rPr>
              <a:t>metadata:</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  name: payments-api-sa</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  annotations:</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    azure.workload.identity/client-id: “&lt;client-id&gt;”</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spec:</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  serviceAccountName: payments-api-sa</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  labels:</a:t>
            </a:r>
            <a:endParaRPr lang="en-US" sz="620"/>
          </a:p>
          <a:p>
            <a:pPr marL="0" indent="0">
              <a:lnSpc>
                <a:spcPct val="112000"/>
              </a:lnSpc>
              <a:buNone/>
            </a:pPr>
            <a:r>
              <a:rPr lang="en-US" sz="620">
                <a:solidFill>
                  <a:srgbClr val="D7ECF8"/>
                </a:solidFill>
                <a:latin typeface="Consolas" pitchFamily="34" charset="0"/>
                <a:ea typeface="Consolas" pitchFamily="34" charset="-122"/>
                <a:cs typeface="Consolas" pitchFamily="34" charset="-120"/>
              </a:rPr>
              <a:t>    azure.workload.identity/use: “true”</a:t>
            </a:r>
            <a:endParaRPr lang="en-US" sz="620"/>
          </a:p>
        </p:txBody>
      </p:sp>
      <p:sp>
        <p:nvSpPr>
          <p:cNvPr id="30" name="Text 28"/>
          <p:cNvSpPr/>
          <p:nvPr/>
        </p:nvSpPr>
        <p:spPr>
          <a:xfrm>
            <a:off x="5257800" y="2788920"/>
            <a:ext cx="3383280" cy="1289304"/>
          </a:xfrm>
          <a:prstGeom prst="rect">
            <a:avLst/>
          </a:prstGeom>
          <a:noFill/>
          <a:ln/>
        </p:spPr>
        <p:txBody>
          <a:bodyPr wrap="square" lIns="0" tIns="0" rIns="0" bIns="0" rtlCol="0" anchor="t"/>
          <a:lstStyle/>
          <a:p>
            <a:pPr marL="342900" indent="-342900">
              <a:spcAft>
                <a:spcPts val="800"/>
              </a:spcAft>
              <a:buSzPct val="100000"/>
              <a:buChar char="•"/>
            </a:pPr>
            <a:r>
              <a:rPr lang="en-US" sz="800">
                <a:solidFill>
                  <a:srgbClr val="0A2E4E"/>
                </a:solidFill>
                <a:latin typeface="Segoe UI" pitchFamily="34" charset="0"/>
                <a:ea typeface="Segoe UI" pitchFamily="34" charset="-122"/>
                <a:cs typeface="Segoe UI" pitchFamily="34" charset="-120"/>
              </a:rPr>
              <a:t>Replaces the older pod-managed identity approach and the practice of storing secrets in the app</a:t>
            </a:r>
            <a:endParaRPr lang="en-US" sz="800"/>
          </a:p>
          <a:p>
            <a:pPr marL="342900" indent="-342900">
              <a:spcAft>
                <a:spcPts val="800"/>
              </a:spcAft>
              <a:buSzPct val="100000"/>
              <a:buChar char="•"/>
            </a:pPr>
            <a:r>
              <a:rPr lang="en-US" sz="800">
                <a:solidFill>
                  <a:srgbClr val="0A2E4E"/>
                </a:solidFill>
                <a:latin typeface="Segoe UI" pitchFamily="34" charset="0"/>
                <a:ea typeface="Segoe UI" pitchFamily="34" charset="-122"/>
                <a:cs typeface="Segoe UI" pitchFamily="34" charset="-120"/>
              </a:rPr>
              <a:t>The federated credential links one Azure identity to one namespace and service account name</a:t>
            </a:r>
            <a:endParaRPr lang="en-US" sz="800"/>
          </a:p>
          <a:p>
            <a:pPr marL="342900" indent="-342900">
              <a:spcAft>
                <a:spcPts val="800"/>
              </a:spcAft>
              <a:buSzPct val="100000"/>
              <a:buChar char="•"/>
            </a:pPr>
            <a:r>
              <a:rPr lang="en-US" sz="800">
                <a:solidFill>
                  <a:srgbClr val="0A2E4E"/>
                </a:solidFill>
                <a:latin typeface="Segoe UI" pitchFamily="34" charset="0"/>
                <a:ea typeface="Segoe UI" pitchFamily="34" charset="-122"/>
                <a:cs typeface="Segoe UI" pitchFamily="34" charset="-120"/>
              </a:rPr>
              <a:t>Permissions are ordinary Azure RBAC role assignments on the target resource</a:t>
            </a:r>
            <a:endParaRPr lang="en-US" sz="800"/>
          </a:p>
          <a:p>
            <a:pPr marL="342900" indent="-342900">
              <a:spcAft>
                <a:spcPts val="800"/>
              </a:spcAft>
              <a:buSzPct val="100000"/>
              <a:buChar char="•"/>
            </a:pPr>
            <a:r>
              <a:rPr lang="en-US" sz="800">
                <a:solidFill>
                  <a:srgbClr val="0A2E4E"/>
                </a:solidFill>
                <a:latin typeface="Segoe UI" pitchFamily="34" charset="0"/>
                <a:ea typeface="Segoe UI" pitchFamily="34" charset="-122"/>
                <a:cs typeface="Segoe UI" pitchFamily="34" charset="-120"/>
              </a:rPr>
              <a:t>Nothing sensitive lives in the manifest, the image or the pipeline</a:t>
            </a:r>
            <a:endParaRPr lang="en-US" sz="800"/>
          </a:p>
        </p:txBody>
      </p:sp>
      <p:sp>
        <p:nvSpPr>
          <p:cNvPr id="31"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2"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33" name="Text 31"/>
          <p:cNvSpPr/>
          <p:nvPr/>
        </p:nvSpPr>
        <p:spPr>
          <a:xfrm>
            <a:off x="704088" y="4133088"/>
            <a:ext cx="7754112" cy="457200"/>
          </a:xfrm>
          <a:prstGeom prst="rect">
            <a:avLst/>
          </a:prstGeom>
          <a:noFill/>
          <a:ln/>
        </p:spPr>
        <p:txBody>
          <a:bodyPr wrap="square" lIns="0" tIns="0" rIns="0" bIns="0" rtlCol="0" anchor="ctr"/>
          <a:lstStyle/>
          <a:p>
            <a:pPr marL="0" indent="0">
              <a:buNone/>
            </a:pPr>
            <a:r>
              <a:rPr lang="en-US" sz="1050">
                <a:solidFill>
                  <a:srgbClr val="0E2233"/>
                </a:solidFill>
                <a:latin typeface="Segoe UI" pitchFamily="34" charset="0"/>
                <a:ea typeface="Segoe UI" pitchFamily="34" charset="-122"/>
                <a:cs typeface="Segoe UI" pitchFamily="34" charset="-120"/>
              </a:rPr>
              <a:t>Enable it once per cluster with az aks update --enable-oidc-issuer --enable-workload-identity, then federate one identity per application.</a:t>
            </a:r>
            <a:endParaRPr lang="en-US" sz="100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Abstract illustration of glowing steps ascending towards a bright horizon, representing continued learning"/>
          <p:cNvPicPr>
            <a:picLocks noChangeAspect="1"/>
          </p:cNvPicPr>
          <p:nvPr/>
        </p:nvPicPr>
        <p:blipFill>
          <a:blip r:embed="rId3"/>
          <a:srcRect l="26988" r="26988"/>
          <a:stretch/>
        </p:blipFill>
        <p:spPr>
          <a:xfrm>
            <a:off x="4937760" y="0"/>
            <a:ext cx="4206240" cy="5143500"/>
          </a:xfrm>
          <a:prstGeom prst="rect">
            <a:avLst/>
          </a:prstGeom>
        </p:spPr>
      </p:pic>
      <p:sp>
        <p:nvSpPr>
          <p:cNvPr id="3" name="image wash">
            <a:extLst>
              <a:ext uri="{C183D7F6-B498-43B3-948B-1728B52AA6E4}">
                <adec:decorative xmlns:adec="http://schemas.microsoft.com/office/drawing/2017/decorative" val="1"/>
              </a:ext>
            </a:extLst>
          </p:cNvPr>
          <p:cNvSpPr/>
          <p:nvPr/>
        </p:nvSpPr>
        <p:spPr>
          <a:xfrm>
            <a:off x="4937760" y="0"/>
            <a:ext cx="4206240" cy="5143500"/>
          </a:xfrm>
          <a:prstGeom prst="rect">
            <a:avLst/>
          </a:prstGeom>
          <a:solidFill>
            <a:srgbClr val="FFFFFF">
              <a:alpha val="70000"/>
            </a:srgbClr>
          </a:solidFill>
          <a:ln w="12700">
            <a:solidFill>
              <a:srgbClr val="333333"/>
            </a:solidFill>
            <a:prstDash val="solid"/>
          </a:ln>
        </p:spPr>
        <p:txBody>
          <a:bodyPr/>
          <a:lstStyle/>
          <a:p>
            <a:endParaRPr lang="en-IN"/>
          </a:p>
        </p:txBody>
      </p:sp>
      <p:sp>
        <p:nvSpPr>
          <p:cNvPr id="4" name="Text 1"/>
          <p:cNvSpPr/>
          <p:nvPr/>
        </p:nvSpPr>
        <p:spPr>
          <a:xfrm>
            <a:off x="502920" y="457200"/>
            <a:ext cx="4114800" cy="228600"/>
          </a:xfrm>
          <a:prstGeom prst="rect">
            <a:avLst/>
          </a:prstGeom>
          <a:noFill/>
          <a:ln/>
        </p:spPr>
        <p:txBody>
          <a:bodyPr wrap="square" lIns="0" tIns="0" rIns="0" bIns="0" rtlCol="0" anchor="ctr"/>
          <a:lstStyle/>
          <a:p>
            <a:pPr marL="0" indent="0">
              <a:buNone/>
            </a:pPr>
            <a:r>
              <a:rPr lang="en-US" sz="1000" b="1" kern="0" spc="200">
                <a:solidFill>
                  <a:srgbClr val="0B63CE"/>
                </a:solidFill>
                <a:latin typeface="Segoe UI" pitchFamily="34" charset="0"/>
                <a:ea typeface="Segoe UI" pitchFamily="34" charset="-122"/>
                <a:cs typeface="Segoe UI" pitchFamily="34" charset="-120"/>
              </a:rPr>
              <a:t>MODULES 7 AND 8 · WRAP UP</a:t>
            </a:r>
            <a:endParaRPr lang="en-US" sz="1000"/>
          </a:p>
        </p:txBody>
      </p:sp>
      <p:sp>
        <p:nvSpPr>
          <p:cNvPr id="5" name="Text 2"/>
          <p:cNvSpPr/>
          <p:nvPr/>
        </p:nvSpPr>
        <p:spPr>
          <a:xfrm>
            <a:off x="502920" y="694944"/>
            <a:ext cx="4206240" cy="548640"/>
          </a:xfrm>
          <a:prstGeom prst="rect">
            <a:avLst/>
          </a:prstGeom>
          <a:noFill/>
          <a:ln/>
        </p:spPr>
        <p:txBody>
          <a:bodyPr wrap="square" lIns="0" tIns="0" rIns="0" bIns="0" rtlCol="0" anchor="ctr"/>
          <a:lstStyle/>
          <a:p>
            <a:pPr marL="0" indent="0">
              <a:buNone/>
            </a:pPr>
            <a:r>
              <a:rPr lang="en-US" sz="1800" b="1">
                <a:solidFill>
                  <a:srgbClr val="0E2233"/>
                </a:solidFill>
                <a:latin typeface="Segoe UI" pitchFamily="34" charset="0"/>
                <a:ea typeface="Segoe UI" pitchFamily="34" charset="-122"/>
                <a:cs typeface="Segoe UI" pitchFamily="34" charset="-120"/>
              </a:rPr>
              <a:t>What to take back to your team</a:t>
            </a:r>
            <a:endParaRPr lang="en-US" sz="1800"/>
          </a:p>
        </p:txBody>
      </p:sp>
      <p:sp>
        <p:nvSpPr>
          <p:cNvPr id="6" name="rule">
            <a:extLst>
              <a:ext uri="{C183D7F6-B498-43B3-948B-1728B52AA6E4}">
                <adec:decorative xmlns:adec="http://schemas.microsoft.com/office/drawing/2017/decorative" val="1"/>
              </a:ext>
            </a:extLst>
          </p:cNvPr>
          <p:cNvSpPr/>
          <p:nvPr/>
        </p:nvSpPr>
        <p:spPr>
          <a:xfrm>
            <a:off x="502920" y="1298448"/>
            <a:ext cx="548640" cy="32004"/>
          </a:xfrm>
          <a:prstGeom prst="rect">
            <a:avLst/>
          </a:prstGeom>
          <a:solidFill>
            <a:srgbClr val="17A9DB"/>
          </a:solidFill>
          <a:ln w="12700">
            <a:solidFill>
              <a:srgbClr val="333333"/>
            </a:solidFill>
            <a:prstDash val="solid"/>
          </a:ln>
        </p:spPr>
        <p:txBody>
          <a:bodyPr/>
          <a:lstStyle/>
          <a:p>
            <a:endParaRPr lang="en-IN"/>
          </a:p>
        </p:txBody>
      </p:sp>
      <p:sp>
        <p:nvSpPr>
          <p:cNvPr id="7" name="item accent">
            <a:extLst>
              <a:ext uri="{C183D7F6-B498-43B3-948B-1728B52AA6E4}">
                <adec:decorative xmlns:adec="http://schemas.microsoft.com/office/drawing/2017/decorative" val="1"/>
              </a:ext>
            </a:extLst>
          </p:cNvPr>
          <p:cNvSpPr/>
          <p:nvPr/>
        </p:nvSpPr>
        <p:spPr>
          <a:xfrm>
            <a:off x="502920" y="1481328"/>
            <a:ext cx="41148" cy="548640"/>
          </a:xfrm>
          <a:prstGeom prst="rect">
            <a:avLst/>
          </a:prstGeom>
          <a:solidFill>
            <a:srgbClr val="0B63CE"/>
          </a:solidFill>
          <a:ln w="12700">
            <a:solidFill>
              <a:srgbClr val="333333"/>
            </a:solidFill>
            <a:prstDash val="solid"/>
          </a:ln>
        </p:spPr>
        <p:txBody>
          <a:bodyPr/>
          <a:lstStyle/>
          <a:p>
            <a:endParaRPr lang="en-IN"/>
          </a:p>
        </p:txBody>
      </p:sp>
      <p:sp>
        <p:nvSpPr>
          <p:cNvPr id="8" name="Text 5"/>
          <p:cNvSpPr/>
          <p:nvPr/>
        </p:nvSpPr>
        <p:spPr>
          <a:xfrm>
            <a:off x="713232" y="1481328"/>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Give every team its own namespace</a:t>
            </a:r>
            <a:endParaRPr lang="en-US" sz="1250"/>
          </a:p>
        </p:txBody>
      </p:sp>
      <p:sp>
        <p:nvSpPr>
          <p:cNvPr id="9" name="Text 6"/>
          <p:cNvSpPr/>
          <p:nvPr/>
        </p:nvSpPr>
        <p:spPr>
          <a:xfrm>
            <a:off x="713232" y="1719072"/>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It is the hook that RBAC, quotas and network policy all attach to.</a:t>
            </a:r>
            <a:endParaRPr lang="en-US" sz="1000"/>
          </a:p>
        </p:txBody>
      </p:sp>
      <p:sp>
        <p:nvSpPr>
          <p:cNvPr id="10" name="item accent">
            <a:extLst>
              <a:ext uri="{C183D7F6-B498-43B3-948B-1728B52AA6E4}">
                <adec:decorative xmlns:adec="http://schemas.microsoft.com/office/drawing/2017/decorative" val="1"/>
              </a:ext>
            </a:extLst>
          </p:cNvPr>
          <p:cNvSpPr/>
          <p:nvPr/>
        </p:nvSpPr>
        <p:spPr>
          <a:xfrm>
            <a:off x="502920" y="2103120"/>
            <a:ext cx="41148" cy="548640"/>
          </a:xfrm>
          <a:prstGeom prst="rect">
            <a:avLst/>
          </a:prstGeom>
          <a:solidFill>
            <a:srgbClr val="17A9DB"/>
          </a:solidFill>
          <a:ln w="12700">
            <a:solidFill>
              <a:srgbClr val="333333"/>
            </a:solidFill>
            <a:prstDash val="solid"/>
          </a:ln>
        </p:spPr>
        <p:txBody>
          <a:bodyPr/>
          <a:lstStyle/>
          <a:p>
            <a:endParaRPr lang="en-IN"/>
          </a:p>
        </p:txBody>
      </p:sp>
      <p:sp>
        <p:nvSpPr>
          <p:cNvPr id="11" name="Text 8"/>
          <p:cNvSpPr/>
          <p:nvPr/>
        </p:nvSpPr>
        <p:spPr>
          <a:xfrm>
            <a:off x="713232" y="2103120"/>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Declare requests and limits everywhere</a:t>
            </a:r>
            <a:endParaRPr lang="en-US" sz="1250"/>
          </a:p>
        </p:txBody>
      </p:sp>
      <p:sp>
        <p:nvSpPr>
          <p:cNvPr id="12" name="Text 9"/>
          <p:cNvSpPr/>
          <p:nvPr/>
        </p:nvSpPr>
        <p:spPr>
          <a:xfrm>
            <a:off x="713232" y="2340864"/>
            <a:ext cx="4023360" cy="310896"/>
          </a:xfrm>
          <a:prstGeom prst="rect">
            <a:avLst/>
          </a:prstGeom>
          <a:noFill/>
          <a:ln/>
        </p:spPr>
        <p:txBody>
          <a:bodyPr wrap="square" lIns="0" tIns="0" rIns="0" bIns="0" rtlCol="0" anchor="t"/>
          <a:lstStyle/>
          <a:p>
            <a:pPr marL="0" indent="0">
              <a:lnSpc>
                <a:spcPct val="105000"/>
              </a:lnSpc>
              <a:buNone/>
            </a:pPr>
            <a:r>
              <a:rPr lang="en-US" sz="900">
                <a:solidFill>
                  <a:srgbClr val="44566B"/>
                </a:solidFill>
                <a:latin typeface="Segoe UI" pitchFamily="34" charset="0"/>
                <a:ea typeface="Segoe UI" pitchFamily="34" charset="-122"/>
                <a:cs typeface="Segoe UI" pitchFamily="34" charset="-120"/>
              </a:rPr>
              <a:t>Requests decide placement, limits decide survival. Nothing in production should be BestEffort.</a:t>
            </a:r>
            <a:endParaRPr lang="en-US" sz="900"/>
          </a:p>
        </p:txBody>
      </p:sp>
      <p:sp>
        <p:nvSpPr>
          <p:cNvPr id="13" name="item accent">
            <a:extLst>
              <a:ext uri="{C183D7F6-B498-43B3-948B-1728B52AA6E4}">
                <adec:decorative xmlns:adec="http://schemas.microsoft.com/office/drawing/2017/decorative" val="1"/>
              </a:ext>
            </a:extLst>
          </p:cNvPr>
          <p:cNvSpPr/>
          <p:nvPr/>
        </p:nvSpPr>
        <p:spPr>
          <a:xfrm>
            <a:off x="502920" y="2724912"/>
            <a:ext cx="41148" cy="548640"/>
          </a:xfrm>
          <a:prstGeom prst="rect">
            <a:avLst/>
          </a:prstGeom>
          <a:solidFill>
            <a:srgbClr val="0B63CE"/>
          </a:solidFill>
          <a:ln w="12700">
            <a:solidFill>
              <a:srgbClr val="333333"/>
            </a:solidFill>
            <a:prstDash val="solid"/>
          </a:ln>
        </p:spPr>
        <p:txBody>
          <a:bodyPr/>
          <a:lstStyle/>
          <a:p>
            <a:endParaRPr lang="en-IN"/>
          </a:p>
        </p:txBody>
      </p:sp>
      <p:sp>
        <p:nvSpPr>
          <p:cNvPr id="14" name="Text 11"/>
          <p:cNvSpPr/>
          <p:nvPr/>
        </p:nvSpPr>
        <p:spPr>
          <a:xfrm>
            <a:off x="713232" y="2724912"/>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Pair a quota with a LimitRange</a:t>
            </a:r>
            <a:endParaRPr lang="en-US" sz="1250"/>
          </a:p>
        </p:txBody>
      </p:sp>
      <p:sp>
        <p:nvSpPr>
          <p:cNvPr id="15" name="Text 12"/>
          <p:cNvSpPr/>
          <p:nvPr/>
        </p:nvSpPr>
        <p:spPr>
          <a:xfrm>
            <a:off x="713232" y="2962656"/>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One sets the budget, the other makes sure every Pod declares its share.</a:t>
            </a:r>
            <a:endParaRPr lang="en-US" sz="1000"/>
          </a:p>
        </p:txBody>
      </p:sp>
      <p:sp>
        <p:nvSpPr>
          <p:cNvPr id="16" name="item accent">
            <a:extLst>
              <a:ext uri="{C183D7F6-B498-43B3-948B-1728B52AA6E4}">
                <adec:decorative xmlns:adec="http://schemas.microsoft.com/office/drawing/2017/decorative" val="1"/>
              </a:ext>
            </a:extLst>
          </p:cNvPr>
          <p:cNvSpPr/>
          <p:nvPr/>
        </p:nvSpPr>
        <p:spPr>
          <a:xfrm>
            <a:off x="502920" y="3346704"/>
            <a:ext cx="41148" cy="548640"/>
          </a:xfrm>
          <a:prstGeom prst="rect">
            <a:avLst/>
          </a:prstGeom>
          <a:solidFill>
            <a:srgbClr val="17A9DB"/>
          </a:solidFill>
          <a:ln w="12700">
            <a:solidFill>
              <a:srgbClr val="333333"/>
            </a:solidFill>
            <a:prstDash val="solid"/>
          </a:ln>
        </p:spPr>
        <p:txBody>
          <a:bodyPr/>
          <a:lstStyle/>
          <a:p>
            <a:endParaRPr lang="en-IN"/>
          </a:p>
        </p:txBody>
      </p:sp>
      <p:sp>
        <p:nvSpPr>
          <p:cNvPr id="17" name="Text 14"/>
          <p:cNvSpPr/>
          <p:nvPr/>
        </p:nvSpPr>
        <p:spPr>
          <a:xfrm>
            <a:off x="713232" y="3346704"/>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Bind the smallest role that works</a:t>
            </a:r>
            <a:endParaRPr lang="en-US" sz="1250"/>
          </a:p>
        </p:txBody>
      </p:sp>
      <p:sp>
        <p:nvSpPr>
          <p:cNvPr id="18" name="Text 15"/>
          <p:cNvSpPr/>
          <p:nvPr/>
        </p:nvSpPr>
        <p:spPr>
          <a:xfrm>
            <a:off x="713232" y="3584448"/>
            <a:ext cx="4023360" cy="310896"/>
          </a:xfrm>
          <a:prstGeom prst="rect">
            <a:avLst/>
          </a:prstGeom>
          <a:noFill/>
          <a:ln/>
        </p:spPr>
        <p:txBody>
          <a:bodyPr wrap="square" lIns="0" tIns="0" rIns="0" bIns="0" rtlCol="0" anchor="t"/>
          <a:lstStyle/>
          <a:p>
            <a:pPr marL="0" indent="0">
              <a:lnSpc>
                <a:spcPct val="105000"/>
              </a:lnSpc>
              <a:buNone/>
            </a:pPr>
            <a:r>
              <a:rPr lang="en-US" sz="900">
                <a:solidFill>
                  <a:srgbClr val="44566B"/>
                </a:solidFill>
                <a:latin typeface="Segoe UI" pitchFamily="34" charset="0"/>
                <a:ea typeface="Segoe UI" pitchFamily="34" charset="-122"/>
                <a:cs typeface="Segoe UI" pitchFamily="34" charset="-120"/>
              </a:rPr>
              <a:t>One service account per application, namespace-scoped roles, and kubectl auth can-i to prove it.</a:t>
            </a:r>
            <a:endParaRPr lang="en-US" sz="900"/>
          </a:p>
        </p:txBody>
      </p:sp>
      <p:sp>
        <p:nvSpPr>
          <p:cNvPr id="19" name="item accent">
            <a:extLst>
              <a:ext uri="{C183D7F6-B498-43B3-948B-1728B52AA6E4}">
                <adec:decorative xmlns:adec="http://schemas.microsoft.com/office/drawing/2017/decorative" val="1"/>
              </a:ext>
            </a:extLst>
          </p:cNvPr>
          <p:cNvSpPr/>
          <p:nvPr/>
        </p:nvSpPr>
        <p:spPr>
          <a:xfrm>
            <a:off x="502920" y="3968496"/>
            <a:ext cx="41148" cy="548640"/>
          </a:xfrm>
          <a:prstGeom prst="rect">
            <a:avLst/>
          </a:prstGeom>
          <a:solidFill>
            <a:srgbClr val="0B63CE"/>
          </a:solidFill>
          <a:ln w="12700">
            <a:solidFill>
              <a:srgbClr val="333333"/>
            </a:solidFill>
            <a:prstDash val="solid"/>
          </a:ln>
        </p:spPr>
        <p:txBody>
          <a:bodyPr/>
          <a:lstStyle/>
          <a:p>
            <a:endParaRPr lang="en-IN"/>
          </a:p>
        </p:txBody>
      </p:sp>
      <p:sp>
        <p:nvSpPr>
          <p:cNvPr id="20" name="Text 17"/>
          <p:cNvSpPr/>
          <p:nvPr/>
        </p:nvSpPr>
        <p:spPr>
          <a:xfrm>
            <a:off x="713232" y="3968496"/>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Move secrets to Key Vault and workload identity</a:t>
            </a:r>
            <a:endParaRPr lang="en-US" sz="1250"/>
          </a:p>
        </p:txBody>
      </p:sp>
      <p:sp>
        <p:nvSpPr>
          <p:cNvPr id="21" name="Text 18"/>
          <p:cNvSpPr/>
          <p:nvPr/>
        </p:nvSpPr>
        <p:spPr>
          <a:xfrm>
            <a:off x="713232" y="4206240"/>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Nothing sensitive in Git, in the image or in the manifest.</a:t>
            </a:r>
            <a:endParaRPr lang="en-US" sz="10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background">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A2E4E"/>
          </a:solidFill>
          <a:ln w="12700">
            <a:solidFill>
              <a:srgbClr val="333333"/>
            </a:solidFill>
            <a:prstDash val="solid"/>
          </a:ln>
        </p:spPr>
        <p:txBody>
          <a:bodyPr/>
          <a:lstStyle/>
          <a:p>
            <a:endParaRPr lang="en-IN"/>
          </a:p>
        </p:txBody>
      </p:sp>
      <p:pic>
        <p:nvPicPr>
          <p:cNvPr id="3" name="Image 0" descr="Abstract technical illustration supporting the section theme"/>
          <p:cNvPicPr>
            <a:picLocks noChangeAspect="1"/>
          </p:cNvPicPr>
          <p:nvPr/>
        </p:nvPicPr>
        <p:blipFill>
          <a:blip r:embed="rId3">
            <a:alphaModFix amt="80000"/>
          </a:blip>
          <a:srcRect l="24987" r="24987"/>
          <a:stretch/>
        </p:blipFill>
        <p:spPr>
          <a:xfrm>
            <a:off x="4572000" y="0"/>
            <a:ext cx="4572000" cy="5143500"/>
          </a:xfrm>
          <a:prstGeom prst="rect">
            <a:avLst/>
          </a:prstGeom>
        </p:spPr>
      </p:pic>
      <p:sp>
        <p:nvSpPr>
          <p:cNvPr id="4" name="gradient blend">
            <a:extLst>
              <a:ext uri="{C183D7F6-B498-43B3-948B-1728B52AA6E4}">
                <adec:decorative xmlns:adec="http://schemas.microsoft.com/office/drawing/2017/decorative" val="1"/>
              </a:ext>
            </a:extLst>
          </p:cNvPr>
          <p:cNvSpPr/>
          <p:nvPr/>
        </p:nvSpPr>
        <p:spPr>
          <a:xfrm>
            <a:off x="4160520" y="0"/>
            <a:ext cx="420624" cy="5143500"/>
          </a:xfrm>
          <a:prstGeom prst="rect">
            <a:avLst/>
          </a:prstGeom>
          <a:solidFill>
            <a:srgbClr val="0A2E4E">
              <a:alpha val="55000"/>
            </a:srgbClr>
          </a:solidFill>
          <a:ln w="12700">
            <a:solidFill>
              <a:srgbClr val="333333"/>
            </a:solidFill>
            <a:prstDash val="solid"/>
          </a:ln>
        </p:spPr>
        <p:txBody>
          <a:bodyPr/>
          <a:lstStyle/>
          <a:p>
            <a:endParaRPr lang="en-IN"/>
          </a:p>
        </p:txBody>
      </p:sp>
      <p:sp>
        <p:nvSpPr>
          <p:cNvPr id="5" name="Text 2"/>
          <p:cNvSpPr/>
          <p:nvPr/>
        </p:nvSpPr>
        <p:spPr>
          <a:xfrm>
            <a:off x="640080" y="1600200"/>
            <a:ext cx="3657600" cy="228600"/>
          </a:xfrm>
          <a:prstGeom prst="rect">
            <a:avLst/>
          </a:prstGeom>
          <a:noFill/>
          <a:ln/>
        </p:spPr>
        <p:txBody>
          <a:bodyPr wrap="square" lIns="0" tIns="0" rIns="0" bIns="0" rtlCol="0" anchor="ctr"/>
          <a:lstStyle/>
          <a:p>
            <a:pPr marL="0" indent="0">
              <a:buNone/>
            </a:pPr>
            <a:r>
              <a:rPr lang="en-US" sz="1050" b="1" kern="0" spc="200">
                <a:solidFill>
                  <a:srgbClr val="17A9DB"/>
                </a:solidFill>
                <a:latin typeface="Segoe UI" pitchFamily="34" charset="0"/>
                <a:ea typeface="Segoe UI" pitchFamily="34" charset="-122"/>
                <a:cs typeface="Segoe UI" pitchFamily="34" charset="-120"/>
              </a:rPr>
              <a:t>SECTION 3</a:t>
            </a:r>
            <a:endParaRPr lang="en-US" sz="1050"/>
          </a:p>
        </p:txBody>
      </p:sp>
      <p:sp>
        <p:nvSpPr>
          <p:cNvPr id="6" name="Text 3"/>
          <p:cNvSpPr/>
          <p:nvPr/>
        </p:nvSpPr>
        <p:spPr>
          <a:xfrm>
            <a:off x="640080" y="1874520"/>
            <a:ext cx="3749040" cy="1005840"/>
          </a:xfrm>
          <a:prstGeom prst="rect">
            <a:avLst/>
          </a:prstGeom>
          <a:noFill/>
          <a:ln/>
        </p:spPr>
        <p:txBody>
          <a:bodyPr wrap="square" lIns="0" tIns="0" rIns="0" bIns="0" rtlCol="0" anchor="t"/>
          <a:lstStyle/>
          <a:p>
            <a:pPr marL="0" indent="0">
              <a:lnSpc>
                <a:spcPct val="98000"/>
              </a:lnSpc>
              <a:buNone/>
            </a:pPr>
            <a:r>
              <a:rPr lang="en-US" sz="2100" b="1">
                <a:solidFill>
                  <a:srgbClr val="FFFFFF"/>
                </a:solidFill>
                <a:latin typeface="Segoe UI" pitchFamily="34" charset="0"/>
                <a:ea typeface="Segoe UI" pitchFamily="34" charset="-122"/>
                <a:cs typeface="Segoe UI" pitchFamily="34" charset="-120"/>
              </a:rPr>
              <a:t>CI/CD, Observability and Production Readiness</a:t>
            </a:r>
            <a:endParaRPr lang="en-US" sz="2100"/>
          </a:p>
        </p:txBody>
      </p:sp>
      <p:sp>
        <p:nvSpPr>
          <p:cNvPr id="7" name="rule">
            <a:extLst>
              <a:ext uri="{C183D7F6-B498-43B3-948B-1728B52AA6E4}">
                <adec:decorative xmlns:adec="http://schemas.microsoft.com/office/drawing/2017/decorative" val="1"/>
              </a:ext>
            </a:extLst>
          </p:cNvPr>
          <p:cNvSpPr/>
          <p:nvPr/>
        </p:nvSpPr>
        <p:spPr>
          <a:xfrm>
            <a:off x="640080" y="3017520"/>
            <a:ext cx="640080" cy="32004"/>
          </a:xfrm>
          <a:prstGeom prst="rect">
            <a:avLst/>
          </a:prstGeom>
          <a:solidFill>
            <a:srgbClr val="17A9DB"/>
          </a:solidFill>
          <a:ln w="12700">
            <a:solidFill>
              <a:srgbClr val="333333"/>
            </a:solidFill>
            <a:prstDash val="solid"/>
          </a:ln>
        </p:spPr>
        <p:txBody>
          <a:bodyPr/>
          <a:lstStyle/>
          <a:p>
            <a:endParaRPr lang="en-IN"/>
          </a:p>
        </p:txBody>
      </p:sp>
      <p:sp>
        <p:nvSpPr>
          <p:cNvPr id="8" name="Text 5"/>
          <p:cNvSpPr/>
          <p:nvPr/>
        </p:nvSpPr>
        <p:spPr>
          <a:xfrm>
            <a:off x="640080" y="3200400"/>
            <a:ext cx="3566160" cy="914400"/>
          </a:xfrm>
          <a:prstGeom prst="rect">
            <a:avLst/>
          </a:prstGeom>
          <a:noFill/>
          <a:ln/>
        </p:spPr>
        <p:txBody>
          <a:bodyPr wrap="square" lIns="0" tIns="0" rIns="0" bIns="0" rtlCol="0" anchor="ctr"/>
          <a:lstStyle/>
          <a:p>
            <a:pPr marL="0" indent="0">
              <a:lnSpc>
                <a:spcPct val="125000"/>
              </a:lnSpc>
              <a:buNone/>
            </a:pPr>
            <a:r>
              <a:rPr lang="en-US" sz="1200">
                <a:solidFill>
                  <a:srgbClr val="C7DAEC"/>
                </a:solidFill>
                <a:latin typeface="Segoe UI" pitchFamily="34" charset="0"/>
                <a:ea typeface="Segoe UI" pitchFamily="34" charset="-122"/>
                <a:cs typeface="Segoe UI" pitchFamily="34" charset="-120"/>
              </a:rPr>
              <a:t>Scaling and availability, routing traffic in, seeing what the cluster sees, and shipping changes safely.</a:t>
            </a:r>
            <a:endParaRPr lang="en-US" sz="1200"/>
          </a:p>
        </p:txBody>
      </p:sp>
      <p:sp>
        <p:nvSpPr>
          <p:cNvPr id="9" name="Text 6"/>
          <p:cNvSpPr/>
          <p:nvPr/>
        </p:nvSpPr>
        <p:spPr>
          <a:xfrm>
            <a:off x="640080" y="4160520"/>
            <a:ext cx="2743200" cy="274320"/>
          </a:xfrm>
          <a:prstGeom prst="rect">
            <a:avLst/>
          </a:prstGeom>
          <a:noFill/>
          <a:ln/>
        </p:spPr>
        <p:txBody>
          <a:bodyPr wrap="square" lIns="0" tIns="0" rIns="0" bIns="0" rtlCol="0" anchor="ctr"/>
          <a:lstStyle/>
          <a:p>
            <a:pPr marL="0" indent="0">
              <a:buNone/>
            </a:pPr>
            <a:r>
              <a:rPr lang="en-US" sz="1100" b="1">
                <a:solidFill>
                  <a:srgbClr val="17A9DB"/>
                </a:solidFill>
                <a:latin typeface="Segoe UI" pitchFamily="34" charset="0"/>
                <a:ea typeface="Segoe UI" pitchFamily="34" charset="-122"/>
                <a:cs typeface="Segoe UI" pitchFamily="34" charset="-120"/>
              </a:rPr>
              <a:t>Modules 9 – 12</a:t>
            </a:r>
            <a:endParaRPr lang="en-US" sz="11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9 · CONTAINER READINESS AND DEPLOYMENT DECISIONS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Horizontal Pod Autoscaler</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975">
                <a:solidFill>
                  <a:srgbClr val="44566B"/>
                </a:solidFill>
                <a:latin typeface="Segoe UI" pitchFamily="34" charset="0"/>
                <a:ea typeface="Segoe UI" pitchFamily="34" charset="-122"/>
                <a:cs typeface="Segoe UI" pitchFamily="34" charset="-120"/>
              </a:rPr>
              <a:t>The HPA adds and removes Pod replicas automatically to keep a chosen metric near its target.</a:t>
            </a:r>
            <a:endParaRPr lang="en-US" sz="975"/>
          </a:p>
        </p:txBody>
      </p:sp>
      <p:sp>
        <p:nvSpPr>
          <p:cNvPr id="7" name="Text 5"/>
          <p:cNvSpPr/>
          <p:nvPr/>
        </p:nvSpPr>
        <p:spPr>
          <a:xfrm>
            <a:off x="502920" y="1481328"/>
            <a:ext cx="4023360" cy="2194560"/>
          </a:xfrm>
          <a:prstGeom prst="rect">
            <a:avLst/>
          </a:prstGeom>
          <a:noFill/>
          <a:ln/>
        </p:spPr>
        <p:txBody>
          <a:bodyPr wrap="square" lIns="0" tIns="0" rIns="0" bIns="0" rtlCol="0" anchor="t"/>
          <a:lstStyle/>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It watches a metric — usually average CPU or memory utilisation — and compares it with your target</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Above the target it scales out towards maxReplicas; below it, it scales in towards minReplicas</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It needs resource requests on the container, because utilisation is measured against the request</a:t>
            </a:r>
            <a:endParaRPr lang="en-US" sz="1150"/>
          </a:p>
          <a:p>
            <a:pPr marL="342900" indent="-342900">
              <a:spcAft>
                <a:spcPts val="1100"/>
              </a:spcAft>
              <a:buSzPct val="100000"/>
              <a:buChar char="•"/>
            </a:pPr>
            <a:r>
              <a:rPr lang="en-US" sz="1150">
                <a:solidFill>
                  <a:srgbClr val="44566B"/>
                </a:solidFill>
                <a:latin typeface="Segoe UI" pitchFamily="34" charset="0"/>
                <a:ea typeface="Segoe UI" pitchFamily="34" charset="-122"/>
                <a:cs typeface="Segoe UI" pitchFamily="34" charset="-120"/>
              </a:rPr>
              <a:t>Scaling out only helps stateless workloads that can run as many identical copies</a:t>
            </a:r>
            <a:endParaRPr lang="en-US" sz="1150"/>
          </a:p>
        </p:txBody>
      </p:sp>
      <p:sp>
        <p:nvSpPr>
          <p:cNvPr id="8" name="pod frame">
            <a:extLst>
              <a:ext uri="{C183D7F6-B498-43B3-948B-1728B52AA6E4}">
                <adec:decorative xmlns:adec="http://schemas.microsoft.com/office/drawing/2017/decorative" val="1"/>
              </a:ext>
            </a:extLst>
          </p:cNvPr>
          <p:cNvSpPr/>
          <p:nvPr/>
        </p:nvSpPr>
        <p:spPr>
          <a:xfrm>
            <a:off x="502920" y="3657600"/>
            <a:ext cx="4023360" cy="960120"/>
          </a:xfrm>
          <a:prstGeom prst="rect">
            <a:avLst/>
          </a:prstGeom>
          <a:solidFill>
            <a:srgbClr val="EDF4FC"/>
          </a:solidFill>
          <a:ln w="12700">
            <a:solidFill>
              <a:srgbClr val="17A9DB"/>
            </a:solidFill>
            <a:prstDash val="solid"/>
          </a:ln>
        </p:spPr>
        <p:txBody>
          <a:bodyPr/>
          <a:lstStyle/>
          <a:p>
            <a:endParaRPr lang="en-IN"/>
          </a:p>
        </p:txBody>
      </p:sp>
      <p:sp>
        <p:nvSpPr>
          <p:cNvPr id="9" name="Text 7"/>
          <p:cNvSpPr/>
          <p:nvPr/>
        </p:nvSpPr>
        <p:spPr>
          <a:xfrm>
            <a:off x="630936" y="3712464"/>
            <a:ext cx="2011680" cy="219456"/>
          </a:xfrm>
          <a:prstGeom prst="rect">
            <a:avLst/>
          </a:prstGeom>
          <a:noFill/>
          <a:ln/>
        </p:spPr>
        <p:txBody>
          <a:bodyPr wrap="square" lIns="0" tIns="0" rIns="0" bIns="0" rtlCol="0" anchor="ctr"/>
          <a:lstStyle/>
          <a:p>
            <a:pPr marL="0" indent="0">
              <a:buNone/>
            </a:pPr>
            <a:r>
              <a:rPr lang="en-US" sz="950" b="1">
                <a:solidFill>
                  <a:srgbClr val="0A2E4E"/>
                </a:solidFill>
                <a:latin typeface="Segoe UI" pitchFamily="34" charset="0"/>
                <a:ea typeface="Segoe UI" pitchFamily="34" charset="-122"/>
                <a:cs typeface="Segoe UI" pitchFamily="34" charset="-120"/>
              </a:rPr>
              <a:t>HPA — target 70% average CPU</a:t>
            </a:r>
            <a:endParaRPr lang="en-US" sz="950"/>
          </a:p>
        </p:txBody>
      </p:sp>
      <p:sp>
        <p:nvSpPr>
          <p:cNvPr id="10" name="container box">
            <a:extLst>
              <a:ext uri="{C183D7F6-B498-43B3-948B-1728B52AA6E4}">
                <adec:decorative xmlns:adec="http://schemas.microsoft.com/office/drawing/2017/decorative" val="1"/>
              </a:ext>
            </a:extLst>
          </p:cNvPr>
          <p:cNvSpPr/>
          <p:nvPr/>
        </p:nvSpPr>
        <p:spPr>
          <a:xfrm>
            <a:off x="64922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1" name="Text 9"/>
          <p:cNvSpPr/>
          <p:nvPr/>
        </p:nvSpPr>
        <p:spPr>
          <a:xfrm>
            <a:off x="704088" y="4005072"/>
            <a:ext cx="1719072" cy="219456"/>
          </a:xfrm>
          <a:prstGeom prst="rect">
            <a:avLst/>
          </a:prstGeom>
          <a:noFill/>
          <a:ln/>
        </p:spPr>
        <p:txBody>
          <a:bodyPr wrap="square" lIns="0" tIns="0" rIns="0" bIns="0" rtlCol="0" anchor="ctr"/>
          <a:lstStyle/>
          <a:p>
            <a:pPr marL="0" indent="0" algn="ctr">
              <a:buNone/>
            </a:pPr>
            <a:r>
              <a:rPr lang="en-US" sz="950" b="1">
                <a:solidFill>
                  <a:srgbClr val="0E2233"/>
                </a:solidFill>
                <a:latin typeface="Segoe UI" pitchFamily="34" charset="0"/>
                <a:ea typeface="Segoe UI" pitchFamily="34" charset="-122"/>
                <a:cs typeface="Segoe UI" pitchFamily="34" charset="-120"/>
              </a:rPr>
              <a:t>load rises</a:t>
            </a:r>
            <a:endParaRPr lang="en-US" sz="950"/>
          </a:p>
        </p:txBody>
      </p:sp>
      <p:sp>
        <p:nvSpPr>
          <p:cNvPr id="12" name="Text 10"/>
          <p:cNvSpPr/>
          <p:nvPr/>
        </p:nvSpPr>
        <p:spPr>
          <a:xfrm>
            <a:off x="704088" y="4224528"/>
            <a:ext cx="1719072" cy="219456"/>
          </a:xfrm>
          <a:prstGeom prst="rect">
            <a:avLst/>
          </a:prstGeom>
          <a:noFill/>
          <a:ln/>
        </p:spPr>
        <p:txBody>
          <a:bodyPr wrap="square" lIns="0" tIns="0" rIns="0" bIns="0" rtlCol="0" anchor="ctr"/>
          <a:lstStyle/>
          <a:p>
            <a:pPr marL="0" indent="0" algn="ctr">
              <a:buNone/>
            </a:pPr>
            <a:r>
              <a:rPr lang="en-US" sz="850">
                <a:solidFill>
                  <a:srgbClr val="7C8FA3"/>
                </a:solidFill>
                <a:latin typeface="Segoe UI" pitchFamily="34" charset="0"/>
                <a:ea typeface="Segoe UI" pitchFamily="34" charset="-122"/>
                <a:cs typeface="Segoe UI" pitchFamily="34" charset="-120"/>
              </a:rPr>
              <a:t>3 replicas -&gt; 6</a:t>
            </a:r>
            <a:endParaRPr lang="en-US" sz="850"/>
          </a:p>
        </p:txBody>
      </p:sp>
      <p:sp>
        <p:nvSpPr>
          <p:cNvPr id="13" name="container box">
            <a:extLst>
              <a:ext uri="{C183D7F6-B498-43B3-948B-1728B52AA6E4}">
                <adec:decorative xmlns:adec="http://schemas.microsoft.com/office/drawing/2017/decorative" val="1"/>
              </a:ext>
            </a:extLst>
          </p:cNvPr>
          <p:cNvSpPr/>
          <p:nvPr/>
        </p:nvSpPr>
        <p:spPr>
          <a:xfrm>
            <a:off x="2569464" y="3968496"/>
            <a:ext cx="1828800" cy="530352"/>
          </a:xfrm>
          <a:prstGeom prst="rect">
            <a:avLst/>
          </a:prstGeom>
          <a:solidFill>
            <a:srgbClr val="FFFFFF"/>
          </a:solidFill>
          <a:ln w="9525">
            <a:solidFill>
              <a:srgbClr val="0B63CE"/>
            </a:solidFill>
            <a:prstDash val="solid"/>
          </a:ln>
        </p:spPr>
        <p:txBody>
          <a:bodyPr/>
          <a:lstStyle/>
          <a:p>
            <a:endParaRPr lang="en-IN"/>
          </a:p>
        </p:txBody>
      </p:sp>
      <p:sp>
        <p:nvSpPr>
          <p:cNvPr id="14" name="Text 12"/>
          <p:cNvSpPr/>
          <p:nvPr/>
        </p:nvSpPr>
        <p:spPr>
          <a:xfrm>
            <a:off x="2624328" y="4005072"/>
            <a:ext cx="1719072" cy="219456"/>
          </a:xfrm>
          <a:prstGeom prst="rect">
            <a:avLst/>
          </a:prstGeom>
          <a:noFill/>
          <a:ln/>
        </p:spPr>
        <p:txBody>
          <a:bodyPr wrap="square" lIns="0" tIns="0" rIns="0" bIns="0" rtlCol="0" anchor="ctr"/>
          <a:lstStyle/>
          <a:p>
            <a:pPr marL="0" indent="0" algn="ctr">
              <a:buNone/>
            </a:pPr>
            <a:r>
              <a:rPr lang="en-US" sz="950" b="1">
                <a:solidFill>
                  <a:srgbClr val="0E2233"/>
                </a:solidFill>
                <a:latin typeface="Segoe UI" pitchFamily="34" charset="0"/>
                <a:ea typeface="Segoe UI" pitchFamily="34" charset="-122"/>
                <a:cs typeface="Segoe UI" pitchFamily="34" charset="-120"/>
              </a:rPr>
              <a:t>load falls</a:t>
            </a:r>
            <a:endParaRPr lang="en-US" sz="950"/>
          </a:p>
        </p:txBody>
      </p:sp>
      <p:sp>
        <p:nvSpPr>
          <p:cNvPr id="15" name="Text 13"/>
          <p:cNvSpPr/>
          <p:nvPr/>
        </p:nvSpPr>
        <p:spPr>
          <a:xfrm>
            <a:off x="2624328" y="4224528"/>
            <a:ext cx="1719072" cy="219456"/>
          </a:xfrm>
          <a:prstGeom prst="rect">
            <a:avLst/>
          </a:prstGeom>
          <a:noFill/>
          <a:ln/>
        </p:spPr>
        <p:txBody>
          <a:bodyPr wrap="square" lIns="0" tIns="0" rIns="0" bIns="0" rtlCol="0" anchor="ctr"/>
          <a:lstStyle/>
          <a:p>
            <a:pPr marL="0" indent="0" algn="ctr">
              <a:buNone/>
            </a:pPr>
            <a:r>
              <a:rPr lang="en-US" sz="720">
                <a:solidFill>
                  <a:srgbClr val="7C8FA3"/>
                </a:solidFill>
                <a:latin typeface="Segoe UI" pitchFamily="34" charset="0"/>
                <a:ea typeface="Segoe UI" pitchFamily="34" charset="-122"/>
                <a:cs typeface="Segoe UI" pitchFamily="34" charset="-120"/>
              </a:rPr>
              <a:t>6 replicas -&gt; 3 after cool-down</a:t>
            </a:r>
            <a:endParaRPr lang="en-US" sz="850"/>
          </a:p>
        </p:txBody>
      </p:sp>
      <p:sp>
        <p:nvSpPr>
          <p:cNvPr id="16" name="code panel">
            <a:extLst>
              <a:ext uri="{C183D7F6-B498-43B3-948B-1728B52AA6E4}">
                <adec:decorative xmlns:adec="http://schemas.microsoft.com/office/drawing/2017/decorative" val="1"/>
              </a:ext>
            </a:extLst>
          </p:cNvPr>
          <p:cNvSpPr/>
          <p:nvPr/>
        </p:nvSpPr>
        <p:spPr>
          <a:xfrm>
            <a:off x="4754880" y="1481328"/>
            <a:ext cx="388620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17" name="code panel header">
            <a:extLst>
              <a:ext uri="{C183D7F6-B498-43B3-948B-1728B52AA6E4}">
                <adec:decorative xmlns:adec="http://schemas.microsoft.com/office/drawing/2017/decorative" val="1"/>
              </a:ext>
            </a:extLst>
          </p:cNvPr>
          <p:cNvSpPr/>
          <p:nvPr/>
        </p:nvSpPr>
        <p:spPr>
          <a:xfrm>
            <a:off x="4754880" y="1481328"/>
            <a:ext cx="3886200" cy="256032"/>
          </a:xfrm>
          <a:prstGeom prst="rect">
            <a:avLst/>
          </a:prstGeom>
          <a:solidFill>
            <a:srgbClr val="0F3D66"/>
          </a:solidFill>
          <a:ln w="12700">
            <a:solidFill>
              <a:srgbClr val="333333"/>
            </a:solidFill>
            <a:prstDash val="solid"/>
          </a:ln>
        </p:spPr>
        <p:txBody>
          <a:bodyPr/>
          <a:lstStyle/>
          <a:p>
            <a:endParaRPr lang="en-IN"/>
          </a:p>
        </p:txBody>
      </p:sp>
      <p:sp>
        <p:nvSpPr>
          <p:cNvPr id="18" name="Text 16"/>
          <p:cNvSpPr/>
          <p:nvPr/>
        </p:nvSpPr>
        <p:spPr>
          <a:xfrm>
            <a:off x="4901184" y="1481328"/>
            <a:ext cx="359359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hpa.yaml</a:t>
            </a:r>
            <a:endParaRPr lang="en-US" sz="850"/>
          </a:p>
        </p:txBody>
      </p:sp>
      <p:sp>
        <p:nvSpPr>
          <p:cNvPr id="19" name="Text 17"/>
          <p:cNvSpPr/>
          <p:nvPr/>
        </p:nvSpPr>
        <p:spPr>
          <a:xfrm>
            <a:off x="4901184" y="1810512"/>
            <a:ext cx="3593592" cy="2121408"/>
          </a:xfrm>
          <a:prstGeom prst="rect">
            <a:avLst/>
          </a:prstGeom>
          <a:noFill/>
          <a:ln/>
        </p:spPr>
        <p:txBody>
          <a:bodyPr wrap="square" lIns="0" tIns="0" rIns="0" bIns="0" rtlCol="0" anchor="t"/>
          <a:lstStyle/>
          <a:p>
            <a:pPr marL="0" indent="0">
              <a:lnSpc>
                <a:spcPct val="112000"/>
              </a:lnSpc>
              <a:buNone/>
            </a:pPr>
            <a:r>
              <a:rPr lang="en-US" sz="740">
                <a:solidFill>
                  <a:srgbClr val="D7ECF8"/>
                </a:solidFill>
                <a:latin typeface="Consolas" pitchFamily="34" charset="0"/>
                <a:ea typeface="Consolas" pitchFamily="34" charset="-122"/>
                <a:cs typeface="Consolas" pitchFamily="34" charset="-120"/>
              </a:rPr>
              <a:t>apiVersion: autoscaling/v2</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kind: HorizontalPodAutoscaler</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metadata:</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name: payments-api</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spec:</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scaleTargetRef:</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kind: Deployment</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name: payments-api</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minReplicas: 3</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maxReplicas: 10</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metrics:</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 type: Resource</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resource:</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name: cpu</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target:</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type: Utilization</a:t>
            </a:r>
            <a:endParaRPr lang="en-US" sz="740"/>
          </a:p>
          <a:p>
            <a:pPr marL="0" indent="0">
              <a:lnSpc>
                <a:spcPct val="112000"/>
              </a:lnSpc>
              <a:buNone/>
            </a:pPr>
            <a:r>
              <a:rPr lang="en-US" sz="740">
                <a:solidFill>
                  <a:srgbClr val="D7ECF8"/>
                </a:solidFill>
                <a:latin typeface="Consolas" pitchFamily="34" charset="0"/>
                <a:ea typeface="Consolas" pitchFamily="34" charset="-122"/>
                <a:cs typeface="Consolas" pitchFamily="34" charset="-120"/>
              </a:rPr>
              <a:t>        averageUtilization: 70</a:t>
            </a:r>
            <a:endParaRPr lang="en-US" sz="74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9 · CONTAINER READINESS AND DEPLOYMENT DECISIONS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Manual scaling</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Setting the replica count yourself is still the right answer more often than people expect.</a:t>
            </a:r>
            <a:endParaRPr lang="en-US" sz="1150"/>
          </a:p>
        </p:txBody>
      </p:sp>
      <p:sp>
        <p:nvSpPr>
          <p:cNvPr id="7" name="code panel">
            <a:extLst>
              <a:ext uri="{C183D7F6-B498-43B3-948B-1728B52AA6E4}">
                <adec:decorative xmlns:adec="http://schemas.microsoft.com/office/drawing/2017/decorative" val="1"/>
              </a:ext>
            </a:extLst>
          </p:cNvPr>
          <p:cNvSpPr/>
          <p:nvPr/>
        </p:nvSpPr>
        <p:spPr>
          <a:xfrm>
            <a:off x="502920" y="1481328"/>
            <a:ext cx="484632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84632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455371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scaling commands</a:t>
            </a:r>
            <a:endParaRPr lang="en-US" sz="850"/>
          </a:p>
        </p:txBody>
      </p:sp>
      <p:sp>
        <p:nvSpPr>
          <p:cNvPr id="10" name="Text 8"/>
          <p:cNvSpPr/>
          <p:nvPr/>
        </p:nvSpPr>
        <p:spPr>
          <a:xfrm>
            <a:off x="649224" y="1810512"/>
            <a:ext cx="4553712" cy="2121408"/>
          </a:xfrm>
          <a:prstGeom prst="rect">
            <a:avLst/>
          </a:prstGeom>
          <a:noFill/>
          <a:ln/>
        </p:spPr>
        <p:txBody>
          <a:bodyPr wrap="square" lIns="0" tIns="0" rIns="0" bIns="0" rtlCol="0" anchor="t"/>
          <a:lstStyle/>
          <a:p>
            <a:pPr marL="0" indent="0">
              <a:lnSpc>
                <a:spcPct val="112000"/>
              </a:lnSpc>
              <a:buNone/>
            </a:pPr>
            <a:r>
              <a:rPr lang="en-US" sz="731">
                <a:solidFill>
                  <a:srgbClr val="D7ECF8"/>
                </a:solidFill>
                <a:latin typeface="Consolas" pitchFamily="34" charset="0"/>
                <a:ea typeface="Consolas" pitchFamily="34" charset="-122"/>
                <a:cs typeface="Consolas" pitchFamily="34" charset="-120"/>
              </a:rPr>
              <a:t># scale a Deployment directly</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kubectl scale deploy payments-api --replicas=5</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or change replicas in the manifest</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spec:</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replicas: 5</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scale the node pool</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az aks nodepool scale -g rg -n userpool \</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--cluster-name aks-prod --node-count 6</a:t>
            </a:r>
            <a:endParaRPr lang="en-US" sz="731"/>
          </a:p>
        </p:txBody>
      </p:sp>
      <p:sp>
        <p:nvSpPr>
          <p:cNvPr id="11" name="card">
            <a:extLst>
              <a:ext uri="{C183D7F6-B498-43B3-948B-1728B52AA6E4}">
                <adec:decorative xmlns:adec="http://schemas.microsoft.com/office/drawing/2017/decorative" val="1"/>
              </a:ext>
            </a:extLst>
          </p:cNvPr>
          <p:cNvSpPr/>
          <p:nvPr/>
        </p:nvSpPr>
        <p:spPr>
          <a:xfrm>
            <a:off x="5577840" y="1481328"/>
            <a:ext cx="3063240" cy="76809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5577840" y="1481328"/>
            <a:ext cx="3063240" cy="41148"/>
          </a:xfrm>
          <a:prstGeom prst="rect">
            <a:avLst/>
          </a:prstGeom>
          <a:solidFill>
            <a:srgbClr val="2E9E6B"/>
          </a:solidFill>
          <a:ln w="12700">
            <a:solidFill>
              <a:srgbClr val="333333"/>
            </a:solidFill>
            <a:prstDash val="solid"/>
          </a:ln>
        </p:spPr>
        <p:txBody>
          <a:bodyPr/>
          <a:lstStyle/>
          <a:p>
            <a:endParaRPr lang="en-IN"/>
          </a:p>
        </p:txBody>
      </p:sp>
      <p:sp>
        <p:nvSpPr>
          <p:cNvPr id="13" name="Text 11"/>
          <p:cNvSpPr/>
          <p:nvPr/>
        </p:nvSpPr>
        <p:spPr>
          <a:xfrm>
            <a:off x="5779008" y="1591056"/>
            <a:ext cx="2660904" cy="23774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Good fit</a:t>
            </a:r>
            <a:endParaRPr lang="en-US" sz="1200"/>
          </a:p>
        </p:txBody>
      </p:sp>
      <p:sp>
        <p:nvSpPr>
          <p:cNvPr id="14" name="Text 12"/>
          <p:cNvSpPr/>
          <p:nvPr/>
        </p:nvSpPr>
        <p:spPr>
          <a:xfrm>
            <a:off x="5779008" y="1892808"/>
            <a:ext cx="2660904" cy="265176"/>
          </a:xfrm>
          <a:prstGeom prst="rect">
            <a:avLst/>
          </a:prstGeom>
          <a:noFill/>
          <a:ln/>
        </p:spPr>
        <p:txBody>
          <a:bodyPr wrap="square" lIns="0" tIns="0" rIns="0" bIns="0" rtlCol="0" anchor="t"/>
          <a:lstStyle/>
          <a:p>
            <a:pPr marL="0" indent="0">
              <a:lnSpc>
                <a:spcPct val="115000"/>
              </a:lnSpc>
              <a:buNone/>
            </a:pPr>
            <a:r>
              <a:rPr lang="en-US" sz="620">
                <a:solidFill>
                  <a:srgbClr val="44566B"/>
                </a:solidFill>
                <a:latin typeface="Segoe UI" pitchFamily="34" charset="0"/>
                <a:ea typeface="Segoe UI" pitchFamily="34" charset="-122"/>
                <a:cs typeface="Segoe UI" pitchFamily="34" charset="-120"/>
              </a:rPr>
              <a:t>Predictable, known load. Planned events such as a month-end batch or a campaign. Environments where a fixed cost is easier to approve than a variable one. Also the fastest lever during an incident.</a:t>
            </a:r>
            <a:endParaRPr lang="en-US" sz="620"/>
          </a:p>
        </p:txBody>
      </p:sp>
      <p:sp>
        <p:nvSpPr>
          <p:cNvPr id="15" name="card">
            <a:extLst>
              <a:ext uri="{C183D7F6-B498-43B3-948B-1728B52AA6E4}">
                <adec:decorative xmlns:adec="http://schemas.microsoft.com/office/drawing/2017/decorative" val="1"/>
              </a:ext>
            </a:extLst>
          </p:cNvPr>
          <p:cNvSpPr/>
          <p:nvPr/>
        </p:nvSpPr>
        <p:spPr>
          <a:xfrm>
            <a:off x="5577840" y="2395728"/>
            <a:ext cx="3063240" cy="768096"/>
          </a:xfrm>
          <a:prstGeom prst="rect">
            <a:avLst/>
          </a:prstGeom>
          <a:solidFill>
            <a:srgbClr val="F6F9FD"/>
          </a:solidFill>
          <a:ln w="9525">
            <a:solidFill>
              <a:srgbClr val="D8E5F2"/>
            </a:solidFill>
            <a:prstDash val="solid"/>
          </a:ln>
        </p:spPr>
        <p:txBody>
          <a:bodyPr/>
          <a:lstStyle/>
          <a:p>
            <a:endParaRPr lang="en-IN"/>
          </a:p>
        </p:txBody>
      </p:sp>
      <p:sp>
        <p:nvSpPr>
          <p:cNvPr id="16" name="card accent">
            <a:extLst>
              <a:ext uri="{C183D7F6-B498-43B3-948B-1728B52AA6E4}">
                <adec:decorative xmlns:adec="http://schemas.microsoft.com/office/drawing/2017/decorative" val="1"/>
              </a:ext>
            </a:extLst>
          </p:cNvPr>
          <p:cNvSpPr/>
          <p:nvPr/>
        </p:nvSpPr>
        <p:spPr>
          <a:xfrm>
            <a:off x="5577840" y="2395728"/>
            <a:ext cx="3063240" cy="41148"/>
          </a:xfrm>
          <a:prstGeom prst="rect">
            <a:avLst/>
          </a:prstGeom>
          <a:solidFill>
            <a:srgbClr val="F2A93B"/>
          </a:solidFill>
          <a:ln w="12700">
            <a:solidFill>
              <a:srgbClr val="333333"/>
            </a:solidFill>
            <a:prstDash val="solid"/>
          </a:ln>
        </p:spPr>
        <p:txBody>
          <a:bodyPr/>
          <a:lstStyle/>
          <a:p>
            <a:endParaRPr lang="en-IN"/>
          </a:p>
        </p:txBody>
      </p:sp>
      <p:sp>
        <p:nvSpPr>
          <p:cNvPr id="17" name="Text 15"/>
          <p:cNvSpPr/>
          <p:nvPr/>
        </p:nvSpPr>
        <p:spPr>
          <a:xfrm>
            <a:off x="5779008" y="2505456"/>
            <a:ext cx="2660904" cy="23774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Poor fit</a:t>
            </a:r>
            <a:endParaRPr lang="en-US" sz="1200"/>
          </a:p>
        </p:txBody>
      </p:sp>
      <p:sp>
        <p:nvSpPr>
          <p:cNvPr id="18" name="Text 16"/>
          <p:cNvSpPr/>
          <p:nvPr/>
        </p:nvSpPr>
        <p:spPr>
          <a:xfrm>
            <a:off x="5779008" y="2807208"/>
            <a:ext cx="2660904" cy="265176"/>
          </a:xfrm>
          <a:prstGeom prst="rect">
            <a:avLst/>
          </a:prstGeom>
          <a:noFill/>
          <a:ln/>
        </p:spPr>
        <p:txBody>
          <a:bodyPr wrap="square" lIns="0" tIns="0" rIns="0" bIns="0" rtlCol="0" anchor="t"/>
          <a:lstStyle/>
          <a:p>
            <a:pPr marL="0" indent="0">
              <a:lnSpc>
                <a:spcPct val="115000"/>
              </a:lnSpc>
              <a:buNone/>
            </a:pPr>
            <a:r>
              <a:rPr lang="en-US" sz="620">
                <a:solidFill>
                  <a:srgbClr val="44566B"/>
                </a:solidFill>
                <a:latin typeface="Segoe UI" pitchFamily="34" charset="0"/>
                <a:ea typeface="Segoe UI" pitchFamily="34" charset="-122"/>
                <a:cs typeface="Segoe UI" pitchFamily="34" charset="-120"/>
              </a:rPr>
              <a:t>Spiky or unpredictable traffic, where a human is always too late. Manual counts also drift: someone scales up for an incident and nobody scales back down, and the cost stays.</a:t>
            </a:r>
            <a:endParaRPr lang="en-US" sz="620"/>
          </a:p>
        </p:txBody>
      </p:sp>
      <p:sp>
        <p:nvSpPr>
          <p:cNvPr id="19" name="card">
            <a:extLst>
              <a:ext uri="{C183D7F6-B498-43B3-948B-1728B52AA6E4}">
                <adec:decorative xmlns:adec="http://schemas.microsoft.com/office/drawing/2017/decorative" val="1"/>
              </a:ext>
            </a:extLst>
          </p:cNvPr>
          <p:cNvSpPr/>
          <p:nvPr/>
        </p:nvSpPr>
        <p:spPr>
          <a:xfrm>
            <a:off x="5577840" y="3310128"/>
            <a:ext cx="3063240" cy="768096"/>
          </a:xfrm>
          <a:prstGeom prst="rect">
            <a:avLst/>
          </a:prstGeom>
          <a:solidFill>
            <a:srgbClr val="F6F9FD"/>
          </a:solidFill>
          <a:ln w="9525">
            <a:solidFill>
              <a:srgbClr val="D8E5F2"/>
            </a:solidFill>
            <a:prstDash val="solid"/>
          </a:ln>
        </p:spPr>
        <p:txBody>
          <a:bodyPr/>
          <a:lstStyle/>
          <a:p>
            <a:endParaRPr lang="en-IN"/>
          </a:p>
        </p:txBody>
      </p:sp>
      <p:sp>
        <p:nvSpPr>
          <p:cNvPr id="20" name="card accent">
            <a:extLst>
              <a:ext uri="{C183D7F6-B498-43B3-948B-1728B52AA6E4}">
                <adec:decorative xmlns:adec="http://schemas.microsoft.com/office/drawing/2017/decorative" val="1"/>
              </a:ext>
            </a:extLst>
          </p:cNvPr>
          <p:cNvSpPr/>
          <p:nvPr/>
        </p:nvSpPr>
        <p:spPr>
          <a:xfrm>
            <a:off x="5577840" y="3310128"/>
            <a:ext cx="3063240" cy="41148"/>
          </a:xfrm>
          <a:prstGeom prst="rect">
            <a:avLst/>
          </a:prstGeom>
          <a:solidFill>
            <a:srgbClr val="D0483C"/>
          </a:solidFill>
          <a:ln w="12700">
            <a:solidFill>
              <a:srgbClr val="333333"/>
            </a:solidFill>
            <a:prstDash val="solid"/>
          </a:ln>
        </p:spPr>
        <p:txBody>
          <a:bodyPr/>
          <a:lstStyle/>
          <a:p>
            <a:endParaRPr lang="en-IN"/>
          </a:p>
        </p:txBody>
      </p:sp>
      <p:sp>
        <p:nvSpPr>
          <p:cNvPr id="21" name="Text 19"/>
          <p:cNvSpPr/>
          <p:nvPr/>
        </p:nvSpPr>
        <p:spPr>
          <a:xfrm>
            <a:off x="5779008" y="3419856"/>
            <a:ext cx="2660904" cy="23774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Together</a:t>
            </a:r>
            <a:endParaRPr lang="en-US" sz="1200"/>
          </a:p>
        </p:txBody>
      </p:sp>
      <p:sp>
        <p:nvSpPr>
          <p:cNvPr id="22" name="Text 20"/>
          <p:cNvSpPr/>
          <p:nvPr/>
        </p:nvSpPr>
        <p:spPr>
          <a:xfrm>
            <a:off x="5779008" y="3721608"/>
            <a:ext cx="2660904" cy="265176"/>
          </a:xfrm>
          <a:prstGeom prst="rect">
            <a:avLst/>
          </a:prstGeom>
          <a:noFill/>
          <a:ln/>
        </p:spPr>
        <p:txBody>
          <a:bodyPr wrap="square" lIns="0" tIns="0" rIns="0" bIns="0" rtlCol="0" anchor="t"/>
          <a:lstStyle/>
          <a:p>
            <a:pPr marL="0" indent="0">
              <a:lnSpc>
                <a:spcPct val="115000"/>
              </a:lnSpc>
              <a:buNone/>
            </a:pPr>
            <a:r>
              <a:rPr lang="en-US" sz="700">
                <a:solidFill>
                  <a:srgbClr val="44566B"/>
                </a:solidFill>
                <a:latin typeface="Segoe UI" pitchFamily="34" charset="0"/>
                <a:ea typeface="Segoe UI" pitchFamily="34" charset="-122"/>
                <a:cs typeface="Segoe UI" pitchFamily="34" charset="-120"/>
              </a:rPr>
              <a:t>Manual and automatic are not exclusive — set a sensible replica count in the manifest, then let an HPA move it between your minimum and maximum.</a:t>
            </a:r>
            <a:endParaRPr lang="en-US" sz="7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9 · CONTAINER READINESS AND DEPLOYMENT DECISIONS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High availability concepts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a:solidFill>
                  <a:srgbClr val="44566B"/>
                </a:solidFill>
                <a:latin typeface="Segoe UI" pitchFamily="34" charset="0"/>
                <a:ea typeface="Segoe UI" pitchFamily="34" charset="-122"/>
                <a:cs typeface="Segoe UI" pitchFamily="34" charset="-120"/>
              </a:rPr>
              <a:t>Availability is designed in layers — inside the Pod, across the nodes, and across the region.</a:t>
            </a:r>
            <a:endParaRPr lang="en-US" sz="1125"/>
          </a:p>
        </p:txBody>
      </p:sp>
      <p:sp>
        <p:nvSpPr>
          <p:cNvPr id="7" name="card">
            <a:extLst>
              <a:ext uri="{C183D7F6-B498-43B3-948B-1728B52AA6E4}">
                <adec:decorative xmlns:adec="http://schemas.microsoft.com/office/drawing/2017/decorative" val="1"/>
              </a:ext>
            </a:extLst>
          </p:cNvPr>
          <p:cNvSpPr/>
          <p:nvPr/>
        </p:nvSpPr>
        <p:spPr>
          <a:xfrm>
            <a:off x="502920"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2578608" cy="41148"/>
          </a:xfrm>
          <a:prstGeom prst="rect">
            <a:avLst/>
          </a:prstGeom>
          <a:solidFill>
            <a:srgbClr val="D0483C"/>
          </a:solidFill>
          <a:ln w="12700">
            <a:solidFill>
              <a:srgbClr val="333333"/>
            </a:solidFill>
            <a:prstDash val="solid"/>
          </a:ln>
        </p:spPr>
        <p:txBody>
          <a:bodyPr/>
          <a:lstStyle/>
          <a:p>
            <a:endParaRPr lang="en-IN"/>
          </a:p>
        </p:txBody>
      </p:sp>
      <p:sp>
        <p:nvSpPr>
          <p:cNvPr id="9" name="Text 7"/>
          <p:cNvSpPr/>
          <p:nvPr/>
        </p:nvSpPr>
        <p:spPr>
          <a:xfrm>
            <a:off x="704088" y="1664208"/>
            <a:ext cx="2176272" cy="228600"/>
          </a:xfrm>
          <a:prstGeom prst="rect">
            <a:avLst/>
          </a:prstGeom>
          <a:noFill/>
          <a:ln/>
        </p:spPr>
        <p:txBody>
          <a:bodyPr wrap="square" lIns="0" tIns="0" rIns="0" bIns="0" rtlCol="0" anchor="ctr"/>
          <a:lstStyle/>
          <a:p>
            <a:pPr marL="0" indent="0">
              <a:buNone/>
            </a:pPr>
            <a:r>
              <a:rPr lang="en-US" sz="900" b="1" kern="0" spc="120">
                <a:solidFill>
                  <a:srgbClr val="D0483C"/>
                </a:solidFill>
                <a:latin typeface="Segoe UI" pitchFamily="34" charset="0"/>
                <a:ea typeface="Segoe UI" pitchFamily="34" charset="-122"/>
                <a:cs typeface="Segoe UI" pitchFamily="34" charset="-120"/>
              </a:rPr>
              <a:t>POD LEVEL</a:t>
            </a:r>
            <a:endParaRPr lang="en-US" sz="900"/>
          </a:p>
        </p:txBody>
      </p:sp>
      <p:sp>
        <p:nvSpPr>
          <p:cNvPr id="10" name="Text 8"/>
          <p:cNvSpPr/>
          <p:nvPr/>
        </p:nvSpPr>
        <p:spPr>
          <a:xfrm>
            <a:off x="704088" y="1920240"/>
            <a:ext cx="2176272" cy="2453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Replicas</a:t>
            </a:r>
            <a:endParaRPr lang="en-US" sz="1250"/>
          </a:p>
        </p:txBody>
      </p:sp>
      <p:sp>
        <p:nvSpPr>
          <p:cNvPr id="11" name="Text 9"/>
          <p:cNvSpPr/>
          <p:nvPr/>
        </p:nvSpPr>
        <p:spPr>
          <a:xfrm>
            <a:off x="704088" y="2229612"/>
            <a:ext cx="2176272" cy="275844"/>
          </a:xfrm>
          <a:prstGeom prst="rect">
            <a:avLst/>
          </a:prstGeom>
          <a:noFill/>
          <a:ln/>
        </p:spPr>
        <p:txBody>
          <a:bodyPr wrap="square" lIns="0" tIns="0" rIns="0" bIns="0" rtlCol="0" anchor="t"/>
          <a:lstStyle/>
          <a:p>
            <a:pPr marL="0" indent="0">
              <a:lnSpc>
                <a:spcPct val="115000"/>
              </a:lnSpc>
              <a:buNone/>
            </a:pPr>
            <a:r>
              <a:rPr lang="en-US" sz="800">
                <a:solidFill>
                  <a:srgbClr val="44566B"/>
                </a:solidFill>
                <a:latin typeface="Segoe UI" pitchFamily="34" charset="0"/>
                <a:ea typeface="Segoe UI" pitchFamily="34" charset="-122"/>
                <a:cs typeface="Segoe UI" pitchFamily="34" charset="-120"/>
              </a:rPr>
              <a:t>Never run a single replica of anything that matters. Two makes a rolling update invisible; three keeps you covered while one restarts.</a:t>
            </a:r>
            <a:endParaRPr lang="en-US" sz="800"/>
          </a:p>
        </p:txBody>
      </p:sp>
      <p:sp>
        <p:nvSpPr>
          <p:cNvPr id="12" name="card">
            <a:extLst>
              <a:ext uri="{C183D7F6-B498-43B3-948B-1728B52AA6E4}">
                <adec:decorative xmlns:adec="http://schemas.microsoft.com/office/drawing/2017/decorative" val="1"/>
              </a:ext>
            </a:extLst>
          </p:cNvPr>
          <p:cNvSpPr/>
          <p:nvPr/>
        </p:nvSpPr>
        <p:spPr>
          <a:xfrm>
            <a:off x="3282696"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3282696" y="1481328"/>
            <a:ext cx="2578608" cy="41148"/>
          </a:xfrm>
          <a:prstGeom prst="rect">
            <a:avLst/>
          </a:prstGeom>
          <a:solidFill>
            <a:srgbClr val="F2A93B"/>
          </a:solidFill>
          <a:ln w="12700">
            <a:solidFill>
              <a:srgbClr val="333333"/>
            </a:solidFill>
            <a:prstDash val="solid"/>
          </a:ln>
        </p:spPr>
        <p:txBody>
          <a:bodyPr/>
          <a:lstStyle/>
          <a:p>
            <a:endParaRPr lang="en-IN"/>
          </a:p>
        </p:txBody>
      </p:sp>
      <p:sp>
        <p:nvSpPr>
          <p:cNvPr id="14" name="Text 12"/>
          <p:cNvSpPr/>
          <p:nvPr/>
        </p:nvSpPr>
        <p:spPr>
          <a:xfrm>
            <a:off x="3483864" y="1664208"/>
            <a:ext cx="2176272" cy="228600"/>
          </a:xfrm>
          <a:prstGeom prst="rect">
            <a:avLst/>
          </a:prstGeom>
          <a:noFill/>
          <a:ln/>
        </p:spPr>
        <p:txBody>
          <a:bodyPr wrap="square" lIns="0" tIns="0" rIns="0" bIns="0" rtlCol="0" anchor="ctr"/>
          <a:lstStyle/>
          <a:p>
            <a:pPr marL="0" indent="0">
              <a:buNone/>
            </a:pPr>
            <a:r>
              <a:rPr lang="en-US" sz="900" b="1" kern="0" spc="120">
                <a:solidFill>
                  <a:srgbClr val="F2A93B"/>
                </a:solidFill>
                <a:latin typeface="Segoe UI" pitchFamily="34" charset="0"/>
                <a:ea typeface="Segoe UI" pitchFamily="34" charset="-122"/>
                <a:cs typeface="Segoe UI" pitchFamily="34" charset="-120"/>
              </a:rPr>
              <a:t>CLUSTER LEVEL</a:t>
            </a:r>
            <a:endParaRPr lang="en-US" sz="900"/>
          </a:p>
        </p:txBody>
      </p:sp>
      <p:sp>
        <p:nvSpPr>
          <p:cNvPr id="15" name="Text 13"/>
          <p:cNvSpPr/>
          <p:nvPr/>
        </p:nvSpPr>
        <p:spPr>
          <a:xfrm>
            <a:off x="3483864" y="1920240"/>
            <a:ext cx="2176272" cy="2453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Spread across zones</a:t>
            </a:r>
            <a:endParaRPr lang="en-US" sz="1250"/>
          </a:p>
        </p:txBody>
      </p:sp>
      <p:sp>
        <p:nvSpPr>
          <p:cNvPr id="16" name="Text 14"/>
          <p:cNvSpPr/>
          <p:nvPr/>
        </p:nvSpPr>
        <p:spPr>
          <a:xfrm>
            <a:off x="3483864" y="2229612"/>
            <a:ext cx="2176272" cy="275844"/>
          </a:xfrm>
          <a:prstGeom prst="rect">
            <a:avLst/>
          </a:prstGeom>
          <a:noFill/>
          <a:ln/>
        </p:spPr>
        <p:txBody>
          <a:bodyPr wrap="square" lIns="0" tIns="0" rIns="0" bIns="0" rtlCol="0" anchor="t"/>
          <a:lstStyle/>
          <a:p>
            <a:pPr marL="0" indent="0">
              <a:lnSpc>
                <a:spcPct val="115000"/>
              </a:lnSpc>
              <a:buNone/>
            </a:pPr>
            <a:r>
              <a:rPr lang="en-US" sz="800">
                <a:solidFill>
                  <a:srgbClr val="44566B"/>
                </a:solidFill>
                <a:latin typeface="Segoe UI" pitchFamily="34" charset="0"/>
                <a:ea typeface="Segoe UI" pitchFamily="34" charset="-122"/>
                <a:cs typeface="Segoe UI" pitchFamily="34" charset="-120"/>
              </a:rPr>
              <a:t>Availability zones and topology spread constraints stop every replica landing on one node or in one zone.</a:t>
            </a:r>
            <a:endParaRPr lang="en-US" sz="800"/>
          </a:p>
        </p:txBody>
      </p:sp>
      <p:sp>
        <p:nvSpPr>
          <p:cNvPr id="17" name="card">
            <a:extLst>
              <a:ext uri="{C183D7F6-B498-43B3-948B-1728B52AA6E4}">
                <adec:decorative xmlns:adec="http://schemas.microsoft.com/office/drawing/2017/decorative" val="1"/>
              </a:ext>
            </a:extLst>
          </p:cNvPr>
          <p:cNvSpPr/>
          <p:nvPr/>
        </p:nvSpPr>
        <p:spPr>
          <a:xfrm>
            <a:off x="6062472"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6062472" y="1481328"/>
            <a:ext cx="2578608" cy="41148"/>
          </a:xfrm>
          <a:prstGeom prst="rect">
            <a:avLst/>
          </a:prstGeom>
          <a:solidFill>
            <a:srgbClr val="2E9E6B"/>
          </a:solidFill>
          <a:ln w="12700">
            <a:solidFill>
              <a:srgbClr val="333333"/>
            </a:solidFill>
            <a:prstDash val="solid"/>
          </a:ln>
        </p:spPr>
        <p:txBody>
          <a:bodyPr/>
          <a:lstStyle/>
          <a:p>
            <a:endParaRPr lang="en-IN"/>
          </a:p>
        </p:txBody>
      </p:sp>
      <p:sp>
        <p:nvSpPr>
          <p:cNvPr id="19" name="Text 17"/>
          <p:cNvSpPr/>
          <p:nvPr/>
        </p:nvSpPr>
        <p:spPr>
          <a:xfrm>
            <a:off x="6263640" y="1664208"/>
            <a:ext cx="2176272" cy="228600"/>
          </a:xfrm>
          <a:prstGeom prst="rect">
            <a:avLst/>
          </a:prstGeom>
          <a:noFill/>
          <a:ln/>
        </p:spPr>
        <p:txBody>
          <a:bodyPr wrap="square" lIns="0" tIns="0" rIns="0" bIns="0" rtlCol="0" anchor="ctr"/>
          <a:lstStyle/>
          <a:p>
            <a:pPr marL="0" indent="0">
              <a:buNone/>
            </a:pPr>
            <a:r>
              <a:rPr lang="en-US" sz="900" b="1" kern="0" spc="120">
                <a:solidFill>
                  <a:srgbClr val="2E9E6B"/>
                </a:solidFill>
                <a:latin typeface="Segoe UI" pitchFamily="34" charset="0"/>
                <a:ea typeface="Segoe UI" pitchFamily="34" charset="-122"/>
                <a:cs typeface="Segoe UI" pitchFamily="34" charset="-120"/>
              </a:rPr>
              <a:t>APPLICATION LEVEL</a:t>
            </a:r>
            <a:endParaRPr lang="en-US" sz="900"/>
          </a:p>
        </p:txBody>
      </p:sp>
      <p:sp>
        <p:nvSpPr>
          <p:cNvPr id="20" name="Text 18"/>
          <p:cNvSpPr/>
          <p:nvPr/>
        </p:nvSpPr>
        <p:spPr>
          <a:xfrm>
            <a:off x="6263640" y="1920240"/>
            <a:ext cx="2176272" cy="2453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Fail fast, recover</a:t>
            </a:r>
            <a:endParaRPr lang="en-US" sz="1250"/>
          </a:p>
        </p:txBody>
      </p:sp>
      <p:sp>
        <p:nvSpPr>
          <p:cNvPr id="21" name="Text 19"/>
          <p:cNvSpPr/>
          <p:nvPr/>
        </p:nvSpPr>
        <p:spPr>
          <a:xfrm>
            <a:off x="6263640" y="2229612"/>
            <a:ext cx="2176272" cy="275844"/>
          </a:xfrm>
          <a:prstGeom prst="rect">
            <a:avLst/>
          </a:prstGeom>
          <a:noFill/>
          <a:ln/>
        </p:spPr>
        <p:txBody>
          <a:bodyPr wrap="square" lIns="0" tIns="0" rIns="0" bIns="0" rtlCol="0" anchor="t"/>
          <a:lstStyle/>
          <a:p>
            <a:pPr marL="0" indent="0">
              <a:lnSpc>
                <a:spcPct val="115000"/>
              </a:lnSpc>
              <a:buNone/>
            </a:pPr>
            <a:r>
              <a:rPr lang="en-US" sz="800">
                <a:solidFill>
                  <a:srgbClr val="44566B"/>
                </a:solidFill>
                <a:latin typeface="Segoe UI" pitchFamily="34" charset="0"/>
                <a:ea typeface="Segoe UI" pitchFamily="34" charset="-122"/>
                <a:cs typeface="Segoe UI" pitchFamily="34" charset="-120"/>
              </a:rPr>
              <a:t>Probes and rescheduling only help if the app starts cleanly, holds no local state and tolerates a replica vanishing.</a:t>
            </a:r>
            <a:endParaRPr lang="en-US" sz="800"/>
          </a:p>
        </p:txBody>
      </p:sp>
      <p:sp>
        <p:nvSpPr>
          <p:cNvPr id="22" name="Text 20"/>
          <p:cNvSpPr/>
          <p:nvPr/>
        </p:nvSpPr>
        <p:spPr>
          <a:xfrm>
            <a:off x="502920" y="2895600"/>
            <a:ext cx="4114800" cy="1335024"/>
          </a:xfrm>
          <a:prstGeom prst="rect">
            <a:avLst/>
          </a:prstGeom>
          <a:noFill/>
          <a:ln/>
        </p:spPr>
        <p:txBody>
          <a:bodyPr wrap="square" lIns="0" tIns="0" rIns="0" bIns="0" rtlCol="0" anchor="t"/>
          <a:lstStyle/>
          <a:p>
            <a:pPr marL="342900" indent="-342900">
              <a:spcAft>
                <a:spcPts val="800"/>
              </a:spcAft>
              <a:buSzPct val="100000"/>
              <a:buChar char="•"/>
            </a:pPr>
            <a:r>
              <a:rPr lang="en-US" sz="1000">
                <a:solidFill>
                  <a:srgbClr val="44566B"/>
                </a:solidFill>
                <a:latin typeface="Segoe UI" pitchFamily="34" charset="0"/>
                <a:ea typeface="Segoe UI" pitchFamily="34" charset="-122"/>
                <a:cs typeface="Segoe UI" pitchFamily="34" charset="-120"/>
              </a:rPr>
              <a:t>Set replicas to two or more, and pair them with a PodDisruptionBudget</a:t>
            </a:r>
            <a:endParaRPr lang="en-US" sz="1000"/>
          </a:p>
          <a:p>
            <a:pPr marL="342900" indent="-342900">
              <a:spcAft>
                <a:spcPts val="800"/>
              </a:spcAft>
              <a:buSzPct val="100000"/>
              <a:buChar char="•"/>
            </a:pPr>
            <a:r>
              <a:rPr lang="en-US" sz="1000">
                <a:solidFill>
                  <a:srgbClr val="44566B"/>
                </a:solidFill>
                <a:latin typeface="Segoe UI" pitchFamily="34" charset="0"/>
                <a:ea typeface="Segoe UI" pitchFamily="34" charset="-122"/>
                <a:cs typeface="Segoe UI" pitchFamily="34" charset="-120"/>
              </a:rPr>
              <a:t>Spread replicas across zones and nodes with topology spread constraints</a:t>
            </a:r>
            <a:endParaRPr lang="en-US" sz="1000"/>
          </a:p>
          <a:p>
            <a:pPr marL="342900" indent="-342900">
              <a:spcAft>
                <a:spcPts val="800"/>
              </a:spcAft>
              <a:buSzPct val="100000"/>
              <a:buChar char="•"/>
            </a:pPr>
            <a:r>
              <a:rPr lang="en-US" sz="1000">
                <a:solidFill>
                  <a:srgbClr val="44566B"/>
                </a:solidFill>
                <a:latin typeface="Segoe UI" pitchFamily="34" charset="0"/>
                <a:ea typeface="Segoe UI" pitchFamily="34" charset="-122"/>
                <a:cs typeface="Segoe UI" pitchFamily="34" charset="-120"/>
              </a:rPr>
              <a:t>Readiness probes decide when traffic arrives; liveness probes decide when to restart</a:t>
            </a:r>
            <a:endParaRPr lang="en-US" sz="1000"/>
          </a:p>
          <a:p>
            <a:pPr marL="0" indent="0">
              <a:spcAft>
                <a:spcPts val="800"/>
              </a:spcAft>
              <a:buNone/>
            </a:pPr>
            <a:r>
              <a:rPr lang="en-US" sz="1000" b="1">
                <a:solidFill>
                  <a:srgbClr val="0E2233"/>
                </a:solidFill>
                <a:latin typeface="Segoe UI" pitchFamily="34" charset="0"/>
                <a:ea typeface="Segoe UI" pitchFamily="34" charset="-122"/>
                <a:cs typeface="Segoe UI" pitchFamily="34" charset="-120"/>
              </a:rPr>
              <a:t>Availability is a chain — a three-replica Deployment behind a single-zone database is still a single-zone service.</a:t>
            </a:r>
            <a:endParaRPr lang="en-US" sz="1000"/>
          </a:p>
        </p:txBody>
      </p:sp>
      <p:sp>
        <p:nvSpPr>
          <p:cNvPr id="23" name="code panel">
            <a:extLst>
              <a:ext uri="{C183D7F6-B498-43B3-948B-1728B52AA6E4}">
                <adec:decorative xmlns:adec="http://schemas.microsoft.com/office/drawing/2017/decorative" val="1"/>
              </a:ext>
            </a:extLst>
          </p:cNvPr>
          <p:cNvSpPr/>
          <p:nvPr/>
        </p:nvSpPr>
        <p:spPr>
          <a:xfrm>
            <a:off x="4892040" y="2743200"/>
            <a:ext cx="3749040" cy="1335024"/>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4" name="code panel header">
            <a:extLst>
              <a:ext uri="{C183D7F6-B498-43B3-948B-1728B52AA6E4}">
                <adec:decorative xmlns:adec="http://schemas.microsoft.com/office/drawing/2017/decorative" val="1"/>
              </a:ext>
            </a:extLst>
          </p:cNvPr>
          <p:cNvSpPr/>
          <p:nvPr/>
        </p:nvSpPr>
        <p:spPr>
          <a:xfrm>
            <a:off x="4892040" y="2743200"/>
            <a:ext cx="3749040" cy="256032"/>
          </a:xfrm>
          <a:prstGeom prst="rect">
            <a:avLst/>
          </a:prstGeom>
          <a:solidFill>
            <a:srgbClr val="0F3D66"/>
          </a:solidFill>
          <a:ln w="12700">
            <a:solidFill>
              <a:srgbClr val="333333"/>
            </a:solidFill>
            <a:prstDash val="solid"/>
          </a:ln>
        </p:spPr>
        <p:txBody>
          <a:bodyPr/>
          <a:lstStyle/>
          <a:p>
            <a:endParaRPr lang="en-IN"/>
          </a:p>
        </p:txBody>
      </p:sp>
      <p:sp>
        <p:nvSpPr>
          <p:cNvPr id="25" name="Text 23"/>
          <p:cNvSpPr/>
          <p:nvPr/>
        </p:nvSpPr>
        <p:spPr>
          <a:xfrm>
            <a:off x="5038344" y="2743200"/>
            <a:ext cx="345643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Replicas spread across zones</a:t>
            </a:r>
            <a:endParaRPr lang="en-US" sz="850"/>
          </a:p>
        </p:txBody>
      </p:sp>
      <p:sp>
        <p:nvSpPr>
          <p:cNvPr id="26" name="Text 24"/>
          <p:cNvSpPr/>
          <p:nvPr/>
        </p:nvSpPr>
        <p:spPr>
          <a:xfrm>
            <a:off x="5038344" y="3072384"/>
            <a:ext cx="3456432" cy="859536"/>
          </a:xfrm>
          <a:prstGeom prst="rect">
            <a:avLst/>
          </a:prstGeom>
          <a:noFill/>
          <a:ln/>
        </p:spPr>
        <p:txBody>
          <a:bodyPr wrap="square" lIns="0" tIns="0" rIns="0" bIns="0" rtlCol="0" anchor="t"/>
          <a:lstStyle/>
          <a:p>
            <a:pPr marL="0" indent="0">
              <a:lnSpc>
                <a:spcPct val="112000"/>
              </a:lnSpc>
              <a:buNone/>
            </a:pPr>
            <a:r>
              <a:rPr lang="en-US" sz="719">
                <a:solidFill>
                  <a:srgbClr val="D7ECF8"/>
                </a:solidFill>
                <a:latin typeface="Consolas" pitchFamily="34" charset="0"/>
                <a:ea typeface="Consolas" pitchFamily="34" charset="-122"/>
                <a:cs typeface="Consolas" pitchFamily="34" charset="-120"/>
              </a:rPr>
              <a:t>spec:</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replicas: 3</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template:</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spec:</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topologySpreadConstraints:</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 maxSkew: 1</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topologyKey: topology.kubernetes.io/zone</a:t>
            </a:r>
            <a:endParaRPr lang="en-US" sz="719"/>
          </a:p>
        </p:txBody>
      </p:sp>
      <p:sp>
        <p:nvSpPr>
          <p:cNvPr id="2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9 · CONTAINER READINESS AND DEPLOYMENT DECISIONS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Pod Disruption Budgets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A PDB tells Kubernetes how much of your application may be taken away at once during planned maintenance.</a:t>
            </a:r>
            <a:endParaRPr lang="en-US" sz="1150"/>
          </a:p>
        </p:txBody>
      </p:sp>
      <p:sp>
        <p:nvSpPr>
          <p:cNvPr id="7" name="code panel">
            <a:extLst>
              <a:ext uri="{C183D7F6-B498-43B3-948B-1728B52AA6E4}">
                <adec:decorative xmlns:adec="http://schemas.microsoft.com/office/drawing/2017/decorative" val="1"/>
              </a:ext>
            </a:extLst>
          </p:cNvPr>
          <p:cNvSpPr/>
          <p:nvPr/>
        </p:nvSpPr>
        <p:spPr>
          <a:xfrm>
            <a:off x="502920" y="1481328"/>
            <a:ext cx="4023360" cy="25146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02336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73075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pdb.yaml</a:t>
            </a:r>
            <a:endParaRPr lang="en-US" sz="850"/>
          </a:p>
        </p:txBody>
      </p:sp>
      <p:sp>
        <p:nvSpPr>
          <p:cNvPr id="10" name="Text 8"/>
          <p:cNvSpPr/>
          <p:nvPr/>
        </p:nvSpPr>
        <p:spPr>
          <a:xfrm>
            <a:off x="649224" y="1810512"/>
            <a:ext cx="3730752" cy="2039112"/>
          </a:xfrm>
          <a:prstGeom prst="rect">
            <a:avLst/>
          </a:prstGeom>
          <a:noFill/>
          <a:ln/>
        </p:spPr>
        <p:txBody>
          <a:bodyPr wrap="square" lIns="0" tIns="0" rIns="0" bIns="0" rtlCol="0" anchor="t"/>
          <a:lstStyle/>
          <a:p>
            <a:pPr marL="0" indent="0">
              <a:lnSpc>
                <a:spcPct val="112000"/>
              </a:lnSpc>
              <a:buNone/>
            </a:pPr>
            <a:r>
              <a:rPr lang="en-US" sz="796">
                <a:solidFill>
                  <a:srgbClr val="D7ECF8"/>
                </a:solidFill>
                <a:latin typeface="Consolas" pitchFamily="34" charset="0"/>
                <a:ea typeface="Consolas" pitchFamily="34" charset="-122"/>
                <a:cs typeface="Consolas" pitchFamily="34" charset="-120"/>
              </a:rPr>
              <a:t>apiVersion: policy/v1</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kind: PodDisruptionBudget</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metadata:</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 payments-api-pdb</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spec:</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minAvailable: 2</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selector:</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matchLabels:</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app: payments-api</a:t>
            </a:r>
            <a:endParaRPr lang="en-US" sz="796"/>
          </a:p>
          <a:p>
            <a:pPr marL="0" indent="0">
              <a:lnSpc>
                <a:spcPct val="112000"/>
              </a:lnSpc>
              <a:buNone/>
            </a:pPr>
            <a:r>
              <a:rPr lang="en-US" sz="796">
                <a:solidFill>
                  <a:srgbClr val="7FA9C6"/>
                </a:solidFill>
                <a:latin typeface="Consolas" pitchFamily="34" charset="0"/>
                <a:ea typeface="Consolas" pitchFamily="34" charset="-122"/>
                <a:cs typeface="Consolas" pitchFamily="34" charset="-120"/>
              </a:rPr>
              <a:t># or: maxUnavailable: 1</a:t>
            </a:r>
            <a:endParaRPr lang="en-US" sz="796"/>
          </a:p>
        </p:txBody>
      </p:sp>
      <p:sp>
        <p:nvSpPr>
          <p:cNvPr id="11" name="card">
            <a:extLst>
              <a:ext uri="{C183D7F6-B498-43B3-948B-1728B52AA6E4}">
                <adec:decorative xmlns:adec="http://schemas.microsoft.com/office/drawing/2017/decorative" val="1"/>
              </a:ext>
            </a:extLst>
          </p:cNvPr>
          <p:cNvSpPr/>
          <p:nvPr/>
        </p:nvSpPr>
        <p:spPr>
          <a:xfrm>
            <a:off x="4709160" y="1481328"/>
            <a:ext cx="3931920" cy="75285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4709160" y="1481328"/>
            <a:ext cx="3931920" cy="41148"/>
          </a:xfrm>
          <a:prstGeom prst="rect">
            <a:avLst/>
          </a:prstGeom>
          <a:solidFill>
            <a:srgbClr val="D0483C"/>
          </a:solidFill>
          <a:ln w="12700">
            <a:solidFill>
              <a:srgbClr val="333333"/>
            </a:solidFill>
            <a:prstDash val="solid"/>
          </a:ln>
        </p:spPr>
        <p:txBody>
          <a:bodyPr/>
          <a:lstStyle/>
          <a:p>
            <a:endParaRPr lang="en-IN"/>
          </a:p>
        </p:txBody>
      </p:sp>
      <p:sp>
        <p:nvSpPr>
          <p:cNvPr id="13" name="Text 11"/>
          <p:cNvSpPr/>
          <p:nvPr/>
        </p:nvSpPr>
        <p:spPr>
          <a:xfrm>
            <a:off x="4910328" y="1591056"/>
            <a:ext cx="3529584" cy="173736"/>
          </a:xfrm>
          <a:prstGeom prst="rect">
            <a:avLst/>
          </a:prstGeom>
          <a:noFill/>
          <a:ln/>
        </p:spPr>
        <p:txBody>
          <a:bodyPr wrap="square" lIns="0" tIns="0" rIns="0" bIns="0" rtlCol="0" anchor="ctr"/>
          <a:lstStyle/>
          <a:p>
            <a:pPr marL="0" indent="0">
              <a:buNone/>
            </a:pPr>
            <a:r>
              <a:rPr lang="en-US" sz="900" b="1" kern="0" spc="120">
                <a:solidFill>
                  <a:srgbClr val="D0483C"/>
                </a:solidFill>
                <a:latin typeface="Segoe UI" pitchFamily="34" charset="0"/>
                <a:ea typeface="Segoe UI" pitchFamily="34" charset="-122"/>
                <a:cs typeface="Segoe UI" pitchFamily="34" charset="-120"/>
              </a:rPr>
              <a:t>SCOPE</a:t>
            </a:r>
            <a:endParaRPr lang="en-US" sz="900"/>
          </a:p>
        </p:txBody>
      </p:sp>
      <p:sp>
        <p:nvSpPr>
          <p:cNvPr id="14" name="Text 12"/>
          <p:cNvSpPr/>
          <p:nvPr/>
        </p:nvSpPr>
        <p:spPr>
          <a:xfrm>
            <a:off x="4910328" y="1792224"/>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Voluntary disruptions only</a:t>
            </a:r>
            <a:endParaRPr lang="en-US" sz="850"/>
          </a:p>
        </p:txBody>
      </p:sp>
      <p:sp>
        <p:nvSpPr>
          <p:cNvPr id="15" name="Text 13"/>
          <p:cNvSpPr/>
          <p:nvPr/>
        </p:nvSpPr>
        <p:spPr>
          <a:xfrm>
            <a:off x="4910328" y="2040636"/>
            <a:ext cx="3529584" cy="146304"/>
          </a:xfrm>
          <a:prstGeom prst="rect">
            <a:avLst/>
          </a:prstGeom>
          <a:noFill/>
          <a:ln/>
        </p:spPr>
        <p:txBody>
          <a:bodyPr wrap="square" lIns="0" tIns="0" rIns="0" bIns="0" rtlCol="0" anchor="t"/>
          <a:lstStyle/>
          <a:p>
            <a:pPr marL="0" indent="0">
              <a:lnSpc>
                <a:spcPct val="115000"/>
              </a:lnSpc>
              <a:buNone/>
            </a:pPr>
            <a:r>
              <a:rPr lang="en-US" sz="825">
                <a:solidFill>
                  <a:srgbClr val="44566B"/>
                </a:solidFill>
                <a:latin typeface="Segoe UI" pitchFamily="34" charset="0"/>
                <a:ea typeface="Segoe UI" pitchFamily="34" charset="-122"/>
                <a:cs typeface="Segoe UI" pitchFamily="34" charset="-120"/>
              </a:rPr>
              <a:t>Node upgrades, node drains and cluster autoscaler scale-in respect a PDB. A crash, an OOMKill or a node failure does not.</a:t>
            </a:r>
            <a:endParaRPr lang="en-US" sz="825"/>
          </a:p>
        </p:txBody>
      </p:sp>
      <p:sp>
        <p:nvSpPr>
          <p:cNvPr id="16" name="card">
            <a:extLst>
              <a:ext uri="{C183D7F6-B498-43B3-948B-1728B52AA6E4}">
                <adec:decorative xmlns:adec="http://schemas.microsoft.com/office/drawing/2017/decorative" val="1"/>
              </a:ext>
            </a:extLst>
          </p:cNvPr>
          <p:cNvSpPr/>
          <p:nvPr/>
        </p:nvSpPr>
        <p:spPr>
          <a:xfrm>
            <a:off x="4709160" y="2362200"/>
            <a:ext cx="3931920" cy="752856"/>
          </a:xfrm>
          <a:prstGeom prst="rect">
            <a:avLst/>
          </a:prstGeom>
          <a:solidFill>
            <a:srgbClr val="F6F9FD"/>
          </a:solidFill>
          <a:ln w="9525">
            <a:solidFill>
              <a:srgbClr val="D8E5F2"/>
            </a:solidFill>
            <a:prstDash val="solid"/>
          </a:ln>
        </p:spPr>
        <p:txBody>
          <a:bodyPr/>
          <a:lstStyle/>
          <a:p>
            <a:endParaRPr lang="en-IN"/>
          </a:p>
        </p:txBody>
      </p:sp>
      <p:sp>
        <p:nvSpPr>
          <p:cNvPr id="17" name="card accent">
            <a:extLst>
              <a:ext uri="{C183D7F6-B498-43B3-948B-1728B52AA6E4}">
                <adec:decorative xmlns:adec="http://schemas.microsoft.com/office/drawing/2017/decorative" val="1"/>
              </a:ext>
            </a:extLst>
          </p:cNvPr>
          <p:cNvSpPr/>
          <p:nvPr/>
        </p:nvSpPr>
        <p:spPr>
          <a:xfrm>
            <a:off x="4709160" y="2362200"/>
            <a:ext cx="3931920" cy="41148"/>
          </a:xfrm>
          <a:prstGeom prst="rect">
            <a:avLst/>
          </a:prstGeom>
          <a:solidFill>
            <a:srgbClr val="0B63CE"/>
          </a:solidFill>
          <a:ln w="12700">
            <a:solidFill>
              <a:srgbClr val="333333"/>
            </a:solidFill>
            <a:prstDash val="solid"/>
          </a:ln>
        </p:spPr>
        <p:txBody>
          <a:bodyPr/>
          <a:lstStyle/>
          <a:p>
            <a:endParaRPr lang="en-IN"/>
          </a:p>
        </p:txBody>
      </p:sp>
      <p:sp>
        <p:nvSpPr>
          <p:cNvPr id="18" name="Text 16"/>
          <p:cNvSpPr/>
          <p:nvPr/>
        </p:nvSpPr>
        <p:spPr>
          <a:xfrm>
            <a:off x="4910328" y="2471928"/>
            <a:ext cx="3529584" cy="173736"/>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EXPRESS</a:t>
            </a:r>
            <a:endParaRPr lang="en-US" sz="900"/>
          </a:p>
        </p:txBody>
      </p:sp>
      <p:sp>
        <p:nvSpPr>
          <p:cNvPr id="19" name="Text 17"/>
          <p:cNvSpPr/>
          <p:nvPr/>
        </p:nvSpPr>
        <p:spPr>
          <a:xfrm>
            <a:off x="4910328" y="2673096"/>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Say it as a number or a share</a:t>
            </a:r>
            <a:endParaRPr lang="en-US" sz="850"/>
          </a:p>
        </p:txBody>
      </p:sp>
      <p:sp>
        <p:nvSpPr>
          <p:cNvPr id="20" name="Text 18"/>
          <p:cNvSpPr/>
          <p:nvPr/>
        </p:nvSpPr>
        <p:spPr>
          <a:xfrm>
            <a:off x="4910328" y="2921508"/>
            <a:ext cx="3529584" cy="146304"/>
          </a:xfrm>
          <a:prstGeom prst="rect">
            <a:avLst/>
          </a:prstGeom>
          <a:noFill/>
          <a:ln/>
        </p:spPr>
        <p:txBody>
          <a:bodyPr wrap="square" lIns="0" tIns="0" rIns="0" bIns="0" rtlCol="0" anchor="t"/>
          <a:lstStyle/>
          <a:p>
            <a:pPr marL="0" indent="0">
              <a:lnSpc>
                <a:spcPct val="115000"/>
              </a:lnSpc>
              <a:buNone/>
            </a:pPr>
            <a:r>
              <a:rPr lang="en-US" sz="825">
                <a:solidFill>
                  <a:srgbClr val="44566B"/>
                </a:solidFill>
                <a:latin typeface="Segoe UI" pitchFamily="34" charset="0"/>
                <a:ea typeface="Segoe UI" pitchFamily="34" charset="-122"/>
                <a:cs typeface="Segoe UI" pitchFamily="34" charset="-120"/>
              </a:rPr>
              <a:t>minAvailable: 2 or maxUnavailable: 25% — express the smallest healthy service you can live with.</a:t>
            </a:r>
            <a:endParaRPr lang="en-US" sz="825"/>
          </a:p>
        </p:txBody>
      </p:sp>
      <p:sp>
        <p:nvSpPr>
          <p:cNvPr id="21" name="card">
            <a:extLst>
              <a:ext uri="{C183D7F6-B498-43B3-948B-1728B52AA6E4}">
                <adec:decorative xmlns:adec="http://schemas.microsoft.com/office/drawing/2017/decorative" val="1"/>
              </a:ext>
            </a:extLst>
          </p:cNvPr>
          <p:cNvSpPr/>
          <p:nvPr/>
        </p:nvSpPr>
        <p:spPr>
          <a:xfrm>
            <a:off x="4709160" y="3243072"/>
            <a:ext cx="3931920" cy="752856"/>
          </a:xfrm>
          <a:prstGeom prst="rect">
            <a:avLst/>
          </a:prstGeom>
          <a:solidFill>
            <a:srgbClr val="F6F9FD"/>
          </a:solidFill>
          <a:ln w="9525">
            <a:solidFill>
              <a:srgbClr val="D8E5F2"/>
            </a:solidFill>
            <a:prstDash val="solid"/>
          </a:ln>
        </p:spPr>
        <p:txBody>
          <a:bodyPr/>
          <a:lstStyle/>
          <a:p>
            <a:endParaRPr lang="en-IN"/>
          </a:p>
        </p:txBody>
      </p:sp>
      <p:sp>
        <p:nvSpPr>
          <p:cNvPr id="22" name="card accent">
            <a:extLst>
              <a:ext uri="{C183D7F6-B498-43B3-948B-1728B52AA6E4}">
                <adec:decorative xmlns:adec="http://schemas.microsoft.com/office/drawing/2017/decorative" val="1"/>
              </a:ext>
            </a:extLst>
          </p:cNvPr>
          <p:cNvSpPr/>
          <p:nvPr/>
        </p:nvSpPr>
        <p:spPr>
          <a:xfrm>
            <a:off x="4709160" y="3243072"/>
            <a:ext cx="3931920" cy="41148"/>
          </a:xfrm>
          <a:prstGeom prst="rect">
            <a:avLst/>
          </a:prstGeom>
          <a:solidFill>
            <a:srgbClr val="2E9E6B"/>
          </a:solidFill>
          <a:ln w="12700">
            <a:solidFill>
              <a:srgbClr val="333333"/>
            </a:solidFill>
            <a:prstDash val="solid"/>
          </a:ln>
        </p:spPr>
        <p:txBody>
          <a:bodyPr/>
          <a:lstStyle/>
          <a:p>
            <a:endParaRPr lang="en-IN"/>
          </a:p>
        </p:txBody>
      </p:sp>
      <p:sp>
        <p:nvSpPr>
          <p:cNvPr id="23" name="Text 21"/>
          <p:cNvSpPr/>
          <p:nvPr/>
        </p:nvSpPr>
        <p:spPr>
          <a:xfrm>
            <a:off x="4910328" y="3352800"/>
            <a:ext cx="3529584" cy="173736"/>
          </a:xfrm>
          <a:prstGeom prst="rect">
            <a:avLst/>
          </a:prstGeom>
          <a:noFill/>
          <a:ln/>
        </p:spPr>
        <p:txBody>
          <a:bodyPr wrap="square" lIns="0" tIns="0" rIns="0" bIns="0" rtlCol="0" anchor="ctr"/>
          <a:lstStyle/>
          <a:p>
            <a:pPr marL="0" indent="0">
              <a:buNone/>
            </a:pPr>
            <a:r>
              <a:rPr lang="en-US" sz="900" b="1" kern="0" spc="120">
                <a:solidFill>
                  <a:srgbClr val="2E9E6B"/>
                </a:solidFill>
                <a:latin typeface="Segoe UI" pitchFamily="34" charset="0"/>
                <a:ea typeface="Segoe UI" pitchFamily="34" charset="-122"/>
                <a:cs typeface="Segoe UI" pitchFamily="34" charset="-120"/>
              </a:rPr>
              <a:t>BALANCE</a:t>
            </a:r>
            <a:endParaRPr lang="en-US" sz="900"/>
          </a:p>
        </p:txBody>
      </p:sp>
      <p:sp>
        <p:nvSpPr>
          <p:cNvPr id="24" name="Text 22"/>
          <p:cNvSpPr/>
          <p:nvPr/>
        </p:nvSpPr>
        <p:spPr>
          <a:xfrm>
            <a:off x="4910328" y="3553968"/>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Set it alongside replicas</a:t>
            </a:r>
            <a:endParaRPr lang="en-US" sz="850"/>
          </a:p>
        </p:txBody>
      </p:sp>
      <p:sp>
        <p:nvSpPr>
          <p:cNvPr id="25" name="Text 23"/>
          <p:cNvSpPr/>
          <p:nvPr/>
        </p:nvSpPr>
        <p:spPr>
          <a:xfrm>
            <a:off x="4910328" y="3802380"/>
            <a:ext cx="3529584" cy="146304"/>
          </a:xfrm>
          <a:prstGeom prst="rect">
            <a:avLst/>
          </a:prstGeom>
          <a:noFill/>
          <a:ln/>
        </p:spPr>
        <p:txBody>
          <a:bodyPr wrap="square" lIns="0" tIns="0" rIns="0" bIns="0" rtlCol="0" anchor="t"/>
          <a:lstStyle/>
          <a:p>
            <a:pPr marL="0" indent="0">
              <a:lnSpc>
                <a:spcPct val="115000"/>
              </a:lnSpc>
              <a:buNone/>
            </a:pPr>
            <a:r>
              <a:rPr lang="en-US" sz="825">
                <a:solidFill>
                  <a:srgbClr val="44566B"/>
                </a:solidFill>
                <a:latin typeface="Segoe UI" pitchFamily="34" charset="0"/>
                <a:ea typeface="Segoe UI" pitchFamily="34" charset="-122"/>
                <a:cs typeface="Segoe UI" pitchFamily="34" charset="-120"/>
              </a:rPr>
              <a:t>A PDB requiring all replicas blocks node upgrades entirely, so always leave the drain some room to work.</a:t>
            </a:r>
            <a:endParaRPr lang="en-US" sz="825"/>
          </a:p>
        </p:txBody>
      </p:sp>
      <p:sp>
        <p:nvSpPr>
          <p:cNvPr id="26"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7"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28" name="Text 26"/>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D0483C"/>
                </a:solidFill>
                <a:latin typeface="Segoe UI" pitchFamily="34" charset="0"/>
                <a:ea typeface="Segoe UI" pitchFamily="34" charset="-122"/>
                <a:cs typeface="Segoe UI" pitchFamily="34" charset="-120"/>
              </a:rPr>
              <a:t>Common trap   </a:t>
            </a:r>
            <a:r>
              <a:rPr lang="en-US" sz="1050">
                <a:solidFill>
                  <a:srgbClr val="0E2233"/>
                </a:solidFill>
                <a:latin typeface="Segoe UI" pitchFamily="34" charset="0"/>
                <a:ea typeface="Segoe UI" pitchFamily="34" charset="-122"/>
                <a:cs typeface="Segoe UI" pitchFamily="34" charset="-120"/>
              </a:rPr>
              <a:t>minAvailable equal to the replica count means a node drain never completes and cluster upgrades stall.</a:t>
            </a:r>
            <a:endParaRPr lang="en-US" sz="1000"/>
          </a:p>
        </p:txBody>
      </p:sp>
      <p:sp>
        <p:nvSpPr>
          <p:cNvPr id="29"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9 · CONTAINER READINESS AND DEPLOYMENT DECISIONS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Choosing the right deployment approach</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00">
                <a:solidFill>
                  <a:srgbClr val="44566B"/>
                </a:solidFill>
                <a:latin typeface="Segoe UI" pitchFamily="34" charset="0"/>
                <a:ea typeface="Segoe UI" pitchFamily="34" charset="-122"/>
                <a:cs typeface="Segoe UI" pitchFamily="34" charset="-120"/>
              </a:rPr>
              <a:t>Kubernetes is not the default answer. Match the platform to how ready the application actually is.</a:t>
            </a:r>
            <a:endParaRPr lang="en-US" sz="1150"/>
          </a:p>
        </p:txBody>
      </p:sp>
      <p:graphicFrame>
        <p:nvGraphicFramePr>
          <p:cNvPr id="26" name="Table 0"/>
          <p:cNvGraphicFramePr>
            <a:graphicFrameLocks noGrp="1"/>
          </p:cNvGraphicFramePr>
          <p:nvPr>
            <p:extLst>
              <p:ext uri="{D42A27DB-BD31-4B8C-83A1-F6EECF244321}">
                <p14:modId xmlns:p14="http://schemas.microsoft.com/office/powerpoint/2010/main" val="3185164265"/>
              </p:ext>
            </p:extLst>
          </p:nvPr>
        </p:nvGraphicFramePr>
        <p:xfrm>
          <a:off x="502920" y="1463040"/>
          <a:ext cx="8138160" cy="2087880"/>
        </p:xfrm>
        <a:graphic>
          <a:graphicData uri="http://schemas.openxmlformats.org/drawingml/2006/table">
            <a:tbl>
              <a:tblPr/>
              <a:tblGrid>
                <a:gridCol w="1691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417576">
                <a:tc>
                  <a:txBody>
                    <a:bodyPr/>
                    <a:lstStyle/>
                    <a:p>
                      <a:pPr marL="0" indent="0" algn="l">
                        <a:buNone/>
                      </a:pPr>
                      <a:r>
                        <a:rPr lang="en-US" sz="825" b="1">
                          <a:solidFill>
                            <a:srgbClr val="FFFFFF"/>
                          </a:solidFill>
                          <a:latin typeface="Segoe UI" pitchFamily="34" charset="0"/>
                          <a:ea typeface="Segoe UI" pitchFamily="34" charset="-122"/>
                          <a:cs typeface="Segoe UI" pitchFamily="34" charset="-120"/>
                        </a:rPr>
                        <a:t>Option</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a:solidFill>
                            <a:srgbClr val="FFFFFF"/>
                          </a:solidFill>
                          <a:latin typeface="Segoe UI" pitchFamily="34" charset="0"/>
                          <a:ea typeface="Segoe UI" pitchFamily="34" charset="-122"/>
                          <a:cs typeface="Segoe UI" pitchFamily="34" charset="-120"/>
                        </a:rPr>
                        <a:t>Best for</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a:solidFill>
                            <a:srgbClr val="FFFFFF"/>
                          </a:solidFill>
                          <a:latin typeface="Segoe UI" pitchFamily="34" charset="0"/>
                          <a:ea typeface="Segoe UI" pitchFamily="34" charset="-122"/>
                          <a:cs typeface="Segoe UI" pitchFamily="34" charset="-120"/>
                        </a:rPr>
                        <a:t>What you manage</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a:solidFill>
                            <a:srgbClr val="FFFFFF"/>
                          </a:solidFill>
                          <a:latin typeface="Segoe UI" pitchFamily="34" charset="0"/>
                          <a:ea typeface="Segoe UI" pitchFamily="34" charset="-122"/>
                          <a:cs typeface="Segoe UI" pitchFamily="34" charset="-120"/>
                        </a:rPr>
                        <a:t>Move on when</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25" b="1">
                          <a:solidFill>
                            <a:srgbClr val="FFFFFF"/>
                          </a:solidFill>
                          <a:latin typeface="Segoe UI" pitchFamily="34" charset="0"/>
                          <a:ea typeface="Segoe UI" pitchFamily="34" charset="-122"/>
                          <a:cs typeface="Segoe UI" pitchFamily="34" charset="-120"/>
                        </a:rPr>
                        <a:t>Effort</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extLst>
                  <a:ext uri="{0D108BD9-81ED-4DB2-BD59-A6C34878D82A}">
                    <a16:rowId xmlns:a16="http://schemas.microsoft.com/office/drawing/2014/main" val="10000"/>
                  </a:ext>
                </a:extLst>
              </a:tr>
              <a:tr h="417576">
                <a:tc>
                  <a:txBody>
                    <a:bodyPr/>
                    <a:lstStyle/>
                    <a:p>
                      <a:pPr marL="0" indent="0" algn="l">
                        <a:buNone/>
                      </a:pPr>
                      <a:r>
                        <a:rPr lang="en-US" sz="825" b="1">
                          <a:solidFill>
                            <a:srgbClr val="0E2233"/>
                          </a:solidFill>
                          <a:latin typeface="Segoe UI" pitchFamily="34" charset="0"/>
                          <a:ea typeface="Segoe UI" pitchFamily="34" charset="-122"/>
                          <a:cs typeface="Segoe UI" pitchFamily="34" charset="-120"/>
                        </a:rPr>
                        <a:t>Azure App Service</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Standard web apps and APIs, container or code</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The app only</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You need custom networking, sidecars or fine-grained scaling</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Low</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7576">
                <a:tc>
                  <a:txBody>
                    <a:bodyPr/>
                    <a:lstStyle/>
                    <a:p>
                      <a:pPr marL="0" indent="0" algn="l">
                        <a:buNone/>
                      </a:pPr>
                      <a:r>
                        <a:rPr lang="en-US" sz="825" b="1">
                          <a:solidFill>
                            <a:srgbClr val="0E2233"/>
                          </a:solidFill>
                          <a:latin typeface="Segoe UI" pitchFamily="34" charset="0"/>
                          <a:ea typeface="Segoe UI" pitchFamily="34" charset="-122"/>
                          <a:cs typeface="Segoe UI" pitchFamily="34" charset="-120"/>
                        </a:rPr>
                        <a:t>Azure Container Apps</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Microservices and event-driven jobs, scale to zero</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The container and its scale rules</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You need direct cluster control, custom operators or node-level tuning</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Low to medium</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2"/>
                  </a:ext>
                </a:extLst>
              </a:tr>
              <a:tr h="417576">
                <a:tc>
                  <a:txBody>
                    <a:bodyPr/>
                    <a:lstStyle/>
                    <a:p>
                      <a:pPr marL="0" indent="0" algn="l">
                        <a:buNone/>
                      </a:pPr>
                      <a:r>
                        <a:rPr lang="en-US" sz="825" b="1">
                          <a:solidFill>
                            <a:srgbClr val="0E2233"/>
                          </a:solidFill>
                          <a:latin typeface="Segoe UI" pitchFamily="34" charset="0"/>
                          <a:ea typeface="Segoe UI" pitchFamily="34" charset="-122"/>
                          <a:cs typeface="Segoe UI" pitchFamily="34" charset="-120"/>
                        </a:rPr>
                        <a:t>Azure Kubernetes Service</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Many services, complex networking, portability</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Cluster, node pools, add-ons and the workloads</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You have the platform skills and the operating model to run it</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High</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7576">
                <a:tc>
                  <a:txBody>
                    <a:bodyPr/>
                    <a:lstStyle/>
                    <a:p>
                      <a:pPr marL="0" indent="0" algn="l">
                        <a:buNone/>
                      </a:pPr>
                      <a:r>
                        <a:rPr lang="en-US" sz="825" b="1">
                          <a:solidFill>
                            <a:srgbClr val="0E2233"/>
                          </a:solidFill>
                          <a:latin typeface="Segoe UI" pitchFamily="34" charset="0"/>
                          <a:ea typeface="Segoe UI" pitchFamily="34" charset="-122"/>
                          <a:cs typeface="Segoe UI" pitchFamily="34" charset="-120"/>
                        </a:rPr>
                        <a:t>Virtual machines</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Legacy apps that cannot be containerised yet</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Everything, including the OS</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The application is stateless and scriptable enough to package</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25">
                          <a:solidFill>
                            <a:srgbClr val="44566B"/>
                          </a:solidFill>
                          <a:latin typeface="Segoe UI" pitchFamily="34" charset="0"/>
                          <a:ea typeface="Segoe UI" pitchFamily="34" charset="-122"/>
                          <a:cs typeface="Segoe UI" pitchFamily="34" charset="-120"/>
                        </a:rPr>
                        <a:t>High</a:t>
                      </a:r>
                      <a:endParaRPr lang="en-US" sz="825">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4"/>
                  </a:ext>
                </a:extLst>
              </a:tr>
            </a:tbl>
          </a:graphicData>
        </a:graphic>
      </p:graphicFrame>
      <p:sp>
        <p:nvSpPr>
          <p:cNvPr id="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0" name="Text 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0B63CE"/>
                </a:solidFill>
                <a:latin typeface="Segoe UI" pitchFamily="34" charset="0"/>
                <a:ea typeface="Segoe UI" pitchFamily="34" charset="-122"/>
                <a:cs typeface="Segoe UI" pitchFamily="34" charset="-120"/>
              </a:rPr>
              <a:t>Rule of thumb   </a:t>
            </a:r>
            <a:r>
              <a:rPr lang="en-US" sz="900">
                <a:solidFill>
                  <a:srgbClr val="0E2233"/>
                </a:solidFill>
                <a:latin typeface="Segoe UI" pitchFamily="34" charset="0"/>
                <a:ea typeface="Segoe UI" pitchFamily="34" charset="-122"/>
                <a:cs typeface="Segoe UI" pitchFamily="34" charset="-120"/>
              </a:rPr>
              <a:t>Pick the least complex option that meets the requirement — you can always move up. Most teams reach AKS because of networking and scale, not because of the containers.</a:t>
            </a:r>
            <a:endParaRPr lang="en-US" sz="10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9 · CONTAINER READINESS AND DEPLOYMENT DECISIONS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Is this application container-ready?</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00">
                <a:solidFill>
                  <a:srgbClr val="44566B"/>
                </a:solidFill>
                <a:latin typeface="Segoe UI" pitchFamily="34" charset="0"/>
                <a:ea typeface="Segoe UI" pitchFamily="34" charset="-122"/>
                <a:cs typeface="Segoe UI" pitchFamily="34" charset="-120"/>
              </a:rPr>
              <a:t>Run through these questions before you promise a migration date. Every ‘no’ is a piece of work, not a blocker.</a:t>
            </a:r>
            <a:endParaRPr lang="en-US" sz="1000"/>
          </a:p>
        </p:txBody>
      </p:sp>
      <p:graphicFrame>
        <p:nvGraphicFramePr>
          <p:cNvPr id="13" name="Table 0"/>
          <p:cNvGraphicFramePr>
            <a:graphicFrameLocks noGrp="1"/>
          </p:cNvGraphicFramePr>
          <p:nvPr>
            <p:extLst>
              <p:ext uri="{D42A27DB-BD31-4B8C-83A1-F6EECF244321}">
                <p14:modId xmlns:p14="http://schemas.microsoft.com/office/powerpoint/2010/main" val="4096478708"/>
              </p:ext>
            </p:extLst>
          </p:nvPr>
        </p:nvGraphicFramePr>
        <p:xfrm>
          <a:off x="512064" y="1399032"/>
          <a:ext cx="8138160" cy="2505454"/>
        </p:xfrm>
        <a:graphic>
          <a:graphicData uri="http://schemas.openxmlformats.org/drawingml/2006/table">
            <a:tbl>
              <a:tblPr/>
              <a:tblGrid>
                <a:gridCol w="900360">
                  <a:extLst>
                    <a:ext uri="{9D8B030D-6E8A-4147-A177-3AD203B41FA5}">
                      <a16:colId xmlns:a16="http://schemas.microsoft.com/office/drawing/2014/main" val="20000"/>
                    </a:ext>
                  </a:extLst>
                </a:gridCol>
                <a:gridCol w="2412600">
                  <a:extLst>
                    <a:ext uri="{9D8B030D-6E8A-4147-A177-3AD203B41FA5}">
                      <a16:colId xmlns:a16="http://schemas.microsoft.com/office/drawing/2014/main" val="20001"/>
                    </a:ext>
                  </a:extLst>
                </a:gridCol>
                <a:gridCol w="2412600">
                  <a:extLst>
                    <a:ext uri="{9D8B030D-6E8A-4147-A177-3AD203B41FA5}">
                      <a16:colId xmlns:a16="http://schemas.microsoft.com/office/drawing/2014/main" val="20002"/>
                    </a:ext>
                  </a:extLst>
                </a:gridCol>
                <a:gridCol w="2412600">
                  <a:extLst>
                    <a:ext uri="{9D8B030D-6E8A-4147-A177-3AD203B41FA5}">
                      <a16:colId xmlns:a16="http://schemas.microsoft.com/office/drawing/2014/main" val="20003"/>
                    </a:ext>
                  </a:extLst>
                </a:gridCol>
              </a:tblGrid>
              <a:tr h="357922">
                <a:tc>
                  <a:txBody>
                    <a:bodyPr/>
                    <a:lstStyle/>
                    <a:p>
                      <a:pPr marL="0" indent="0" algn="l">
                        <a:buNone/>
                      </a:pPr>
                      <a:r>
                        <a:rPr lang="en-US" sz="800" b="1">
                          <a:solidFill>
                            <a:srgbClr val="FFFFFF"/>
                          </a:solidFill>
                          <a:latin typeface="Segoe UI" pitchFamily="34" charset="0"/>
                          <a:ea typeface="Segoe UI" pitchFamily="34" charset="-122"/>
                          <a:cs typeface="Segoe UI" pitchFamily="34" charset="-120"/>
                        </a:rPr>
                        <a:t>Area</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00" b="1">
                          <a:solidFill>
                            <a:srgbClr val="FFFFFF"/>
                          </a:solidFill>
                          <a:latin typeface="Segoe UI" pitchFamily="34" charset="0"/>
                          <a:ea typeface="Segoe UI" pitchFamily="34" charset="-122"/>
                          <a:cs typeface="Segoe UI" pitchFamily="34" charset="-120"/>
                        </a:rPr>
                        <a:t>Question</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00" b="1">
                          <a:solidFill>
                            <a:srgbClr val="FFFFFF"/>
                          </a:solidFill>
                          <a:latin typeface="Segoe UI" pitchFamily="34" charset="0"/>
                          <a:ea typeface="Segoe UI" pitchFamily="34" charset="-122"/>
                          <a:cs typeface="Segoe UI" pitchFamily="34" charset="-120"/>
                        </a:rPr>
                        <a:t>Why it matters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800" b="1">
                          <a:solidFill>
                            <a:srgbClr val="FFFFFF"/>
                          </a:solidFill>
                          <a:latin typeface="Segoe UI" pitchFamily="34" charset="0"/>
                          <a:ea typeface="Segoe UI" pitchFamily="34" charset="-122"/>
                          <a:cs typeface="Segoe UI" pitchFamily="34" charset="-120"/>
                        </a:rPr>
                        <a:t>If the answer is no</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extLst>
                  <a:ext uri="{0D108BD9-81ED-4DB2-BD59-A6C34878D82A}">
                    <a16:rowId xmlns:a16="http://schemas.microsoft.com/office/drawing/2014/main" val="10000"/>
                  </a:ext>
                </a:extLst>
              </a:tr>
              <a:tr h="357922">
                <a:tc>
                  <a:txBody>
                    <a:bodyPr/>
                    <a:lstStyle/>
                    <a:p>
                      <a:pPr marL="0" indent="0" algn="l">
                        <a:buNone/>
                      </a:pPr>
                      <a:r>
                        <a:rPr lang="en-US" sz="800" b="1">
                          <a:solidFill>
                            <a:srgbClr val="0E2233"/>
                          </a:solidFill>
                          <a:latin typeface="Segoe UI" pitchFamily="34" charset="0"/>
                          <a:ea typeface="Segoe UI" pitchFamily="34" charset="-122"/>
                          <a:cs typeface="Segoe UI" pitchFamily="34" charset="-120"/>
                        </a:rPr>
                        <a:t>State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Is it stateless, or can state move out?</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Pods are replaced constantly and local disk does not survive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Move sessions and files to a database, cache or Azure Files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7922">
                <a:tc>
                  <a:txBody>
                    <a:bodyPr/>
                    <a:lstStyle/>
                    <a:p>
                      <a:pPr marL="0" indent="0" algn="l">
                        <a:buNone/>
                      </a:pPr>
                      <a:r>
                        <a:rPr lang="en-US" sz="800" b="1">
                          <a:solidFill>
                            <a:srgbClr val="0E2233"/>
                          </a:solidFill>
                          <a:latin typeface="Segoe UI" pitchFamily="34" charset="0"/>
                          <a:ea typeface="Segoe UI" pitchFamily="34" charset="-122"/>
                          <a:cs typeface="Segoe UI" pitchFamily="34" charset="-120"/>
                        </a:rPr>
                        <a:t>Configuration</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Is configuration external to the build?</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One image must run in every environment</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Move settings to environment variables, ConfigMaps and Key Vault</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2"/>
                  </a:ext>
                </a:extLst>
              </a:tr>
              <a:tr h="357922">
                <a:tc>
                  <a:txBody>
                    <a:bodyPr/>
                    <a:lstStyle/>
                    <a:p>
                      <a:pPr marL="0" indent="0" algn="l">
                        <a:buNone/>
                      </a:pPr>
                      <a:r>
                        <a:rPr lang="en-US" sz="800" b="1">
                          <a:solidFill>
                            <a:srgbClr val="0E2233"/>
                          </a:solidFill>
                          <a:latin typeface="Segoe UI" pitchFamily="34" charset="0"/>
                          <a:ea typeface="Segoe UI" pitchFamily="34" charset="-122"/>
                          <a:cs typeface="Segoe UI" pitchFamily="34" charset="-120"/>
                        </a:rPr>
                        <a:t>Logging</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Does it log to stdout?</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Container platforms collect the console stream, not log files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Reconfigure the logging framework before you migrate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7922">
                <a:tc>
                  <a:txBody>
                    <a:bodyPr/>
                    <a:lstStyle/>
                    <a:p>
                      <a:pPr marL="0" indent="0" algn="l">
                        <a:buNone/>
                      </a:pPr>
                      <a:r>
                        <a:rPr lang="en-US" sz="800" b="1">
                          <a:solidFill>
                            <a:srgbClr val="0E2233"/>
                          </a:solidFill>
                          <a:latin typeface="Segoe UI" pitchFamily="34" charset="0"/>
                          <a:ea typeface="Segoe UI" pitchFamily="34" charset="-122"/>
                          <a:cs typeface="Segoe UI" pitchFamily="34" charset="-120"/>
                        </a:rPr>
                        <a:t>Start-up</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Does it start in under a minute?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Slow starts break scaling, rolling updates and self-healing</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Trim start-up work, or use a startup probe to buy time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4"/>
                  </a:ext>
                </a:extLst>
              </a:tr>
              <a:tr h="357922">
                <a:tc>
                  <a:txBody>
                    <a:bodyPr/>
                    <a:lstStyle/>
                    <a:p>
                      <a:pPr marL="0" indent="0" algn="l">
                        <a:buNone/>
                      </a:pPr>
                      <a:r>
                        <a:rPr lang="en-US" sz="800" b="1">
                          <a:solidFill>
                            <a:srgbClr val="0E2233"/>
                          </a:solidFill>
                          <a:latin typeface="Segoe UI" pitchFamily="34" charset="0"/>
                          <a:ea typeface="Segoe UI" pitchFamily="34" charset="-122"/>
                          <a:cs typeface="Segoe UI" pitchFamily="34" charset="-120"/>
                        </a:rPr>
                        <a:t>Security</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Can it run as a non-root user?</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Cluster policy will usually require it</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Fix file permissions and listening ports in the image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7922">
                <a:tc>
                  <a:txBody>
                    <a:bodyPr/>
                    <a:lstStyle/>
                    <a:p>
                      <a:pPr marL="0" indent="0" algn="l">
                        <a:buNone/>
                      </a:pPr>
                      <a:r>
                        <a:rPr lang="en-US" sz="800" b="1">
                          <a:solidFill>
                            <a:srgbClr val="0E2233"/>
                          </a:solidFill>
                          <a:latin typeface="Segoe UI" pitchFamily="34" charset="0"/>
                          <a:ea typeface="Segoe UI" pitchFamily="34" charset="-122"/>
                          <a:cs typeface="Segoe UI" pitchFamily="34" charset="-120"/>
                        </a:rPr>
                        <a:t>Health</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Does it have a health endpoint?</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Probes need a cheap, honest answer</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800">
                          <a:solidFill>
                            <a:srgbClr val="44566B"/>
                          </a:solidFill>
                          <a:latin typeface="Segoe UI" pitchFamily="34" charset="0"/>
                          <a:ea typeface="Segoe UI" pitchFamily="34" charset="-122"/>
                          <a:cs typeface="Segoe UI" pitchFamily="34" charset="-120"/>
                        </a:rPr>
                        <a:t>Add a readiness and a liveness endpoint to the application</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6"/>
                  </a:ext>
                </a:extLst>
              </a:tr>
            </a:tbl>
          </a:graphicData>
        </a:graphic>
      </p:graphicFrame>
      <p:sp>
        <p:nvSpPr>
          <p:cNvPr id="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0" name="Text 7"/>
          <p:cNvSpPr/>
          <p:nvPr/>
        </p:nvSpPr>
        <p:spPr>
          <a:xfrm>
            <a:off x="704088" y="4133088"/>
            <a:ext cx="7754112" cy="457200"/>
          </a:xfrm>
          <a:prstGeom prst="rect">
            <a:avLst/>
          </a:prstGeom>
          <a:noFill/>
          <a:ln/>
        </p:spPr>
        <p:txBody>
          <a:bodyPr wrap="square" lIns="0" tIns="0" rIns="0" bIns="0" rtlCol="0" anchor="ctr"/>
          <a:lstStyle/>
          <a:p>
            <a:pPr marL="0" indent="0">
              <a:buNone/>
            </a:pPr>
            <a:r>
              <a:rPr lang="en-US" sz="950" b="1">
                <a:solidFill>
                  <a:srgbClr val="0B63CE"/>
                </a:solidFill>
                <a:latin typeface="Segoe UI" pitchFamily="34" charset="0"/>
                <a:ea typeface="Segoe UI" pitchFamily="34" charset="-122"/>
                <a:cs typeface="Segoe UI" pitchFamily="34" charset="-120"/>
              </a:rPr>
              <a:t>Score it honestly   </a:t>
            </a:r>
            <a:r>
              <a:rPr lang="en-US" sz="950">
                <a:solidFill>
                  <a:srgbClr val="0E2233"/>
                </a:solidFill>
                <a:latin typeface="Segoe UI" pitchFamily="34" charset="0"/>
                <a:ea typeface="Segoe UI" pitchFamily="34" charset="-122"/>
                <a:cs typeface="Segoe UI" pitchFamily="34" charset="-120"/>
              </a:rPr>
              <a:t>mostly yes means containerise now, several no answers means fix the application first or start with App Service.</a:t>
            </a:r>
            <a:endParaRPr lang="en-US" sz="95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10 · INGRESS AND TRAFFIC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Ingress controller overview</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One entry point, one public IP, one certificate store — and rules that route each request to the right Service.</a:t>
            </a:r>
            <a:endParaRPr lang="en-US" sz="1150"/>
          </a:p>
        </p:txBody>
      </p:sp>
      <p:sp>
        <p:nvSpPr>
          <p:cNvPr id="7" name="client box">
            <a:extLst>
              <a:ext uri="{C183D7F6-B498-43B3-948B-1728B52AA6E4}">
                <adec:decorative xmlns:adec="http://schemas.microsoft.com/office/drawing/2017/decorative" val="1"/>
              </a:ext>
            </a:extLst>
          </p:cNvPr>
          <p:cNvSpPr/>
          <p:nvPr/>
        </p:nvSpPr>
        <p:spPr>
          <a:xfrm>
            <a:off x="502920" y="1737360"/>
            <a:ext cx="1737360" cy="868680"/>
          </a:xfrm>
          <a:prstGeom prst="rect">
            <a:avLst/>
          </a:prstGeom>
          <a:solidFill>
            <a:srgbClr val="F6F9FD"/>
          </a:solidFill>
          <a:ln w="12700">
            <a:solidFill>
              <a:srgbClr val="D8E5F2"/>
            </a:solidFill>
            <a:prstDash val="solid"/>
          </a:ln>
        </p:spPr>
        <p:txBody>
          <a:bodyPr/>
          <a:lstStyle/>
          <a:p>
            <a:endParaRPr lang="en-IN"/>
          </a:p>
        </p:txBody>
      </p:sp>
      <p:sp>
        <p:nvSpPr>
          <p:cNvPr id="8" name="Text 6"/>
          <p:cNvSpPr/>
          <p:nvPr/>
        </p:nvSpPr>
        <p:spPr>
          <a:xfrm>
            <a:off x="502920" y="1810512"/>
            <a:ext cx="1737360" cy="274320"/>
          </a:xfrm>
          <a:prstGeom prst="rect">
            <a:avLst/>
          </a:prstGeom>
          <a:noFill/>
          <a:ln/>
        </p:spPr>
        <p:txBody>
          <a:bodyPr wrap="square" lIns="0" tIns="0" rIns="0" bIns="0" rtlCol="0" anchor="ctr"/>
          <a:lstStyle/>
          <a:p>
            <a:pPr marL="0" indent="0" algn="ctr">
              <a:buNone/>
            </a:pPr>
            <a:r>
              <a:rPr lang="en-US" sz="1200" b="1">
                <a:solidFill>
                  <a:srgbClr val="0E2233"/>
                </a:solidFill>
                <a:latin typeface="Segoe UI" pitchFamily="34" charset="0"/>
                <a:ea typeface="Segoe UI" pitchFamily="34" charset="-122"/>
                <a:cs typeface="Segoe UI" pitchFamily="34" charset="-120"/>
              </a:rPr>
              <a:t>Client</a:t>
            </a:r>
            <a:endParaRPr lang="en-US" sz="1200"/>
          </a:p>
        </p:txBody>
      </p:sp>
      <p:sp>
        <p:nvSpPr>
          <p:cNvPr id="9" name="Text 7"/>
          <p:cNvSpPr/>
          <p:nvPr/>
        </p:nvSpPr>
        <p:spPr>
          <a:xfrm>
            <a:off x="548640" y="2084832"/>
            <a:ext cx="1645920" cy="457200"/>
          </a:xfrm>
          <a:prstGeom prst="rect">
            <a:avLst/>
          </a:prstGeom>
          <a:noFill/>
          <a:ln/>
        </p:spPr>
        <p:txBody>
          <a:bodyPr wrap="square" lIns="0" tIns="0" rIns="0" bIns="0" rtlCol="0" anchor="t"/>
          <a:lstStyle/>
          <a:p>
            <a:pPr marL="0" indent="0" algn="ctr">
              <a:buNone/>
            </a:pPr>
            <a:r>
              <a:rPr lang="en-US" sz="800">
                <a:solidFill>
                  <a:srgbClr val="44566B"/>
                </a:solidFill>
                <a:latin typeface="Segoe UI" pitchFamily="34" charset="0"/>
                <a:ea typeface="Segoe UI" pitchFamily="34" charset="-122"/>
                <a:cs typeface="Segoe UI" pitchFamily="34" charset="-120"/>
              </a:rPr>
              <a:t>https://shop.contoso.com</a:t>
            </a:r>
            <a:endParaRPr lang="en-US" sz="800"/>
          </a:p>
        </p:txBody>
      </p:sp>
      <p:sp>
        <p:nvSpPr>
          <p:cNvPr id="10" name="flow arrow">
            <a:extLst>
              <a:ext uri="{C183D7F6-B498-43B3-948B-1728B52AA6E4}">
                <adec:decorative xmlns:adec="http://schemas.microsoft.com/office/drawing/2017/decorative" val="1"/>
              </a:ext>
            </a:extLst>
          </p:cNvPr>
          <p:cNvSpPr/>
          <p:nvPr/>
        </p:nvSpPr>
        <p:spPr>
          <a:xfrm>
            <a:off x="2331720" y="2084832"/>
            <a:ext cx="548640" cy="201168"/>
          </a:xfrm>
          <a:prstGeom prst="rightArrow">
            <a:avLst/>
          </a:prstGeom>
          <a:solidFill>
            <a:srgbClr val="17A9DB"/>
          </a:solidFill>
          <a:ln w="12700">
            <a:solidFill>
              <a:srgbClr val="333333"/>
            </a:solidFill>
            <a:prstDash val="solid"/>
          </a:ln>
        </p:spPr>
        <p:txBody>
          <a:bodyPr/>
          <a:lstStyle/>
          <a:p>
            <a:endParaRPr lang="en-IN"/>
          </a:p>
        </p:txBody>
      </p:sp>
      <p:sp>
        <p:nvSpPr>
          <p:cNvPr id="11" name="service box">
            <a:extLst>
              <a:ext uri="{C183D7F6-B498-43B3-948B-1728B52AA6E4}">
                <adec:decorative xmlns:adec="http://schemas.microsoft.com/office/drawing/2017/decorative" val="1"/>
              </a:ext>
            </a:extLst>
          </p:cNvPr>
          <p:cNvSpPr/>
          <p:nvPr/>
        </p:nvSpPr>
        <p:spPr>
          <a:xfrm>
            <a:off x="2971800" y="1600200"/>
            <a:ext cx="2377440" cy="1417320"/>
          </a:xfrm>
          <a:prstGeom prst="rect">
            <a:avLst/>
          </a:prstGeom>
          <a:solidFill>
            <a:srgbClr val="0A2E4E"/>
          </a:solidFill>
          <a:ln w="12700">
            <a:solidFill>
              <a:srgbClr val="333333"/>
            </a:solidFill>
            <a:prstDash val="solid"/>
          </a:ln>
        </p:spPr>
        <p:txBody>
          <a:bodyPr/>
          <a:lstStyle/>
          <a:p>
            <a:endParaRPr lang="en-IN"/>
          </a:p>
        </p:txBody>
      </p:sp>
      <p:sp>
        <p:nvSpPr>
          <p:cNvPr id="12" name="Text 10"/>
          <p:cNvSpPr/>
          <p:nvPr/>
        </p:nvSpPr>
        <p:spPr>
          <a:xfrm>
            <a:off x="2971800" y="1691640"/>
            <a:ext cx="2377440" cy="274320"/>
          </a:xfrm>
          <a:prstGeom prst="rect">
            <a:avLst/>
          </a:prstGeom>
          <a:noFill/>
          <a:ln/>
        </p:spPr>
        <p:txBody>
          <a:bodyPr wrap="square" lIns="0" tIns="0" rIns="0" bIns="0" rtlCol="0" anchor="ctr"/>
          <a:lstStyle/>
          <a:p>
            <a:pPr marL="0" indent="0" algn="ctr">
              <a:buNone/>
            </a:pPr>
            <a:r>
              <a:rPr lang="en-US" sz="1300" b="1">
                <a:solidFill>
                  <a:srgbClr val="FFFFFF"/>
                </a:solidFill>
                <a:latin typeface="Segoe UI" pitchFamily="34" charset="0"/>
                <a:ea typeface="Segoe UI" pitchFamily="34" charset="-122"/>
                <a:cs typeface="Segoe UI" pitchFamily="34" charset="-120"/>
              </a:rPr>
              <a:t>Ingress controller</a:t>
            </a:r>
            <a:endParaRPr lang="en-US" sz="1300"/>
          </a:p>
        </p:txBody>
      </p:sp>
      <p:sp>
        <p:nvSpPr>
          <p:cNvPr id="13" name="Text 11"/>
          <p:cNvSpPr/>
          <p:nvPr/>
        </p:nvSpPr>
        <p:spPr>
          <a:xfrm>
            <a:off x="2971800" y="1965960"/>
            <a:ext cx="2377440" cy="237744"/>
          </a:xfrm>
          <a:prstGeom prst="rect">
            <a:avLst/>
          </a:prstGeom>
          <a:noFill/>
          <a:ln/>
        </p:spPr>
        <p:txBody>
          <a:bodyPr wrap="square" lIns="0" tIns="0" rIns="0" bIns="0" rtlCol="0" anchor="ctr"/>
          <a:lstStyle/>
          <a:p>
            <a:pPr marL="0" indent="0" algn="ctr">
              <a:buNone/>
            </a:pPr>
            <a:r>
              <a:rPr lang="en-US" sz="800">
                <a:solidFill>
                  <a:srgbClr val="17A9DB"/>
                </a:solidFill>
                <a:latin typeface="Consolas" pitchFamily="34" charset="0"/>
                <a:ea typeface="Consolas" pitchFamily="34" charset="-122"/>
                <a:cs typeface="Consolas" pitchFamily="34" charset="-120"/>
              </a:rPr>
              <a:t>one load balancer and public IP</a:t>
            </a:r>
            <a:endParaRPr lang="en-US" sz="800"/>
          </a:p>
        </p:txBody>
      </p:sp>
      <p:sp>
        <p:nvSpPr>
          <p:cNvPr id="14" name="Text 12"/>
          <p:cNvSpPr/>
          <p:nvPr/>
        </p:nvSpPr>
        <p:spPr>
          <a:xfrm>
            <a:off x="3063240" y="2212848"/>
            <a:ext cx="2194560" cy="731520"/>
          </a:xfrm>
          <a:prstGeom prst="rect">
            <a:avLst/>
          </a:prstGeom>
          <a:noFill/>
          <a:ln/>
        </p:spPr>
        <p:txBody>
          <a:bodyPr wrap="square" lIns="0" tIns="0" rIns="0" bIns="0" rtlCol="0" anchor="t"/>
          <a:lstStyle/>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Reads Ingress rules</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Terminates TLS</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Routes by host and path</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to the right Service</a:t>
            </a:r>
            <a:endParaRPr lang="en-US" sz="900"/>
          </a:p>
        </p:txBody>
      </p:sp>
      <p:sp>
        <p:nvSpPr>
          <p:cNvPr id="15" name="flow arrow">
            <a:extLst>
              <a:ext uri="{C183D7F6-B498-43B3-948B-1728B52AA6E4}">
                <adec:decorative xmlns:adec="http://schemas.microsoft.com/office/drawing/2017/decorative" val="1"/>
              </a:ext>
            </a:extLst>
          </p:cNvPr>
          <p:cNvSpPr/>
          <p:nvPr/>
        </p:nvSpPr>
        <p:spPr>
          <a:xfrm>
            <a:off x="5440680" y="2084832"/>
            <a:ext cx="502920" cy="201168"/>
          </a:xfrm>
          <a:prstGeom prst="rightArrow">
            <a:avLst/>
          </a:prstGeom>
          <a:solidFill>
            <a:srgbClr val="17A9DB"/>
          </a:solidFill>
          <a:ln w="12700">
            <a:solidFill>
              <a:srgbClr val="333333"/>
            </a:solidFill>
            <a:prstDash val="solid"/>
          </a:ln>
        </p:spPr>
        <p:txBody>
          <a:bodyPr/>
          <a:lstStyle/>
          <a:p>
            <a:endParaRPr lang="en-IN"/>
          </a:p>
        </p:txBody>
      </p:sp>
      <p:sp>
        <p:nvSpPr>
          <p:cNvPr id="16" name="pod box">
            <a:extLst>
              <a:ext uri="{C183D7F6-B498-43B3-948B-1728B52AA6E4}">
                <adec:decorative xmlns:adec="http://schemas.microsoft.com/office/drawing/2017/decorative" val="1"/>
              </a:ext>
            </a:extLst>
          </p:cNvPr>
          <p:cNvSpPr/>
          <p:nvPr/>
        </p:nvSpPr>
        <p:spPr>
          <a:xfrm>
            <a:off x="6035040" y="1572768"/>
            <a:ext cx="2606040" cy="420624"/>
          </a:xfrm>
          <a:prstGeom prst="rect">
            <a:avLst/>
          </a:prstGeom>
          <a:solidFill>
            <a:srgbClr val="EDF4FC"/>
          </a:solidFill>
          <a:ln w="9525">
            <a:solidFill>
              <a:srgbClr val="0B63CE"/>
            </a:solidFill>
            <a:prstDash val="solid"/>
          </a:ln>
        </p:spPr>
        <p:txBody>
          <a:bodyPr/>
          <a:lstStyle/>
          <a:p>
            <a:endParaRPr lang="en-IN"/>
          </a:p>
        </p:txBody>
      </p:sp>
      <p:sp>
        <p:nvSpPr>
          <p:cNvPr id="17" name="Text 15"/>
          <p:cNvSpPr/>
          <p:nvPr/>
        </p:nvSpPr>
        <p:spPr>
          <a:xfrm>
            <a:off x="6126480" y="1572768"/>
            <a:ext cx="2423160" cy="420624"/>
          </a:xfrm>
          <a:prstGeom prst="rect">
            <a:avLst/>
          </a:prstGeom>
          <a:noFill/>
          <a:ln/>
        </p:spPr>
        <p:txBody>
          <a:bodyPr wrap="square" lIns="0" tIns="0" rIns="0" bIns="0" rtlCol="0" anchor="ctr"/>
          <a:lstStyle/>
          <a:p>
            <a:pPr marL="0" indent="0">
              <a:buNone/>
            </a:pPr>
            <a:r>
              <a:rPr lang="en-US" sz="850" b="1">
                <a:solidFill>
                  <a:srgbClr val="0A2E4E"/>
                </a:solidFill>
                <a:latin typeface="Segoe UI" pitchFamily="34" charset="0"/>
                <a:ea typeface="Segoe UI" pitchFamily="34" charset="-122"/>
                <a:cs typeface="Segoe UI" pitchFamily="34" charset="-120"/>
              </a:rPr>
              <a:t>Service  </a:t>
            </a:r>
            <a:r>
              <a:rPr lang="en-US" sz="850">
                <a:solidFill>
                  <a:srgbClr val="44566B"/>
                </a:solidFill>
                <a:latin typeface="Segoe UI" pitchFamily="34" charset="0"/>
                <a:ea typeface="Segoe UI" pitchFamily="34" charset="-122"/>
                <a:cs typeface="Segoe UI" pitchFamily="34" charset="-120"/>
              </a:rPr>
              <a:t>ClusterIP, stable in-cluster address</a:t>
            </a:r>
            <a:endParaRPr lang="en-US" sz="850"/>
          </a:p>
        </p:txBody>
      </p:sp>
      <p:sp>
        <p:nvSpPr>
          <p:cNvPr id="18" name="pod box">
            <a:extLst>
              <a:ext uri="{C183D7F6-B498-43B3-948B-1728B52AA6E4}">
                <adec:decorative xmlns:adec="http://schemas.microsoft.com/office/drawing/2017/decorative" val="1"/>
              </a:ext>
            </a:extLst>
          </p:cNvPr>
          <p:cNvSpPr/>
          <p:nvPr/>
        </p:nvSpPr>
        <p:spPr>
          <a:xfrm>
            <a:off x="6035040" y="2084832"/>
            <a:ext cx="2606040" cy="420624"/>
          </a:xfrm>
          <a:prstGeom prst="rect">
            <a:avLst/>
          </a:prstGeom>
          <a:solidFill>
            <a:srgbClr val="EDF4FC"/>
          </a:solidFill>
          <a:ln w="9525">
            <a:solidFill>
              <a:srgbClr val="0B63CE"/>
            </a:solidFill>
            <a:prstDash val="solid"/>
          </a:ln>
        </p:spPr>
        <p:txBody>
          <a:bodyPr/>
          <a:lstStyle/>
          <a:p>
            <a:endParaRPr lang="en-IN"/>
          </a:p>
        </p:txBody>
      </p:sp>
      <p:sp>
        <p:nvSpPr>
          <p:cNvPr id="19" name="Text 17"/>
          <p:cNvSpPr/>
          <p:nvPr/>
        </p:nvSpPr>
        <p:spPr>
          <a:xfrm>
            <a:off x="6126480" y="2084832"/>
            <a:ext cx="2423160" cy="420624"/>
          </a:xfrm>
          <a:prstGeom prst="rect">
            <a:avLst/>
          </a:prstGeom>
          <a:noFill/>
          <a:ln/>
        </p:spPr>
        <p:txBody>
          <a:bodyPr wrap="square" lIns="0" tIns="0" rIns="0" bIns="0" rtlCol="0" anchor="ctr"/>
          <a:lstStyle/>
          <a:p>
            <a:pPr marL="0" indent="0">
              <a:buNone/>
            </a:pPr>
            <a:r>
              <a:rPr lang="en-US" sz="850" b="1">
                <a:solidFill>
                  <a:srgbClr val="0A2E4E"/>
                </a:solidFill>
                <a:latin typeface="Segoe UI" pitchFamily="34" charset="0"/>
                <a:ea typeface="Segoe UI" pitchFamily="34" charset="-122"/>
                <a:cs typeface="Segoe UI" pitchFamily="34" charset="-120"/>
              </a:rPr>
              <a:t>Pods  </a:t>
            </a:r>
            <a:r>
              <a:rPr lang="en-US" sz="850">
                <a:solidFill>
                  <a:srgbClr val="44566B"/>
                </a:solidFill>
                <a:latin typeface="Segoe UI" pitchFamily="34" charset="0"/>
                <a:ea typeface="Segoe UI" pitchFamily="34" charset="-122"/>
                <a:cs typeface="Segoe UI" pitchFamily="34" charset="-120"/>
              </a:rPr>
              <a:t>the running replicas</a:t>
            </a:r>
            <a:endParaRPr lang="en-US" sz="850"/>
          </a:p>
        </p:txBody>
      </p:sp>
      <p:sp>
        <p:nvSpPr>
          <p:cNvPr id="20" name="pod box">
            <a:extLst>
              <a:ext uri="{C183D7F6-B498-43B3-948B-1728B52AA6E4}">
                <adec:decorative xmlns:adec="http://schemas.microsoft.com/office/drawing/2017/decorative" val="1"/>
              </a:ext>
            </a:extLst>
          </p:cNvPr>
          <p:cNvSpPr/>
          <p:nvPr/>
        </p:nvSpPr>
        <p:spPr>
          <a:xfrm>
            <a:off x="6035040" y="2596896"/>
            <a:ext cx="2606040" cy="420624"/>
          </a:xfrm>
          <a:prstGeom prst="rect">
            <a:avLst/>
          </a:prstGeom>
          <a:solidFill>
            <a:srgbClr val="EDF4FC"/>
          </a:solidFill>
          <a:ln w="9525">
            <a:solidFill>
              <a:srgbClr val="0B63CE"/>
            </a:solidFill>
            <a:prstDash val="solid"/>
          </a:ln>
        </p:spPr>
        <p:txBody>
          <a:bodyPr/>
          <a:lstStyle/>
          <a:p>
            <a:endParaRPr lang="en-IN"/>
          </a:p>
        </p:txBody>
      </p:sp>
      <p:sp>
        <p:nvSpPr>
          <p:cNvPr id="21" name="Text 19"/>
          <p:cNvSpPr/>
          <p:nvPr/>
        </p:nvSpPr>
        <p:spPr>
          <a:xfrm>
            <a:off x="6126480" y="2596896"/>
            <a:ext cx="2423160" cy="420624"/>
          </a:xfrm>
          <a:prstGeom prst="rect">
            <a:avLst/>
          </a:prstGeom>
          <a:noFill/>
          <a:ln/>
        </p:spPr>
        <p:txBody>
          <a:bodyPr wrap="square" lIns="0" tIns="0" rIns="0" bIns="0" rtlCol="0" anchor="ctr"/>
          <a:lstStyle/>
          <a:p>
            <a:pPr marL="0" indent="0">
              <a:buNone/>
            </a:pPr>
            <a:r>
              <a:rPr lang="en-US" sz="850" b="1">
                <a:solidFill>
                  <a:srgbClr val="0A2E4E"/>
                </a:solidFill>
                <a:latin typeface="Segoe UI" pitchFamily="34" charset="0"/>
                <a:ea typeface="Segoe UI" pitchFamily="34" charset="-122"/>
                <a:cs typeface="Segoe UI" pitchFamily="34" charset="-120"/>
              </a:rPr>
              <a:t>Health  </a:t>
            </a:r>
            <a:r>
              <a:rPr lang="en-US" sz="850">
                <a:solidFill>
                  <a:srgbClr val="44566B"/>
                </a:solidFill>
                <a:latin typeface="Segoe UI" pitchFamily="34" charset="0"/>
                <a:ea typeface="Segoe UI" pitchFamily="34" charset="-122"/>
                <a:cs typeface="Segoe UI" pitchFamily="34" charset="-120"/>
              </a:rPr>
              <a:t>the running replicas</a:t>
            </a:r>
            <a:endParaRPr lang="en-US" sz="850"/>
          </a:p>
        </p:txBody>
      </p:sp>
      <p:sp>
        <p:nvSpPr>
          <p:cNvPr id="22" name="stat block">
            <a:extLst>
              <a:ext uri="{C183D7F6-B498-43B3-948B-1728B52AA6E4}">
                <adec:decorative xmlns:adec="http://schemas.microsoft.com/office/drawing/2017/decorative" val="1"/>
              </a:ext>
            </a:extLst>
          </p:cNvPr>
          <p:cNvSpPr/>
          <p:nvPr/>
        </p:nvSpPr>
        <p:spPr>
          <a:xfrm>
            <a:off x="502920"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3" name="stat accent">
            <a:extLst>
              <a:ext uri="{C183D7F6-B498-43B3-948B-1728B52AA6E4}">
                <adec:decorative xmlns:adec="http://schemas.microsoft.com/office/drawing/2017/decorative" val="1"/>
              </a:ext>
            </a:extLst>
          </p:cNvPr>
          <p:cNvSpPr/>
          <p:nvPr/>
        </p:nvSpPr>
        <p:spPr>
          <a:xfrm>
            <a:off x="502920" y="3246120"/>
            <a:ext cx="45720" cy="621792"/>
          </a:xfrm>
          <a:prstGeom prst="rect">
            <a:avLst/>
          </a:prstGeom>
          <a:solidFill>
            <a:srgbClr val="0B63CE"/>
          </a:solidFill>
          <a:ln w="12700">
            <a:solidFill>
              <a:srgbClr val="333333"/>
            </a:solidFill>
            <a:prstDash val="solid"/>
          </a:ln>
        </p:spPr>
        <p:txBody>
          <a:bodyPr/>
          <a:lstStyle/>
          <a:p>
            <a:endParaRPr lang="en-IN"/>
          </a:p>
        </p:txBody>
      </p:sp>
      <p:sp>
        <p:nvSpPr>
          <p:cNvPr id="24" name="Text 22"/>
          <p:cNvSpPr/>
          <p:nvPr/>
        </p:nvSpPr>
        <p:spPr>
          <a:xfrm>
            <a:off x="685800"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Ingress resource</a:t>
            </a:r>
            <a:endParaRPr lang="en-US" sz="1100"/>
          </a:p>
        </p:txBody>
      </p:sp>
      <p:sp>
        <p:nvSpPr>
          <p:cNvPr id="25" name="Text 23"/>
          <p:cNvSpPr/>
          <p:nvPr/>
        </p:nvSpPr>
        <p:spPr>
          <a:xfrm>
            <a:off x="685800" y="3557016"/>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The rules: which host and path go to which Service and port. It does nothing on its own.</a:t>
            </a:r>
            <a:endParaRPr lang="en-US" sz="700"/>
          </a:p>
        </p:txBody>
      </p:sp>
      <p:sp>
        <p:nvSpPr>
          <p:cNvPr id="26" name="stat block">
            <a:extLst>
              <a:ext uri="{C183D7F6-B498-43B3-948B-1728B52AA6E4}">
                <adec:decorative xmlns:adec="http://schemas.microsoft.com/office/drawing/2017/decorative" val="1"/>
              </a:ext>
            </a:extLst>
          </p:cNvPr>
          <p:cNvSpPr/>
          <p:nvPr/>
        </p:nvSpPr>
        <p:spPr>
          <a:xfrm>
            <a:off x="3282696"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3282696" y="3246120"/>
            <a:ext cx="45720" cy="621792"/>
          </a:xfrm>
          <a:prstGeom prst="rect">
            <a:avLst/>
          </a:prstGeom>
          <a:solidFill>
            <a:srgbClr val="F2A93B"/>
          </a:solidFill>
          <a:ln w="12700">
            <a:solidFill>
              <a:srgbClr val="333333"/>
            </a:solidFill>
            <a:prstDash val="solid"/>
          </a:ln>
        </p:spPr>
        <p:txBody>
          <a:bodyPr/>
          <a:lstStyle/>
          <a:p>
            <a:endParaRPr lang="en-IN"/>
          </a:p>
        </p:txBody>
      </p:sp>
      <p:sp>
        <p:nvSpPr>
          <p:cNvPr id="28" name="Text 26"/>
          <p:cNvSpPr/>
          <p:nvPr/>
        </p:nvSpPr>
        <p:spPr>
          <a:xfrm>
            <a:off x="3465576"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Ingress controller</a:t>
            </a:r>
            <a:endParaRPr lang="en-US" sz="1100"/>
          </a:p>
        </p:txBody>
      </p:sp>
      <p:sp>
        <p:nvSpPr>
          <p:cNvPr id="29" name="Text 27"/>
          <p:cNvSpPr/>
          <p:nvPr/>
        </p:nvSpPr>
        <p:spPr>
          <a:xfrm>
            <a:off x="3465576" y="3557016"/>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The software that reads those rules and routes traffic. On AKS, the managed application routing add-on or NGINX.</a:t>
            </a:r>
            <a:endParaRPr lang="en-US" sz="700"/>
          </a:p>
        </p:txBody>
      </p:sp>
      <p:sp>
        <p:nvSpPr>
          <p:cNvPr id="30" name="stat block">
            <a:extLst>
              <a:ext uri="{C183D7F6-B498-43B3-948B-1728B52AA6E4}">
                <adec:decorative xmlns:adec="http://schemas.microsoft.com/office/drawing/2017/decorative" val="1"/>
              </a:ext>
            </a:extLst>
          </p:cNvPr>
          <p:cNvSpPr/>
          <p:nvPr/>
        </p:nvSpPr>
        <p:spPr>
          <a:xfrm>
            <a:off x="6062472"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6062472" y="3246120"/>
            <a:ext cx="45720" cy="621792"/>
          </a:xfrm>
          <a:prstGeom prst="rect">
            <a:avLst/>
          </a:prstGeom>
          <a:solidFill>
            <a:srgbClr val="17A9DB"/>
          </a:solidFill>
          <a:ln w="12700">
            <a:solidFill>
              <a:srgbClr val="333333"/>
            </a:solidFill>
            <a:prstDash val="solid"/>
          </a:ln>
        </p:spPr>
        <p:txBody>
          <a:bodyPr/>
          <a:lstStyle/>
          <a:p>
            <a:endParaRPr lang="en-IN"/>
          </a:p>
        </p:txBody>
      </p:sp>
      <p:sp>
        <p:nvSpPr>
          <p:cNvPr id="32" name="Text 30"/>
          <p:cNvSpPr/>
          <p:nvPr/>
        </p:nvSpPr>
        <p:spPr>
          <a:xfrm>
            <a:off x="6245352"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Why not LoadBalancer?</a:t>
            </a:r>
            <a:endParaRPr lang="en-US" sz="1100"/>
          </a:p>
        </p:txBody>
      </p:sp>
      <p:sp>
        <p:nvSpPr>
          <p:cNvPr id="33" name="Text 31"/>
          <p:cNvSpPr/>
          <p:nvPr/>
        </p:nvSpPr>
        <p:spPr>
          <a:xfrm>
            <a:off x="6245352" y="3557016"/>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A Service of type LoadBalancer per application means a public IP and a certificate per application. Ingress shares one.</a:t>
            </a:r>
            <a:endParaRPr lang="en-US" sz="700"/>
          </a:p>
        </p:txBody>
      </p:sp>
      <p:sp>
        <p:nvSpPr>
          <p:cNvPr id="34"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5"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36" name="Text 34"/>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F2A93B"/>
                </a:solidFill>
                <a:latin typeface="Segoe UI" pitchFamily="34" charset="0"/>
                <a:ea typeface="Segoe UI" pitchFamily="34" charset="-122"/>
                <a:cs typeface="Segoe UI" pitchFamily="34" charset="-120"/>
              </a:rPr>
              <a:t>Getting started   </a:t>
            </a:r>
            <a:r>
              <a:rPr lang="en-US" sz="950">
                <a:solidFill>
                  <a:srgbClr val="0E2233"/>
                </a:solidFill>
                <a:latin typeface="Segoe UI" pitchFamily="34" charset="0"/>
                <a:ea typeface="Segoe UI" pitchFamily="34" charset="-122"/>
                <a:cs typeface="Segoe UI" pitchFamily="34" charset="-120"/>
              </a:rPr>
              <a:t>Enable the managed option with az aks approuting enable, or install an NGINX ingress controller with Helm when you need full control of the configuration.</a:t>
            </a:r>
            <a:endParaRPr lang="en-US" sz="1000"/>
          </a:p>
        </p:txBody>
      </p:sp>
      <p:sp>
        <p:nvSpPr>
          <p:cNvPr id="3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10 · INGRESS AND TRAFFIC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Path-based routing</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One hostname, several applications — the ingress controller decides by the part of the URL after the domain.</a:t>
            </a:r>
            <a:endParaRPr lang="en-US" sz="1150"/>
          </a:p>
        </p:txBody>
      </p:sp>
      <p:sp>
        <p:nvSpPr>
          <p:cNvPr id="7" name="Text 5"/>
          <p:cNvSpPr/>
          <p:nvPr/>
        </p:nvSpPr>
        <p:spPr>
          <a:xfrm>
            <a:off x="502920" y="1481328"/>
            <a:ext cx="4023360" cy="1865376"/>
          </a:xfrm>
          <a:prstGeom prst="rect">
            <a:avLst/>
          </a:prstGeom>
          <a:noFill/>
          <a:ln/>
        </p:spPr>
        <p:txBody>
          <a:bodyPr wrap="square" lIns="0" tIns="0" rIns="0" bIns="0" rtlCol="0" anchor="t"/>
          <a:lstStyle/>
          <a:p>
            <a:pPr marL="342900" indent="-342900">
              <a:spcAft>
                <a:spcPts val="900"/>
              </a:spcAft>
              <a:buSzPct val="100000"/>
              <a:buChar char="•"/>
            </a:pPr>
            <a:r>
              <a:rPr lang="en-US" sz="875">
                <a:solidFill>
                  <a:srgbClr val="44566B"/>
                </a:solidFill>
                <a:latin typeface="Segoe UI" pitchFamily="34" charset="0"/>
                <a:ea typeface="Segoe UI" pitchFamily="34" charset="-122"/>
                <a:cs typeface="Segoe UI" pitchFamily="34" charset="-120"/>
              </a:rPr>
              <a:t>Requests to /api go to one Service, /checkout to another, everything else to the front end</a:t>
            </a:r>
            <a:endParaRPr lang="en-US" sz="875"/>
          </a:p>
          <a:p>
            <a:pPr marL="342900" indent="-342900">
              <a:spcAft>
                <a:spcPts val="900"/>
              </a:spcAft>
              <a:buSzPct val="100000"/>
              <a:buChar char="•"/>
            </a:pPr>
            <a:r>
              <a:rPr lang="en-US" sz="875">
                <a:solidFill>
                  <a:srgbClr val="44566B"/>
                </a:solidFill>
                <a:latin typeface="Segoe UI" pitchFamily="34" charset="0"/>
                <a:ea typeface="Segoe UI" pitchFamily="34" charset="-122"/>
                <a:cs typeface="Segoe UI" pitchFamily="34" charset="-120"/>
              </a:rPr>
              <a:t>Rules are evaluated by the controller, so the client only ever sees one address</a:t>
            </a:r>
            <a:endParaRPr lang="en-US" sz="875"/>
          </a:p>
          <a:p>
            <a:pPr marL="342900" indent="-342900">
              <a:spcAft>
                <a:spcPts val="900"/>
              </a:spcAft>
              <a:buSzPct val="100000"/>
              <a:buChar char="•"/>
            </a:pPr>
            <a:r>
              <a:rPr lang="en-US" sz="875">
                <a:solidFill>
                  <a:srgbClr val="44566B"/>
                </a:solidFill>
                <a:latin typeface="Segoe UI" pitchFamily="34" charset="0"/>
                <a:ea typeface="Segoe UI" pitchFamily="34" charset="-122"/>
                <a:cs typeface="Segoe UI" pitchFamily="34" charset="-120"/>
              </a:rPr>
              <a:t>Match type matters: Prefix matches everything below the path, Exact matches only that path</a:t>
            </a:r>
            <a:endParaRPr lang="en-US" sz="875"/>
          </a:p>
        </p:txBody>
      </p:sp>
      <p:sp>
        <p:nvSpPr>
          <p:cNvPr id="8" name="code panel">
            <a:extLst>
              <a:ext uri="{C183D7F6-B498-43B3-948B-1728B52AA6E4}">
                <adec:decorative xmlns:adec="http://schemas.microsoft.com/office/drawing/2017/decorative" val="1"/>
              </a:ext>
            </a:extLst>
          </p:cNvPr>
          <p:cNvSpPr/>
          <p:nvPr/>
        </p:nvSpPr>
        <p:spPr>
          <a:xfrm>
            <a:off x="4709160" y="1481328"/>
            <a:ext cx="3931920" cy="186537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9" name="code panel header">
            <a:extLst>
              <a:ext uri="{C183D7F6-B498-43B3-948B-1728B52AA6E4}">
                <adec:decorative xmlns:adec="http://schemas.microsoft.com/office/drawing/2017/decorative" val="1"/>
              </a:ext>
            </a:extLst>
          </p:cNvPr>
          <p:cNvSpPr/>
          <p:nvPr/>
        </p:nvSpPr>
        <p:spPr>
          <a:xfrm>
            <a:off x="4709160" y="1481328"/>
            <a:ext cx="3931920" cy="256032"/>
          </a:xfrm>
          <a:prstGeom prst="rect">
            <a:avLst/>
          </a:prstGeom>
          <a:solidFill>
            <a:srgbClr val="0F3D66"/>
          </a:solidFill>
          <a:ln w="12700">
            <a:solidFill>
              <a:srgbClr val="333333"/>
            </a:solidFill>
            <a:prstDash val="solid"/>
          </a:ln>
        </p:spPr>
        <p:txBody>
          <a:bodyPr/>
          <a:lstStyle/>
          <a:p>
            <a:endParaRPr lang="en-IN"/>
          </a:p>
        </p:txBody>
      </p:sp>
      <p:sp>
        <p:nvSpPr>
          <p:cNvPr id="10" name="Text 8"/>
          <p:cNvSpPr/>
          <p:nvPr/>
        </p:nvSpPr>
        <p:spPr>
          <a:xfrm>
            <a:off x="4855464" y="1481328"/>
            <a:ext cx="363931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ingress-path.yaml</a:t>
            </a:r>
            <a:endParaRPr lang="en-US" sz="850"/>
          </a:p>
        </p:txBody>
      </p:sp>
      <p:sp>
        <p:nvSpPr>
          <p:cNvPr id="11" name="Text 9"/>
          <p:cNvSpPr/>
          <p:nvPr/>
        </p:nvSpPr>
        <p:spPr>
          <a:xfrm>
            <a:off x="4855464" y="1810512"/>
            <a:ext cx="3639312" cy="1389888"/>
          </a:xfrm>
          <a:prstGeom prst="rect">
            <a:avLst/>
          </a:prstGeom>
          <a:noFill/>
          <a:ln/>
        </p:spPr>
        <p:txBody>
          <a:bodyPr wrap="square" lIns="0" tIns="0" rIns="0" bIns="0" rtlCol="0" anchor="t"/>
          <a:lstStyle/>
          <a:p>
            <a:pPr marL="0" indent="0">
              <a:lnSpc>
                <a:spcPct val="100000"/>
              </a:lnSpc>
              <a:buNone/>
            </a:pPr>
            <a:r>
              <a:rPr lang="en-US" sz="640">
                <a:solidFill>
                  <a:srgbClr val="D7ECF8"/>
                </a:solidFill>
                <a:latin typeface="Consolas" pitchFamily="34" charset="0"/>
                <a:ea typeface="Consolas" pitchFamily="34" charset="-122"/>
                <a:cs typeface="Consolas" pitchFamily="34" charset="-120"/>
              </a:rPr>
              <a:t>spec:</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rules:</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 host: shop.contoso.com</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http:</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paths:</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 path: /api</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pathType: Prefix</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backend:</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service:</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name: payments-api</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 path: /</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pathType: Prefix</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backend:</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service:</a:t>
            </a:r>
            <a:endParaRPr lang="en-US" sz="640"/>
          </a:p>
          <a:p>
            <a:pPr marL="0" indent="0">
              <a:lnSpc>
                <a:spcPct val="100000"/>
              </a:lnSpc>
              <a:buNone/>
            </a:pPr>
            <a:r>
              <a:rPr lang="en-US" sz="640">
                <a:solidFill>
                  <a:srgbClr val="D7ECF8"/>
                </a:solidFill>
                <a:latin typeface="Consolas" pitchFamily="34" charset="0"/>
                <a:ea typeface="Consolas" pitchFamily="34" charset="-122"/>
                <a:cs typeface="Consolas" pitchFamily="34" charset="-120"/>
              </a:rPr>
              <a:t>            name: storefront</a:t>
            </a:r>
            <a:endParaRPr lang="en-US" sz="640"/>
          </a:p>
        </p:txBody>
      </p:sp>
      <p:sp>
        <p:nvSpPr>
          <p:cNvPr id="12"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3"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14" name="Text 12"/>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ORDER</a:t>
            </a:r>
            <a:endParaRPr lang="en-US" sz="1100"/>
          </a:p>
        </p:txBody>
      </p:sp>
      <p:sp>
        <p:nvSpPr>
          <p:cNvPr id="15" name="Text 13"/>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Most specific path wins, so keep the catch-all / rule last.</a:t>
            </a:r>
            <a:endParaRPr lang="en-US" sz="800"/>
          </a:p>
        </p:txBody>
      </p:sp>
      <p:sp>
        <p:nvSpPr>
          <p:cNvPr id="16"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17"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18" name="Text 16"/>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REWRITES</a:t>
            </a:r>
            <a:endParaRPr lang="en-US" sz="1100"/>
          </a:p>
        </p:txBody>
      </p:sp>
      <p:sp>
        <p:nvSpPr>
          <p:cNvPr id="19" name="Text 17"/>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If the app does not expect the prefix, add a rewrite annotation.</a:t>
            </a:r>
            <a:endParaRPr lang="en-US" sz="800"/>
          </a:p>
        </p:txBody>
      </p:sp>
      <p:sp>
        <p:nvSpPr>
          <p:cNvPr id="20"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1"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F2A93B"/>
          </a:solidFill>
          <a:ln w="12700">
            <a:solidFill>
              <a:srgbClr val="333333"/>
            </a:solidFill>
            <a:prstDash val="solid"/>
          </a:ln>
        </p:spPr>
        <p:txBody>
          <a:bodyPr/>
          <a:lstStyle/>
          <a:p>
            <a:endParaRPr lang="en-IN"/>
          </a:p>
        </p:txBody>
      </p:sp>
      <p:sp>
        <p:nvSpPr>
          <p:cNvPr id="22" name="Text 20"/>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ONE CERTIFICATE</a:t>
            </a:r>
            <a:endParaRPr lang="en-US" sz="1100"/>
          </a:p>
        </p:txBody>
      </p:sp>
      <p:sp>
        <p:nvSpPr>
          <p:cNvPr id="23" name="Text 21"/>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All paths share the hostname, so one TLS certificate covers them.</a:t>
            </a:r>
            <a:endParaRPr lang="en-US" sz="800"/>
          </a:p>
        </p:txBody>
      </p:sp>
      <p:sp>
        <p:nvSpPr>
          <p:cNvPr id="24" name="callout bar">
            <a:extLst>
              <a:ext uri="{C183D7F6-B498-43B3-948B-1728B52AA6E4}">
                <adec:decorative xmlns:adec="http://schemas.microsoft.com/office/drawing/2017/decorative" val="1"/>
              </a:ext>
            </a:extLst>
          </p:cNvPr>
          <p:cNvSpPr/>
          <p:nvPr/>
        </p:nvSpPr>
        <p:spPr>
          <a:xfrm>
            <a:off x="502920" y="4187952"/>
            <a:ext cx="8138160" cy="402336"/>
          </a:xfrm>
          <a:prstGeom prst="rect">
            <a:avLst/>
          </a:prstGeom>
          <a:solidFill>
            <a:srgbClr val="EDF4FC"/>
          </a:solidFill>
          <a:ln w="12700">
            <a:solidFill>
              <a:srgbClr val="333333"/>
            </a:solidFill>
            <a:prstDash val="solid"/>
          </a:ln>
        </p:spPr>
        <p:txBody>
          <a:bodyPr/>
          <a:lstStyle/>
          <a:p>
            <a:endParaRPr lang="en-IN"/>
          </a:p>
        </p:txBody>
      </p:sp>
      <p:sp>
        <p:nvSpPr>
          <p:cNvPr id="26" name="callout accent">
            <a:extLst>
              <a:ext uri="{C183D7F6-B498-43B3-948B-1728B52AA6E4}">
                <adec:decorative xmlns:adec="http://schemas.microsoft.com/office/drawing/2017/decorative" val="1"/>
              </a:ext>
            </a:extLst>
          </p:cNvPr>
          <p:cNvSpPr/>
          <p:nvPr/>
        </p:nvSpPr>
        <p:spPr>
          <a:xfrm>
            <a:off x="502920" y="4187952"/>
            <a:ext cx="45720" cy="402336"/>
          </a:xfrm>
          <a:prstGeom prst="rect">
            <a:avLst/>
          </a:prstGeom>
          <a:solidFill>
            <a:srgbClr val="0B63CE"/>
          </a:solidFill>
          <a:ln w="12700">
            <a:solidFill>
              <a:srgbClr val="333333"/>
            </a:solidFill>
            <a:prstDash val="solid"/>
          </a:ln>
        </p:spPr>
        <p:txBody>
          <a:bodyPr/>
          <a:lstStyle/>
          <a:p>
            <a:endParaRPr lang="en-IN"/>
          </a:p>
        </p:txBody>
      </p:sp>
      <p:sp>
        <p:nvSpPr>
          <p:cNvPr id="27" name="Text 24"/>
          <p:cNvSpPr/>
          <p:nvPr/>
        </p:nvSpPr>
        <p:spPr>
          <a:xfrm>
            <a:off x="685800" y="4187952"/>
            <a:ext cx="7772400" cy="402336"/>
          </a:xfrm>
          <a:prstGeom prst="rect">
            <a:avLst/>
          </a:prstGeom>
          <a:noFill/>
          <a:ln/>
        </p:spPr>
        <p:txBody>
          <a:bodyPr wrap="square" lIns="0" tIns="0" rIns="0" bIns="0" rtlCol="0" anchor="ctr"/>
          <a:lstStyle/>
          <a:p>
            <a:pPr marL="0" indent="0">
              <a:lnSpc>
                <a:spcPct val="105000"/>
              </a:lnSpc>
              <a:buNone/>
            </a:pPr>
            <a:r>
              <a:rPr lang="en-US" sz="875">
                <a:solidFill>
                  <a:srgbClr val="0E2233"/>
                </a:solidFill>
                <a:latin typeface="Segoe UI" pitchFamily="34" charset="0"/>
                <a:ea typeface="Segoe UI" pitchFamily="34" charset="-122"/>
                <a:cs typeface="Segoe UI" pitchFamily="34" charset="-120"/>
              </a:rPr>
              <a:t>Path routing keeps a single public entry point and a single certificate — the usual starting point for a team migrating several services onto one cluster.</a:t>
            </a:r>
            <a:endParaRPr lang="en-US" sz="875"/>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10 · INGRESS AND TRAFFIC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Host-based routing</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Several hostnames, one ingress controller — the routing decision is made on the Host header.</a:t>
            </a:r>
            <a:endParaRPr lang="en-US" sz="1150"/>
          </a:p>
        </p:txBody>
      </p:sp>
      <p:sp>
        <p:nvSpPr>
          <p:cNvPr id="7" name="code panel">
            <a:extLst>
              <a:ext uri="{C183D7F6-B498-43B3-948B-1728B52AA6E4}">
                <adec:decorative xmlns:adec="http://schemas.microsoft.com/office/drawing/2017/decorative" val="1"/>
              </a:ext>
            </a:extLst>
          </p:cNvPr>
          <p:cNvSpPr/>
          <p:nvPr/>
        </p:nvSpPr>
        <p:spPr>
          <a:xfrm>
            <a:off x="502920" y="1481328"/>
            <a:ext cx="4023360" cy="2514600"/>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02336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373075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ingress-host.yaml</a:t>
            </a:r>
            <a:endParaRPr lang="en-US" sz="850"/>
          </a:p>
        </p:txBody>
      </p:sp>
      <p:sp>
        <p:nvSpPr>
          <p:cNvPr id="10" name="Text 8"/>
          <p:cNvSpPr/>
          <p:nvPr/>
        </p:nvSpPr>
        <p:spPr>
          <a:xfrm>
            <a:off x="649224" y="1810512"/>
            <a:ext cx="3730752" cy="2039112"/>
          </a:xfrm>
          <a:prstGeom prst="rect">
            <a:avLst/>
          </a:prstGeom>
          <a:noFill/>
          <a:ln/>
        </p:spPr>
        <p:txBody>
          <a:bodyPr wrap="square" lIns="0" tIns="0" rIns="0" bIns="0" rtlCol="0" anchor="t"/>
          <a:lstStyle/>
          <a:p>
            <a:pPr marL="0" indent="0">
              <a:lnSpc>
                <a:spcPct val="112000"/>
              </a:lnSpc>
              <a:buNone/>
            </a:pPr>
            <a:r>
              <a:rPr lang="en-US" sz="796">
                <a:solidFill>
                  <a:srgbClr val="D7ECF8"/>
                </a:solidFill>
                <a:latin typeface="Consolas" pitchFamily="34" charset="0"/>
                <a:ea typeface="Consolas" pitchFamily="34" charset="-122"/>
                <a:cs typeface="Consolas" pitchFamily="34" charset="-120"/>
              </a:rPr>
              <a:t>spec:</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rules:</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 host: shop.contoso.com</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http:</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paths:</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 path: /</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backend:</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service:</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 storefront</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 host: api.contoso.com</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http:</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paths:</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 path: /</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backend:</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service:</a:t>
            </a:r>
            <a:endParaRPr lang="en-US" sz="796"/>
          </a:p>
          <a:p>
            <a:pPr marL="0" indent="0">
              <a:lnSpc>
                <a:spcPct val="112000"/>
              </a:lnSpc>
              <a:buNone/>
            </a:pPr>
            <a:r>
              <a:rPr lang="en-US" sz="796">
                <a:solidFill>
                  <a:srgbClr val="D7ECF8"/>
                </a:solidFill>
                <a:latin typeface="Consolas" pitchFamily="34" charset="0"/>
                <a:ea typeface="Consolas" pitchFamily="34" charset="-122"/>
                <a:cs typeface="Consolas" pitchFamily="34" charset="-120"/>
              </a:rPr>
              <a:t>            name: payments-api</a:t>
            </a:r>
            <a:endParaRPr lang="en-US" sz="796"/>
          </a:p>
        </p:txBody>
      </p:sp>
      <p:sp>
        <p:nvSpPr>
          <p:cNvPr id="11" name="card">
            <a:extLst>
              <a:ext uri="{C183D7F6-B498-43B3-948B-1728B52AA6E4}">
                <adec:decorative xmlns:adec="http://schemas.microsoft.com/office/drawing/2017/decorative" val="1"/>
              </a:ext>
            </a:extLst>
          </p:cNvPr>
          <p:cNvSpPr/>
          <p:nvPr/>
        </p:nvSpPr>
        <p:spPr>
          <a:xfrm>
            <a:off x="4709160" y="1481328"/>
            <a:ext cx="3931920" cy="75285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4709160" y="1481328"/>
            <a:ext cx="3931920" cy="41148"/>
          </a:xfrm>
          <a:prstGeom prst="rect">
            <a:avLst/>
          </a:prstGeom>
          <a:solidFill>
            <a:srgbClr val="D0483C"/>
          </a:solidFill>
          <a:ln w="12700">
            <a:solidFill>
              <a:srgbClr val="333333"/>
            </a:solidFill>
            <a:prstDash val="solid"/>
          </a:ln>
        </p:spPr>
        <p:txBody>
          <a:bodyPr/>
          <a:lstStyle/>
          <a:p>
            <a:endParaRPr lang="en-IN"/>
          </a:p>
        </p:txBody>
      </p:sp>
      <p:sp>
        <p:nvSpPr>
          <p:cNvPr id="13" name="Text 11"/>
          <p:cNvSpPr/>
          <p:nvPr/>
        </p:nvSpPr>
        <p:spPr>
          <a:xfrm>
            <a:off x="4910328" y="1591056"/>
            <a:ext cx="3529584" cy="173736"/>
          </a:xfrm>
          <a:prstGeom prst="rect">
            <a:avLst/>
          </a:prstGeom>
          <a:noFill/>
          <a:ln/>
        </p:spPr>
        <p:txBody>
          <a:bodyPr wrap="square" lIns="0" tIns="0" rIns="0" bIns="0" rtlCol="0" anchor="ctr"/>
          <a:lstStyle/>
          <a:p>
            <a:pPr marL="0" indent="0">
              <a:buNone/>
            </a:pPr>
            <a:r>
              <a:rPr lang="en-US" sz="900" b="1" kern="0" spc="120">
                <a:solidFill>
                  <a:srgbClr val="D0483C"/>
                </a:solidFill>
                <a:latin typeface="Segoe UI" pitchFamily="34" charset="0"/>
                <a:ea typeface="Segoe UI" pitchFamily="34" charset="-122"/>
                <a:cs typeface="Segoe UI" pitchFamily="34" charset="-120"/>
              </a:rPr>
              <a:t>SEPARATION</a:t>
            </a:r>
            <a:endParaRPr lang="en-US" sz="900"/>
          </a:p>
        </p:txBody>
      </p:sp>
      <p:sp>
        <p:nvSpPr>
          <p:cNvPr id="14" name="Text 12"/>
          <p:cNvSpPr/>
          <p:nvPr/>
        </p:nvSpPr>
        <p:spPr>
          <a:xfrm>
            <a:off x="4910328" y="1792224"/>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Clean separation per application</a:t>
            </a:r>
            <a:endParaRPr lang="en-US" sz="850"/>
          </a:p>
        </p:txBody>
      </p:sp>
      <p:sp>
        <p:nvSpPr>
          <p:cNvPr id="15" name="Text 13"/>
          <p:cNvSpPr/>
          <p:nvPr/>
        </p:nvSpPr>
        <p:spPr>
          <a:xfrm>
            <a:off x="4910328" y="2040636"/>
            <a:ext cx="3529584" cy="146304"/>
          </a:xfrm>
          <a:prstGeom prst="rect">
            <a:avLst/>
          </a:prstGeom>
          <a:noFill/>
          <a:ln/>
        </p:spPr>
        <p:txBody>
          <a:bodyPr wrap="square" lIns="0" tIns="0" rIns="0" bIns="0" rtlCol="0" anchor="t"/>
          <a:lstStyle/>
          <a:p>
            <a:pPr marL="0" indent="0">
              <a:lnSpc>
                <a:spcPct val="115000"/>
              </a:lnSpc>
              <a:buNone/>
            </a:pPr>
            <a:r>
              <a:rPr lang="en-US" sz="750">
                <a:solidFill>
                  <a:srgbClr val="44566B"/>
                </a:solidFill>
                <a:latin typeface="Segoe UI" pitchFamily="34" charset="0"/>
                <a:ea typeface="Segoe UI" pitchFamily="34" charset="-122"/>
                <a:cs typeface="Segoe UI" pitchFamily="34" charset="-120"/>
              </a:rPr>
              <a:t>Each service keeps its own name, its own certificate and its own owner, while sharing one controller and one public IP.</a:t>
            </a:r>
            <a:endParaRPr lang="en-US" sz="750"/>
          </a:p>
        </p:txBody>
      </p:sp>
      <p:sp>
        <p:nvSpPr>
          <p:cNvPr id="16" name="card">
            <a:extLst>
              <a:ext uri="{C183D7F6-B498-43B3-948B-1728B52AA6E4}">
                <adec:decorative xmlns:adec="http://schemas.microsoft.com/office/drawing/2017/decorative" val="1"/>
              </a:ext>
            </a:extLst>
          </p:cNvPr>
          <p:cNvSpPr/>
          <p:nvPr/>
        </p:nvSpPr>
        <p:spPr>
          <a:xfrm>
            <a:off x="4709160" y="2362200"/>
            <a:ext cx="3931920" cy="752856"/>
          </a:xfrm>
          <a:prstGeom prst="rect">
            <a:avLst/>
          </a:prstGeom>
          <a:solidFill>
            <a:srgbClr val="F6F9FD"/>
          </a:solidFill>
          <a:ln w="9525">
            <a:solidFill>
              <a:srgbClr val="D8E5F2"/>
            </a:solidFill>
            <a:prstDash val="solid"/>
          </a:ln>
        </p:spPr>
        <p:txBody>
          <a:bodyPr/>
          <a:lstStyle/>
          <a:p>
            <a:endParaRPr lang="en-IN"/>
          </a:p>
        </p:txBody>
      </p:sp>
      <p:sp>
        <p:nvSpPr>
          <p:cNvPr id="17" name="card accent">
            <a:extLst>
              <a:ext uri="{C183D7F6-B498-43B3-948B-1728B52AA6E4}">
                <adec:decorative xmlns:adec="http://schemas.microsoft.com/office/drawing/2017/decorative" val="1"/>
              </a:ext>
            </a:extLst>
          </p:cNvPr>
          <p:cNvSpPr/>
          <p:nvPr/>
        </p:nvSpPr>
        <p:spPr>
          <a:xfrm>
            <a:off x="4709160" y="2362200"/>
            <a:ext cx="3931920" cy="41148"/>
          </a:xfrm>
          <a:prstGeom prst="rect">
            <a:avLst/>
          </a:prstGeom>
          <a:solidFill>
            <a:srgbClr val="0B63CE"/>
          </a:solidFill>
          <a:ln w="12700">
            <a:solidFill>
              <a:srgbClr val="333333"/>
            </a:solidFill>
            <a:prstDash val="solid"/>
          </a:ln>
        </p:spPr>
        <p:txBody>
          <a:bodyPr/>
          <a:lstStyle/>
          <a:p>
            <a:endParaRPr lang="en-IN"/>
          </a:p>
        </p:txBody>
      </p:sp>
      <p:sp>
        <p:nvSpPr>
          <p:cNvPr id="18" name="Text 16"/>
          <p:cNvSpPr/>
          <p:nvPr/>
        </p:nvSpPr>
        <p:spPr>
          <a:xfrm>
            <a:off x="4910328" y="2471928"/>
            <a:ext cx="3529584" cy="173736"/>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DNS</a:t>
            </a:r>
            <a:endParaRPr lang="en-US" sz="900"/>
          </a:p>
        </p:txBody>
      </p:sp>
      <p:sp>
        <p:nvSpPr>
          <p:cNvPr id="19" name="Text 17"/>
          <p:cNvSpPr/>
          <p:nvPr/>
        </p:nvSpPr>
        <p:spPr>
          <a:xfrm>
            <a:off x="4910328" y="2673096"/>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DNS points at the same place</a:t>
            </a:r>
            <a:endParaRPr lang="en-US" sz="850"/>
          </a:p>
        </p:txBody>
      </p:sp>
      <p:sp>
        <p:nvSpPr>
          <p:cNvPr id="20" name="Text 18"/>
          <p:cNvSpPr/>
          <p:nvPr/>
        </p:nvSpPr>
        <p:spPr>
          <a:xfrm>
            <a:off x="4910328" y="2921508"/>
            <a:ext cx="3529584" cy="146304"/>
          </a:xfrm>
          <a:prstGeom prst="rect">
            <a:avLst/>
          </a:prstGeom>
          <a:noFill/>
          <a:ln/>
        </p:spPr>
        <p:txBody>
          <a:bodyPr wrap="square" lIns="0" tIns="0" rIns="0" bIns="0" rtlCol="0" anchor="t"/>
          <a:lstStyle/>
          <a:p>
            <a:pPr marL="0" indent="0">
              <a:lnSpc>
                <a:spcPct val="115000"/>
              </a:lnSpc>
              <a:buNone/>
            </a:pPr>
            <a:r>
              <a:rPr lang="en-US" sz="750">
                <a:solidFill>
                  <a:srgbClr val="44566B"/>
                </a:solidFill>
                <a:latin typeface="Segoe UI" pitchFamily="34" charset="0"/>
                <a:ea typeface="Segoe UI" pitchFamily="34" charset="-122"/>
                <a:cs typeface="Segoe UI" pitchFamily="34" charset="-120"/>
              </a:rPr>
              <a:t>Every hostname resolves to the ingress public IP; the controller sorts them out from the Host header.</a:t>
            </a:r>
            <a:endParaRPr lang="en-US" sz="750"/>
          </a:p>
        </p:txBody>
      </p:sp>
      <p:sp>
        <p:nvSpPr>
          <p:cNvPr id="21" name="card">
            <a:extLst>
              <a:ext uri="{C183D7F6-B498-43B3-948B-1728B52AA6E4}">
                <adec:decorative xmlns:adec="http://schemas.microsoft.com/office/drawing/2017/decorative" val="1"/>
              </a:ext>
            </a:extLst>
          </p:cNvPr>
          <p:cNvSpPr/>
          <p:nvPr/>
        </p:nvSpPr>
        <p:spPr>
          <a:xfrm>
            <a:off x="4709160" y="3243072"/>
            <a:ext cx="3931920" cy="752856"/>
          </a:xfrm>
          <a:prstGeom prst="rect">
            <a:avLst/>
          </a:prstGeom>
          <a:solidFill>
            <a:srgbClr val="F6F9FD"/>
          </a:solidFill>
          <a:ln w="9525">
            <a:solidFill>
              <a:srgbClr val="D8E5F2"/>
            </a:solidFill>
            <a:prstDash val="solid"/>
          </a:ln>
        </p:spPr>
        <p:txBody>
          <a:bodyPr/>
          <a:lstStyle/>
          <a:p>
            <a:endParaRPr lang="en-IN"/>
          </a:p>
        </p:txBody>
      </p:sp>
      <p:sp>
        <p:nvSpPr>
          <p:cNvPr id="22" name="card accent">
            <a:extLst>
              <a:ext uri="{C183D7F6-B498-43B3-948B-1728B52AA6E4}">
                <adec:decorative xmlns:adec="http://schemas.microsoft.com/office/drawing/2017/decorative" val="1"/>
              </a:ext>
            </a:extLst>
          </p:cNvPr>
          <p:cNvSpPr/>
          <p:nvPr/>
        </p:nvSpPr>
        <p:spPr>
          <a:xfrm>
            <a:off x="4709160" y="3243072"/>
            <a:ext cx="3931920" cy="41148"/>
          </a:xfrm>
          <a:prstGeom prst="rect">
            <a:avLst/>
          </a:prstGeom>
          <a:solidFill>
            <a:srgbClr val="2E9E6B"/>
          </a:solidFill>
          <a:ln w="12700">
            <a:solidFill>
              <a:srgbClr val="333333"/>
            </a:solidFill>
            <a:prstDash val="solid"/>
          </a:ln>
        </p:spPr>
        <p:txBody>
          <a:bodyPr/>
          <a:lstStyle/>
          <a:p>
            <a:endParaRPr lang="en-IN"/>
          </a:p>
        </p:txBody>
      </p:sp>
      <p:sp>
        <p:nvSpPr>
          <p:cNvPr id="23" name="Text 21"/>
          <p:cNvSpPr/>
          <p:nvPr/>
        </p:nvSpPr>
        <p:spPr>
          <a:xfrm>
            <a:off x="4910328" y="3352800"/>
            <a:ext cx="3529584" cy="173736"/>
          </a:xfrm>
          <a:prstGeom prst="rect">
            <a:avLst/>
          </a:prstGeom>
          <a:noFill/>
          <a:ln/>
        </p:spPr>
        <p:txBody>
          <a:bodyPr wrap="square" lIns="0" tIns="0" rIns="0" bIns="0" rtlCol="0" anchor="ctr"/>
          <a:lstStyle/>
          <a:p>
            <a:pPr marL="0" indent="0">
              <a:buNone/>
            </a:pPr>
            <a:r>
              <a:rPr lang="en-US" sz="900" b="1" kern="0" spc="120">
                <a:solidFill>
                  <a:srgbClr val="2E9E6B"/>
                </a:solidFill>
                <a:latin typeface="Segoe UI" pitchFamily="34" charset="0"/>
                <a:ea typeface="Segoe UI" pitchFamily="34" charset="-122"/>
                <a:cs typeface="Segoe UI" pitchFamily="34" charset="-120"/>
              </a:rPr>
              <a:t>FLEXIBILITY</a:t>
            </a:r>
            <a:endParaRPr lang="en-US" sz="900"/>
          </a:p>
        </p:txBody>
      </p:sp>
      <p:sp>
        <p:nvSpPr>
          <p:cNvPr id="24" name="Text 22"/>
          <p:cNvSpPr/>
          <p:nvPr/>
        </p:nvSpPr>
        <p:spPr>
          <a:xfrm>
            <a:off x="4910328" y="3553968"/>
            <a:ext cx="3529584" cy="184404"/>
          </a:xfrm>
          <a:prstGeom prst="rect">
            <a:avLst/>
          </a:prstGeom>
          <a:noFill/>
          <a:ln/>
        </p:spPr>
        <p:txBody>
          <a:bodyPr wrap="square" lIns="0" tIns="0" rIns="0" bIns="0" rtlCol="0" anchor="t"/>
          <a:lstStyle/>
          <a:p>
            <a:pPr marL="0" indent="0">
              <a:lnSpc>
                <a:spcPct val="100000"/>
              </a:lnSpc>
              <a:buNone/>
            </a:pPr>
            <a:r>
              <a:rPr lang="en-US" sz="850" b="1">
                <a:solidFill>
                  <a:srgbClr val="0E2233"/>
                </a:solidFill>
                <a:latin typeface="Segoe UI" pitchFamily="34" charset="0"/>
                <a:ea typeface="Segoe UI" pitchFamily="34" charset="-122"/>
                <a:cs typeface="Segoe UI" pitchFamily="34" charset="-120"/>
              </a:rPr>
              <a:t>Combine host and path freely</a:t>
            </a:r>
            <a:endParaRPr lang="en-US" sz="850"/>
          </a:p>
        </p:txBody>
      </p:sp>
      <p:sp>
        <p:nvSpPr>
          <p:cNvPr id="25" name="Text 23"/>
          <p:cNvSpPr/>
          <p:nvPr/>
        </p:nvSpPr>
        <p:spPr>
          <a:xfrm>
            <a:off x="4910328" y="3802380"/>
            <a:ext cx="3529584" cy="146304"/>
          </a:xfrm>
          <a:prstGeom prst="rect">
            <a:avLst/>
          </a:prstGeom>
          <a:noFill/>
          <a:ln/>
        </p:spPr>
        <p:txBody>
          <a:bodyPr wrap="square" lIns="0" tIns="0" rIns="0" bIns="0" rtlCol="0" anchor="t"/>
          <a:lstStyle/>
          <a:p>
            <a:pPr marL="0" indent="0">
              <a:lnSpc>
                <a:spcPct val="115000"/>
              </a:lnSpc>
              <a:buNone/>
            </a:pPr>
            <a:r>
              <a:rPr lang="en-US" sz="750">
                <a:solidFill>
                  <a:srgbClr val="44566B"/>
                </a:solidFill>
                <a:latin typeface="Segoe UI" pitchFamily="34" charset="0"/>
                <a:ea typeface="Segoe UI" pitchFamily="34" charset="-122"/>
                <a:cs typeface="Segoe UI" pitchFamily="34" charset="-120"/>
              </a:rPr>
              <a:t>api.contoso.com/v1 and api.contoso.com/v2 is a common pattern for versioned APIs.</a:t>
            </a:r>
            <a:endParaRPr lang="en-US" sz="750"/>
          </a:p>
        </p:txBody>
      </p:sp>
      <p:sp>
        <p:nvSpPr>
          <p:cNvPr id="26"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27"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D0483C"/>
          </a:solidFill>
          <a:ln w="12700">
            <a:solidFill>
              <a:srgbClr val="333333"/>
            </a:solidFill>
            <a:prstDash val="solid"/>
          </a:ln>
        </p:spPr>
        <p:txBody>
          <a:bodyPr/>
          <a:lstStyle/>
          <a:p>
            <a:endParaRPr lang="en-IN"/>
          </a:p>
        </p:txBody>
      </p:sp>
      <p:sp>
        <p:nvSpPr>
          <p:cNvPr id="28" name="Text 26"/>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D0483C"/>
                </a:solidFill>
                <a:latin typeface="Segoe UI" pitchFamily="34" charset="0"/>
                <a:ea typeface="Segoe UI" pitchFamily="34" charset="-122"/>
                <a:cs typeface="Segoe UI" pitchFamily="34" charset="-120"/>
              </a:rPr>
              <a:t>Keep it boring   </a:t>
            </a:r>
            <a:r>
              <a:rPr lang="en-US" sz="1050">
                <a:solidFill>
                  <a:srgbClr val="0E2233"/>
                </a:solidFill>
                <a:latin typeface="Segoe UI" pitchFamily="34" charset="0"/>
                <a:ea typeface="Segoe UI" pitchFamily="34" charset="-122"/>
                <a:cs typeface="Segoe UI" pitchFamily="34" charset="-120"/>
              </a:rPr>
              <a:t>Whichever you choose, keep the rule set boring — routing that needs a diagram to explain will eventually route a request somewhere surprising.</a:t>
            </a:r>
            <a:endParaRPr lang="en-US" sz="1000"/>
          </a:p>
        </p:txBody>
      </p:sp>
      <p:sp>
        <p:nvSpPr>
          <p:cNvPr id="29"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10 · INGRESS AND TRAFFIC MANAGEMENT</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TLS configuration</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50">
                <a:solidFill>
                  <a:srgbClr val="44566B"/>
                </a:solidFill>
                <a:latin typeface="Segoe UI" pitchFamily="34" charset="0"/>
                <a:ea typeface="Segoe UI" pitchFamily="34" charset="-122"/>
                <a:cs typeface="Segoe UI" pitchFamily="34" charset="-120"/>
              </a:rPr>
              <a:t>Terminate HTTPS at the ingress controller so certificates are managed in one place, not in every application.</a:t>
            </a:r>
            <a:endParaRPr lang="en-US" sz="1050"/>
          </a:p>
        </p:txBody>
      </p:sp>
      <p:sp>
        <p:nvSpPr>
          <p:cNvPr id="7" name="step box">
            <a:extLst>
              <a:ext uri="{C183D7F6-B498-43B3-948B-1728B52AA6E4}">
                <adec:decorative xmlns:adec="http://schemas.microsoft.com/office/drawing/2017/decorative" val="1"/>
              </a:ext>
            </a:extLst>
          </p:cNvPr>
          <p:cNvSpPr/>
          <p:nvPr/>
        </p:nvSpPr>
        <p:spPr>
          <a:xfrm>
            <a:off x="502920" y="1481328"/>
            <a:ext cx="1801368" cy="804672"/>
          </a:xfrm>
          <a:prstGeom prst="rect">
            <a:avLst/>
          </a:prstGeom>
          <a:solidFill>
            <a:srgbClr val="EDF4FC"/>
          </a:solidFill>
          <a:ln w="12700">
            <a:solidFill>
              <a:srgbClr val="0B63CE"/>
            </a:solidFill>
            <a:prstDash val="solid"/>
          </a:ln>
        </p:spPr>
        <p:txBody>
          <a:bodyPr/>
          <a:lstStyle/>
          <a:p>
            <a:endParaRPr lang="en-IN"/>
          </a:p>
        </p:txBody>
      </p:sp>
      <p:sp>
        <p:nvSpPr>
          <p:cNvPr id="8" name="Text 6"/>
          <p:cNvSpPr/>
          <p:nvPr/>
        </p:nvSpPr>
        <p:spPr>
          <a:xfrm>
            <a:off x="594360"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1 · Get a certificate</a:t>
            </a:r>
            <a:endParaRPr lang="en-US" sz="1050"/>
          </a:p>
        </p:txBody>
      </p:sp>
      <p:sp>
        <p:nvSpPr>
          <p:cNvPr id="9" name="Text 7"/>
          <p:cNvSpPr/>
          <p:nvPr/>
        </p:nvSpPr>
        <p:spPr>
          <a:xfrm>
            <a:off x="612648" y="1901952"/>
            <a:ext cx="1581912" cy="292608"/>
          </a:xfrm>
          <a:prstGeom prst="rect">
            <a:avLst/>
          </a:prstGeom>
          <a:noFill/>
          <a:ln/>
        </p:spPr>
        <p:txBody>
          <a:bodyPr wrap="square" lIns="0" tIns="0" rIns="0" bIns="0" rtlCol="0" anchor="t"/>
          <a:lstStyle/>
          <a:p>
            <a:pPr marL="0" indent="0" algn="ctr">
              <a:lnSpc>
                <a:spcPct val="110000"/>
              </a:lnSpc>
              <a:buNone/>
            </a:pPr>
            <a:r>
              <a:rPr lang="en-US" sz="750">
                <a:solidFill>
                  <a:srgbClr val="44566B"/>
                </a:solidFill>
                <a:latin typeface="Segoe UI" pitchFamily="34" charset="0"/>
                <a:ea typeface="Segoe UI" pitchFamily="34" charset="-122"/>
                <a:cs typeface="Segoe UI" pitchFamily="34" charset="-120"/>
              </a:rPr>
              <a:t>Issue or import it in Azure Key Vault, or let cert-manager request one from Let’s Encrypt.</a:t>
            </a:r>
            <a:endParaRPr lang="en-US" sz="750"/>
          </a:p>
        </p:txBody>
      </p:sp>
      <p:sp>
        <p:nvSpPr>
          <p:cNvPr id="10" name="flow arrow">
            <a:extLst>
              <a:ext uri="{C183D7F6-B498-43B3-948B-1728B52AA6E4}">
                <adec:decorative xmlns:adec="http://schemas.microsoft.com/office/drawing/2017/decorative" val="1"/>
              </a:ext>
            </a:extLst>
          </p:cNvPr>
          <p:cNvSpPr/>
          <p:nvPr/>
        </p:nvSpPr>
        <p:spPr>
          <a:xfrm>
            <a:off x="2359152"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1" name="step box">
            <a:extLst>
              <a:ext uri="{C183D7F6-B498-43B3-948B-1728B52AA6E4}">
                <adec:decorative xmlns:adec="http://schemas.microsoft.com/office/drawing/2017/decorative" val="1"/>
              </a:ext>
            </a:extLst>
          </p:cNvPr>
          <p:cNvSpPr/>
          <p:nvPr/>
        </p:nvSpPr>
        <p:spPr>
          <a:xfrm>
            <a:off x="2615184" y="1481328"/>
            <a:ext cx="1801368" cy="804672"/>
          </a:xfrm>
          <a:prstGeom prst="rect">
            <a:avLst/>
          </a:prstGeom>
          <a:solidFill>
            <a:srgbClr val="E4F3FB"/>
          </a:solidFill>
          <a:ln w="12700">
            <a:solidFill>
              <a:srgbClr val="17A9DB"/>
            </a:solidFill>
            <a:prstDash val="solid"/>
          </a:ln>
        </p:spPr>
        <p:txBody>
          <a:bodyPr/>
          <a:lstStyle/>
          <a:p>
            <a:endParaRPr lang="en-IN"/>
          </a:p>
        </p:txBody>
      </p:sp>
      <p:sp>
        <p:nvSpPr>
          <p:cNvPr id="12" name="Text 10"/>
          <p:cNvSpPr/>
          <p:nvPr/>
        </p:nvSpPr>
        <p:spPr>
          <a:xfrm>
            <a:off x="2706624"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2 · Make it available</a:t>
            </a:r>
            <a:endParaRPr lang="en-US" sz="1050"/>
          </a:p>
        </p:txBody>
      </p:sp>
      <p:sp>
        <p:nvSpPr>
          <p:cNvPr id="13" name="Text 11"/>
          <p:cNvSpPr/>
          <p:nvPr/>
        </p:nvSpPr>
        <p:spPr>
          <a:xfrm>
            <a:off x="2724912" y="1901952"/>
            <a:ext cx="1581912" cy="292608"/>
          </a:xfrm>
          <a:prstGeom prst="rect">
            <a:avLst/>
          </a:prstGeom>
          <a:noFill/>
          <a:ln/>
        </p:spPr>
        <p:txBody>
          <a:bodyPr wrap="square" lIns="0" tIns="0" rIns="0" bIns="0" rtlCol="0" anchor="t"/>
          <a:lstStyle/>
          <a:p>
            <a:pPr marL="0" indent="0" algn="ctr">
              <a:lnSpc>
                <a:spcPct val="110000"/>
              </a:lnSpc>
              <a:buNone/>
            </a:pPr>
            <a:r>
              <a:rPr lang="en-US" sz="750">
                <a:solidFill>
                  <a:srgbClr val="44566B"/>
                </a:solidFill>
                <a:latin typeface="Segoe UI" pitchFamily="34" charset="0"/>
                <a:ea typeface="Segoe UI" pitchFamily="34" charset="-122"/>
                <a:cs typeface="Segoe UI" pitchFamily="34" charset="-120"/>
              </a:rPr>
              <a:t>Store it as a Kubernetes TLS secret, or mount it from Key Vault with the CSI driver.</a:t>
            </a:r>
            <a:endParaRPr lang="en-US" sz="750"/>
          </a:p>
        </p:txBody>
      </p:sp>
      <p:sp>
        <p:nvSpPr>
          <p:cNvPr id="14" name="flow arrow">
            <a:extLst>
              <a:ext uri="{C183D7F6-B498-43B3-948B-1728B52AA6E4}">
                <adec:decorative xmlns:adec="http://schemas.microsoft.com/office/drawing/2017/decorative" val="1"/>
              </a:ext>
            </a:extLst>
          </p:cNvPr>
          <p:cNvSpPr/>
          <p:nvPr/>
        </p:nvSpPr>
        <p:spPr>
          <a:xfrm>
            <a:off x="4471416"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5" name="step box">
            <a:extLst>
              <a:ext uri="{C183D7F6-B498-43B3-948B-1728B52AA6E4}">
                <adec:decorative xmlns:adec="http://schemas.microsoft.com/office/drawing/2017/decorative" val="1"/>
              </a:ext>
            </a:extLst>
          </p:cNvPr>
          <p:cNvSpPr/>
          <p:nvPr/>
        </p:nvSpPr>
        <p:spPr>
          <a:xfrm>
            <a:off x="4727448" y="1481328"/>
            <a:ext cx="1801368" cy="804672"/>
          </a:xfrm>
          <a:prstGeom prst="rect">
            <a:avLst/>
          </a:prstGeom>
          <a:solidFill>
            <a:srgbClr val="EDF4FC"/>
          </a:solidFill>
          <a:ln w="12700">
            <a:solidFill>
              <a:srgbClr val="0B63CE"/>
            </a:solidFill>
            <a:prstDash val="solid"/>
          </a:ln>
        </p:spPr>
        <p:txBody>
          <a:bodyPr/>
          <a:lstStyle/>
          <a:p>
            <a:endParaRPr lang="en-IN"/>
          </a:p>
        </p:txBody>
      </p:sp>
      <p:sp>
        <p:nvSpPr>
          <p:cNvPr id="16" name="Text 14"/>
          <p:cNvSpPr/>
          <p:nvPr/>
        </p:nvSpPr>
        <p:spPr>
          <a:xfrm>
            <a:off x="4818888"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3 · Reference in Ingress</a:t>
            </a:r>
            <a:endParaRPr lang="en-US" sz="1050"/>
          </a:p>
        </p:txBody>
      </p:sp>
      <p:sp>
        <p:nvSpPr>
          <p:cNvPr id="17" name="Text 15"/>
          <p:cNvSpPr/>
          <p:nvPr/>
        </p:nvSpPr>
        <p:spPr>
          <a:xfrm>
            <a:off x="4837176" y="1901952"/>
            <a:ext cx="1581912" cy="292608"/>
          </a:xfrm>
          <a:prstGeom prst="rect">
            <a:avLst/>
          </a:prstGeom>
          <a:noFill/>
          <a:ln/>
        </p:spPr>
        <p:txBody>
          <a:bodyPr wrap="square" lIns="0" tIns="0" rIns="0" bIns="0" rtlCol="0" anchor="t"/>
          <a:lstStyle/>
          <a:p>
            <a:pPr marL="0" indent="0" algn="ctr">
              <a:lnSpc>
                <a:spcPct val="110000"/>
              </a:lnSpc>
              <a:buNone/>
            </a:pPr>
            <a:r>
              <a:rPr lang="en-US" sz="750">
                <a:solidFill>
                  <a:srgbClr val="44566B"/>
                </a:solidFill>
                <a:latin typeface="Segoe UI" pitchFamily="34" charset="0"/>
                <a:ea typeface="Segoe UI" pitchFamily="34" charset="-122"/>
                <a:cs typeface="Segoe UI" pitchFamily="34" charset="-120"/>
              </a:rPr>
              <a:t>Add a tls block naming the hosts and the secret that holds the certificate.</a:t>
            </a:r>
            <a:endParaRPr lang="en-US" sz="750"/>
          </a:p>
        </p:txBody>
      </p:sp>
      <p:sp>
        <p:nvSpPr>
          <p:cNvPr id="18" name="flow arrow">
            <a:extLst>
              <a:ext uri="{C183D7F6-B498-43B3-948B-1728B52AA6E4}">
                <adec:decorative xmlns:adec="http://schemas.microsoft.com/office/drawing/2017/decorative" val="1"/>
              </a:ext>
            </a:extLst>
          </p:cNvPr>
          <p:cNvSpPr/>
          <p:nvPr/>
        </p:nvSpPr>
        <p:spPr>
          <a:xfrm>
            <a:off x="6583680"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9" name="step box">
            <a:extLst>
              <a:ext uri="{C183D7F6-B498-43B3-948B-1728B52AA6E4}">
                <adec:decorative xmlns:adec="http://schemas.microsoft.com/office/drawing/2017/decorative" val="1"/>
              </a:ext>
            </a:extLst>
          </p:cNvPr>
          <p:cNvSpPr/>
          <p:nvPr/>
        </p:nvSpPr>
        <p:spPr>
          <a:xfrm>
            <a:off x="6839712" y="1481328"/>
            <a:ext cx="1801368" cy="804672"/>
          </a:xfrm>
          <a:prstGeom prst="rect">
            <a:avLst/>
          </a:prstGeom>
          <a:solidFill>
            <a:srgbClr val="E8F6EF"/>
          </a:solidFill>
          <a:ln w="12700">
            <a:solidFill>
              <a:srgbClr val="2E9E6B"/>
            </a:solidFill>
            <a:prstDash val="solid"/>
          </a:ln>
        </p:spPr>
        <p:txBody>
          <a:bodyPr/>
          <a:lstStyle/>
          <a:p>
            <a:endParaRPr lang="en-IN"/>
          </a:p>
        </p:txBody>
      </p:sp>
      <p:sp>
        <p:nvSpPr>
          <p:cNvPr id="20" name="Text 18"/>
          <p:cNvSpPr/>
          <p:nvPr/>
        </p:nvSpPr>
        <p:spPr>
          <a:xfrm>
            <a:off x="6931152"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4 · Verify and renew</a:t>
            </a:r>
            <a:endParaRPr lang="en-US" sz="1050"/>
          </a:p>
        </p:txBody>
      </p:sp>
      <p:sp>
        <p:nvSpPr>
          <p:cNvPr id="21" name="Text 19"/>
          <p:cNvSpPr/>
          <p:nvPr/>
        </p:nvSpPr>
        <p:spPr>
          <a:xfrm>
            <a:off x="6949440" y="1901952"/>
            <a:ext cx="1581912" cy="292608"/>
          </a:xfrm>
          <a:prstGeom prst="rect">
            <a:avLst/>
          </a:prstGeom>
          <a:noFill/>
          <a:ln/>
        </p:spPr>
        <p:txBody>
          <a:bodyPr wrap="square" lIns="0" tIns="0" rIns="0" bIns="0" rtlCol="0" anchor="t"/>
          <a:lstStyle/>
          <a:p>
            <a:pPr marL="0" indent="0" algn="ctr">
              <a:lnSpc>
                <a:spcPct val="110000"/>
              </a:lnSpc>
              <a:buNone/>
            </a:pPr>
            <a:r>
              <a:rPr lang="en-US" sz="750">
                <a:solidFill>
                  <a:srgbClr val="44566B"/>
                </a:solidFill>
                <a:latin typeface="Segoe UI" pitchFamily="34" charset="0"/>
                <a:ea typeface="Segoe UI" pitchFamily="34" charset="-122"/>
                <a:cs typeface="Segoe UI" pitchFamily="34" charset="-120"/>
              </a:rPr>
              <a:t>Test the chain, then let cert-manager or Key Vault rotation renew it before expiry.</a:t>
            </a:r>
            <a:endParaRPr lang="en-US" sz="750"/>
          </a:p>
        </p:txBody>
      </p:sp>
      <p:sp>
        <p:nvSpPr>
          <p:cNvPr id="22" name="code panel">
            <a:extLst>
              <a:ext uri="{C183D7F6-B498-43B3-948B-1728B52AA6E4}">
                <adec:decorative xmlns:adec="http://schemas.microsoft.com/office/drawing/2017/decorative" val="1"/>
              </a:ext>
            </a:extLst>
          </p:cNvPr>
          <p:cNvSpPr/>
          <p:nvPr/>
        </p:nvSpPr>
        <p:spPr>
          <a:xfrm>
            <a:off x="502920" y="2395728"/>
            <a:ext cx="4023360" cy="16824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3" name="code panel header">
            <a:extLst>
              <a:ext uri="{C183D7F6-B498-43B3-948B-1728B52AA6E4}">
                <adec:decorative xmlns:adec="http://schemas.microsoft.com/office/drawing/2017/decorative" val="1"/>
              </a:ext>
            </a:extLst>
          </p:cNvPr>
          <p:cNvSpPr/>
          <p:nvPr/>
        </p:nvSpPr>
        <p:spPr>
          <a:xfrm>
            <a:off x="502920" y="2395728"/>
            <a:ext cx="4023360" cy="256032"/>
          </a:xfrm>
          <a:prstGeom prst="rect">
            <a:avLst/>
          </a:prstGeom>
          <a:solidFill>
            <a:srgbClr val="0F3D66"/>
          </a:solidFill>
          <a:ln w="12700">
            <a:solidFill>
              <a:srgbClr val="333333"/>
            </a:solidFill>
            <a:prstDash val="solid"/>
          </a:ln>
        </p:spPr>
        <p:txBody>
          <a:bodyPr/>
          <a:lstStyle/>
          <a:p>
            <a:endParaRPr lang="en-IN"/>
          </a:p>
        </p:txBody>
      </p:sp>
      <p:sp>
        <p:nvSpPr>
          <p:cNvPr id="24" name="Text 22"/>
          <p:cNvSpPr/>
          <p:nvPr/>
        </p:nvSpPr>
        <p:spPr>
          <a:xfrm>
            <a:off x="649224" y="2395728"/>
            <a:ext cx="373075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ingress-tls.yaml</a:t>
            </a:r>
            <a:endParaRPr lang="en-US" sz="850"/>
          </a:p>
        </p:txBody>
      </p:sp>
      <p:sp>
        <p:nvSpPr>
          <p:cNvPr id="25" name="Text 23"/>
          <p:cNvSpPr/>
          <p:nvPr/>
        </p:nvSpPr>
        <p:spPr>
          <a:xfrm>
            <a:off x="649224" y="2724912"/>
            <a:ext cx="3730752" cy="1207008"/>
          </a:xfrm>
          <a:prstGeom prst="rect">
            <a:avLst/>
          </a:prstGeom>
          <a:noFill/>
          <a:ln/>
        </p:spPr>
        <p:txBody>
          <a:bodyPr wrap="square" lIns="0" tIns="0" rIns="0" bIns="0" rtlCol="0" anchor="t"/>
          <a:lstStyle/>
          <a:p>
            <a:pPr marL="0" indent="0">
              <a:lnSpc>
                <a:spcPct val="105000"/>
              </a:lnSpc>
              <a:buNone/>
            </a:pPr>
            <a:r>
              <a:rPr lang="en-US" sz="900">
                <a:solidFill>
                  <a:srgbClr val="D7ECF8"/>
                </a:solidFill>
                <a:latin typeface="Consolas" pitchFamily="34" charset="0"/>
                <a:ea typeface="Consolas" pitchFamily="34" charset="-122"/>
                <a:cs typeface="Consolas" pitchFamily="34" charset="-120"/>
              </a:rPr>
              <a:t>spec:</a:t>
            </a:r>
            <a:endParaRPr lang="en-US" sz="900"/>
          </a:p>
          <a:p>
            <a:pPr marL="0" indent="0">
              <a:lnSpc>
                <a:spcPct val="105000"/>
              </a:lnSpc>
              <a:buNone/>
            </a:pPr>
            <a:r>
              <a:rPr lang="en-US" sz="900">
                <a:solidFill>
                  <a:srgbClr val="D7ECF8"/>
                </a:solidFill>
                <a:latin typeface="Consolas" pitchFamily="34" charset="0"/>
                <a:ea typeface="Consolas" pitchFamily="34" charset="-122"/>
                <a:cs typeface="Consolas" pitchFamily="34" charset="-120"/>
              </a:rPr>
              <a:t>  tls:</a:t>
            </a:r>
            <a:endParaRPr lang="en-US" sz="900"/>
          </a:p>
          <a:p>
            <a:pPr marL="0" indent="0">
              <a:lnSpc>
                <a:spcPct val="105000"/>
              </a:lnSpc>
              <a:buNone/>
            </a:pPr>
            <a:r>
              <a:rPr lang="en-US" sz="900">
                <a:solidFill>
                  <a:srgbClr val="D7ECF8"/>
                </a:solidFill>
                <a:latin typeface="Consolas" pitchFamily="34" charset="0"/>
                <a:ea typeface="Consolas" pitchFamily="34" charset="-122"/>
                <a:cs typeface="Consolas" pitchFamily="34" charset="-120"/>
              </a:rPr>
              <a:t>  - hosts:</a:t>
            </a:r>
            <a:endParaRPr lang="en-US" sz="900"/>
          </a:p>
          <a:p>
            <a:pPr marL="0" indent="0">
              <a:lnSpc>
                <a:spcPct val="105000"/>
              </a:lnSpc>
              <a:buNone/>
            </a:pPr>
            <a:r>
              <a:rPr lang="en-US" sz="900">
                <a:solidFill>
                  <a:srgbClr val="D7ECF8"/>
                </a:solidFill>
                <a:latin typeface="Consolas" pitchFamily="34" charset="0"/>
                <a:ea typeface="Consolas" pitchFamily="34" charset="-122"/>
                <a:cs typeface="Consolas" pitchFamily="34" charset="-120"/>
              </a:rPr>
              <a:t>    - shop.contoso.com</a:t>
            </a:r>
            <a:endParaRPr lang="en-US" sz="900"/>
          </a:p>
          <a:p>
            <a:pPr marL="0" indent="0">
              <a:lnSpc>
                <a:spcPct val="105000"/>
              </a:lnSpc>
              <a:buNone/>
            </a:pPr>
            <a:r>
              <a:rPr lang="en-US" sz="900">
                <a:solidFill>
                  <a:srgbClr val="D7ECF8"/>
                </a:solidFill>
                <a:latin typeface="Consolas" pitchFamily="34" charset="0"/>
                <a:ea typeface="Consolas" pitchFamily="34" charset="-122"/>
                <a:cs typeface="Consolas" pitchFamily="34" charset="-120"/>
              </a:rPr>
              <a:t>    secretName: shop-tls</a:t>
            </a:r>
            <a:endParaRPr lang="en-US" sz="900"/>
          </a:p>
        </p:txBody>
      </p:sp>
      <p:sp>
        <p:nvSpPr>
          <p:cNvPr id="26" name="code panel">
            <a:extLst>
              <a:ext uri="{C183D7F6-B498-43B3-948B-1728B52AA6E4}">
                <adec:decorative xmlns:adec="http://schemas.microsoft.com/office/drawing/2017/decorative" val="1"/>
              </a:ext>
            </a:extLst>
          </p:cNvPr>
          <p:cNvSpPr/>
          <p:nvPr/>
        </p:nvSpPr>
        <p:spPr>
          <a:xfrm>
            <a:off x="4709160" y="2395728"/>
            <a:ext cx="3931920" cy="16824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7" name="code panel header">
            <a:extLst>
              <a:ext uri="{C183D7F6-B498-43B3-948B-1728B52AA6E4}">
                <adec:decorative xmlns:adec="http://schemas.microsoft.com/office/drawing/2017/decorative" val="1"/>
              </a:ext>
            </a:extLst>
          </p:cNvPr>
          <p:cNvSpPr/>
          <p:nvPr/>
        </p:nvSpPr>
        <p:spPr>
          <a:xfrm>
            <a:off x="4709160" y="2395728"/>
            <a:ext cx="3931920" cy="256032"/>
          </a:xfrm>
          <a:prstGeom prst="rect">
            <a:avLst/>
          </a:prstGeom>
          <a:solidFill>
            <a:srgbClr val="0F3D66"/>
          </a:solidFill>
          <a:ln w="12700">
            <a:solidFill>
              <a:srgbClr val="333333"/>
            </a:solidFill>
            <a:prstDash val="solid"/>
          </a:ln>
        </p:spPr>
        <p:txBody>
          <a:bodyPr/>
          <a:lstStyle/>
          <a:p>
            <a:endParaRPr lang="en-IN"/>
          </a:p>
        </p:txBody>
      </p:sp>
      <p:sp>
        <p:nvSpPr>
          <p:cNvPr id="28" name="Text 26"/>
          <p:cNvSpPr/>
          <p:nvPr/>
        </p:nvSpPr>
        <p:spPr>
          <a:xfrm>
            <a:off x="4855464" y="2395728"/>
            <a:ext cx="363931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Why it matters</a:t>
            </a:r>
            <a:endParaRPr lang="en-US" sz="850"/>
          </a:p>
        </p:txBody>
      </p:sp>
      <p:sp>
        <p:nvSpPr>
          <p:cNvPr id="29" name="Text 27"/>
          <p:cNvSpPr/>
          <p:nvPr/>
        </p:nvSpPr>
        <p:spPr>
          <a:xfrm>
            <a:off x="4855464" y="2724912"/>
            <a:ext cx="3639312" cy="1207008"/>
          </a:xfrm>
          <a:prstGeom prst="rect">
            <a:avLst/>
          </a:prstGeom>
          <a:noFill/>
          <a:ln/>
        </p:spPr>
        <p:txBody>
          <a:bodyPr wrap="square" lIns="0" tIns="0" rIns="0" bIns="0" rtlCol="0" anchor="t"/>
          <a:lstStyle/>
          <a:p>
            <a:pPr marL="0" indent="0">
              <a:lnSpc>
                <a:spcPct val="120000"/>
              </a:lnSpc>
              <a:buNone/>
            </a:pPr>
            <a:r>
              <a:rPr lang="en-US" sz="1000">
                <a:solidFill>
                  <a:srgbClr val="D7ECF8"/>
                </a:solidFill>
                <a:latin typeface="Segoe UI" pitchFamily="34" charset="0"/>
                <a:ea typeface="Segoe UI" pitchFamily="34" charset="-122"/>
                <a:cs typeface="Segoe UI" pitchFamily="34" charset="-120"/>
              </a:rPr>
              <a:t>Expired certificates are one of the most common production outages — put renewal on automation and alerting from day one, never in a calendar reminder.</a:t>
            </a:r>
            <a:endParaRPr lang="en-US" sz="100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11 · MONITORING AND TROUBLESHOOTING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100" b="1">
                <a:solidFill>
                  <a:srgbClr val="0E2233"/>
                </a:solidFill>
                <a:latin typeface="Segoe UI" pitchFamily="34" charset="0"/>
                <a:ea typeface="Segoe UI" pitchFamily="34" charset="-122"/>
                <a:cs typeface="Segoe UI" pitchFamily="34" charset="-120"/>
              </a:rPr>
              <a:t>AKS monitoring overview</a:t>
            </a:r>
            <a:endParaRPr lang="en-US" sz="21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2"/>
          <p:cNvSpPr/>
          <p:nvPr/>
        </p:nvSpPr>
        <p:spPr>
          <a:xfrm>
            <a:off x="502920" y="1078992"/>
            <a:ext cx="8138160" cy="228600"/>
          </a:xfrm>
          <a:prstGeom prst="rect">
            <a:avLst/>
          </a:prstGeom>
          <a:noFill/>
          <a:ln/>
        </p:spPr>
        <p:txBody>
          <a:bodyPr wrap="square" lIns="0" tIns="0" rIns="0" bIns="0" rtlCol="0" anchor="ctr"/>
          <a:lstStyle/>
          <a:p>
            <a:pPr marL="0" indent="0">
              <a:buNone/>
            </a:pPr>
            <a:r>
              <a:rPr lang="en-US" sz="1050">
                <a:solidFill>
                  <a:srgbClr val="44566B"/>
                </a:solidFill>
                <a:latin typeface="Segoe UI" pitchFamily="34" charset="0"/>
                <a:ea typeface="Segoe UI" pitchFamily="34" charset="-122"/>
                <a:cs typeface="Segoe UI" pitchFamily="34" charset="-120"/>
              </a:rPr>
              <a:t>Four signals, one place to look — know which layer a question belongs to before you start digging.</a:t>
            </a:r>
            <a:endParaRPr lang="en-US" sz="1050"/>
          </a:p>
        </p:txBody>
      </p:sp>
      <p:sp>
        <p:nvSpPr>
          <p:cNvPr id="7" name="card">
            <a:extLst>
              <a:ext uri="{C183D7F6-B498-43B3-948B-1728B52AA6E4}">
                <adec:decorative xmlns:adec="http://schemas.microsoft.com/office/drawing/2017/decorative" val="1"/>
              </a:ext>
            </a:extLst>
          </p:cNvPr>
          <p:cNvSpPr/>
          <p:nvPr/>
        </p:nvSpPr>
        <p:spPr>
          <a:xfrm>
            <a:off x="502920" y="1481328"/>
            <a:ext cx="2578608" cy="1133856"/>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2578608" cy="41148"/>
          </a:xfrm>
          <a:prstGeom prst="rect">
            <a:avLst/>
          </a:prstGeom>
          <a:solidFill>
            <a:srgbClr val="0B63CE"/>
          </a:solidFill>
          <a:ln w="12700">
            <a:solidFill>
              <a:srgbClr val="333333"/>
            </a:solidFill>
            <a:prstDash val="solid"/>
          </a:ln>
        </p:spPr>
        <p:txBody>
          <a:bodyPr/>
          <a:lstStyle/>
          <a:p>
            <a:endParaRPr lang="en-IN"/>
          </a:p>
        </p:txBody>
      </p:sp>
      <p:sp>
        <p:nvSpPr>
          <p:cNvPr id="9" name="Text 9"/>
          <p:cNvSpPr/>
          <p:nvPr/>
        </p:nvSpPr>
        <p:spPr>
          <a:xfrm>
            <a:off x="704088" y="1664208"/>
            <a:ext cx="2176272" cy="228600"/>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CLUSTER</a:t>
            </a:r>
            <a:endParaRPr lang="en-US" sz="900"/>
          </a:p>
        </p:txBody>
      </p:sp>
      <p:sp>
        <p:nvSpPr>
          <p:cNvPr id="10" name="Text 10"/>
          <p:cNvSpPr/>
          <p:nvPr/>
        </p:nvSpPr>
        <p:spPr>
          <a:xfrm>
            <a:off x="704088" y="1920240"/>
            <a:ext cx="2176272" cy="438912"/>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Nodes and capacity</a:t>
            </a:r>
            <a:endParaRPr lang="en-US" sz="1150"/>
          </a:p>
        </p:txBody>
      </p:sp>
      <p:sp>
        <p:nvSpPr>
          <p:cNvPr id="11" name="Text 11"/>
          <p:cNvSpPr/>
          <p:nvPr/>
        </p:nvSpPr>
        <p:spPr>
          <a:xfrm>
            <a:off x="704088" y="2286000"/>
            <a:ext cx="2176272" cy="28956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Node health, CPU and memory pressure, disk and how much room is left for new Pods.</a:t>
            </a:r>
            <a:endParaRPr lang="en-US" sz="850"/>
          </a:p>
        </p:txBody>
      </p:sp>
      <p:sp>
        <p:nvSpPr>
          <p:cNvPr id="12" name="card">
            <a:extLst>
              <a:ext uri="{C183D7F6-B498-43B3-948B-1728B52AA6E4}">
                <adec:decorative xmlns:adec="http://schemas.microsoft.com/office/drawing/2017/decorative" val="1"/>
              </a:ext>
            </a:extLst>
          </p:cNvPr>
          <p:cNvSpPr/>
          <p:nvPr/>
        </p:nvSpPr>
        <p:spPr>
          <a:xfrm>
            <a:off x="3282696" y="1481328"/>
            <a:ext cx="2578608" cy="1133856"/>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3282696" y="1481328"/>
            <a:ext cx="2578608" cy="41148"/>
          </a:xfrm>
          <a:prstGeom prst="rect">
            <a:avLst/>
          </a:prstGeom>
          <a:solidFill>
            <a:srgbClr val="17A9DB"/>
          </a:solidFill>
          <a:ln w="12700">
            <a:solidFill>
              <a:srgbClr val="333333"/>
            </a:solidFill>
            <a:prstDash val="solid"/>
          </a:ln>
        </p:spPr>
        <p:txBody>
          <a:bodyPr/>
          <a:lstStyle/>
          <a:p>
            <a:endParaRPr lang="en-IN"/>
          </a:p>
        </p:txBody>
      </p:sp>
      <p:sp>
        <p:nvSpPr>
          <p:cNvPr id="14" name="Text 14"/>
          <p:cNvSpPr/>
          <p:nvPr/>
        </p:nvSpPr>
        <p:spPr>
          <a:xfrm>
            <a:off x="3483864" y="1664208"/>
            <a:ext cx="2176272" cy="228600"/>
          </a:xfrm>
          <a:prstGeom prst="rect">
            <a:avLst/>
          </a:prstGeom>
          <a:noFill/>
          <a:ln/>
        </p:spPr>
        <p:txBody>
          <a:bodyPr wrap="square" lIns="0" tIns="0" rIns="0" bIns="0" rtlCol="0" anchor="ctr"/>
          <a:lstStyle/>
          <a:p>
            <a:pPr marL="0" indent="0">
              <a:buNone/>
            </a:pPr>
            <a:r>
              <a:rPr lang="en-US" sz="900" b="1" kern="0" spc="120">
                <a:solidFill>
                  <a:srgbClr val="17A9DB"/>
                </a:solidFill>
                <a:latin typeface="Segoe UI" pitchFamily="34" charset="0"/>
                <a:ea typeface="Segoe UI" pitchFamily="34" charset="-122"/>
                <a:cs typeface="Segoe UI" pitchFamily="34" charset="-120"/>
              </a:rPr>
              <a:t>WORKLOAD</a:t>
            </a:r>
            <a:endParaRPr lang="en-US" sz="900"/>
          </a:p>
        </p:txBody>
      </p:sp>
      <p:sp>
        <p:nvSpPr>
          <p:cNvPr id="15" name="Text 15"/>
          <p:cNvSpPr/>
          <p:nvPr/>
        </p:nvSpPr>
        <p:spPr>
          <a:xfrm>
            <a:off x="3483864" y="1920240"/>
            <a:ext cx="2176272" cy="438912"/>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Deployments and Pods</a:t>
            </a:r>
            <a:endParaRPr lang="en-US" sz="1150"/>
          </a:p>
        </p:txBody>
      </p:sp>
      <p:sp>
        <p:nvSpPr>
          <p:cNvPr id="16" name="Text 16"/>
          <p:cNvSpPr/>
          <p:nvPr/>
        </p:nvSpPr>
        <p:spPr>
          <a:xfrm>
            <a:off x="3483864" y="2286000"/>
            <a:ext cx="2176272" cy="28956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Replica counts, restarts, pending Pods and failing containers per namespace.</a:t>
            </a:r>
            <a:endParaRPr lang="en-US" sz="850"/>
          </a:p>
        </p:txBody>
      </p:sp>
      <p:sp>
        <p:nvSpPr>
          <p:cNvPr id="17" name="card">
            <a:extLst>
              <a:ext uri="{C183D7F6-B498-43B3-948B-1728B52AA6E4}">
                <adec:decorative xmlns:adec="http://schemas.microsoft.com/office/drawing/2017/decorative" val="1"/>
              </a:ext>
            </a:extLst>
          </p:cNvPr>
          <p:cNvSpPr/>
          <p:nvPr/>
        </p:nvSpPr>
        <p:spPr>
          <a:xfrm>
            <a:off x="6062472" y="1481328"/>
            <a:ext cx="2578608" cy="1133856"/>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6062472" y="1481328"/>
            <a:ext cx="2578608" cy="41148"/>
          </a:xfrm>
          <a:prstGeom prst="rect">
            <a:avLst/>
          </a:prstGeom>
          <a:solidFill>
            <a:srgbClr val="0B63CE"/>
          </a:solidFill>
          <a:ln w="12700">
            <a:solidFill>
              <a:srgbClr val="333333"/>
            </a:solidFill>
            <a:prstDash val="solid"/>
          </a:ln>
        </p:spPr>
        <p:txBody>
          <a:bodyPr/>
          <a:lstStyle/>
          <a:p>
            <a:endParaRPr lang="en-IN"/>
          </a:p>
        </p:txBody>
      </p:sp>
      <p:sp>
        <p:nvSpPr>
          <p:cNvPr id="19" name="Text 19"/>
          <p:cNvSpPr/>
          <p:nvPr/>
        </p:nvSpPr>
        <p:spPr>
          <a:xfrm>
            <a:off x="6263640" y="1664208"/>
            <a:ext cx="2176272" cy="228600"/>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APPLICATION</a:t>
            </a:r>
            <a:endParaRPr lang="en-US" sz="900"/>
          </a:p>
        </p:txBody>
      </p:sp>
      <p:sp>
        <p:nvSpPr>
          <p:cNvPr id="20" name="Text 20"/>
          <p:cNvSpPr/>
          <p:nvPr/>
        </p:nvSpPr>
        <p:spPr>
          <a:xfrm>
            <a:off x="6263640" y="1920240"/>
            <a:ext cx="2176272" cy="438912"/>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Requests and errors</a:t>
            </a:r>
            <a:endParaRPr lang="en-US" sz="1150"/>
          </a:p>
        </p:txBody>
      </p:sp>
      <p:sp>
        <p:nvSpPr>
          <p:cNvPr id="21" name="Text 21"/>
          <p:cNvSpPr/>
          <p:nvPr/>
        </p:nvSpPr>
        <p:spPr>
          <a:xfrm>
            <a:off x="6263640" y="2286000"/>
            <a:ext cx="2176272" cy="28956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Latency, error rate and dependency calls, sent by the application itself through Application Insights.</a:t>
            </a:r>
            <a:endParaRPr lang="en-US" sz="850"/>
          </a:p>
        </p:txBody>
      </p:sp>
      <p:sp>
        <p:nvSpPr>
          <p:cNvPr id="22" name="card">
            <a:extLst>
              <a:ext uri="{C183D7F6-B498-43B3-948B-1728B52AA6E4}">
                <adec:decorative xmlns:adec="http://schemas.microsoft.com/office/drawing/2017/decorative" val="1"/>
              </a:ext>
            </a:extLst>
          </p:cNvPr>
          <p:cNvSpPr/>
          <p:nvPr/>
        </p:nvSpPr>
        <p:spPr>
          <a:xfrm>
            <a:off x="502920" y="2816352"/>
            <a:ext cx="2578608" cy="1133856"/>
          </a:xfrm>
          <a:prstGeom prst="rect">
            <a:avLst/>
          </a:prstGeom>
          <a:solidFill>
            <a:srgbClr val="F6F9FD"/>
          </a:solidFill>
          <a:ln w="9525">
            <a:solidFill>
              <a:srgbClr val="D8E5F2"/>
            </a:solidFill>
            <a:prstDash val="solid"/>
          </a:ln>
        </p:spPr>
        <p:txBody>
          <a:bodyPr/>
          <a:lstStyle/>
          <a:p>
            <a:endParaRPr lang="en-IN"/>
          </a:p>
        </p:txBody>
      </p:sp>
      <p:sp>
        <p:nvSpPr>
          <p:cNvPr id="23" name="card accent">
            <a:extLst>
              <a:ext uri="{C183D7F6-B498-43B3-948B-1728B52AA6E4}">
                <adec:decorative xmlns:adec="http://schemas.microsoft.com/office/drawing/2017/decorative" val="1"/>
              </a:ext>
            </a:extLst>
          </p:cNvPr>
          <p:cNvSpPr/>
          <p:nvPr/>
        </p:nvSpPr>
        <p:spPr>
          <a:xfrm>
            <a:off x="502920" y="2816352"/>
            <a:ext cx="2578608" cy="41148"/>
          </a:xfrm>
          <a:prstGeom prst="rect">
            <a:avLst/>
          </a:prstGeom>
          <a:solidFill>
            <a:srgbClr val="17A9DB"/>
          </a:solidFill>
          <a:ln w="12700">
            <a:solidFill>
              <a:srgbClr val="333333"/>
            </a:solidFill>
            <a:prstDash val="solid"/>
          </a:ln>
        </p:spPr>
        <p:txBody>
          <a:bodyPr/>
          <a:lstStyle/>
          <a:p>
            <a:endParaRPr lang="en-IN"/>
          </a:p>
        </p:txBody>
      </p:sp>
      <p:sp>
        <p:nvSpPr>
          <p:cNvPr id="24" name="Text 24"/>
          <p:cNvSpPr/>
          <p:nvPr/>
        </p:nvSpPr>
        <p:spPr>
          <a:xfrm>
            <a:off x="704088" y="2999232"/>
            <a:ext cx="2176272" cy="228600"/>
          </a:xfrm>
          <a:prstGeom prst="rect">
            <a:avLst/>
          </a:prstGeom>
          <a:noFill/>
          <a:ln/>
        </p:spPr>
        <p:txBody>
          <a:bodyPr wrap="square" lIns="0" tIns="0" rIns="0" bIns="0" rtlCol="0" anchor="ctr"/>
          <a:lstStyle/>
          <a:p>
            <a:pPr marL="0" indent="0">
              <a:buNone/>
            </a:pPr>
            <a:r>
              <a:rPr lang="en-US" sz="900" b="1" kern="0" spc="120">
                <a:solidFill>
                  <a:srgbClr val="17A9DB"/>
                </a:solidFill>
                <a:latin typeface="Segoe UI" pitchFamily="34" charset="0"/>
                <a:ea typeface="Segoe UI" pitchFamily="34" charset="-122"/>
                <a:cs typeface="Segoe UI" pitchFamily="34" charset="-120"/>
              </a:rPr>
              <a:t>LOGS</a:t>
            </a:r>
            <a:endParaRPr lang="en-US" sz="900"/>
          </a:p>
        </p:txBody>
      </p:sp>
      <p:sp>
        <p:nvSpPr>
          <p:cNvPr id="25" name="Text 25"/>
          <p:cNvSpPr/>
          <p:nvPr/>
        </p:nvSpPr>
        <p:spPr>
          <a:xfrm>
            <a:off x="704088" y="3255264"/>
            <a:ext cx="2176272" cy="438912"/>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What the container said</a:t>
            </a:r>
            <a:endParaRPr lang="en-US" sz="1150"/>
          </a:p>
        </p:txBody>
      </p:sp>
      <p:sp>
        <p:nvSpPr>
          <p:cNvPr id="26" name="Text 26"/>
          <p:cNvSpPr/>
          <p:nvPr/>
        </p:nvSpPr>
        <p:spPr>
          <a:xfrm>
            <a:off x="704088" y="3621024"/>
            <a:ext cx="2176272" cy="28956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Container stdout and stderr collected into a Log Analytics workspace and queried with KQL.</a:t>
            </a:r>
            <a:endParaRPr lang="en-US" sz="850"/>
          </a:p>
        </p:txBody>
      </p:sp>
      <p:sp>
        <p:nvSpPr>
          <p:cNvPr id="27" name="card">
            <a:extLst>
              <a:ext uri="{C183D7F6-B498-43B3-948B-1728B52AA6E4}">
                <adec:decorative xmlns:adec="http://schemas.microsoft.com/office/drawing/2017/decorative" val="1"/>
              </a:ext>
            </a:extLst>
          </p:cNvPr>
          <p:cNvSpPr/>
          <p:nvPr/>
        </p:nvSpPr>
        <p:spPr>
          <a:xfrm>
            <a:off x="3282696" y="2816352"/>
            <a:ext cx="2578608" cy="1133856"/>
          </a:xfrm>
          <a:prstGeom prst="rect">
            <a:avLst/>
          </a:prstGeom>
          <a:solidFill>
            <a:srgbClr val="F6F9FD"/>
          </a:solidFill>
          <a:ln w="9525">
            <a:solidFill>
              <a:srgbClr val="D8E5F2"/>
            </a:solidFill>
            <a:prstDash val="solid"/>
          </a:ln>
        </p:spPr>
        <p:txBody>
          <a:bodyPr/>
          <a:lstStyle/>
          <a:p>
            <a:endParaRPr lang="en-IN"/>
          </a:p>
        </p:txBody>
      </p:sp>
      <p:sp>
        <p:nvSpPr>
          <p:cNvPr id="28" name="card accent">
            <a:extLst>
              <a:ext uri="{C183D7F6-B498-43B3-948B-1728B52AA6E4}">
                <adec:decorative xmlns:adec="http://schemas.microsoft.com/office/drawing/2017/decorative" val="1"/>
              </a:ext>
            </a:extLst>
          </p:cNvPr>
          <p:cNvSpPr/>
          <p:nvPr/>
        </p:nvSpPr>
        <p:spPr>
          <a:xfrm>
            <a:off x="3282696" y="2816352"/>
            <a:ext cx="2578608" cy="41148"/>
          </a:xfrm>
          <a:prstGeom prst="rect">
            <a:avLst/>
          </a:prstGeom>
          <a:solidFill>
            <a:srgbClr val="0B63CE"/>
          </a:solidFill>
          <a:ln w="12700">
            <a:solidFill>
              <a:srgbClr val="333333"/>
            </a:solidFill>
            <a:prstDash val="solid"/>
          </a:ln>
        </p:spPr>
        <p:txBody>
          <a:bodyPr/>
          <a:lstStyle/>
          <a:p>
            <a:endParaRPr lang="en-IN"/>
          </a:p>
        </p:txBody>
      </p:sp>
      <p:sp>
        <p:nvSpPr>
          <p:cNvPr id="29" name="Text 29"/>
          <p:cNvSpPr/>
          <p:nvPr/>
        </p:nvSpPr>
        <p:spPr>
          <a:xfrm>
            <a:off x="3483864" y="2999232"/>
            <a:ext cx="2176272" cy="228600"/>
          </a:xfrm>
          <a:prstGeom prst="rect">
            <a:avLst/>
          </a:prstGeom>
          <a:noFill/>
          <a:ln/>
        </p:spPr>
        <p:txBody>
          <a:bodyPr wrap="square" lIns="0" tIns="0" rIns="0" bIns="0" rtlCol="0" anchor="ctr"/>
          <a:lstStyle/>
          <a:p>
            <a:pPr marL="0" indent="0">
              <a:buNone/>
            </a:pPr>
            <a:r>
              <a:rPr lang="en-US" sz="900" b="1" kern="0" spc="120">
                <a:solidFill>
                  <a:srgbClr val="0B63CE"/>
                </a:solidFill>
                <a:latin typeface="Segoe UI" pitchFamily="34" charset="0"/>
                <a:ea typeface="Segoe UI" pitchFamily="34" charset="-122"/>
                <a:cs typeface="Segoe UI" pitchFamily="34" charset="-120"/>
              </a:rPr>
              <a:t>METRICS</a:t>
            </a:r>
            <a:endParaRPr lang="en-US" sz="900"/>
          </a:p>
        </p:txBody>
      </p:sp>
      <p:sp>
        <p:nvSpPr>
          <p:cNvPr id="30" name="Text 30"/>
          <p:cNvSpPr/>
          <p:nvPr/>
        </p:nvSpPr>
        <p:spPr>
          <a:xfrm>
            <a:off x="3483864" y="3255264"/>
            <a:ext cx="2176272" cy="438912"/>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Numbers over time</a:t>
            </a:r>
            <a:endParaRPr lang="en-US" sz="1150"/>
          </a:p>
        </p:txBody>
      </p:sp>
      <p:sp>
        <p:nvSpPr>
          <p:cNvPr id="31" name="Text 31"/>
          <p:cNvSpPr/>
          <p:nvPr/>
        </p:nvSpPr>
        <p:spPr>
          <a:xfrm>
            <a:off x="3483864" y="3621024"/>
            <a:ext cx="2176272" cy="28956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Azure Monitor managed Prometheus stores metrics; Managed Grafana or workbooks visualise them.</a:t>
            </a:r>
            <a:endParaRPr lang="en-US" sz="850"/>
          </a:p>
        </p:txBody>
      </p:sp>
      <p:sp>
        <p:nvSpPr>
          <p:cNvPr id="32" name="card">
            <a:extLst>
              <a:ext uri="{C183D7F6-B498-43B3-948B-1728B52AA6E4}">
                <adec:decorative xmlns:adec="http://schemas.microsoft.com/office/drawing/2017/decorative" val="1"/>
              </a:ext>
            </a:extLst>
          </p:cNvPr>
          <p:cNvSpPr/>
          <p:nvPr/>
        </p:nvSpPr>
        <p:spPr>
          <a:xfrm>
            <a:off x="6062472" y="2816352"/>
            <a:ext cx="2578608" cy="1133856"/>
          </a:xfrm>
          <a:prstGeom prst="rect">
            <a:avLst/>
          </a:prstGeom>
          <a:solidFill>
            <a:srgbClr val="F6F9FD"/>
          </a:solidFill>
          <a:ln w="9525">
            <a:solidFill>
              <a:srgbClr val="D8E5F2"/>
            </a:solidFill>
            <a:prstDash val="solid"/>
          </a:ln>
        </p:spPr>
        <p:txBody>
          <a:bodyPr/>
          <a:lstStyle/>
          <a:p>
            <a:endParaRPr lang="en-IN"/>
          </a:p>
        </p:txBody>
      </p:sp>
      <p:sp>
        <p:nvSpPr>
          <p:cNvPr id="33" name="card accent">
            <a:extLst>
              <a:ext uri="{C183D7F6-B498-43B3-948B-1728B52AA6E4}">
                <adec:decorative xmlns:adec="http://schemas.microsoft.com/office/drawing/2017/decorative" val="1"/>
              </a:ext>
            </a:extLst>
          </p:cNvPr>
          <p:cNvSpPr/>
          <p:nvPr/>
        </p:nvSpPr>
        <p:spPr>
          <a:xfrm>
            <a:off x="6062472" y="2816352"/>
            <a:ext cx="2578608" cy="41148"/>
          </a:xfrm>
          <a:prstGeom prst="rect">
            <a:avLst/>
          </a:prstGeom>
          <a:solidFill>
            <a:srgbClr val="17A9DB"/>
          </a:solidFill>
          <a:ln w="12700">
            <a:solidFill>
              <a:srgbClr val="333333"/>
            </a:solidFill>
            <a:prstDash val="solid"/>
          </a:ln>
        </p:spPr>
        <p:txBody>
          <a:bodyPr/>
          <a:lstStyle/>
          <a:p>
            <a:endParaRPr lang="en-IN"/>
          </a:p>
        </p:txBody>
      </p:sp>
      <p:sp>
        <p:nvSpPr>
          <p:cNvPr id="34" name="Text 34"/>
          <p:cNvSpPr/>
          <p:nvPr/>
        </p:nvSpPr>
        <p:spPr>
          <a:xfrm>
            <a:off x="6263640" y="2999232"/>
            <a:ext cx="2176272" cy="228600"/>
          </a:xfrm>
          <a:prstGeom prst="rect">
            <a:avLst/>
          </a:prstGeom>
          <a:noFill/>
          <a:ln/>
        </p:spPr>
        <p:txBody>
          <a:bodyPr wrap="square" lIns="0" tIns="0" rIns="0" bIns="0" rtlCol="0" anchor="ctr"/>
          <a:lstStyle/>
          <a:p>
            <a:pPr marL="0" indent="0">
              <a:buNone/>
            </a:pPr>
            <a:r>
              <a:rPr lang="en-US" sz="900" b="1" kern="0" spc="120">
                <a:solidFill>
                  <a:srgbClr val="17A9DB"/>
                </a:solidFill>
                <a:latin typeface="Segoe UI" pitchFamily="34" charset="0"/>
                <a:ea typeface="Segoe UI" pitchFamily="34" charset="-122"/>
                <a:cs typeface="Segoe UI" pitchFamily="34" charset="-120"/>
              </a:rPr>
              <a:t>ALERTS</a:t>
            </a:r>
            <a:endParaRPr lang="en-US" sz="900"/>
          </a:p>
        </p:txBody>
      </p:sp>
      <p:sp>
        <p:nvSpPr>
          <p:cNvPr id="35" name="Text 35"/>
          <p:cNvSpPr/>
          <p:nvPr/>
        </p:nvSpPr>
        <p:spPr>
          <a:xfrm>
            <a:off x="6263640" y="3255264"/>
            <a:ext cx="2176272" cy="438912"/>
          </a:xfrm>
          <a:prstGeom prst="rect">
            <a:avLst/>
          </a:prstGeom>
          <a:noFill/>
          <a:ln/>
        </p:spPr>
        <p:txBody>
          <a:bodyPr wrap="square" lIns="0" tIns="0" rIns="0" bIns="0" rtlCol="0" anchor="t"/>
          <a:lstStyle/>
          <a:p>
            <a:pPr marL="0" indent="0">
              <a:lnSpc>
                <a:spcPct val="100000"/>
              </a:lnSpc>
              <a:buNone/>
            </a:pPr>
            <a:r>
              <a:rPr lang="en-US" sz="1150" b="1">
                <a:solidFill>
                  <a:srgbClr val="0E2233"/>
                </a:solidFill>
                <a:latin typeface="Segoe UI" pitchFamily="34" charset="0"/>
                <a:ea typeface="Segoe UI" pitchFamily="34" charset="-122"/>
                <a:cs typeface="Segoe UI" pitchFamily="34" charset="-120"/>
              </a:rPr>
              <a:t>Being told, not finding out</a:t>
            </a:r>
            <a:endParaRPr lang="en-US" sz="1150"/>
          </a:p>
        </p:txBody>
      </p:sp>
      <p:sp>
        <p:nvSpPr>
          <p:cNvPr id="36" name="Text 36"/>
          <p:cNvSpPr/>
          <p:nvPr/>
        </p:nvSpPr>
        <p:spPr>
          <a:xfrm>
            <a:off x="6263640" y="3621024"/>
            <a:ext cx="2176272" cy="289560"/>
          </a:xfrm>
          <a:prstGeom prst="rect">
            <a:avLst/>
          </a:prstGeom>
          <a:noFill/>
          <a:ln/>
        </p:spPr>
        <p:txBody>
          <a:bodyPr wrap="square" lIns="0" tIns="0" rIns="0" bIns="0" rtlCol="0" anchor="t"/>
          <a:lstStyle/>
          <a:p>
            <a:pPr marL="0" indent="0">
              <a:lnSpc>
                <a:spcPct val="115000"/>
              </a:lnSpc>
              <a:buNone/>
            </a:pPr>
            <a:r>
              <a:rPr lang="en-US" sz="850">
                <a:solidFill>
                  <a:srgbClr val="44566B"/>
                </a:solidFill>
                <a:latin typeface="Segoe UI" pitchFamily="34" charset="0"/>
                <a:ea typeface="Segoe UI" pitchFamily="34" charset="-122"/>
                <a:cs typeface="Segoe UI" pitchFamily="34" charset="-120"/>
              </a:rPr>
              <a:t>Alert rules on the signals that map to user pain — errors, saturation and restarts.</a:t>
            </a:r>
            <a:endParaRPr lang="en-US" sz="850"/>
          </a:p>
        </p:txBody>
      </p:sp>
      <p:sp>
        <p:nvSpPr>
          <p:cNvPr id="37"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8"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39" name="Text 2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F2A93B"/>
                </a:solidFill>
                <a:latin typeface="Segoe UI" pitchFamily="34" charset="0"/>
                <a:ea typeface="Segoe UI" pitchFamily="34" charset="-122"/>
                <a:cs typeface="Segoe UI" pitchFamily="34" charset="-120"/>
              </a:rPr>
              <a:t>Where to start   </a:t>
            </a:r>
            <a:r>
              <a:rPr lang="en-US" sz="1050">
                <a:solidFill>
                  <a:srgbClr val="0E2233"/>
                </a:solidFill>
                <a:latin typeface="Segoe UI" pitchFamily="34" charset="0"/>
                <a:ea typeface="Segoe UI" pitchFamily="34" charset="-122"/>
                <a:cs typeface="Segoe UI" pitchFamily="34" charset="-120"/>
              </a:rPr>
              <a:t>Start from the user’s symptom and work down: is the app failing, is the </a:t>
            </a:r>
            <a:r>
              <a:rPr lang="en-US" sz="1050" b="1">
                <a:solidFill>
                  <a:srgbClr val="0E2233"/>
                </a:solidFill>
                <a:latin typeface="Segoe UI" pitchFamily="34" charset="0"/>
                <a:ea typeface="Segoe UI" pitchFamily="34" charset="-122"/>
                <a:cs typeface="Segoe UI" pitchFamily="34" charset="-120"/>
              </a:rPr>
              <a:t>Pod</a:t>
            </a:r>
            <a:r>
              <a:rPr lang="en-US" sz="1050">
                <a:solidFill>
                  <a:srgbClr val="0E2233"/>
                </a:solidFill>
                <a:latin typeface="Segoe UI" pitchFamily="34" charset="0"/>
                <a:ea typeface="Segoe UI" pitchFamily="34" charset="-122"/>
                <a:cs typeface="Segoe UI" pitchFamily="34" charset="-120"/>
              </a:rPr>
              <a:t> failing, or is the node out of room?</a:t>
            </a:r>
            <a:endParaRPr lang="en-US" sz="1000"/>
          </a:p>
        </p:txBody>
      </p:sp>
      <p:sp>
        <p:nvSpPr>
          <p:cNvPr id="4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11 · MONITORING AND TROUBLESHOOTING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Azure Monitor and Container Insights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25">
                <a:solidFill>
                  <a:srgbClr val="44566B"/>
                </a:solidFill>
                <a:latin typeface="Segoe UI" pitchFamily="34" charset="0"/>
                <a:ea typeface="Segoe UI" pitchFamily="34" charset="-122"/>
                <a:cs typeface="Segoe UI" pitchFamily="34" charset="-120"/>
              </a:rPr>
              <a:t>The built-in stack: enable the add-on, and the cluster starts reporting without any code changes.</a:t>
            </a:r>
            <a:endParaRPr lang="en-US" sz="1125"/>
          </a:p>
        </p:txBody>
      </p:sp>
      <p:sp>
        <p:nvSpPr>
          <p:cNvPr id="7" name="card">
            <a:extLst>
              <a:ext uri="{C183D7F6-B498-43B3-948B-1728B52AA6E4}">
                <adec:decorative xmlns:adec="http://schemas.microsoft.com/office/drawing/2017/decorative" val="1"/>
              </a:ext>
            </a:extLst>
          </p:cNvPr>
          <p:cNvSpPr/>
          <p:nvPr/>
        </p:nvSpPr>
        <p:spPr>
          <a:xfrm>
            <a:off x="502920"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8" name="card accent">
            <a:extLst>
              <a:ext uri="{C183D7F6-B498-43B3-948B-1728B52AA6E4}">
                <adec:decorative xmlns:adec="http://schemas.microsoft.com/office/drawing/2017/decorative" val="1"/>
              </a:ext>
            </a:extLst>
          </p:cNvPr>
          <p:cNvSpPr/>
          <p:nvPr/>
        </p:nvSpPr>
        <p:spPr>
          <a:xfrm>
            <a:off x="502920" y="1481328"/>
            <a:ext cx="2578608" cy="41148"/>
          </a:xfrm>
          <a:prstGeom prst="rect">
            <a:avLst/>
          </a:prstGeom>
          <a:solidFill>
            <a:srgbClr val="D0483C"/>
          </a:solidFill>
          <a:ln w="12700">
            <a:solidFill>
              <a:srgbClr val="333333"/>
            </a:solidFill>
            <a:prstDash val="solid"/>
          </a:ln>
        </p:spPr>
        <p:txBody>
          <a:bodyPr/>
          <a:lstStyle/>
          <a:p>
            <a:endParaRPr lang="en-IN"/>
          </a:p>
        </p:txBody>
      </p:sp>
      <p:sp>
        <p:nvSpPr>
          <p:cNvPr id="9" name="Text 7"/>
          <p:cNvSpPr/>
          <p:nvPr/>
        </p:nvSpPr>
        <p:spPr>
          <a:xfrm>
            <a:off x="704088" y="1664208"/>
            <a:ext cx="2176272" cy="228600"/>
          </a:xfrm>
          <a:prstGeom prst="rect">
            <a:avLst/>
          </a:prstGeom>
          <a:noFill/>
          <a:ln/>
        </p:spPr>
        <p:txBody>
          <a:bodyPr wrap="square" lIns="0" tIns="0" rIns="0" bIns="0" rtlCol="0" anchor="ctr"/>
          <a:lstStyle/>
          <a:p>
            <a:pPr marL="0" indent="0">
              <a:buNone/>
            </a:pPr>
            <a:r>
              <a:rPr lang="en-US" sz="900" b="1" kern="0" spc="120">
                <a:solidFill>
                  <a:srgbClr val="D0483C"/>
                </a:solidFill>
                <a:latin typeface="Segoe UI" pitchFamily="34" charset="0"/>
                <a:ea typeface="Segoe UI" pitchFamily="34" charset="-122"/>
                <a:cs typeface="Segoe UI" pitchFamily="34" charset="-120"/>
              </a:rPr>
              <a:t>COLLECT</a:t>
            </a:r>
            <a:endParaRPr lang="en-US" sz="900"/>
          </a:p>
        </p:txBody>
      </p:sp>
      <p:sp>
        <p:nvSpPr>
          <p:cNvPr id="10" name="Text 8"/>
          <p:cNvSpPr/>
          <p:nvPr/>
        </p:nvSpPr>
        <p:spPr>
          <a:xfrm>
            <a:off x="704088" y="1920240"/>
            <a:ext cx="2176272" cy="2453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Container Insights</a:t>
            </a:r>
            <a:endParaRPr lang="en-US" sz="1250"/>
          </a:p>
        </p:txBody>
      </p:sp>
      <p:sp>
        <p:nvSpPr>
          <p:cNvPr id="11" name="Text 9"/>
          <p:cNvSpPr/>
          <p:nvPr/>
        </p:nvSpPr>
        <p:spPr>
          <a:xfrm>
            <a:off x="704088" y="2229612"/>
            <a:ext cx="2176272" cy="275844"/>
          </a:xfrm>
          <a:prstGeom prst="rect">
            <a:avLst/>
          </a:prstGeom>
          <a:noFill/>
          <a:ln/>
        </p:spPr>
        <p:txBody>
          <a:bodyPr wrap="square" lIns="0" tIns="0" rIns="0" bIns="0" rtlCol="0" anchor="t"/>
          <a:lstStyle/>
          <a:p>
            <a:pPr marL="0" indent="0">
              <a:lnSpc>
                <a:spcPct val="115000"/>
              </a:lnSpc>
              <a:buNone/>
            </a:pPr>
            <a:r>
              <a:rPr lang="en-US" sz="800">
                <a:solidFill>
                  <a:srgbClr val="44566B"/>
                </a:solidFill>
                <a:latin typeface="Segoe UI" pitchFamily="34" charset="0"/>
                <a:ea typeface="Segoe UI" pitchFamily="34" charset="-122"/>
                <a:cs typeface="Segoe UI" pitchFamily="34" charset="-120"/>
              </a:rPr>
              <a:t>An agent on every node collects container logs and performance data into a Log Analytics workspace, with no application change.</a:t>
            </a:r>
            <a:endParaRPr lang="en-US" sz="900"/>
          </a:p>
        </p:txBody>
      </p:sp>
      <p:sp>
        <p:nvSpPr>
          <p:cNvPr id="12" name="card">
            <a:extLst>
              <a:ext uri="{C183D7F6-B498-43B3-948B-1728B52AA6E4}">
                <adec:decorative xmlns:adec="http://schemas.microsoft.com/office/drawing/2017/decorative" val="1"/>
              </a:ext>
            </a:extLst>
          </p:cNvPr>
          <p:cNvSpPr/>
          <p:nvPr/>
        </p:nvSpPr>
        <p:spPr>
          <a:xfrm>
            <a:off x="3282696"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13" name="card accent">
            <a:extLst>
              <a:ext uri="{C183D7F6-B498-43B3-948B-1728B52AA6E4}">
                <adec:decorative xmlns:adec="http://schemas.microsoft.com/office/drawing/2017/decorative" val="1"/>
              </a:ext>
            </a:extLst>
          </p:cNvPr>
          <p:cNvSpPr/>
          <p:nvPr/>
        </p:nvSpPr>
        <p:spPr>
          <a:xfrm>
            <a:off x="3282696" y="1481328"/>
            <a:ext cx="2578608" cy="41148"/>
          </a:xfrm>
          <a:prstGeom prst="rect">
            <a:avLst/>
          </a:prstGeom>
          <a:solidFill>
            <a:srgbClr val="F2A93B"/>
          </a:solidFill>
          <a:ln w="12700">
            <a:solidFill>
              <a:srgbClr val="333333"/>
            </a:solidFill>
            <a:prstDash val="solid"/>
          </a:ln>
        </p:spPr>
        <p:txBody>
          <a:bodyPr/>
          <a:lstStyle/>
          <a:p>
            <a:endParaRPr lang="en-IN"/>
          </a:p>
        </p:txBody>
      </p:sp>
      <p:sp>
        <p:nvSpPr>
          <p:cNvPr id="14" name="Text 12"/>
          <p:cNvSpPr/>
          <p:nvPr/>
        </p:nvSpPr>
        <p:spPr>
          <a:xfrm>
            <a:off x="3483864" y="1664208"/>
            <a:ext cx="2176272" cy="228600"/>
          </a:xfrm>
          <a:prstGeom prst="rect">
            <a:avLst/>
          </a:prstGeom>
          <a:noFill/>
          <a:ln/>
        </p:spPr>
        <p:txBody>
          <a:bodyPr wrap="square" lIns="0" tIns="0" rIns="0" bIns="0" rtlCol="0" anchor="ctr"/>
          <a:lstStyle/>
          <a:p>
            <a:pPr marL="0" indent="0">
              <a:buNone/>
            </a:pPr>
            <a:r>
              <a:rPr lang="en-US" sz="900" b="1" kern="0" spc="120">
                <a:solidFill>
                  <a:srgbClr val="F2A93B"/>
                </a:solidFill>
                <a:latin typeface="Segoe UI" pitchFamily="34" charset="0"/>
                <a:ea typeface="Segoe UI" pitchFamily="34" charset="-122"/>
                <a:cs typeface="Segoe UI" pitchFamily="34" charset="-120"/>
              </a:rPr>
              <a:t>MEASURE</a:t>
            </a:r>
            <a:endParaRPr lang="en-US" sz="900"/>
          </a:p>
        </p:txBody>
      </p:sp>
      <p:sp>
        <p:nvSpPr>
          <p:cNvPr id="15" name="Text 13"/>
          <p:cNvSpPr/>
          <p:nvPr/>
        </p:nvSpPr>
        <p:spPr>
          <a:xfrm>
            <a:off x="3483864" y="1920240"/>
            <a:ext cx="2176272" cy="2453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Metrics and Prometheus</a:t>
            </a:r>
            <a:endParaRPr lang="en-US" sz="1250"/>
          </a:p>
        </p:txBody>
      </p:sp>
      <p:sp>
        <p:nvSpPr>
          <p:cNvPr id="16" name="Text 14"/>
          <p:cNvSpPr/>
          <p:nvPr/>
        </p:nvSpPr>
        <p:spPr>
          <a:xfrm>
            <a:off x="3483864" y="2229612"/>
            <a:ext cx="2176272" cy="275844"/>
          </a:xfrm>
          <a:prstGeom prst="rect">
            <a:avLst/>
          </a:prstGeom>
          <a:noFill/>
          <a:ln/>
        </p:spPr>
        <p:txBody>
          <a:bodyPr wrap="square" lIns="0" tIns="0" rIns="0" bIns="0" rtlCol="0" anchor="t"/>
          <a:lstStyle/>
          <a:p>
            <a:pPr marL="0" indent="0">
              <a:lnSpc>
                <a:spcPct val="115000"/>
              </a:lnSpc>
              <a:buNone/>
            </a:pPr>
            <a:r>
              <a:rPr lang="en-US" sz="800">
                <a:solidFill>
                  <a:srgbClr val="44566B"/>
                </a:solidFill>
                <a:latin typeface="Segoe UI" pitchFamily="34" charset="0"/>
                <a:ea typeface="Segoe UI" pitchFamily="34" charset="-122"/>
                <a:cs typeface="Segoe UI" pitchFamily="34" charset="-120"/>
              </a:rPr>
              <a:t>Managed Prometheus scrapes metrics without you running a server. Managed Grafana and workbooks give you the dashboards.</a:t>
            </a:r>
            <a:endParaRPr lang="en-US" sz="900"/>
          </a:p>
        </p:txBody>
      </p:sp>
      <p:sp>
        <p:nvSpPr>
          <p:cNvPr id="17" name="card">
            <a:extLst>
              <a:ext uri="{C183D7F6-B498-43B3-948B-1728B52AA6E4}">
                <adec:decorative xmlns:adec="http://schemas.microsoft.com/office/drawing/2017/decorative" val="1"/>
              </a:ext>
            </a:extLst>
          </p:cNvPr>
          <p:cNvSpPr/>
          <p:nvPr/>
        </p:nvSpPr>
        <p:spPr>
          <a:xfrm>
            <a:off x="6062472" y="1481328"/>
            <a:ext cx="2578608" cy="1207008"/>
          </a:xfrm>
          <a:prstGeom prst="rect">
            <a:avLst/>
          </a:prstGeom>
          <a:solidFill>
            <a:srgbClr val="F6F9FD"/>
          </a:solidFill>
          <a:ln w="9525">
            <a:solidFill>
              <a:srgbClr val="D8E5F2"/>
            </a:solidFill>
            <a:prstDash val="solid"/>
          </a:ln>
        </p:spPr>
        <p:txBody>
          <a:bodyPr/>
          <a:lstStyle/>
          <a:p>
            <a:endParaRPr lang="en-IN"/>
          </a:p>
        </p:txBody>
      </p:sp>
      <p:sp>
        <p:nvSpPr>
          <p:cNvPr id="18" name="card accent">
            <a:extLst>
              <a:ext uri="{C183D7F6-B498-43B3-948B-1728B52AA6E4}">
                <adec:decorative xmlns:adec="http://schemas.microsoft.com/office/drawing/2017/decorative" val="1"/>
              </a:ext>
            </a:extLst>
          </p:cNvPr>
          <p:cNvSpPr/>
          <p:nvPr/>
        </p:nvSpPr>
        <p:spPr>
          <a:xfrm>
            <a:off x="6062472" y="1481328"/>
            <a:ext cx="2578608" cy="41148"/>
          </a:xfrm>
          <a:prstGeom prst="rect">
            <a:avLst/>
          </a:prstGeom>
          <a:solidFill>
            <a:srgbClr val="2E9E6B"/>
          </a:solidFill>
          <a:ln w="12700">
            <a:solidFill>
              <a:srgbClr val="333333"/>
            </a:solidFill>
            <a:prstDash val="solid"/>
          </a:ln>
        </p:spPr>
        <p:txBody>
          <a:bodyPr/>
          <a:lstStyle/>
          <a:p>
            <a:endParaRPr lang="en-IN"/>
          </a:p>
        </p:txBody>
      </p:sp>
      <p:sp>
        <p:nvSpPr>
          <p:cNvPr id="19" name="Text 17"/>
          <p:cNvSpPr/>
          <p:nvPr/>
        </p:nvSpPr>
        <p:spPr>
          <a:xfrm>
            <a:off x="6263640" y="1664208"/>
            <a:ext cx="2176272" cy="228600"/>
          </a:xfrm>
          <a:prstGeom prst="rect">
            <a:avLst/>
          </a:prstGeom>
          <a:noFill/>
          <a:ln/>
        </p:spPr>
        <p:txBody>
          <a:bodyPr wrap="square" lIns="0" tIns="0" rIns="0" bIns="0" rtlCol="0" anchor="ctr"/>
          <a:lstStyle/>
          <a:p>
            <a:pPr marL="0" indent="0">
              <a:buNone/>
            </a:pPr>
            <a:r>
              <a:rPr lang="en-US" sz="900" b="1" kern="0" spc="120">
                <a:solidFill>
                  <a:srgbClr val="2E9E6B"/>
                </a:solidFill>
                <a:latin typeface="Segoe UI" pitchFamily="34" charset="0"/>
                <a:ea typeface="Segoe UI" pitchFamily="34" charset="-122"/>
                <a:cs typeface="Segoe UI" pitchFamily="34" charset="-120"/>
              </a:rPr>
              <a:t>QUERY</a:t>
            </a:r>
            <a:endParaRPr lang="en-US" sz="900"/>
          </a:p>
        </p:txBody>
      </p:sp>
      <p:sp>
        <p:nvSpPr>
          <p:cNvPr id="20" name="Text 18"/>
          <p:cNvSpPr/>
          <p:nvPr/>
        </p:nvSpPr>
        <p:spPr>
          <a:xfrm>
            <a:off x="6263640" y="1920240"/>
            <a:ext cx="2176272" cy="245364"/>
          </a:xfrm>
          <a:prstGeom prst="rect">
            <a:avLst/>
          </a:prstGeom>
          <a:noFill/>
          <a:ln/>
        </p:spPr>
        <p:txBody>
          <a:bodyPr wrap="square" lIns="0" tIns="0" rIns="0" bIns="0" rtlCol="0" anchor="t"/>
          <a:lstStyle/>
          <a:p>
            <a:pPr marL="0" indent="0">
              <a:lnSpc>
                <a:spcPct val="100000"/>
              </a:lnSpc>
              <a:buNone/>
            </a:pPr>
            <a:r>
              <a:rPr lang="en-US" sz="1250" b="1">
                <a:solidFill>
                  <a:srgbClr val="0E2233"/>
                </a:solidFill>
                <a:latin typeface="Segoe UI" pitchFamily="34" charset="0"/>
                <a:ea typeface="Segoe UI" pitchFamily="34" charset="-122"/>
                <a:cs typeface="Segoe UI" pitchFamily="34" charset="-120"/>
              </a:rPr>
              <a:t>Logs and KQL</a:t>
            </a:r>
            <a:endParaRPr lang="en-US" sz="1250"/>
          </a:p>
        </p:txBody>
      </p:sp>
      <p:sp>
        <p:nvSpPr>
          <p:cNvPr id="21" name="Text 19"/>
          <p:cNvSpPr/>
          <p:nvPr/>
        </p:nvSpPr>
        <p:spPr>
          <a:xfrm>
            <a:off x="6263640" y="2229612"/>
            <a:ext cx="2176272" cy="275844"/>
          </a:xfrm>
          <a:prstGeom prst="rect">
            <a:avLst/>
          </a:prstGeom>
          <a:noFill/>
          <a:ln/>
        </p:spPr>
        <p:txBody>
          <a:bodyPr wrap="square" lIns="0" tIns="0" rIns="0" bIns="0" rtlCol="0" anchor="t"/>
          <a:lstStyle/>
          <a:p>
            <a:pPr marL="0" indent="0">
              <a:lnSpc>
                <a:spcPct val="115000"/>
              </a:lnSpc>
              <a:buNone/>
            </a:pPr>
            <a:r>
              <a:rPr lang="en-US" sz="800">
                <a:solidFill>
                  <a:srgbClr val="44566B"/>
                </a:solidFill>
                <a:latin typeface="Segoe UI" pitchFamily="34" charset="0"/>
                <a:ea typeface="Segoe UI" pitchFamily="34" charset="-122"/>
                <a:cs typeface="Segoe UI" pitchFamily="34" charset="-120"/>
              </a:rPr>
              <a:t>One workspace, queried with KQL. ContainerLogV2 holds console output, KubeEvents holds what the cluster attempted.</a:t>
            </a:r>
            <a:endParaRPr lang="en-US" sz="900"/>
          </a:p>
        </p:txBody>
      </p:sp>
      <p:sp>
        <p:nvSpPr>
          <p:cNvPr id="22" name="Text 20"/>
          <p:cNvSpPr/>
          <p:nvPr/>
        </p:nvSpPr>
        <p:spPr>
          <a:xfrm>
            <a:off x="502920" y="2895600"/>
            <a:ext cx="4114800" cy="1335024"/>
          </a:xfrm>
          <a:prstGeom prst="rect">
            <a:avLst/>
          </a:prstGeom>
          <a:noFill/>
          <a:ln/>
        </p:spPr>
        <p:txBody>
          <a:bodyPr wrap="square" lIns="0" tIns="0" rIns="0" bIns="0" rtlCol="0" anchor="t"/>
          <a:lstStyle/>
          <a:p>
            <a:pPr marL="342900" indent="-342900">
              <a:spcAft>
                <a:spcPts val="800"/>
              </a:spcAft>
              <a:buSzPct val="100000"/>
              <a:buChar char="•"/>
            </a:pPr>
            <a:r>
              <a:rPr lang="en-US" sz="1000">
                <a:solidFill>
                  <a:srgbClr val="44566B"/>
                </a:solidFill>
                <a:latin typeface="Segoe UI" pitchFamily="34" charset="0"/>
                <a:ea typeface="Segoe UI" pitchFamily="34" charset="-122"/>
                <a:cs typeface="Segoe UI" pitchFamily="34" charset="-120"/>
              </a:rPr>
              <a:t>Watch the cost — collect the namespaces and log levels you actually use, and set a retention period deliberately rather than accepting the default.</a:t>
            </a:r>
            <a:endParaRPr lang="en-US" sz="1000"/>
          </a:p>
          <a:p>
            <a:pPr marL="342900" indent="-342900">
              <a:spcAft>
                <a:spcPts val="800"/>
              </a:spcAft>
              <a:buSzPct val="100000"/>
              <a:buChar char="•"/>
            </a:pPr>
            <a:r>
              <a:rPr lang="en-US" sz="1000">
                <a:solidFill>
                  <a:srgbClr val="44566B"/>
                </a:solidFill>
                <a:latin typeface="Segoe UI" pitchFamily="34" charset="0"/>
                <a:ea typeface="Segoe UI" pitchFamily="34" charset="-122"/>
                <a:cs typeface="Segoe UI" pitchFamily="34" charset="-120"/>
              </a:rPr>
              <a:t>Enable the monitoring add-on on the cluster and point it at a Log Analytics workspace</a:t>
            </a:r>
            <a:endParaRPr lang="en-US" sz="1000"/>
          </a:p>
          <a:p>
            <a:pPr marL="342900" indent="-342900">
              <a:spcAft>
                <a:spcPts val="800"/>
              </a:spcAft>
              <a:buSzPct val="100000"/>
              <a:buChar char="•"/>
            </a:pPr>
            <a:r>
              <a:rPr lang="en-US" sz="1000">
                <a:solidFill>
                  <a:srgbClr val="44566B"/>
                </a:solidFill>
                <a:latin typeface="Segoe UI" pitchFamily="34" charset="0"/>
                <a:ea typeface="Segoe UI" pitchFamily="34" charset="-122"/>
                <a:cs typeface="Segoe UI" pitchFamily="34" charset="-120"/>
              </a:rPr>
              <a:t>Use managed Prometheus and Grafana for metrics dashboards and alerting</a:t>
            </a:r>
            <a:endParaRPr lang="en-US" sz="1000"/>
          </a:p>
          <a:p>
            <a:pPr marL="342900" indent="-342900">
              <a:spcAft>
                <a:spcPts val="800"/>
              </a:spcAft>
              <a:buSzPct val="100000"/>
              <a:buChar char="•"/>
            </a:pPr>
            <a:r>
              <a:rPr lang="en-US" sz="1000">
                <a:solidFill>
                  <a:srgbClr val="44566B"/>
                </a:solidFill>
                <a:latin typeface="Segoe UI" pitchFamily="34" charset="0"/>
                <a:ea typeface="Segoe UI" pitchFamily="34" charset="-122"/>
                <a:cs typeface="Segoe UI" pitchFamily="34" charset="-120"/>
              </a:rPr>
              <a:t>Query ContainerLogV2 and KubeEvents with KQL when troubleshooting a workload</a:t>
            </a:r>
            <a:endParaRPr lang="en-US" sz="1000"/>
          </a:p>
        </p:txBody>
      </p:sp>
      <p:sp>
        <p:nvSpPr>
          <p:cNvPr id="23" name="code panel">
            <a:extLst>
              <a:ext uri="{C183D7F6-B498-43B3-948B-1728B52AA6E4}">
                <adec:decorative xmlns:adec="http://schemas.microsoft.com/office/drawing/2017/decorative" val="1"/>
              </a:ext>
            </a:extLst>
          </p:cNvPr>
          <p:cNvSpPr/>
          <p:nvPr/>
        </p:nvSpPr>
        <p:spPr>
          <a:xfrm>
            <a:off x="4892040" y="2743200"/>
            <a:ext cx="3749040" cy="1335024"/>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4" name="code panel header">
            <a:extLst>
              <a:ext uri="{C183D7F6-B498-43B3-948B-1728B52AA6E4}">
                <adec:decorative xmlns:adec="http://schemas.microsoft.com/office/drawing/2017/decorative" val="1"/>
              </a:ext>
            </a:extLst>
          </p:cNvPr>
          <p:cNvSpPr/>
          <p:nvPr/>
        </p:nvSpPr>
        <p:spPr>
          <a:xfrm>
            <a:off x="4892040" y="2743200"/>
            <a:ext cx="3749040" cy="256032"/>
          </a:xfrm>
          <a:prstGeom prst="rect">
            <a:avLst/>
          </a:prstGeom>
          <a:solidFill>
            <a:srgbClr val="0F3D66"/>
          </a:solidFill>
          <a:ln w="12700">
            <a:solidFill>
              <a:srgbClr val="333333"/>
            </a:solidFill>
            <a:prstDash val="solid"/>
          </a:ln>
        </p:spPr>
        <p:txBody>
          <a:bodyPr/>
          <a:lstStyle/>
          <a:p>
            <a:endParaRPr lang="en-IN"/>
          </a:p>
        </p:txBody>
      </p:sp>
      <p:sp>
        <p:nvSpPr>
          <p:cNvPr id="25" name="Text 23"/>
          <p:cNvSpPr/>
          <p:nvPr/>
        </p:nvSpPr>
        <p:spPr>
          <a:xfrm>
            <a:off x="5038344" y="2743200"/>
            <a:ext cx="345643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Enable and query</a:t>
            </a:r>
            <a:endParaRPr lang="en-US" sz="850"/>
          </a:p>
        </p:txBody>
      </p:sp>
      <p:sp>
        <p:nvSpPr>
          <p:cNvPr id="26" name="Text 24"/>
          <p:cNvSpPr/>
          <p:nvPr/>
        </p:nvSpPr>
        <p:spPr>
          <a:xfrm>
            <a:off x="5038344" y="3072384"/>
            <a:ext cx="3456432" cy="859536"/>
          </a:xfrm>
          <a:prstGeom prst="rect">
            <a:avLst/>
          </a:prstGeom>
          <a:noFill/>
          <a:ln/>
        </p:spPr>
        <p:txBody>
          <a:bodyPr wrap="square" lIns="0" tIns="0" rIns="0" bIns="0" rtlCol="0" anchor="t"/>
          <a:lstStyle/>
          <a:p>
            <a:pPr marL="0" indent="0">
              <a:lnSpc>
                <a:spcPct val="112000"/>
              </a:lnSpc>
              <a:buNone/>
            </a:pPr>
            <a:r>
              <a:rPr lang="en-US" sz="719">
                <a:solidFill>
                  <a:srgbClr val="D7ECF8"/>
                </a:solidFill>
                <a:latin typeface="Consolas" pitchFamily="34" charset="0"/>
                <a:ea typeface="Consolas" pitchFamily="34" charset="-122"/>
                <a:cs typeface="Consolas" pitchFamily="34" charset="-120"/>
              </a:rPr>
              <a:t># enable Container Insights</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az aks enable-addons --addons monitoring \</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-g rg-aks -n aks-prod</a:t>
            </a:r>
            <a:endParaRPr lang="en-US" sz="719"/>
          </a:p>
          <a:p>
            <a:pPr marL="0" indent="0">
              <a:lnSpc>
                <a:spcPct val="112000"/>
              </a:lnSpc>
              <a:buNone/>
            </a:pP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KQL: recent errors in one namespace</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ContainerLogV2</a:t>
            </a:r>
            <a:endParaRPr lang="en-US" sz="719"/>
          </a:p>
          <a:p>
            <a:pPr marL="0" indent="0">
              <a:lnSpc>
                <a:spcPct val="112000"/>
              </a:lnSpc>
              <a:buNone/>
            </a:pPr>
            <a:r>
              <a:rPr lang="en-US" sz="719">
                <a:solidFill>
                  <a:srgbClr val="D7ECF8"/>
                </a:solidFill>
                <a:latin typeface="Consolas" pitchFamily="34" charset="0"/>
                <a:ea typeface="Consolas" pitchFamily="34" charset="-122"/>
                <a:cs typeface="Consolas" pitchFamily="34" charset="-120"/>
              </a:rPr>
              <a:t>| where PodNamespace == “shop” and LogMessage has “error”</a:t>
            </a:r>
            <a:endParaRPr lang="en-US" sz="719"/>
          </a:p>
        </p:txBody>
      </p:sp>
      <p:sp>
        <p:nvSpPr>
          <p:cNvPr id="2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11 · MONITORING AND TROUBLESHOOTING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Application logs and kubectl troubleshooting</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Five commands answer most questions. Learn the order and you will rarely need a dashboard to find the fault.</a:t>
            </a:r>
            <a:endParaRPr lang="en-US" sz="1150"/>
          </a:p>
        </p:txBody>
      </p:sp>
      <p:sp>
        <p:nvSpPr>
          <p:cNvPr id="7" name="code panel">
            <a:extLst>
              <a:ext uri="{C183D7F6-B498-43B3-948B-1728B52AA6E4}">
                <adec:decorative xmlns:adec="http://schemas.microsoft.com/office/drawing/2017/decorative" val="1"/>
              </a:ext>
            </a:extLst>
          </p:cNvPr>
          <p:cNvSpPr/>
          <p:nvPr/>
        </p:nvSpPr>
        <p:spPr>
          <a:xfrm>
            <a:off x="502920" y="1481328"/>
            <a:ext cx="4846320" cy="25968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8" name="code panel header">
            <a:extLst>
              <a:ext uri="{C183D7F6-B498-43B3-948B-1728B52AA6E4}">
                <adec:decorative xmlns:adec="http://schemas.microsoft.com/office/drawing/2017/decorative" val="1"/>
              </a:ext>
            </a:extLst>
          </p:cNvPr>
          <p:cNvSpPr/>
          <p:nvPr/>
        </p:nvSpPr>
        <p:spPr>
          <a:xfrm>
            <a:off x="502920" y="1481328"/>
            <a:ext cx="4846320" cy="256032"/>
          </a:xfrm>
          <a:prstGeom prst="rect">
            <a:avLst/>
          </a:prstGeom>
          <a:solidFill>
            <a:srgbClr val="0F3D66"/>
          </a:solidFill>
          <a:ln w="12700">
            <a:solidFill>
              <a:srgbClr val="333333"/>
            </a:solidFill>
            <a:prstDash val="solid"/>
          </a:ln>
        </p:spPr>
        <p:txBody>
          <a:bodyPr/>
          <a:lstStyle/>
          <a:p>
            <a:endParaRPr lang="en-IN"/>
          </a:p>
        </p:txBody>
      </p:sp>
      <p:sp>
        <p:nvSpPr>
          <p:cNvPr id="9" name="Text 7"/>
          <p:cNvSpPr/>
          <p:nvPr/>
        </p:nvSpPr>
        <p:spPr>
          <a:xfrm>
            <a:off x="649224" y="1481328"/>
            <a:ext cx="455371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everyday troubleshooting</a:t>
            </a:r>
            <a:endParaRPr lang="en-US" sz="850"/>
          </a:p>
        </p:txBody>
      </p:sp>
      <p:sp>
        <p:nvSpPr>
          <p:cNvPr id="10" name="Text 8"/>
          <p:cNvSpPr/>
          <p:nvPr/>
        </p:nvSpPr>
        <p:spPr>
          <a:xfrm>
            <a:off x="649224" y="1810512"/>
            <a:ext cx="4553712" cy="2121408"/>
          </a:xfrm>
          <a:prstGeom prst="rect">
            <a:avLst/>
          </a:prstGeom>
          <a:noFill/>
          <a:ln/>
        </p:spPr>
        <p:txBody>
          <a:bodyPr wrap="square" lIns="0" tIns="0" rIns="0" bIns="0" rtlCol="0" anchor="t"/>
          <a:lstStyle/>
          <a:p>
            <a:pPr marL="0" indent="0">
              <a:lnSpc>
                <a:spcPct val="112000"/>
              </a:lnSpc>
              <a:buNone/>
            </a:pPr>
            <a:r>
              <a:rPr lang="en-US" sz="731">
                <a:solidFill>
                  <a:srgbClr val="D7ECF8"/>
                </a:solidFill>
                <a:latin typeface="Consolas" pitchFamily="34" charset="0"/>
                <a:ea typeface="Consolas" pitchFamily="34" charset="-122"/>
                <a:cs typeface="Consolas" pitchFamily="34" charset="-120"/>
              </a:rPr>
              <a:t># what is running, and is it healthy</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kubectl get pods -n payments -o wide</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why is it in this state</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kubectl describe pod payments-api-7d9 -n payments</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what did the app say</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kubectl logs payments-api-7d9 -n payments --tail=100</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kubectl logs payments-api-7d9 -n payments --previous</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what did the cluster try to do</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kubectl get events -n payments --sort-by=.lastTimestamp</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 look inside the container</a:t>
            </a:r>
            <a:endParaRPr lang="en-US" sz="731"/>
          </a:p>
          <a:p>
            <a:pPr marL="0" indent="0">
              <a:lnSpc>
                <a:spcPct val="112000"/>
              </a:lnSpc>
              <a:buNone/>
            </a:pPr>
            <a:r>
              <a:rPr lang="en-US" sz="731">
                <a:solidFill>
                  <a:srgbClr val="D7ECF8"/>
                </a:solidFill>
                <a:latin typeface="Consolas" pitchFamily="34" charset="0"/>
                <a:ea typeface="Consolas" pitchFamily="34" charset="-122"/>
                <a:cs typeface="Consolas" pitchFamily="34" charset="-120"/>
              </a:rPr>
              <a:t>kubectl exec -it payments-api-7d9 -n payments -- sh</a:t>
            </a:r>
            <a:endParaRPr lang="en-US" sz="731"/>
          </a:p>
        </p:txBody>
      </p:sp>
      <p:sp>
        <p:nvSpPr>
          <p:cNvPr id="11" name="card">
            <a:extLst>
              <a:ext uri="{C183D7F6-B498-43B3-948B-1728B52AA6E4}">
                <adec:decorative xmlns:adec="http://schemas.microsoft.com/office/drawing/2017/decorative" val="1"/>
              </a:ext>
            </a:extLst>
          </p:cNvPr>
          <p:cNvSpPr/>
          <p:nvPr/>
        </p:nvSpPr>
        <p:spPr>
          <a:xfrm>
            <a:off x="5577840" y="1481328"/>
            <a:ext cx="3063240" cy="768096"/>
          </a:xfrm>
          <a:prstGeom prst="rect">
            <a:avLst/>
          </a:prstGeom>
          <a:solidFill>
            <a:srgbClr val="F6F9FD"/>
          </a:solidFill>
          <a:ln w="9525">
            <a:solidFill>
              <a:srgbClr val="D8E5F2"/>
            </a:solidFill>
            <a:prstDash val="solid"/>
          </a:ln>
        </p:spPr>
        <p:txBody>
          <a:bodyPr/>
          <a:lstStyle/>
          <a:p>
            <a:endParaRPr lang="en-IN"/>
          </a:p>
        </p:txBody>
      </p:sp>
      <p:sp>
        <p:nvSpPr>
          <p:cNvPr id="12" name="card accent">
            <a:extLst>
              <a:ext uri="{C183D7F6-B498-43B3-948B-1728B52AA6E4}">
                <adec:decorative xmlns:adec="http://schemas.microsoft.com/office/drawing/2017/decorative" val="1"/>
              </a:ext>
            </a:extLst>
          </p:cNvPr>
          <p:cNvSpPr/>
          <p:nvPr/>
        </p:nvSpPr>
        <p:spPr>
          <a:xfrm>
            <a:off x="5577840" y="1481328"/>
            <a:ext cx="3063240" cy="41148"/>
          </a:xfrm>
          <a:prstGeom prst="rect">
            <a:avLst/>
          </a:prstGeom>
          <a:solidFill>
            <a:srgbClr val="2E9E6B"/>
          </a:solidFill>
          <a:ln w="12700">
            <a:solidFill>
              <a:srgbClr val="333333"/>
            </a:solidFill>
            <a:prstDash val="solid"/>
          </a:ln>
        </p:spPr>
        <p:txBody>
          <a:bodyPr/>
          <a:lstStyle/>
          <a:p>
            <a:endParaRPr lang="en-IN"/>
          </a:p>
        </p:txBody>
      </p:sp>
      <p:sp>
        <p:nvSpPr>
          <p:cNvPr id="13" name="Text 11"/>
          <p:cNvSpPr/>
          <p:nvPr/>
        </p:nvSpPr>
        <p:spPr>
          <a:xfrm>
            <a:off x="5779008" y="1591056"/>
            <a:ext cx="2660904" cy="23774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Good habits</a:t>
            </a:r>
            <a:endParaRPr lang="en-US" sz="1200"/>
          </a:p>
        </p:txBody>
      </p:sp>
      <p:sp>
        <p:nvSpPr>
          <p:cNvPr id="14" name="Text 12"/>
          <p:cNvSpPr/>
          <p:nvPr/>
        </p:nvSpPr>
        <p:spPr>
          <a:xfrm>
            <a:off x="5779008" y="1892808"/>
            <a:ext cx="2660904" cy="265176"/>
          </a:xfrm>
          <a:prstGeom prst="rect">
            <a:avLst/>
          </a:prstGeom>
          <a:noFill/>
          <a:ln/>
        </p:spPr>
        <p:txBody>
          <a:bodyPr wrap="square" lIns="0" tIns="0" rIns="0" bIns="0" rtlCol="0" anchor="t"/>
          <a:lstStyle/>
          <a:p>
            <a:pPr marL="0" indent="0">
              <a:lnSpc>
                <a:spcPct val="115000"/>
              </a:lnSpc>
              <a:buNone/>
            </a:pPr>
            <a:r>
              <a:rPr lang="en-US" sz="560">
                <a:solidFill>
                  <a:srgbClr val="44566B"/>
                </a:solidFill>
                <a:latin typeface="Segoe UI" pitchFamily="34" charset="0"/>
                <a:ea typeface="Segoe UI" pitchFamily="34" charset="-122"/>
                <a:cs typeface="Segoe UI" pitchFamily="34" charset="-120"/>
              </a:rPr>
              <a:t>Log to stdout in structured JSON with a correlation ID. Use --previous after a restart to see the logs of the container that actually failed. Read events before you read code.</a:t>
            </a:r>
            <a:endParaRPr lang="en-US" sz="560"/>
          </a:p>
        </p:txBody>
      </p:sp>
      <p:sp>
        <p:nvSpPr>
          <p:cNvPr id="15" name="card">
            <a:extLst>
              <a:ext uri="{C183D7F6-B498-43B3-948B-1728B52AA6E4}">
                <adec:decorative xmlns:adec="http://schemas.microsoft.com/office/drawing/2017/decorative" val="1"/>
              </a:ext>
            </a:extLst>
          </p:cNvPr>
          <p:cNvSpPr/>
          <p:nvPr/>
        </p:nvSpPr>
        <p:spPr>
          <a:xfrm>
            <a:off x="5577840" y="2395728"/>
            <a:ext cx="3063240" cy="768096"/>
          </a:xfrm>
          <a:prstGeom prst="rect">
            <a:avLst/>
          </a:prstGeom>
          <a:solidFill>
            <a:srgbClr val="F6F9FD"/>
          </a:solidFill>
          <a:ln w="9525">
            <a:solidFill>
              <a:srgbClr val="D8E5F2"/>
            </a:solidFill>
            <a:prstDash val="solid"/>
          </a:ln>
        </p:spPr>
        <p:txBody>
          <a:bodyPr/>
          <a:lstStyle/>
          <a:p>
            <a:endParaRPr lang="en-IN"/>
          </a:p>
        </p:txBody>
      </p:sp>
      <p:sp>
        <p:nvSpPr>
          <p:cNvPr id="16" name="card accent">
            <a:extLst>
              <a:ext uri="{C183D7F6-B498-43B3-948B-1728B52AA6E4}">
                <adec:decorative xmlns:adec="http://schemas.microsoft.com/office/drawing/2017/decorative" val="1"/>
              </a:ext>
            </a:extLst>
          </p:cNvPr>
          <p:cNvSpPr/>
          <p:nvPr/>
        </p:nvSpPr>
        <p:spPr>
          <a:xfrm>
            <a:off x="5577840" y="2395728"/>
            <a:ext cx="3063240" cy="41148"/>
          </a:xfrm>
          <a:prstGeom prst="rect">
            <a:avLst/>
          </a:prstGeom>
          <a:solidFill>
            <a:srgbClr val="F2A93B"/>
          </a:solidFill>
          <a:ln w="12700">
            <a:solidFill>
              <a:srgbClr val="333333"/>
            </a:solidFill>
            <a:prstDash val="solid"/>
          </a:ln>
        </p:spPr>
        <p:txBody>
          <a:bodyPr/>
          <a:lstStyle/>
          <a:p>
            <a:endParaRPr lang="en-IN"/>
          </a:p>
        </p:txBody>
      </p:sp>
      <p:sp>
        <p:nvSpPr>
          <p:cNvPr id="17" name="Text 15"/>
          <p:cNvSpPr/>
          <p:nvPr/>
        </p:nvSpPr>
        <p:spPr>
          <a:xfrm>
            <a:off x="5779008" y="2505456"/>
            <a:ext cx="2660904" cy="23774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Common mistakes</a:t>
            </a:r>
            <a:endParaRPr lang="en-US" sz="1200"/>
          </a:p>
        </p:txBody>
      </p:sp>
      <p:sp>
        <p:nvSpPr>
          <p:cNvPr id="18" name="Text 16"/>
          <p:cNvSpPr/>
          <p:nvPr/>
        </p:nvSpPr>
        <p:spPr>
          <a:xfrm>
            <a:off x="5779008" y="2807208"/>
            <a:ext cx="2660904" cy="265176"/>
          </a:xfrm>
          <a:prstGeom prst="rect">
            <a:avLst/>
          </a:prstGeom>
          <a:noFill/>
          <a:ln/>
        </p:spPr>
        <p:txBody>
          <a:bodyPr wrap="square" lIns="0" tIns="0" rIns="0" bIns="0" rtlCol="0" anchor="t"/>
          <a:lstStyle/>
          <a:p>
            <a:pPr marL="0" indent="0">
              <a:lnSpc>
                <a:spcPct val="115000"/>
              </a:lnSpc>
              <a:buNone/>
            </a:pPr>
            <a:r>
              <a:rPr lang="en-US" sz="560">
                <a:solidFill>
                  <a:srgbClr val="44566B"/>
                </a:solidFill>
                <a:latin typeface="Segoe UI" pitchFamily="34" charset="0"/>
                <a:ea typeface="Segoe UI" pitchFamily="34" charset="-122"/>
                <a:cs typeface="Segoe UI" pitchFamily="34" charset="-120"/>
              </a:rPr>
              <a:t>Logging to a file inside the container, so nothing is collected. Deleting the Pod before capturing the evidence. Trusting kubectl logs alone when the container never started at all.</a:t>
            </a:r>
            <a:endParaRPr lang="en-US" sz="560"/>
          </a:p>
        </p:txBody>
      </p:sp>
      <p:sp>
        <p:nvSpPr>
          <p:cNvPr id="19" name="card">
            <a:extLst>
              <a:ext uri="{C183D7F6-B498-43B3-948B-1728B52AA6E4}">
                <adec:decorative xmlns:adec="http://schemas.microsoft.com/office/drawing/2017/decorative" val="1"/>
              </a:ext>
            </a:extLst>
          </p:cNvPr>
          <p:cNvSpPr/>
          <p:nvPr/>
        </p:nvSpPr>
        <p:spPr>
          <a:xfrm>
            <a:off x="5577840" y="3310128"/>
            <a:ext cx="3063240" cy="768096"/>
          </a:xfrm>
          <a:prstGeom prst="rect">
            <a:avLst/>
          </a:prstGeom>
          <a:solidFill>
            <a:srgbClr val="F6F9FD"/>
          </a:solidFill>
          <a:ln w="9525">
            <a:solidFill>
              <a:srgbClr val="D8E5F2"/>
            </a:solidFill>
            <a:prstDash val="solid"/>
          </a:ln>
        </p:spPr>
        <p:txBody>
          <a:bodyPr/>
          <a:lstStyle/>
          <a:p>
            <a:endParaRPr lang="en-IN"/>
          </a:p>
        </p:txBody>
      </p:sp>
      <p:sp>
        <p:nvSpPr>
          <p:cNvPr id="20" name="card accent">
            <a:extLst>
              <a:ext uri="{C183D7F6-B498-43B3-948B-1728B52AA6E4}">
                <adec:decorative xmlns:adec="http://schemas.microsoft.com/office/drawing/2017/decorative" val="1"/>
              </a:ext>
            </a:extLst>
          </p:cNvPr>
          <p:cNvSpPr/>
          <p:nvPr/>
        </p:nvSpPr>
        <p:spPr>
          <a:xfrm>
            <a:off x="5577840" y="3310128"/>
            <a:ext cx="3063240" cy="41148"/>
          </a:xfrm>
          <a:prstGeom prst="rect">
            <a:avLst/>
          </a:prstGeom>
          <a:solidFill>
            <a:srgbClr val="D0483C"/>
          </a:solidFill>
          <a:ln w="12700">
            <a:solidFill>
              <a:srgbClr val="333333"/>
            </a:solidFill>
            <a:prstDash val="solid"/>
          </a:ln>
        </p:spPr>
        <p:txBody>
          <a:bodyPr/>
          <a:lstStyle/>
          <a:p>
            <a:endParaRPr lang="en-IN"/>
          </a:p>
        </p:txBody>
      </p:sp>
      <p:sp>
        <p:nvSpPr>
          <p:cNvPr id="21" name="Text 19"/>
          <p:cNvSpPr/>
          <p:nvPr/>
        </p:nvSpPr>
        <p:spPr>
          <a:xfrm>
            <a:off x="5779008" y="3419856"/>
            <a:ext cx="2660904" cy="237744"/>
          </a:xfrm>
          <a:prstGeom prst="rect">
            <a:avLst/>
          </a:prstGeom>
          <a:noFill/>
          <a:ln/>
        </p:spPr>
        <p:txBody>
          <a:bodyPr wrap="square" lIns="0" tIns="0" rIns="0" bIns="0" rtlCol="0" anchor="t"/>
          <a:lstStyle/>
          <a:p>
            <a:pPr marL="0" indent="0">
              <a:lnSpc>
                <a:spcPct val="100000"/>
              </a:lnSpc>
              <a:buNone/>
            </a:pPr>
            <a:r>
              <a:rPr lang="en-US" sz="1200" b="1">
                <a:solidFill>
                  <a:srgbClr val="0E2233"/>
                </a:solidFill>
                <a:latin typeface="Segoe UI" pitchFamily="34" charset="0"/>
                <a:ea typeface="Segoe UI" pitchFamily="34" charset="-122"/>
                <a:cs typeface="Segoe UI" pitchFamily="34" charset="-120"/>
              </a:rPr>
              <a:t>Remember</a:t>
            </a:r>
            <a:endParaRPr lang="en-US" sz="1200"/>
          </a:p>
        </p:txBody>
      </p:sp>
      <p:sp>
        <p:nvSpPr>
          <p:cNvPr id="22" name="Text 20"/>
          <p:cNvSpPr/>
          <p:nvPr/>
        </p:nvSpPr>
        <p:spPr>
          <a:xfrm>
            <a:off x="5779008" y="3721608"/>
            <a:ext cx="2660904" cy="265176"/>
          </a:xfrm>
          <a:prstGeom prst="rect">
            <a:avLst/>
          </a:prstGeom>
          <a:noFill/>
          <a:ln/>
        </p:spPr>
        <p:txBody>
          <a:bodyPr wrap="square" lIns="0" tIns="0" rIns="0" bIns="0" rtlCol="0" anchor="t"/>
          <a:lstStyle/>
          <a:p>
            <a:pPr marL="0" indent="0">
              <a:lnSpc>
                <a:spcPct val="115000"/>
              </a:lnSpc>
              <a:buNone/>
            </a:pPr>
            <a:r>
              <a:rPr lang="en-US" sz="650">
                <a:solidFill>
                  <a:srgbClr val="44566B"/>
                </a:solidFill>
                <a:latin typeface="Segoe UI" pitchFamily="34" charset="0"/>
                <a:ea typeface="Segoe UI" pitchFamily="34" charset="-122"/>
                <a:cs typeface="Segoe UI" pitchFamily="34" charset="-120"/>
              </a:rPr>
              <a:t>kubectl logs is live and short-lived — for anything older than the current Pod, query ContainerLogV2 in Log Analytics.</a:t>
            </a:r>
            <a:endParaRPr lang="en-US" sz="65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11 · MONITORING AND TROUBLESHOOTING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Debugging failed deployments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The Pod status usually names the fault. Match the symptom to the cause before you change anything.</a:t>
            </a:r>
            <a:endParaRPr lang="en-US" sz="1150"/>
          </a:p>
        </p:txBody>
      </p:sp>
      <p:graphicFrame>
        <p:nvGraphicFramePr>
          <p:cNvPr id="13" name="Table 0"/>
          <p:cNvGraphicFramePr>
            <a:graphicFrameLocks noGrp="1"/>
          </p:cNvGraphicFramePr>
          <p:nvPr>
            <p:extLst>
              <p:ext uri="{D42A27DB-BD31-4B8C-83A1-F6EECF244321}">
                <p14:modId xmlns:p14="http://schemas.microsoft.com/office/powerpoint/2010/main" val="1190981500"/>
              </p:ext>
            </p:extLst>
          </p:nvPr>
        </p:nvGraphicFramePr>
        <p:xfrm>
          <a:off x="512064" y="1399032"/>
          <a:ext cx="8138160" cy="2643922"/>
        </p:xfrm>
        <a:graphic>
          <a:graphicData uri="http://schemas.openxmlformats.org/drawingml/2006/table">
            <a:tbl>
              <a:tblPr/>
              <a:tblGrid>
                <a:gridCol w="16916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57922">
                <a:tc>
                  <a:txBody>
                    <a:bodyPr/>
                    <a:lstStyle/>
                    <a:p>
                      <a:pPr marL="0" indent="0" algn="l">
                        <a:buNone/>
                      </a:pPr>
                      <a:r>
                        <a:rPr lang="en-US" sz="1000" b="1">
                          <a:solidFill>
                            <a:srgbClr val="FFFFFF"/>
                          </a:solidFill>
                          <a:latin typeface="Segoe UI" pitchFamily="34" charset="0"/>
                          <a:ea typeface="Segoe UI" pitchFamily="34" charset="-122"/>
                          <a:cs typeface="Segoe UI" pitchFamily="34" charset="-120"/>
                        </a:rPr>
                        <a:t>Status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1000" b="1">
                          <a:solidFill>
                            <a:srgbClr val="FFFFFF"/>
                          </a:solidFill>
                          <a:latin typeface="Segoe UI" pitchFamily="34" charset="0"/>
                          <a:ea typeface="Segoe UI" pitchFamily="34" charset="-122"/>
                          <a:cs typeface="Segoe UI" pitchFamily="34" charset="-120"/>
                        </a:rPr>
                        <a:t>What it means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1000" b="1">
                          <a:solidFill>
                            <a:srgbClr val="FFFFFF"/>
                          </a:solidFill>
                          <a:latin typeface="Segoe UI" pitchFamily="34" charset="0"/>
                          <a:ea typeface="Segoe UI" pitchFamily="34" charset="-122"/>
                          <a:cs typeface="Segoe UI" pitchFamily="34" charset="-120"/>
                        </a:rPr>
                        <a:t>Usual cause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1000" b="1">
                          <a:solidFill>
                            <a:srgbClr val="FFFFFF"/>
                          </a:solidFill>
                          <a:latin typeface="Segoe UI" pitchFamily="34" charset="0"/>
                          <a:ea typeface="Segoe UI" pitchFamily="34" charset="-122"/>
                          <a:cs typeface="Segoe UI" pitchFamily="34" charset="-120"/>
                        </a:rPr>
                        <a:t>First command</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extLst>
                  <a:ext uri="{0D108BD9-81ED-4DB2-BD59-A6C34878D82A}">
                    <a16:rowId xmlns:a16="http://schemas.microsoft.com/office/drawing/2014/main" val="10000"/>
                  </a:ext>
                </a:extLst>
              </a:tr>
              <a:tr h="357922">
                <a:tc>
                  <a:txBody>
                    <a:bodyPr/>
                    <a:lstStyle/>
                    <a:p>
                      <a:pPr marL="0" indent="0" algn="l">
                        <a:buNone/>
                      </a:pPr>
                      <a:r>
                        <a:rPr lang="en-US" sz="1000" b="1">
                          <a:solidFill>
                            <a:srgbClr val="0E2233"/>
                          </a:solidFill>
                          <a:latin typeface="Segoe UI" pitchFamily="34" charset="0"/>
                          <a:ea typeface="Segoe UI" pitchFamily="34" charset="-122"/>
                          <a:cs typeface="Segoe UI" pitchFamily="34" charset="-120"/>
                        </a:rPr>
                        <a:t>Pending</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No node can take the Pod</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Requests too large, quota exhausted, or no node matches the selector</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kubectl describe pod — read the events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7922">
                <a:tc>
                  <a:txBody>
                    <a:bodyPr/>
                    <a:lstStyle/>
                    <a:p>
                      <a:pPr marL="0" indent="0" algn="l">
                        <a:buNone/>
                      </a:pPr>
                      <a:r>
                        <a:rPr lang="en-US" sz="1000" b="1">
                          <a:solidFill>
                            <a:srgbClr val="0E2233"/>
                          </a:solidFill>
                          <a:latin typeface="Segoe UI" pitchFamily="34" charset="0"/>
                          <a:ea typeface="Segoe UI" pitchFamily="34" charset="-122"/>
                          <a:cs typeface="Segoe UI" pitchFamily="34" charset="-120"/>
                        </a:rPr>
                        <a:t>ImagePullBackOff</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The image cannot be fetched</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Wrong tag, wrong registry, or the cluster has no pull rights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kubectl describe pod, then az aks check-acr</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2"/>
                  </a:ext>
                </a:extLst>
              </a:tr>
              <a:tr h="357922">
                <a:tc>
                  <a:txBody>
                    <a:bodyPr/>
                    <a:lstStyle/>
                    <a:p>
                      <a:pPr marL="0" indent="0" algn="l">
                        <a:buNone/>
                      </a:pPr>
                      <a:r>
                        <a:rPr lang="en-US" sz="1000" b="1">
                          <a:solidFill>
                            <a:srgbClr val="0E2233"/>
                          </a:solidFill>
                          <a:latin typeface="Segoe UI" pitchFamily="34" charset="0"/>
                          <a:ea typeface="Segoe UI" pitchFamily="34" charset="-122"/>
                          <a:cs typeface="Segoe UI" pitchFamily="34" charset="-120"/>
                        </a:rPr>
                        <a:t>CrashLoopBackOff</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The container starts and exits repeatedly</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Bad configuration, missing secret, or the app fails on start-up</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kubectl logs --previous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7922">
                <a:tc>
                  <a:txBody>
                    <a:bodyPr/>
                    <a:lstStyle/>
                    <a:p>
                      <a:pPr marL="0" indent="0" algn="l">
                        <a:buNone/>
                      </a:pPr>
                      <a:r>
                        <a:rPr lang="en-US" sz="1000" b="1">
                          <a:solidFill>
                            <a:srgbClr val="0E2233"/>
                          </a:solidFill>
                          <a:latin typeface="Segoe UI" pitchFamily="34" charset="0"/>
                          <a:ea typeface="Segoe UI" pitchFamily="34" charset="-122"/>
                          <a:cs typeface="Segoe UI" pitchFamily="34" charset="-120"/>
                        </a:rPr>
                        <a:t>OOMKilled</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The container exceeded its memory limit</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Limit set too low, or a genuine leak</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kubectl describe pod — check Last State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4"/>
                  </a:ext>
                </a:extLst>
              </a:tr>
              <a:tr h="357922">
                <a:tc>
                  <a:txBody>
                    <a:bodyPr/>
                    <a:lstStyle/>
                    <a:p>
                      <a:pPr marL="0" indent="0" algn="l">
                        <a:buNone/>
                      </a:pPr>
                      <a:r>
                        <a:rPr lang="en-US" sz="1000" b="1">
                          <a:solidFill>
                            <a:srgbClr val="0E2233"/>
                          </a:solidFill>
                          <a:latin typeface="Segoe UI" pitchFamily="34" charset="0"/>
                          <a:ea typeface="Segoe UI" pitchFamily="34" charset="-122"/>
                          <a:cs typeface="Segoe UI" pitchFamily="34" charset="-120"/>
                        </a:rPr>
                        <a:t>Running but not Ready</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The readiness probe is failing</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Wrong probe path or port, or a dependency is down</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kubectl describe pod, then curl the probe path</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7922">
                <a:tc>
                  <a:txBody>
                    <a:bodyPr/>
                    <a:lstStyle/>
                    <a:p>
                      <a:pPr marL="0" indent="0" algn="l">
                        <a:buNone/>
                      </a:pPr>
                      <a:r>
                        <a:rPr lang="en-US" sz="1000" b="1">
                          <a:solidFill>
                            <a:srgbClr val="0E2233"/>
                          </a:solidFill>
                          <a:latin typeface="Segoe UI" pitchFamily="34" charset="0"/>
                          <a:ea typeface="Segoe UI" pitchFamily="34" charset="-122"/>
                          <a:cs typeface="Segoe UI" pitchFamily="34" charset="-120"/>
                        </a:rPr>
                        <a:t>Terminating for a long time</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The Pod will not shut down</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The app ignores SIGTERM, or a finalizer is stuck</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900">
                          <a:solidFill>
                            <a:srgbClr val="44566B"/>
                          </a:solidFill>
                          <a:latin typeface="Segoe UI" pitchFamily="34" charset="0"/>
                          <a:ea typeface="Segoe UI" pitchFamily="34" charset="-122"/>
                          <a:cs typeface="Segoe UI" pitchFamily="34" charset="-120"/>
                        </a:rPr>
                        <a:t>kubectl get pod -o yaml — check finalizers</a:t>
                      </a:r>
                      <a:endParaRPr lang="en-US" sz="100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6"/>
                  </a:ext>
                </a:extLst>
              </a:tr>
            </a:tbl>
          </a:graphicData>
        </a:graphic>
      </p:graphicFrame>
      <p:sp>
        <p:nvSpPr>
          <p:cNvPr id="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0" name="Text 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0B63CE"/>
                </a:solidFill>
                <a:latin typeface="Segoe UI" pitchFamily="34" charset="0"/>
                <a:ea typeface="Segoe UI" pitchFamily="34" charset="-122"/>
                <a:cs typeface="Segoe UI" pitchFamily="34" charset="-120"/>
              </a:rPr>
              <a:t>Discipline beats guesswork   </a:t>
            </a:r>
            <a:r>
              <a:rPr lang="en-US" sz="1050">
                <a:solidFill>
                  <a:srgbClr val="0E2233"/>
                </a:solidFill>
                <a:latin typeface="Segoe UI" pitchFamily="34" charset="0"/>
                <a:ea typeface="Segoe UI" pitchFamily="34" charset="-122"/>
                <a:cs typeface="Segoe UI" pitchFamily="34" charset="-120"/>
              </a:rPr>
              <a:t>describe the Pod, read the events, read the previous logs. Only then change the manifest.</a:t>
            </a:r>
            <a:endParaRPr lang="en-US" sz="10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12 · CI/CD FOR AKS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CI/CD concepts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00">
                <a:solidFill>
                  <a:srgbClr val="44566B"/>
                </a:solidFill>
                <a:latin typeface="Segoe UI" pitchFamily="34" charset="0"/>
                <a:ea typeface="Segoe UI" pitchFamily="34" charset="-122"/>
                <a:cs typeface="Segoe UI" pitchFamily="34" charset="-120"/>
              </a:rPr>
              <a:t>Continuous integration proves the change is good. Continuous delivery gets it to the cluster the same way every time.</a:t>
            </a:r>
            <a:endParaRPr lang="en-US" sz="1100"/>
          </a:p>
        </p:txBody>
      </p:sp>
      <p:sp>
        <p:nvSpPr>
          <p:cNvPr id="7" name="component box">
            <a:extLst>
              <a:ext uri="{C183D7F6-B498-43B3-948B-1728B52AA6E4}">
                <adec:decorative xmlns:adec="http://schemas.microsoft.com/office/drawing/2017/decorative" val="1"/>
              </a:ext>
            </a:extLst>
          </p:cNvPr>
          <p:cNvSpPr/>
          <p:nvPr/>
        </p:nvSpPr>
        <p:spPr>
          <a:xfrm>
            <a:off x="502920" y="1600200"/>
            <a:ext cx="2286000" cy="1371600"/>
          </a:xfrm>
          <a:prstGeom prst="rect">
            <a:avLst/>
          </a:prstGeom>
          <a:solidFill>
            <a:srgbClr val="F6F9FD"/>
          </a:solidFill>
          <a:ln w="12700">
            <a:solidFill>
              <a:srgbClr val="D8E5F2"/>
            </a:solidFill>
            <a:prstDash val="solid"/>
          </a:ln>
        </p:spPr>
        <p:txBody>
          <a:bodyPr/>
          <a:lstStyle/>
          <a:p>
            <a:endParaRPr lang="en-IN"/>
          </a:p>
        </p:txBody>
      </p:sp>
      <p:sp>
        <p:nvSpPr>
          <p:cNvPr id="8" name="Text 6"/>
          <p:cNvSpPr/>
          <p:nvPr/>
        </p:nvSpPr>
        <p:spPr>
          <a:xfrm>
            <a:off x="612648" y="1728216"/>
            <a:ext cx="2066544" cy="274320"/>
          </a:xfrm>
          <a:prstGeom prst="rect">
            <a:avLst/>
          </a:prstGeom>
          <a:noFill/>
          <a:ln/>
        </p:spPr>
        <p:txBody>
          <a:bodyPr wrap="square" lIns="0" tIns="0" rIns="0" bIns="0" rtlCol="0" anchor="ctr"/>
          <a:lstStyle/>
          <a:p>
            <a:pPr marL="0" indent="0" algn="ctr">
              <a:buNone/>
            </a:pPr>
            <a:r>
              <a:rPr lang="en-US" sz="1150" b="1">
                <a:solidFill>
                  <a:srgbClr val="0E2233"/>
                </a:solidFill>
                <a:latin typeface="Segoe UI" pitchFamily="34" charset="0"/>
                <a:ea typeface="Segoe UI" pitchFamily="34" charset="-122"/>
                <a:cs typeface="Segoe UI" pitchFamily="34" charset="-120"/>
              </a:rPr>
              <a:t>Continuous integration</a:t>
            </a:r>
            <a:endParaRPr lang="en-US" sz="1150"/>
          </a:p>
        </p:txBody>
      </p:sp>
      <p:sp>
        <p:nvSpPr>
          <p:cNvPr id="9" name="Text 7"/>
          <p:cNvSpPr/>
          <p:nvPr/>
        </p:nvSpPr>
        <p:spPr>
          <a:xfrm>
            <a:off x="612648" y="2020824"/>
            <a:ext cx="2066544" cy="841248"/>
          </a:xfrm>
          <a:prstGeom prst="rect">
            <a:avLst/>
          </a:prstGeom>
          <a:noFill/>
          <a:ln/>
        </p:spPr>
        <p:txBody>
          <a:bodyPr wrap="square" lIns="0" tIns="0" rIns="0" bIns="0" rtlCol="0" anchor="t"/>
          <a:lstStyle/>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build, test and scan on every</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commit — produces a</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versioned container image</a:t>
            </a:r>
            <a:endParaRPr lang="en-US" sz="950"/>
          </a:p>
        </p:txBody>
      </p:sp>
      <p:sp>
        <p:nvSpPr>
          <p:cNvPr id="10" name="component box">
            <a:extLst>
              <a:ext uri="{C183D7F6-B498-43B3-948B-1728B52AA6E4}">
                <adec:decorative xmlns:adec="http://schemas.microsoft.com/office/drawing/2017/decorative" val="1"/>
              </a:ext>
            </a:extLst>
          </p:cNvPr>
          <p:cNvSpPr/>
          <p:nvPr/>
        </p:nvSpPr>
        <p:spPr>
          <a:xfrm>
            <a:off x="3429000" y="1600200"/>
            <a:ext cx="2286000" cy="1371600"/>
          </a:xfrm>
          <a:prstGeom prst="rect">
            <a:avLst/>
          </a:prstGeom>
          <a:solidFill>
            <a:srgbClr val="0A2E4E"/>
          </a:solidFill>
          <a:ln w="12700">
            <a:solidFill>
              <a:srgbClr val="0A2E4E"/>
            </a:solidFill>
            <a:prstDash val="solid"/>
          </a:ln>
        </p:spPr>
        <p:txBody>
          <a:bodyPr/>
          <a:lstStyle/>
          <a:p>
            <a:endParaRPr lang="en-IN"/>
          </a:p>
        </p:txBody>
      </p:sp>
      <p:sp>
        <p:nvSpPr>
          <p:cNvPr id="11" name="Text 9"/>
          <p:cNvSpPr/>
          <p:nvPr/>
        </p:nvSpPr>
        <p:spPr>
          <a:xfrm>
            <a:off x="3538728" y="1728216"/>
            <a:ext cx="2066544" cy="274320"/>
          </a:xfrm>
          <a:prstGeom prst="rect">
            <a:avLst/>
          </a:prstGeom>
          <a:noFill/>
          <a:ln/>
        </p:spPr>
        <p:txBody>
          <a:bodyPr wrap="square" lIns="0" tIns="0" rIns="0" bIns="0" rtlCol="0" anchor="ctr"/>
          <a:lstStyle/>
          <a:p>
            <a:pPr marL="0" indent="0" algn="ctr">
              <a:buNone/>
            </a:pPr>
            <a:r>
              <a:rPr lang="en-US" sz="1150" b="1">
                <a:solidFill>
                  <a:srgbClr val="FFFFFF"/>
                </a:solidFill>
                <a:latin typeface="Segoe UI" pitchFamily="34" charset="0"/>
                <a:ea typeface="Segoe UI" pitchFamily="34" charset="-122"/>
                <a:cs typeface="Segoe UI" pitchFamily="34" charset="-120"/>
              </a:rPr>
              <a:t>Container registry</a:t>
            </a:r>
            <a:endParaRPr lang="en-US" sz="1150"/>
          </a:p>
        </p:txBody>
      </p:sp>
      <p:sp>
        <p:nvSpPr>
          <p:cNvPr id="12" name="Text 10"/>
          <p:cNvSpPr/>
          <p:nvPr/>
        </p:nvSpPr>
        <p:spPr>
          <a:xfrm>
            <a:off x="3538728" y="2020824"/>
            <a:ext cx="2066544" cy="841248"/>
          </a:xfrm>
          <a:prstGeom prst="rect">
            <a:avLst/>
          </a:prstGeom>
          <a:noFill/>
          <a:ln/>
        </p:spPr>
        <p:txBody>
          <a:bodyPr wrap="square" lIns="0" tIns="0" rIns="0" bIns="0" rtlCol="0" anchor="t"/>
          <a:lstStyle/>
          <a:p>
            <a:pPr marL="0" indent="0" algn="ctr">
              <a:lnSpc>
                <a:spcPct val="115000"/>
              </a:lnSpc>
              <a:buNone/>
            </a:pPr>
            <a:r>
              <a:rPr lang="en-US" sz="950">
                <a:solidFill>
                  <a:srgbClr val="D6E7F6"/>
                </a:solidFill>
                <a:latin typeface="Segoe UI" pitchFamily="34" charset="0"/>
                <a:ea typeface="Segoe UI" pitchFamily="34" charset="-122"/>
                <a:cs typeface="Segoe UI" pitchFamily="34" charset="-120"/>
              </a:rPr>
              <a:t>the single artefact store —</a:t>
            </a:r>
            <a:endParaRPr lang="en-US" sz="950"/>
          </a:p>
          <a:p>
            <a:pPr marL="0" indent="0" algn="ctr">
              <a:lnSpc>
                <a:spcPct val="115000"/>
              </a:lnSpc>
              <a:buNone/>
            </a:pPr>
            <a:r>
              <a:rPr lang="en-US" sz="950">
                <a:solidFill>
                  <a:srgbClr val="D6E7F6"/>
                </a:solidFill>
                <a:latin typeface="Segoe UI" pitchFamily="34" charset="0"/>
                <a:ea typeface="Segoe UI" pitchFamily="34" charset="-122"/>
                <a:cs typeface="Segoe UI" pitchFamily="34" charset="-120"/>
              </a:rPr>
              <a:t>immutable tag or digest</a:t>
            </a:r>
            <a:endParaRPr lang="en-US" sz="950"/>
          </a:p>
          <a:p>
            <a:pPr marL="0" indent="0" algn="ctr">
              <a:lnSpc>
                <a:spcPct val="115000"/>
              </a:lnSpc>
              <a:buNone/>
            </a:pPr>
            <a:r>
              <a:rPr lang="en-US" sz="950">
                <a:solidFill>
                  <a:srgbClr val="D6E7F6"/>
                </a:solidFill>
                <a:latin typeface="Segoe UI" pitchFamily="34" charset="0"/>
                <a:ea typeface="Segoe UI" pitchFamily="34" charset="-122"/>
                <a:cs typeface="Segoe UI" pitchFamily="34" charset="-120"/>
              </a:rPr>
              <a:t>per build</a:t>
            </a:r>
            <a:endParaRPr lang="en-US" sz="950"/>
          </a:p>
        </p:txBody>
      </p:sp>
      <p:sp>
        <p:nvSpPr>
          <p:cNvPr id="13" name="component box">
            <a:extLst>
              <a:ext uri="{C183D7F6-B498-43B3-948B-1728B52AA6E4}">
                <adec:decorative xmlns:adec="http://schemas.microsoft.com/office/drawing/2017/decorative" val="1"/>
              </a:ext>
            </a:extLst>
          </p:cNvPr>
          <p:cNvSpPr/>
          <p:nvPr/>
        </p:nvSpPr>
        <p:spPr>
          <a:xfrm>
            <a:off x="6355080" y="1600200"/>
            <a:ext cx="2286000" cy="1371600"/>
          </a:xfrm>
          <a:prstGeom prst="rect">
            <a:avLst/>
          </a:prstGeom>
          <a:solidFill>
            <a:srgbClr val="F6F9FD"/>
          </a:solidFill>
          <a:ln w="12700">
            <a:solidFill>
              <a:srgbClr val="D8E5F2"/>
            </a:solidFill>
            <a:prstDash val="solid"/>
          </a:ln>
        </p:spPr>
        <p:txBody>
          <a:bodyPr/>
          <a:lstStyle/>
          <a:p>
            <a:endParaRPr lang="en-IN"/>
          </a:p>
        </p:txBody>
      </p:sp>
      <p:sp>
        <p:nvSpPr>
          <p:cNvPr id="14" name="Text 12"/>
          <p:cNvSpPr/>
          <p:nvPr/>
        </p:nvSpPr>
        <p:spPr>
          <a:xfrm>
            <a:off x="6464808" y="1728216"/>
            <a:ext cx="2066544" cy="274320"/>
          </a:xfrm>
          <a:prstGeom prst="rect">
            <a:avLst/>
          </a:prstGeom>
          <a:noFill/>
          <a:ln/>
        </p:spPr>
        <p:txBody>
          <a:bodyPr wrap="square" lIns="0" tIns="0" rIns="0" bIns="0" rtlCol="0" anchor="ctr"/>
          <a:lstStyle/>
          <a:p>
            <a:pPr marL="0" indent="0" algn="ctr">
              <a:buNone/>
            </a:pPr>
            <a:r>
              <a:rPr lang="en-US" sz="1150" b="1">
                <a:solidFill>
                  <a:srgbClr val="0E2233"/>
                </a:solidFill>
                <a:latin typeface="Segoe UI" pitchFamily="34" charset="0"/>
                <a:ea typeface="Segoe UI" pitchFamily="34" charset="-122"/>
                <a:cs typeface="Segoe UI" pitchFamily="34" charset="-120"/>
              </a:rPr>
              <a:t>Continuous delivery</a:t>
            </a:r>
            <a:endParaRPr lang="en-US" sz="1150"/>
          </a:p>
        </p:txBody>
      </p:sp>
      <p:sp>
        <p:nvSpPr>
          <p:cNvPr id="15" name="Text 13"/>
          <p:cNvSpPr/>
          <p:nvPr/>
        </p:nvSpPr>
        <p:spPr>
          <a:xfrm>
            <a:off x="6464808" y="2020824"/>
            <a:ext cx="2066544" cy="841248"/>
          </a:xfrm>
          <a:prstGeom prst="rect">
            <a:avLst/>
          </a:prstGeom>
          <a:noFill/>
          <a:ln/>
        </p:spPr>
        <p:txBody>
          <a:bodyPr wrap="square" lIns="0" tIns="0" rIns="0" bIns="0" rtlCol="0" anchor="t"/>
          <a:lstStyle/>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deploy the same image to each</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environment; config differs,</a:t>
            </a:r>
            <a:endParaRPr lang="en-US" sz="950"/>
          </a:p>
          <a:p>
            <a:pPr marL="0" indent="0" algn="ctr">
              <a:lnSpc>
                <a:spcPct val="115000"/>
              </a:lnSpc>
              <a:buNone/>
            </a:pPr>
            <a:r>
              <a:rPr lang="en-US" sz="950">
                <a:solidFill>
                  <a:srgbClr val="44566B"/>
                </a:solidFill>
                <a:latin typeface="Segoe UI" pitchFamily="34" charset="0"/>
                <a:ea typeface="Segoe UI" pitchFamily="34" charset="-122"/>
                <a:cs typeface="Segoe UI" pitchFamily="34" charset="-120"/>
              </a:rPr>
              <a:t>the image never changes</a:t>
            </a:r>
            <a:endParaRPr lang="en-US" sz="950"/>
          </a:p>
        </p:txBody>
      </p:sp>
      <p:sp>
        <p:nvSpPr>
          <p:cNvPr id="16" name="flow arrow">
            <a:extLst>
              <a:ext uri="{C183D7F6-B498-43B3-948B-1728B52AA6E4}">
                <adec:decorative xmlns:adec="http://schemas.microsoft.com/office/drawing/2017/decorative" val="1"/>
              </a:ext>
            </a:extLst>
          </p:cNvPr>
          <p:cNvSpPr/>
          <p:nvPr/>
        </p:nvSpPr>
        <p:spPr>
          <a:xfrm>
            <a:off x="2898648" y="2185416"/>
            <a:ext cx="420624" cy="201168"/>
          </a:xfrm>
          <a:prstGeom prst="rightArrow">
            <a:avLst/>
          </a:prstGeom>
          <a:solidFill>
            <a:srgbClr val="17A9DB"/>
          </a:solidFill>
          <a:ln w="12700">
            <a:solidFill>
              <a:srgbClr val="333333"/>
            </a:solidFill>
            <a:prstDash val="solid"/>
          </a:ln>
        </p:spPr>
        <p:txBody>
          <a:bodyPr/>
          <a:lstStyle/>
          <a:p>
            <a:endParaRPr lang="en-IN"/>
          </a:p>
        </p:txBody>
      </p:sp>
      <p:sp>
        <p:nvSpPr>
          <p:cNvPr id="17" name="flow arrow">
            <a:extLst>
              <a:ext uri="{C183D7F6-B498-43B3-948B-1728B52AA6E4}">
                <adec:decorative xmlns:adec="http://schemas.microsoft.com/office/drawing/2017/decorative" val="1"/>
              </a:ext>
            </a:extLst>
          </p:cNvPr>
          <p:cNvSpPr/>
          <p:nvPr/>
        </p:nvSpPr>
        <p:spPr>
          <a:xfrm>
            <a:off x="5824728" y="2185416"/>
            <a:ext cx="420624" cy="201168"/>
          </a:xfrm>
          <a:prstGeom prst="rightArrow">
            <a:avLst/>
          </a:prstGeom>
          <a:solidFill>
            <a:srgbClr val="17A9DB"/>
          </a:solidFill>
          <a:ln w="12700">
            <a:solidFill>
              <a:srgbClr val="333333"/>
            </a:solidFill>
            <a:prstDash val="solid"/>
          </a:ln>
        </p:spPr>
        <p:txBody>
          <a:bodyPr/>
          <a:lstStyle/>
          <a:p>
            <a:endParaRPr lang="en-IN"/>
          </a:p>
        </p:txBody>
      </p:sp>
      <p:sp>
        <p:nvSpPr>
          <p:cNvPr id="18" name="Text 16"/>
          <p:cNvSpPr/>
          <p:nvPr/>
        </p:nvSpPr>
        <p:spPr>
          <a:xfrm>
            <a:off x="2743200" y="2395728"/>
            <a:ext cx="777240" cy="201168"/>
          </a:xfrm>
          <a:prstGeom prst="rect">
            <a:avLst/>
          </a:prstGeom>
          <a:noFill/>
          <a:ln/>
        </p:spPr>
        <p:txBody>
          <a:bodyPr wrap="square" lIns="0" tIns="0" rIns="0" bIns="0" rtlCol="0" anchor="ctr"/>
          <a:lstStyle/>
          <a:p>
            <a:pPr marL="0" indent="0" algn="ctr">
              <a:buNone/>
            </a:pPr>
            <a:r>
              <a:rPr lang="en-US" sz="800">
                <a:solidFill>
                  <a:srgbClr val="7C8FA3"/>
                </a:solidFill>
                <a:latin typeface="Segoe UI" pitchFamily="34" charset="0"/>
                <a:ea typeface="Segoe UI" pitchFamily="34" charset="-122"/>
                <a:cs typeface="Segoe UI" pitchFamily="34" charset="-120"/>
              </a:rPr>
              <a:t>push image</a:t>
            </a:r>
            <a:endParaRPr lang="en-US" sz="800"/>
          </a:p>
        </p:txBody>
      </p:sp>
      <p:sp>
        <p:nvSpPr>
          <p:cNvPr id="19" name="Text 17"/>
          <p:cNvSpPr/>
          <p:nvPr/>
        </p:nvSpPr>
        <p:spPr>
          <a:xfrm>
            <a:off x="5669280" y="2395728"/>
            <a:ext cx="777240" cy="201168"/>
          </a:xfrm>
          <a:prstGeom prst="rect">
            <a:avLst/>
          </a:prstGeom>
          <a:noFill/>
          <a:ln/>
        </p:spPr>
        <p:txBody>
          <a:bodyPr wrap="square" lIns="0" tIns="0" rIns="0" bIns="0" rtlCol="0" anchor="ctr"/>
          <a:lstStyle/>
          <a:p>
            <a:pPr marL="0" indent="0" algn="ctr">
              <a:buNone/>
            </a:pPr>
            <a:r>
              <a:rPr lang="en-US" sz="800">
                <a:solidFill>
                  <a:srgbClr val="7C8FA3"/>
                </a:solidFill>
                <a:latin typeface="Segoe UI" pitchFamily="34" charset="0"/>
                <a:ea typeface="Segoe UI" pitchFamily="34" charset="-122"/>
                <a:cs typeface="Segoe UI" pitchFamily="34" charset="-120"/>
              </a:rPr>
              <a:t>pull image</a:t>
            </a:r>
            <a:endParaRPr lang="en-US" sz="800"/>
          </a:p>
        </p:txBody>
      </p:sp>
      <p:sp>
        <p:nvSpPr>
          <p:cNvPr id="20" name="local store box">
            <a:extLst>
              <a:ext uri="{C183D7F6-B498-43B3-948B-1728B52AA6E4}">
                <adec:decorative xmlns:adec="http://schemas.microsoft.com/office/drawing/2017/decorative" val="1"/>
              </a:ext>
            </a:extLst>
          </p:cNvPr>
          <p:cNvSpPr/>
          <p:nvPr/>
        </p:nvSpPr>
        <p:spPr>
          <a:xfrm>
            <a:off x="3429000" y="2743200"/>
            <a:ext cx="2286000" cy="384048"/>
          </a:xfrm>
          <a:prstGeom prst="rect">
            <a:avLst/>
          </a:prstGeom>
          <a:solidFill>
            <a:srgbClr val="EDF4FC"/>
          </a:solidFill>
          <a:ln w="9525">
            <a:solidFill>
              <a:srgbClr val="0B63CE"/>
            </a:solidFill>
            <a:prstDash val="dash"/>
          </a:ln>
        </p:spPr>
        <p:txBody>
          <a:bodyPr/>
          <a:lstStyle/>
          <a:p>
            <a:endParaRPr lang="en-IN"/>
          </a:p>
        </p:txBody>
      </p:sp>
      <p:sp>
        <p:nvSpPr>
          <p:cNvPr id="21" name="Text 19"/>
          <p:cNvSpPr/>
          <p:nvPr/>
        </p:nvSpPr>
        <p:spPr>
          <a:xfrm>
            <a:off x="3520440" y="2743200"/>
            <a:ext cx="2103120" cy="384048"/>
          </a:xfrm>
          <a:prstGeom prst="rect">
            <a:avLst/>
          </a:prstGeom>
          <a:noFill/>
          <a:ln/>
        </p:spPr>
        <p:txBody>
          <a:bodyPr wrap="square" lIns="0" tIns="0" rIns="0" bIns="0" rtlCol="0" anchor="ctr"/>
          <a:lstStyle/>
          <a:p>
            <a:pPr marL="0" indent="0" algn="ctr">
              <a:lnSpc>
                <a:spcPct val="115000"/>
              </a:lnSpc>
              <a:buNone/>
            </a:pPr>
            <a:r>
              <a:rPr lang="en-US" sz="700">
                <a:solidFill>
                  <a:srgbClr val="0A2E4E"/>
                </a:solidFill>
                <a:latin typeface="Segoe UI" pitchFamily="34" charset="0"/>
                <a:ea typeface="Segoe UI" pitchFamily="34" charset="-122"/>
                <a:cs typeface="Segoe UI" pitchFamily="34" charset="-120"/>
              </a:rPr>
              <a:t>If deploying by hand is faster than the pipeline, people will deploy by hand.</a:t>
            </a:r>
            <a:endParaRPr lang="en-US" sz="700"/>
          </a:p>
        </p:txBody>
      </p:sp>
      <p:sp>
        <p:nvSpPr>
          <p:cNvPr id="22" name="stat block">
            <a:extLst>
              <a:ext uri="{C183D7F6-B498-43B3-948B-1728B52AA6E4}">
                <adec:decorative xmlns:adec="http://schemas.microsoft.com/office/drawing/2017/decorative" val="1"/>
              </a:ext>
            </a:extLst>
          </p:cNvPr>
          <p:cNvSpPr/>
          <p:nvPr/>
        </p:nvSpPr>
        <p:spPr>
          <a:xfrm>
            <a:off x="502920"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3" name="stat accent">
            <a:extLst>
              <a:ext uri="{C183D7F6-B498-43B3-948B-1728B52AA6E4}">
                <adec:decorative xmlns:adec="http://schemas.microsoft.com/office/drawing/2017/decorative" val="1"/>
              </a:ext>
            </a:extLst>
          </p:cNvPr>
          <p:cNvSpPr/>
          <p:nvPr/>
        </p:nvSpPr>
        <p:spPr>
          <a:xfrm>
            <a:off x="502920"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24" name="Text 22"/>
          <p:cNvSpPr/>
          <p:nvPr/>
        </p:nvSpPr>
        <p:spPr>
          <a:xfrm>
            <a:off x="685800"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Build once, deploy many</a:t>
            </a:r>
            <a:endParaRPr lang="en-US" sz="1100"/>
          </a:p>
        </p:txBody>
      </p:sp>
      <p:sp>
        <p:nvSpPr>
          <p:cNvPr id="25" name="Text 23"/>
          <p:cNvSpPr/>
          <p:nvPr/>
        </p:nvSpPr>
        <p:spPr>
          <a:xfrm>
            <a:off x="685800" y="3767328"/>
            <a:ext cx="2258568" cy="256032"/>
          </a:xfrm>
          <a:prstGeom prst="rect">
            <a:avLst/>
          </a:prstGeom>
          <a:noFill/>
          <a:ln/>
        </p:spPr>
        <p:txBody>
          <a:bodyPr wrap="square" lIns="0" tIns="0" rIns="0" bIns="0" rtlCol="0" anchor="t"/>
          <a:lstStyle/>
          <a:p>
            <a:pPr marL="0" indent="0">
              <a:lnSpc>
                <a:spcPct val="105000"/>
              </a:lnSpc>
              <a:buNone/>
            </a:pPr>
            <a:r>
              <a:rPr lang="en-US" sz="800">
                <a:solidFill>
                  <a:srgbClr val="44566B"/>
                </a:solidFill>
                <a:latin typeface="Segoe UI" pitchFamily="34" charset="0"/>
                <a:ea typeface="Segoe UI" pitchFamily="34" charset="-122"/>
                <a:cs typeface="Segoe UI" pitchFamily="34" charset="-120"/>
              </a:rPr>
              <a:t>The artefact promoted to production is the one that passed the tests.</a:t>
            </a:r>
            <a:endParaRPr lang="en-US" sz="800"/>
          </a:p>
        </p:txBody>
      </p:sp>
      <p:sp>
        <p:nvSpPr>
          <p:cNvPr id="26" name="stat block">
            <a:extLst>
              <a:ext uri="{C183D7F6-B498-43B3-948B-1728B52AA6E4}">
                <adec:decorative xmlns:adec="http://schemas.microsoft.com/office/drawing/2017/decorative" val="1"/>
              </a:ext>
            </a:extLst>
          </p:cNvPr>
          <p:cNvSpPr/>
          <p:nvPr/>
        </p:nvSpPr>
        <p:spPr>
          <a:xfrm>
            <a:off x="3282696"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3282696" y="3456432"/>
            <a:ext cx="45720" cy="621792"/>
          </a:xfrm>
          <a:prstGeom prst="rect">
            <a:avLst/>
          </a:prstGeom>
          <a:solidFill>
            <a:srgbClr val="17A9DB"/>
          </a:solidFill>
          <a:ln w="12700">
            <a:solidFill>
              <a:srgbClr val="333333"/>
            </a:solidFill>
            <a:prstDash val="solid"/>
          </a:ln>
        </p:spPr>
        <p:txBody>
          <a:bodyPr/>
          <a:lstStyle/>
          <a:p>
            <a:endParaRPr lang="en-IN"/>
          </a:p>
        </p:txBody>
      </p:sp>
      <p:sp>
        <p:nvSpPr>
          <p:cNvPr id="28" name="Text 26"/>
          <p:cNvSpPr/>
          <p:nvPr/>
        </p:nvSpPr>
        <p:spPr>
          <a:xfrm>
            <a:off x="3465576"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Everything in version control</a:t>
            </a:r>
            <a:endParaRPr lang="en-US" sz="1100"/>
          </a:p>
        </p:txBody>
      </p:sp>
      <p:sp>
        <p:nvSpPr>
          <p:cNvPr id="29" name="Text 27"/>
          <p:cNvSpPr/>
          <p:nvPr/>
        </p:nvSpPr>
        <p:spPr>
          <a:xfrm>
            <a:off x="3465576" y="3767328"/>
            <a:ext cx="2258568" cy="256032"/>
          </a:xfrm>
          <a:prstGeom prst="rect">
            <a:avLst/>
          </a:prstGeom>
          <a:noFill/>
          <a:ln/>
        </p:spPr>
        <p:txBody>
          <a:bodyPr wrap="square" lIns="0" tIns="0" rIns="0" bIns="0" rtlCol="0" anchor="t"/>
          <a:lstStyle/>
          <a:p>
            <a:pPr marL="0" indent="0">
              <a:lnSpc>
                <a:spcPct val="105000"/>
              </a:lnSpc>
              <a:buNone/>
            </a:pPr>
            <a:r>
              <a:rPr lang="en-US" sz="750">
                <a:solidFill>
                  <a:srgbClr val="44566B"/>
                </a:solidFill>
                <a:latin typeface="Segoe UI" pitchFamily="34" charset="0"/>
                <a:ea typeface="Segoe UI" pitchFamily="34" charset="-122"/>
                <a:cs typeface="Segoe UI" pitchFamily="34" charset="-120"/>
              </a:rPr>
              <a:t>Manifests and pipeline definitions live beside the code and are reviewed the same way.</a:t>
            </a:r>
            <a:endParaRPr lang="en-US" sz="750"/>
          </a:p>
        </p:txBody>
      </p:sp>
      <p:sp>
        <p:nvSpPr>
          <p:cNvPr id="30" name="stat block">
            <a:extLst>
              <a:ext uri="{C183D7F6-B498-43B3-948B-1728B52AA6E4}">
                <adec:decorative xmlns:adec="http://schemas.microsoft.com/office/drawing/2017/decorative" val="1"/>
              </a:ext>
            </a:extLst>
          </p:cNvPr>
          <p:cNvSpPr/>
          <p:nvPr/>
        </p:nvSpPr>
        <p:spPr>
          <a:xfrm>
            <a:off x="6062472" y="3456432"/>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6062472" y="3456432"/>
            <a:ext cx="45720" cy="621792"/>
          </a:xfrm>
          <a:prstGeom prst="rect">
            <a:avLst/>
          </a:prstGeom>
          <a:solidFill>
            <a:srgbClr val="0B63CE"/>
          </a:solidFill>
          <a:ln w="12700">
            <a:solidFill>
              <a:srgbClr val="333333"/>
            </a:solidFill>
            <a:prstDash val="solid"/>
          </a:ln>
        </p:spPr>
        <p:txBody>
          <a:bodyPr/>
          <a:lstStyle/>
          <a:p>
            <a:endParaRPr lang="en-IN"/>
          </a:p>
        </p:txBody>
      </p:sp>
      <p:sp>
        <p:nvSpPr>
          <p:cNvPr id="32" name="Text 30"/>
          <p:cNvSpPr/>
          <p:nvPr/>
        </p:nvSpPr>
        <p:spPr>
          <a:xfrm>
            <a:off x="6245352" y="3529584"/>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Automate the gates</a:t>
            </a:r>
            <a:endParaRPr lang="en-US" sz="1100"/>
          </a:p>
        </p:txBody>
      </p:sp>
      <p:sp>
        <p:nvSpPr>
          <p:cNvPr id="33" name="Text 31"/>
          <p:cNvSpPr/>
          <p:nvPr/>
        </p:nvSpPr>
        <p:spPr>
          <a:xfrm>
            <a:off x="6245352" y="3767328"/>
            <a:ext cx="2258568" cy="256032"/>
          </a:xfrm>
          <a:prstGeom prst="rect">
            <a:avLst/>
          </a:prstGeom>
          <a:noFill/>
          <a:ln/>
        </p:spPr>
        <p:txBody>
          <a:bodyPr wrap="square" lIns="0" tIns="0" rIns="0" bIns="0" rtlCol="0" anchor="t"/>
          <a:lstStyle/>
          <a:p>
            <a:pPr marL="0" indent="0">
              <a:lnSpc>
                <a:spcPct val="105000"/>
              </a:lnSpc>
              <a:buNone/>
            </a:pPr>
            <a:r>
              <a:rPr lang="en-US" sz="750">
                <a:solidFill>
                  <a:srgbClr val="44566B"/>
                </a:solidFill>
                <a:latin typeface="Segoe UI" pitchFamily="34" charset="0"/>
                <a:ea typeface="Segoe UI" pitchFamily="34" charset="-122"/>
                <a:cs typeface="Segoe UI" pitchFamily="34" charset="-120"/>
              </a:rPr>
              <a:t>Scans, approvals and smoke tests belong in the pipeline, not in someone’s checklist.</a:t>
            </a:r>
            <a:endParaRPr lang="en-US" sz="750"/>
          </a:p>
        </p:txBody>
      </p:sp>
      <p:sp>
        <p:nvSpPr>
          <p:cNvPr id="34"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12 · CI/CD FOR AKS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Azure DevOps and GitHub Actions for AKS</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Two mature options with the same shape. Pick the one your organisation already runs.</a:t>
            </a:r>
            <a:endParaRPr lang="en-US" sz="1150"/>
          </a:p>
        </p:txBody>
      </p:sp>
      <p:graphicFrame>
        <p:nvGraphicFramePr>
          <p:cNvPr id="26" name="Table 0"/>
          <p:cNvGraphicFramePr>
            <a:graphicFrameLocks noGrp="1"/>
          </p:cNvGraphicFramePr>
          <p:nvPr>
            <p:extLst>
              <p:ext uri="{D42A27DB-BD31-4B8C-83A1-F6EECF244321}">
                <p14:modId xmlns:p14="http://schemas.microsoft.com/office/powerpoint/2010/main" val="3853782458"/>
              </p:ext>
            </p:extLst>
          </p:nvPr>
        </p:nvGraphicFramePr>
        <p:xfrm>
          <a:off x="502920" y="1463040"/>
          <a:ext cx="8138160" cy="2505456"/>
        </p:xfrm>
        <a:graphic>
          <a:graphicData uri="http://schemas.openxmlformats.org/drawingml/2006/table">
            <a:tbl>
              <a:tblPr/>
              <a:tblGrid>
                <a:gridCol w="1691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417576">
                <a:tc>
                  <a:txBody>
                    <a:bodyPr/>
                    <a:lstStyle/>
                    <a:p>
                      <a:pPr marL="0" indent="0" algn="l">
                        <a:buNone/>
                      </a:pPr>
                      <a:r>
                        <a:rPr lang="en-US" sz="750" b="1">
                          <a:solidFill>
                            <a:srgbClr val="FFFFFF"/>
                          </a:solidFill>
                          <a:latin typeface="Segoe UI" pitchFamily="34" charset="0"/>
                          <a:ea typeface="Segoe UI" pitchFamily="34" charset="-122"/>
                          <a:cs typeface="Segoe UI" pitchFamily="34" charset="-120"/>
                        </a:rPr>
                        <a:t>Aspect</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750" b="1">
                          <a:solidFill>
                            <a:srgbClr val="FFFFFF"/>
                          </a:solidFill>
                          <a:latin typeface="Segoe UI" pitchFamily="34" charset="0"/>
                          <a:ea typeface="Segoe UI" pitchFamily="34" charset="-122"/>
                          <a:cs typeface="Segoe UI" pitchFamily="34" charset="-120"/>
                        </a:rPr>
                        <a:t>Azure DevOps Pipelines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750" b="1">
                          <a:solidFill>
                            <a:srgbClr val="FFFFFF"/>
                          </a:solidFill>
                          <a:latin typeface="Segoe UI" pitchFamily="34" charset="0"/>
                          <a:ea typeface="Segoe UI" pitchFamily="34" charset="-122"/>
                          <a:cs typeface="Segoe UI" pitchFamily="34" charset="-120"/>
                        </a:rPr>
                        <a:t>GitHub Actions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750" b="1">
                          <a:solidFill>
                            <a:srgbClr val="FFFFFF"/>
                          </a:solidFill>
                          <a:latin typeface="Segoe UI" pitchFamily="34" charset="0"/>
                          <a:ea typeface="Segoe UI" pitchFamily="34" charset="-122"/>
                          <a:cs typeface="Segoe UI" pitchFamily="34" charset="-120"/>
                        </a:rPr>
                        <a:t>Notes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tc>
                  <a:txBody>
                    <a:bodyPr/>
                    <a:lstStyle/>
                    <a:p>
                      <a:pPr marL="0" indent="0" algn="l">
                        <a:buNone/>
                      </a:pPr>
                      <a:r>
                        <a:rPr lang="en-US" sz="750" b="1">
                          <a:solidFill>
                            <a:srgbClr val="FFFFFF"/>
                          </a:solidFill>
                          <a:latin typeface="Segoe UI" pitchFamily="34" charset="0"/>
                          <a:ea typeface="Segoe UI" pitchFamily="34" charset="-122"/>
                          <a:cs typeface="Segoe UI" pitchFamily="34" charset="-120"/>
                        </a:rPr>
                        <a:t>Owner</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0A2E4E"/>
                    </a:solidFill>
                  </a:tcPr>
                </a:tc>
                <a:extLst>
                  <a:ext uri="{0D108BD9-81ED-4DB2-BD59-A6C34878D82A}">
                    <a16:rowId xmlns:a16="http://schemas.microsoft.com/office/drawing/2014/main" val="10000"/>
                  </a:ext>
                </a:extLst>
              </a:tr>
              <a:tr h="417576">
                <a:tc>
                  <a:txBody>
                    <a:bodyPr/>
                    <a:lstStyle/>
                    <a:p>
                      <a:pPr marL="0" indent="0" algn="l">
                        <a:buNone/>
                      </a:pPr>
                      <a:r>
                        <a:rPr lang="en-US" sz="750" b="1">
                          <a:solidFill>
                            <a:srgbClr val="0E2233"/>
                          </a:solidFill>
                          <a:latin typeface="Segoe UI" pitchFamily="34" charset="0"/>
                          <a:ea typeface="Segoe UI" pitchFamily="34" charset="-122"/>
                          <a:cs typeface="Segoe UI" pitchFamily="34" charset="-120"/>
                        </a:rPr>
                        <a:t>Definition</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azure-pipelines.yml in the repository</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Workflow files under .github/workflows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Pipeline definition lives beside the code either way</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App team</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7576">
                <a:tc>
                  <a:txBody>
                    <a:bodyPr/>
                    <a:lstStyle/>
                    <a:p>
                      <a:pPr marL="0" indent="0" algn="l">
                        <a:buNone/>
                      </a:pPr>
                      <a:r>
                        <a:rPr lang="en-US" sz="750" b="1">
                          <a:solidFill>
                            <a:srgbClr val="0E2233"/>
                          </a:solidFill>
                          <a:latin typeface="Segoe UI" pitchFamily="34" charset="0"/>
                          <a:ea typeface="Segoe UI" pitchFamily="34" charset="-122"/>
                          <a:cs typeface="Segoe UI" pitchFamily="34" charset="-120"/>
                        </a:rPr>
                        <a:t>Connecting to Azure</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Service connection using a workload identity federation</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OIDC login with azure/login, no stored secrets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Federated credentials mean nothing to rotate</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Platform</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2"/>
                  </a:ext>
                </a:extLst>
              </a:tr>
              <a:tr h="417576">
                <a:tc>
                  <a:txBody>
                    <a:bodyPr/>
                    <a:lstStyle/>
                    <a:p>
                      <a:pPr marL="0" indent="0" algn="l">
                        <a:buNone/>
                      </a:pPr>
                      <a:r>
                        <a:rPr lang="en-US" sz="750" b="1">
                          <a:solidFill>
                            <a:srgbClr val="0E2233"/>
                          </a:solidFill>
                          <a:latin typeface="Segoe UI" pitchFamily="34" charset="0"/>
                          <a:ea typeface="Segoe UI" pitchFamily="34" charset="-122"/>
                          <a:cs typeface="Segoe UI" pitchFamily="34" charset="-120"/>
                        </a:rPr>
                        <a:t>Build and push</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Docker task, or the built-in ACR task</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docker/build-push-action, or az acr build</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Building in ACR avoids Docker on the agent</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App team</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7576">
                <a:tc>
                  <a:txBody>
                    <a:bodyPr/>
                    <a:lstStyle/>
                    <a:p>
                      <a:pPr marL="0" indent="0" algn="l">
                        <a:buNone/>
                      </a:pPr>
                      <a:r>
                        <a:rPr lang="en-US" sz="750" b="1">
                          <a:solidFill>
                            <a:srgbClr val="0E2233"/>
                          </a:solidFill>
                          <a:latin typeface="Segoe UI" pitchFamily="34" charset="0"/>
                          <a:ea typeface="Segoe UI" pitchFamily="34" charset="-122"/>
                          <a:cs typeface="Segoe UI" pitchFamily="34" charset="-120"/>
                        </a:rPr>
                        <a:t>Deploy to AKS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KubernetesManifest task with an environment and approvals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azure/k8s-deploy action with environment protection rules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Both roll out plain manifests or Helm charts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Platform</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6F9FD"/>
                    </a:solidFill>
                  </a:tcPr>
                </a:tc>
                <a:extLst>
                  <a:ext uri="{0D108BD9-81ED-4DB2-BD59-A6C34878D82A}">
                    <a16:rowId xmlns:a16="http://schemas.microsoft.com/office/drawing/2014/main" val="10004"/>
                  </a:ext>
                </a:extLst>
              </a:tr>
              <a:tr h="417576">
                <a:tc>
                  <a:txBody>
                    <a:bodyPr/>
                    <a:lstStyle/>
                    <a:p>
                      <a:pPr marL="0" indent="0" algn="l">
                        <a:buNone/>
                      </a:pPr>
                      <a:r>
                        <a:rPr lang="en-US" sz="750" b="1">
                          <a:solidFill>
                            <a:srgbClr val="0E2233"/>
                          </a:solidFill>
                          <a:latin typeface="Segoe UI" pitchFamily="34" charset="0"/>
                          <a:ea typeface="Segoe UI" pitchFamily="34" charset="-122"/>
                          <a:cs typeface="Segoe UI" pitchFamily="34" charset="-120"/>
                        </a:rPr>
                        <a:t>Approvals and gates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Environments with checks and approvers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Environments with required reviewers</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Gate production, not every environment</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tc>
                  <a:txBody>
                    <a:bodyPr/>
                    <a:lstStyle/>
                    <a:p>
                      <a:pPr marL="0" indent="0" algn="l">
                        <a:buNone/>
                      </a:pPr>
                      <a:r>
                        <a:rPr lang="en-US" sz="750">
                          <a:solidFill>
                            <a:srgbClr val="44566B"/>
                          </a:solidFill>
                          <a:latin typeface="Segoe UI" pitchFamily="34" charset="0"/>
                          <a:ea typeface="Segoe UI" pitchFamily="34" charset="-122"/>
                          <a:cs typeface="Segoe UI" pitchFamily="34" charset="-120"/>
                        </a:rPr>
                        <a:t>Platform</a:t>
                      </a:r>
                      <a:endParaRPr lang="en-US" sz="750">
                        <a:latin typeface="Segoe UI" charset="0"/>
                        <a:ea typeface="Segoe UI" charset="0"/>
                        <a:cs typeface="Segoe UI" charset="0"/>
                      </a:endParaRPr>
                    </a:p>
                  </a:txBody>
                  <a:tcPr marL="101600" marR="101600" marT="50800" marB="50800" anchor="ctr">
                    <a:lnL w="9525" cap="flat" cmpd="sng" algn="ctr">
                      <a:solidFill>
                        <a:srgbClr val="D8E5F2"/>
                      </a:solidFill>
                      <a:prstDash val="solid"/>
                      <a:round/>
                      <a:headEnd type="none" w="med" len="med"/>
                      <a:tailEnd type="none" w="med" len="med"/>
                    </a:lnL>
                    <a:lnR w="9525" cap="flat" cmpd="sng" algn="ctr">
                      <a:solidFill>
                        <a:srgbClr val="D8E5F2"/>
                      </a:solidFill>
                      <a:prstDash val="solid"/>
                      <a:round/>
                      <a:headEnd type="none" w="med" len="med"/>
                      <a:tailEnd type="none" w="med" len="med"/>
                    </a:lnR>
                    <a:lnT w="9525" cap="flat" cmpd="sng" algn="ctr">
                      <a:solidFill>
                        <a:srgbClr val="D8E5F2"/>
                      </a:solidFill>
                      <a:prstDash val="solid"/>
                      <a:round/>
                      <a:headEnd type="none" w="med" len="med"/>
                      <a:tailEnd type="none" w="med" len="med"/>
                    </a:lnT>
                    <a:lnB w="9525" cap="flat" cmpd="sng" algn="ctr">
                      <a:solidFill>
                        <a:srgbClr val="D8E5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9"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0B63CE"/>
          </a:solidFill>
          <a:ln w="12700">
            <a:solidFill>
              <a:srgbClr val="333333"/>
            </a:solidFill>
            <a:prstDash val="solid"/>
          </a:ln>
        </p:spPr>
        <p:txBody>
          <a:bodyPr/>
          <a:lstStyle/>
          <a:p>
            <a:endParaRPr lang="en-IN"/>
          </a:p>
        </p:txBody>
      </p:sp>
      <p:sp>
        <p:nvSpPr>
          <p:cNvPr id="10" name="Text 7"/>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0B63CE"/>
                </a:solidFill>
                <a:latin typeface="Segoe UI" pitchFamily="34" charset="0"/>
                <a:ea typeface="Segoe UI" pitchFamily="34" charset="-122"/>
                <a:cs typeface="Segoe UI" pitchFamily="34" charset="-120"/>
              </a:rPr>
              <a:t>Rule of thumb   </a:t>
            </a:r>
            <a:r>
              <a:rPr lang="en-US" sz="900">
                <a:solidFill>
                  <a:srgbClr val="0E2233"/>
                </a:solidFill>
                <a:latin typeface="Segoe UI" pitchFamily="34" charset="0"/>
                <a:ea typeface="Segoe UI" pitchFamily="34" charset="-122"/>
                <a:cs typeface="Segoe UI" pitchFamily="34" charset="-120"/>
              </a:rPr>
              <a:t>Whichever you choose, authenticate with workload identity federation rather than a stored service principal secret — nothing to rotate and nothing to leak.</a:t>
            </a:r>
            <a:endParaRPr lang="en-US" sz="10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12 · CI/CD FOR AKS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Image build and deployment workflow</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050">
                <a:solidFill>
                  <a:srgbClr val="44566B"/>
                </a:solidFill>
                <a:latin typeface="Segoe UI" pitchFamily="34" charset="0"/>
                <a:ea typeface="Segoe UI" pitchFamily="34" charset="-122"/>
                <a:cs typeface="Segoe UI" pitchFamily="34" charset="-120"/>
              </a:rPr>
              <a:t>From a commit to a running Pod, with the same artefact travelling all the way through.</a:t>
            </a:r>
            <a:endParaRPr lang="en-US" sz="1050"/>
          </a:p>
        </p:txBody>
      </p:sp>
      <p:sp>
        <p:nvSpPr>
          <p:cNvPr id="7" name="step box">
            <a:extLst>
              <a:ext uri="{C183D7F6-B498-43B3-948B-1728B52AA6E4}">
                <adec:decorative xmlns:adec="http://schemas.microsoft.com/office/drawing/2017/decorative" val="1"/>
              </a:ext>
            </a:extLst>
          </p:cNvPr>
          <p:cNvSpPr/>
          <p:nvPr/>
        </p:nvSpPr>
        <p:spPr>
          <a:xfrm>
            <a:off x="502920" y="1481328"/>
            <a:ext cx="1801368" cy="804672"/>
          </a:xfrm>
          <a:prstGeom prst="rect">
            <a:avLst/>
          </a:prstGeom>
          <a:solidFill>
            <a:srgbClr val="EDF4FC"/>
          </a:solidFill>
          <a:ln w="12700">
            <a:solidFill>
              <a:srgbClr val="0B63CE"/>
            </a:solidFill>
            <a:prstDash val="solid"/>
          </a:ln>
        </p:spPr>
        <p:txBody>
          <a:bodyPr/>
          <a:lstStyle/>
          <a:p>
            <a:endParaRPr lang="en-IN"/>
          </a:p>
        </p:txBody>
      </p:sp>
      <p:sp>
        <p:nvSpPr>
          <p:cNvPr id="8" name="Text 6"/>
          <p:cNvSpPr/>
          <p:nvPr/>
        </p:nvSpPr>
        <p:spPr>
          <a:xfrm>
            <a:off x="594360"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1 · Commit and build</a:t>
            </a:r>
            <a:endParaRPr lang="en-US" sz="1050"/>
          </a:p>
        </p:txBody>
      </p:sp>
      <p:sp>
        <p:nvSpPr>
          <p:cNvPr id="9" name="Text 7"/>
          <p:cNvSpPr/>
          <p:nvPr/>
        </p:nvSpPr>
        <p:spPr>
          <a:xfrm>
            <a:off x="612648" y="1901952"/>
            <a:ext cx="1581912" cy="292608"/>
          </a:xfrm>
          <a:prstGeom prst="rect">
            <a:avLst/>
          </a:prstGeom>
          <a:noFill/>
          <a:ln/>
        </p:spPr>
        <p:txBody>
          <a:bodyPr wrap="square" lIns="0" tIns="0" rIns="0" bIns="0" rtlCol="0" anchor="t"/>
          <a:lstStyle/>
          <a:p>
            <a:pPr marL="0" indent="0" algn="ctr">
              <a:lnSpc>
                <a:spcPct val="110000"/>
              </a:lnSpc>
              <a:buNone/>
            </a:pPr>
            <a:r>
              <a:rPr lang="en-US" sz="650">
                <a:solidFill>
                  <a:srgbClr val="44566B"/>
                </a:solidFill>
                <a:latin typeface="Segoe UI" pitchFamily="34" charset="0"/>
                <a:ea typeface="Segoe UI" pitchFamily="34" charset="-122"/>
                <a:cs typeface="Segoe UI" pitchFamily="34" charset="-120"/>
              </a:rPr>
              <a:t>The pipeline triggers on merge, runs unit tests, and builds the container image.</a:t>
            </a:r>
            <a:endParaRPr lang="en-US" sz="850"/>
          </a:p>
        </p:txBody>
      </p:sp>
      <p:sp>
        <p:nvSpPr>
          <p:cNvPr id="10" name="flow arrow">
            <a:extLst>
              <a:ext uri="{C183D7F6-B498-43B3-948B-1728B52AA6E4}">
                <adec:decorative xmlns:adec="http://schemas.microsoft.com/office/drawing/2017/decorative" val="1"/>
              </a:ext>
            </a:extLst>
          </p:cNvPr>
          <p:cNvSpPr/>
          <p:nvPr/>
        </p:nvSpPr>
        <p:spPr>
          <a:xfrm>
            <a:off x="2359152"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1" name="step box">
            <a:extLst>
              <a:ext uri="{C183D7F6-B498-43B3-948B-1728B52AA6E4}">
                <adec:decorative xmlns:adec="http://schemas.microsoft.com/office/drawing/2017/decorative" val="1"/>
              </a:ext>
            </a:extLst>
          </p:cNvPr>
          <p:cNvSpPr/>
          <p:nvPr/>
        </p:nvSpPr>
        <p:spPr>
          <a:xfrm>
            <a:off x="2615184" y="1481328"/>
            <a:ext cx="1801368" cy="804672"/>
          </a:xfrm>
          <a:prstGeom prst="rect">
            <a:avLst/>
          </a:prstGeom>
          <a:solidFill>
            <a:srgbClr val="E4F3FB"/>
          </a:solidFill>
          <a:ln w="12700">
            <a:solidFill>
              <a:srgbClr val="17A9DB"/>
            </a:solidFill>
            <a:prstDash val="solid"/>
          </a:ln>
        </p:spPr>
        <p:txBody>
          <a:bodyPr/>
          <a:lstStyle/>
          <a:p>
            <a:endParaRPr lang="en-IN"/>
          </a:p>
        </p:txBody>
      </p:sp>
      <p:sp>
        <p:nvSpPr>
          <p:cNvPr id="12" name="Text 10"/>
          <p:cNvSpPr/>
          <p:nvPr/>
        </p:nvSpPr>
        <p:spPr>
          <a:xfrm>
            <a:off x="2706624"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2 · Scan and push</a:t>
            </a:r>
            <a:endParaRPr lang="en-US" sz="1050"/>
          </a:p>
        </p:txBody>
      </p:sp>
      <p:sp>
        <p:nvSpPr>
          <p:cNvPr id="13" name="Text 11"/>
          <p:cNvSpPr/>
          <p:nvPr/>
        </p:nvSpPr>
        <p:spPr>
          <a:xfrm>
            <a:off x="2724912" y="1901952"/>
            <a:ext cx="1581912" cy="292608"/>
          </a:xfrm>
          <a:prstGeom prst="rect">
            <a:avLst/>
          </a:prstGeom>
          <a:noFill/>
          <a:ln/>
        </p:spPr>
        <p:txBody>
          <a:bodyPr wrap="square" lIns="0" tIns="0" rIns="0" bIns="0" rtlCol="0" anchor="t"/>
          <a:lstStyle/>
          <a:p>
            <a:pPr marL="0" indent="0" algn="ctr">
              <a:lnSpc>
                <a:spcPct val="110000"/>
              </a:lnSpc>
              <a:buNone/>
            </a:pPr>
            <a:r>
              <a:rPr lang="en-US" sz="650">
                <a:solidFill>
                  <a:srgbClr val="44566B"/>
                </a:solidFill>
                <a:latin typeface="Segoe UI" pitchFamily="34" charset="0"/>
                <a:ea typeface="Segoe UI" pitchFamily="34" charset="-122"/>
                <a:cs typeface="Segoe UI" pitchFamily="34" charset="-120"/>
              </a:rPr>
              <a:t>The image is scanned, tagged with the commit SHA, and pushed to Azure Container Registry.</a:t>
            </a:r>
            <a:endParaRPr lang="en-US" sz="850"/>
          </a:p>
        </p:txBody>
      </p:sp>
      <p:sp>
        <p:nvSpPr>
          <p:cNvPr id="14" name="flow arrow">
            <a:extLst>
              <a:ext uri="{C183D7F6-B498-43B3-948B-1728B52AA6E4}">
                <adec:decorative xmlns:adec="http://schemas.microsoft.com/office/drawing/2017/decorative" val="1"/>
              </a:ext>
            </a:extLst>
          </p:cNvPr>
          <p:cNvSpPr/>
          <p:nvPr/>
        </p:nvSpPr>
        <p:spPr>
          <a:xfrm>
            <a:off x="4471416"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5" name="step box">
            <a:extLst>
              <a:ext uri="{C183D7F6-B498-43B3-948B-1728B52AA6E4}">
                <adec:decorative xmlns:adec="http://schemas.microsoft.com/office/drawing/2017/decorative" val="1"/>
              </a:ext>
            </a:extLst>
          </p:cNvPr>
          <p:cNvSpPr/>
          <p:nvPr/>
        </p:nvSpPr>
        <p:spPr>
          <a:xfrm>
            <a:off x="4727448" y="1481328"/>
            <a:ext cx="1801368" cy="804672"/>
          </a:xfrm>
          <a:prstGeom prst="rect">
            <a:avLst/>
          </a:prstGeom>
          <a:solidFill>
            <a:srgbClr val="EDF4FC"/>
          </a:solidFill>
          <a:ln w="12700">
            <a:solidFill>
              <a:srgbClr val="0B63CE"/>
            </a:solidFill>
            <a:prstDash val="solid"/>
          </a:ln>
        </p:spPr>
        <p:txBody>
          <a:bodyPr/>
          <a:lstStyle/>
          <a:p>
            <a:endParaRPr lang="en-IN"/>
          </a:p>
        </p:txBody>
      </p:sp>
      <p:sp>
        <p:nvSpPr>
          <p:cNvPr id="16" name="Text 14"/>
          <p:cNvSpPr/>
          <p:nvPr/>
        </p:nvSpPr>
        <p:spPr>
          <a:xfrm>
            <a:off x="4818888"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3 · Deploy to the cluster</a:t>
            </a:r>
            <a:endParaRPr lang="en-US" sz="1050"/>
          </a:p>
        </p:txBody>
      </p:sp>
      <p:sp>
        <p:nvSpPr>
          <p:cNvPr id="17" name="Text 15"/>
          <p:cNvSpPr/>
          <p:nvPr/>
        </p:nvSpPr>
        <p:spPr>
          <a:xfrm>
            <a:off x="4837176" y="1901952"/>
            <a:ext cx="1581912" cy="292608"/>
          </a:xfrm>
          <a:prstGeom prst="rect">
            <a:avLst/>
          </a:prstGeom>
          <a:noFill/>
          <a:ln/>
        </p:spPr>
        <p:txBody>
          <a:bodyPr wrap="square" lIns="0" tIns="0" rIns="0" bIns="0" rtlCol="0" anchor="t"/>
          <a:lstStyle/>
          <a:p>
            <a:pPr marL="0" indent="0" algn="ctr">
              <a:lnSpc>
                <a:spcPct val="110000"/>
              </a:lnSpc>
              <a:buNone/>
            </a:pPr>
            <a:r>
              <a:rPr lang="en-US" sz="650">
                <a:solidFill>
                  <a:srgbClr val="44566B"/>
                </a:solidFill>
                <a:latin typeface="Segoe UI" pitchFamily="34" charset="0"/>
                <a:ea typeface="Segoe UI" pitchFamily="34" charset="-122"/>
                <a:cs typeface="Segoe UI" pitchFamily="34" charset="-120"/>
              </a:rPr>
              <a:t>The manifest or Helm chart is applied to the target namespace with the new image tag.</a:t>
            </a:r>
            <a:endParaRPr lang="en-US" sz="850"/>
          </a:p>
        </p:txBody>
      </p:sp>
      <p:sp>
        <p:nvSpPr>
          <p:cNvPr id="18" name="flow arrow">
            <a:extLst>
              <a:ext uri="{C183D7F6-B498-43B3-948B-1728B52AA6E4}">
                <adec:decorative xmlns:adec="http://schemas.microsoft.com/office/drawing/2017/decorative" val="1"/>
              </a:ext>
            </a:extLst>
          </p:cNvPr>
          <p:cNvSpPr/>
          <p:nvPr/>
        </p:nvSpPr>
        <p:spPr>
          <a:xfrm>
            <a:off x="6583680" y="1783080"/>
            <a:ext cx="201168" cy="201168"/>
          </a:xfrm>
          <a:prstGeom prst="rightArrow">
            <a:avLst/>
          </a:prstGeom>
          <a:solidFill>
            <a:srgbClr val="17A9DB"/>
          </a:solidFill>
          <a:ln w="12700">
            <a:solidFill>
              <a:srgbClr val="333333"/>
            </a:solidFill>
            <a:prstDash val="solid"/>
          </a:ln>
        </p:spPr>
        <p:txBody>
          <a:bodyPr/>
          <a:lstStyle/>
          <a:p>
            <a:endParaRPr lang="en-IN"/>
          </a:p>
        </p:txBody>
      </p:sp>
      <p:sp>
        <p:nvSpPr>
          <p:cNvPr id="19" name="step box">
            <a:extLst>
              <a:ext uri="{C183D7F6-B498-43B3-948B-1728B52AA6E4}">
                <adec:decorative xmlns:adec="http://schemas.microsoft.com/office/drawing/2017/decorative" val="1"/>
              </a:ext>
            </a:extLst>
          </p:cNvPr>
          <p:cNvSpPr/>
          <p:nvPr/>
        </p:nvSpPr>
        <p:spPr>
          <a:xfrm>
            <a:off x="6839712" y="1481328"/>
            <a:ext cx="1801368" cy="804672"/>
          </a:xfrm>
          <a:prstGeom prst="rect">
            <a:avLst/>
          </a:prstGeom>
          <a:solidFill>
            <a:srgbClr val="E8F6EF"/>
          </a:solidFill>
          <a:ln w="12700">
            <a:solidFill>
              <a:srgbClr val="2E9E6B"/>
            </a:solidFill>
            <a:prstDash val="solid"/>
          </a:ln>
        </p:spPr>
        <p:txBody>
          <a:bodyPr/>
          <a:lstStyle/>
          <a:p>
            <a:endParaRPr lang="en-IN"/>
          </a:p>
        </p:txBody>
      </p:sp>
      <p:sp>
        <p:nvSpPr>
          <p:cNvPr id="20" name="Text 18"/>
          <p:cNvSpPr/>
          <p:nvPr/>
        </p:nvSpPr>
        <p:spPr>
          <a:xfrm>
            <a:off x="6931152" y="1591056"/>
            <a:ext cx="1618488" cy="310896"/>
          </a:xfrm>
          <a:prstGeom prst="rect">
            <a:avLst/>
          </a:prstGeom>
          <a:noFill/>
          <a:ln/>
        </p:spPr>
        <p:txBody>
          <a:bodyPr wrap="square" lIns="0" tIns="0" rIns="0" bIns="0" rtlCol="0" anchor="ctr"/>
          <a:lstStyle/>
          <a:p>
            <a:pPr marL="0" indent="0" algn="ctr">
              <a:buNone/>
            </a:pPr>
            <a:r>
              <a:rPr lang="en-US" sz="1050" b="1">
                <a:solidFill>
                  <a:srgbClr val="0E2233"/>
                </a:solidFill>
                <a:latin typeface="Segoe UI" pitchFamily="34" charset="0"/>
                <a:ea typeface="Segoe UI" pitchFamily="34" charset="-122"/>
                <a:cs typeface="Segoe UI" pitchFamily="34" charset="-120"/>
              </a:rPr>
              <a:t>4 · Verify and promote</a:t>
            </a:r>
            <a:endParaRPr lang="en-US" sz="1050"/>
          </a:p>
        </p:txBody>
      </p:sp>
      <p:sp>
        <p:nvSpPr>
          <p:cNvPr id="21" name="Text 19"/>
          <p:cNvSpPr/>
          <p:nvPr/>
        </p:nvSpPr>
        <p:spPr>
          <a:xfrm>
            <a:off x="6949440" y="1901952"/>
            <a:ext cx="1581912" cy="292608"/>
          </a:xfrm>
          <a:prstGeom prst="rect">
            <a:avLst/>
          </a:prstGeom>
          <a:noFill/>
          <a:ln/>
        </p:spPr>
        <p:txBody>
          <a:bodyPr wrap="square" lIns="0" tIns="0" rIns="0" bIns="0" rtlCol="0" anchor="t"/>
          <a:lstStyle/>
          <a:p>
            <a:pPr marL="0" indent="0" algn="ctr">
              <a:lnSpc>
                <a:spcPct val="110000"/>
              </a:lnSpc>
              <a:buNone/>
            </a:pPr>
            <a:r>
              <a:rPr lang="en-US" sz="650">
                <a:solidFill>
                  <a:srgbClr val="44566B"/>
                </a:solidFill>
                <a:latin typeface="Segoe UI" pitchFamily="34" charset="0"/>
                <a:ea typeface="Segoe UI" pitchFamily="34" charset="-122"/>
                <a:cs typeface="Segoe UI" pitchFamily="34" charset="-120"/>
              </a:rPr>
              <a:t>Rollout status and smoke tests decide whether the same image moves on to the next environment.</a:t>
            </a:r>
            <a:endParaRPr lang="en-US" sz="850"/>
          </a:p>
        </p:txBody>
      </p:sp>
      <p:sp>
        <p:nvSpPr>
          <p:cNvPr id="22" name="code panel">
            <a:extLst>
              <a:ext uri="{C183D7F6-B498-43B3-948B-1728B52AA6E4}">
                <adec:decorative xmlns:adec="http://schemas.microsoft.com/office/drawing/2017/decorative" val="1"/>
              </a:ext>
            </a:extLst>
          </p:cNvPr>
          <p:cNvSpPr/>
          <p:nvPr/>
        </p:nvSpPr>
        <p:spPr>
          <a:xfrm>
            <a:off x="502920" y="2395728"/>
            <a:ext cx="4023360" cy="16824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3" name="code panel header">
            <a:extLst>
              <a:ext uri="{C183D7F6-B498-43B3-948B-1728B52AA6E4}">
                <adec:decorative xmlns:adec="http://schemas.microsoft.com/office/drawing/2017/decorative" val="1"/>
              </a:ext>
            </a:extLst>
          </p:cNvPr>
          <p:cNvSpPr/>
          <p:nvPr/>
        </p:nvSpPr>
        <p:spPr>
          <a:xfrm>
            <a:off x="502920" y="2395728"/>
            <a:ext cx="4023360" cy="256032"/>
          </a:xfrm>
          <a:prstGeom prst="rect">
            <a:avLst/>
          </a:prstGeom>
          <a:solidFill>
            <a:srgbClr val="0F3D66"/>
          </a:solidFill>
          <a:ln w="12700">
            <a:solidFill>
              <a:srgbClr val="333333"/>
            </a:solidFill>
            <a:prstDash val="solid"/>
          </a:ln>
        </p:spPr>
        <p:txBody>
          <a:bodyPr/>
          <a:lstStyle/>
          <a:p>
            <a:endParaRPr lang="en-IN"/>
          </a:p>
        </p:txBody>
      </p:sp>
      <p:sp>
        <p:nvSpPr>
          <p:cNvPr id="24" name="Text 22"/>
          <p:cNvSpPr/>
          <p:nvPr/>
        </p:nvSpPr>
        <p:spPr>
          <a:xfrm>
            <a:off x="649224" y="2395728"/>
            <a:ext cx="373075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pipeline steps</a:t>
            </a:r>
            <a:endParaRPr lang="en-US" sz="850"/>
          </a:p>
        </p:txBody>
      </p:sp>
      <p:sp>
        <p:nvSpPr>
          <p:cNvPr id="25" name="Text 23"/>
          <p:cNvSpPr/>
          <p:nvPr/>
        </p:nvSpPr>
        <p:spPr>
          <a:xfrm>
            <a:off x="649224" y="2724912"/>
            <a:ext cx="3730752" cy="1207008"/>
          </a:xfrm>
          <a:prstGeom prst="rect">
            <a:avLst/>
          </a:prstGeom>
          <a:noFill/>
          <a:ln/>
        </p:spPr>
        <p:txBody>
          <a:bodyPr wrap="square" lIns="0" tIns="0" rIns="0" bIns="0" rtlCol="0" anchor="t"/>
          <a:lstStyle/>
          <a:p>
            <a:pPr marL="0" indent="0">
              <a:lnSpc>
                <a:spcPct val="112000"/>
              </a:lnSpc>
              <a:buNone/>
            </a:pPr>
            <a:r>
              <a:rPr lang="en-US" sz="707">
                <a:solidFill>
                  <a:srgbClr val="7FA9C6"/>
                </a:solidFill>
                <a:latin typeface="Consolas" pitchFamily="34" charset="0"/>
                <a:ea typeface="Consolas" pitchFamily="34" charset="-122"/>
                <a:cs typeface="Consolas" pitchFamily="34" charset="-120"/>
              </a:rPr>
              <a:t># build and push, tagged by commit</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az acr build -r acrcontoso \</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  -t payments-api:$(git rev-parse --short HEAD) .</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 </a:t>
            </a:r>
            <a:endParaRPr lang="en-US" sz="707"/>
          </a:p>
          <a:p>
            <a:pPr marL="0" indent="0">
              <a:lnSpc>
                <a:spcPct val="112000"/>
              </a:lnSpc>
              <a:buNone/>
            </a:pPr>
            <a:r>
              <a:rPr lang="en-US" sz="707">
                <a:solidFill>
                  <a:srgbClr val="7FA9C6"/>
                </a:solidFill>
                <a:latin typeface="Consolas" pitchFamily="34" charset="0"/>
                <a:ea typeface="Consolas" pitchFamily="34" charset="-122"/>
                <a:cs typeface="Consolas" pitchFamily="34" charset="-120"/>
              </a:rPr>
              <a:t># deploy that exact tag</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kubectl set image deploy/payments-api \</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  api=acrcontoso.azurecr.io/payments-api:abc1234 \</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  -n payments</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 </a:t>
            </a:r>
            <a:endParaRPr lang="en-US" sz="707"/>
          </a:p>
          <a:p>
            <a:pPr marL="0" indent="0">
              <a:lnSpc>
                <a:spcPct val="112000"/>
              </a:lnSpc>
              <a:buNone/>
            </a:pPr>
            <a:r>
              <a:rPr lang="en-US" sz="707">
                <a:solidFill>
                  <a:srgbClr val="7FA9C6"/>
                </a:solidFill>
                <a:latin typeface="Consolas" pitchFamily="34" charset="0"/>
                <a:ea typeface="Consolas" pitchFamily="34" charset="-122"/>
                <a:cs typeface="Consolas" pitchFamily="34" charset="-120"/>
              </a:rPr>
              <a:t># confirm the rollout finished</a:t>
            </a:r>
            <a:endParaRPr lang="en-US" sz="707"/>
          </a:p>
          <a:p>
            <a:pPr marL="0" indent="0">
              <a:lnSpc>
                <a:spcPct val="112000"/>
              </a:lnSpc>
              <a:buNone/>
            </a:pPr>
            <a:r>
              <a:rPr lang="en-US" sz="707">
                <a:solidFill>
                  <a:srgbClr val="D7ECF8"/>
                </a:solidFill>
                <a:latin typeface="Consolas" pitchFamily="34" charset="0"/>
                <a:ea typeface="Consolas" pitchFamily="34" charset="-122"/>
                <a:cs typeface="Consolas" pitchFamily="34" charset="-120"/>
              </a:rPr>
              <a:t>kubectl rollout status deploy/payments-api -n payments</a:t>
            </a:r>
            <a:endParaRPr lang="en-US" sz="707"/>
          </a:p>
        </p:txBody>
      </p:sp>
      <p:sp>
        <p:nvSpPr>
          <p:cNvPr id="26" name="code panel">
            <a:extLst>
              <a:ext uri="{C183D7F6-B498-43B3-948B-1728B52AA6E4}">
                <adec:decorative xmlns:adec="http://schemas.microsoft.com/office/drawing/2017/decorative" val="1"/>
              </a:ext>
            </a:extLst>
          </p:cNvPr>
          <p:cNvSpPr/>
          <p:nvPr/>
        </p:nvSpPr>
        <p:spPr>
          <a:xfrm>
            <a:off x="4709160" y="2395728"/>
            <a:ext cx="3931920" cy="1682496"/>
          </a:xfrm>
          <a:prstGeom prst="rect">
            <a:avLst/>
          </a:prstGeom>
          <a:solidFill>
            <a:srgbClr val="0A2E4E"/>
          </a:solidFill>
          <a:ln w="12700">
            <a:solidFill>
              <a:srgbClr val="333333"/>
            </a:solidFill>
            <a:prstDash val="solid"/>
          </a:ln>
          <a:effectLst>
            <a:outerShdw blurRad="101600" dist="19050" dir="5400000" algn="bl" rotWithShape="0">
              <a:srgbClr val="0A2E4E">
                <a:alpha val="10000"/>
              </a:srgbClr>
            </a:outerShdw>
          </a:effectLst>
        </p:spPr>
        <p:txBody>
          <a:bodyPr/>
          <a:lstStyle/>
          <a:p>
            <a:endParaRPr lang="en-IN"/>
          </a:p>
        </p:txBody>
      </p:sp>
      <p:sp>
        <p:nvSpPr>
          <p:cNvPr id="27" name="code panel header">
            <a:extLst>
              <a:ext uri="{C183D7F6-B498-43B3-948B-1728B52AA6E4}">
                <adec:decorative xmlns:adec="http://schemas.microsoft.com/office/drawing/2017/decorative" val="1"/>
              </a:ext>
            </a:extLst>
          </p:cNvPr>
          <p:cNvSpPr/>
          <p:nvPr/>
        </p:nvSpPr>
        <p:spPr>
          <a:xfrm>
            <a:off x="4709160" y="2395728"/>
            <a:ext cx="3931920" cy="256032"/>
          </a:xfrm>
          <a:prstGeom prst="rect">
            <a:avLst/>
          </a:prstGeom>
          <a:solidFill>
            <a:srgbClr val="0F3D66"/>
          </a:solidFill>
          <a:ln w="12700">
            <a:solidFill>
              <a:srgbClr val="333333"/>
            </a:solidFill>
            <a:prstDash val="solid"/>
          </a:ln>
        </p:spPr>
        <p:txBody>
          <a:bodyPr/>
          <a:lstStyle/>
          <a:p>
            <a:endParaRPr lang="en-IN"/>
          </a:p>
        </p:txBody>
      </p:sp>
      <p:sp>
        <p:nvSpPr>
          <p:cNvPr id="28" name="Text 26"/>
          <p:cNvSpPr/>
          <p:nvPr/>
        </p:nvSpPr>
        <p:spPr>
          <a:xfrm>
            <a:off x="4855464" y="2395728"/>
            <a:ext cx="3639312" cy="256032"/>
          </a:xfrm>
          <a:prstGeom prst="rect">
            <a:avLst/>
          </a:prstGeom>
          <a:noFill/>
          <a:ln/>
        </p:spPr>
        <p:txBody>
          <a:bodyPr wrap="square" lIns="0" tIns="0" rIns="0" bIns="0" rtlCol="0" anchor="ctr"/>
          <a:lstStyle/>
          <a:p>
            <a:pPr marL="0" indent="0">
              <a:buNone/>
            </a:pPr>
            <a:r>
              <a:rPr lang="en-US" sz="850" b="1" kern="0" spc="120">
                <a:solidFill>
                  <a:srgbClr val="17A9DB"/>
                </a:solidFill>
                <a:latin typeface="Segoe UI" pitchFamily="34" charset="0"/>
                <a:ea typeface="Segoe UI" pitchFamily="34" charset="-122"/>
                <a:cs typeface="Segoe UI" pitchFamily="34" charset="-120"/>
              </a:rPr>
              <a:t>Watch out</a:t>
            </a:r>
            <a:endParaRPr lang="en-US" sz="850"/>
          </a:p>
        </p:txBody>
      </p:sp>
      <p:sp>
        <p:nvSpPr>
          <p:cNvPr id="29" name="Text 27"/>
          <p:cNvSpPr/>
          <p:nvPr/>
        </p:nvSpPr>
        <p:spPr>
          <a:xfrm>
            <a:off x="4855464" y="2724912"/>
            <a:ext cx="3639312" cy="1207008"/>
          </a:xfrm>
          <a:prstGeom prst="rect">
            <a:avLst/>
          </a:prstGeom>
          <a:noFill/>
          <a:ln/>
        </p:spPr>
        <p:txBody>
          <a:bodyPr wrap="square" lIns="0" tIns="0" rIns="0" bIns="0" rtlCol="0" anchor="t"/>
          <a:lstStyle/>
          <a:p>
            <a:pPr marL="0" indent="0">
              <a:lnSpc>
                <a:spcPct val="112000"/>
              </a:lnSpc>
              <a:buNone/>
            </a:pPr>
            <a:r>
              <a:rPr lang="en-US" sz="1050">
                <a:solidFill>
                  <a:srgbClr val="D7ECF8"/>
                </a:solidFill>
                <a:latin typeface="Consolas" pitchFamily="34" charset="0"/>
                <a:ea typeface="Consolas" pitchFamily="34" charset="-122"/>
                <a:cs typeface="Consolas" pitchFamily="34" charset="-120"/>
              </a:rPr>
              <a:t>Never deploy the latest tag from a pipeline. An immutable tag is what makes a rollback exact and repeatable.</a:t>
            </a:r>
            <a:endParaRPr lang="en-US" sz="1050"/>
          </a:p>
        </p:txBody>
      </p:sp>
      <p:sp>
        <p:nvSpPr>
          <p:cNvPr id="30"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201168"/>
          </a:xfrm>
          <a:prstGeom prst="rect">
            <a:avLst/>
          </a:prstGeom>
          <a:noFill/>
          <a:ln/>
        </p:spPr>
        <p:txBody>
          <a:bodyPr wrap="square" lIns="0" tIns="0" rIns="0" bIns="0" rtlCol="0" anchor="ctr"/>
          <a:lstStyle/>
          <a:p>
            <a:pPr marL="0" indent="0">
              <a:buNone/>
            </a:pPr>
            <a:r>
              <a:rPr lang="en-US" sz="950" b="1" kern="0" spc="160">
                <a:solidFill>
                  <a:srgbClr val="0B63CE"/>
                </a:solidFill>
                <a:latin typeface="Segoe UI" pitchFamily="34" charset="0"/>
                <a:ea typeface="Segoe UI" pitchFamily="34" charset="-122"/>
                <a:cs typeface="Segoe UI" pitchFamily="34" charset="-120"/>
              </a:rPr>
              <a:t>MODULE 12 · CI/CD FOR AKS APPLICATIONS</a:t>
            </a:r>
            <a:endParaRPr lang="en-US" sz="950"/>
          </a:p>
        </p:txBody>
      </p:sp>
      <p:sp>
        <p:nvSpPr>
          <p:cNvPr id="3" name="Text 1"/>
          <p:cNvSpPr/>
          <p:nvPr/>
        </p:nvSpPr>
        <p:spPr>
          <a:xfrm>
            <a:off x="502920" y="475488"/>
            <a:ext cx="8138160" cy="420624"/>
          </a:xfrm>
          <a:prstGeom prst="rect">
            <a:avLst/>
          </a:prstGeom>
          <a:noFill/>
          <a:ln/>
        </p:spPr>
        <p:txBody>
          <a:bodyPr wrap="square" lIns="0" tIns="0" rIns="0" bIns="0" rtlCol="0" anchor="ctr"/>
          <a:lstStyle/>
          <a:p>
            <a:pPr marL="0" indent="0">
              <a:buNone/>
            </a:pPr>
            <a:r>
              <a:rPr lang="en-US" sz="2300" b="1">
                <a:solidFill>
                  <a:srgbClr val="0E2233"/>
                </a:solidFill>
                <a:latin typeface="Segoe UI" pitchFamily="34" charset="0"/>
                <a:ea typeface="Segoe UI" pitchFamily="34" charset="-122"/>
                <a:cs typeface="Segoe UI" pitchFamily="34" charset="-120"/>
              </a:rPr>
              <a:t>GitOps with Argo CD</a:t>
            </a:r>
            <a:endParaRPr lang="en-US" sz="2300"/>
          </a:p>
        </p:txBody>
      </p:sp>
      <p:sp>
        <p:nvSpPr>
          <p:cNvPr id="4" name="title rule">
            <a:extLst>
              <a:ext uri="{C183D7F6-B498-43B3-948B-1728B52AA6E4}">
                <adec:decorative xmlns:adec="http://schemas.microsoft.com/office/drawing/2017/decorative" val="1"/>
              </a:ext>
            </a:extLst>
          </p:cNvPr>
          <p:cNvSpPr/>
          <p:nvPr/>
        </p:nvSpPr>
        <p:spPr>
          <a:xfrm>
            <a:off x="502920" y="969264"/>
            <a:ext cx="548640" cy="27432"/>
          </a:xfrm>
          <a:prstGeom prst="rect">
            <a:avLst/>
          </a:prstGeom>
          <a:solidFill>
            <a:srgbClr val="17A9DB"/>
          </a:solidFill>
          <a:ln w="12700">
            <a:solidFill>
              <a:srgbClr val="333333"/>
            </a:solidFill>
            <a:prstDash val="solid"/>
          </a:ln>
        </p:spPr>
        <p:txBody>
          <a:bodyPr/>
          <a:lstStyle/>
          <a:p>
            <a:endParaRPr lang="en-IN"/>
          </a:p>
        </p:txBody>
      </p:sp>
      <p:sp>
        <p:nvSpPr>
          <p:cNvPr id="5" name="title rule light">
            <a:extLst>
              <a:ext uri="{C183D7F6-B498-43B3-948B-1728B52AA6E4}">
                <adec:decorative xmlns:adec="http://schemas.microsoft.com/office/drawing/2017/decorative" val="1"/>
              </a:ext>
            </a:extLst>
          </p:cNvPr>
          <p:cNvSpPr/>
          <p:nvPr/>
        </p:nvSpPr>
        <p:spPr>
          <a:xfrm>
            <a:off x="1051560" y="980237"/>
            <a:ext cx="7589520" cy="5486"/>
          </a:xfrm>
          <a:prstGeom prst="rect">
            <a:avLst/>
          </a:prstGeom>
          <a:solidFill>
            <a:srgbClr val="D8E5F2"/>
          </a:solidFill>
          <a:ln w="12700">
            <a:solidFill>
              <a:srgbClr val="333333"/>
            </a:solidFill>
            <a:prstDash val="solid"/>
          </a:ln>
        </p:spPr>
        <p:txBody>
          <a:bodyPr/>
          <a:lstStyle/>
          <a:p>
            <a:endParaRPr lang="en-IN"/>
          </a:p>
        </p:txBody>
      </p:sp>
      <p:sp>
        <p:nvSpPr>
          <p:cNvPr id="6" name="Text 4"/>
          <p:cNvSpPr/>
          <p:nvPr/>
        </p:nvSpPr>
        <p:spPr>
          <a:xfrm>
            <a:off x="502920" y="1060704"/>
            <a:ext cx="8138160" cy="274320"/>
          </a:xfrm>
          <a:prstGeom prst="rect">
            <a:avLst/>
          </a:prstGeom>
          <a:noFill/>
          <a:ln/>
        </p:spPr>
        <p:txBody>
          <a:bodyPr wrap="square" lIns="0" tIns="0" rIns="0" bIns="0" rtlCol="0" anchor="ctr"/>
          <a:lstStyle/>
          <a:p>
            <a:pPr marL="0" indent="0">
              <a:buNone/>
            </a:pPr>
            <a:r>
              <a:rPr lang="en-US" sz="1150">
                <a:solidFill>
                  <a:srgbClr val="44566B"/>
                </a:solidFill>
                <a:latin typeface="Segoe UI" pitchFamily="34" charset="0"/>
                <a:ea typeface="Segoe UI" pitchFamily="34" charset="-122"/>
                <a:cs typeface="Segoe UI" pitchFamily="34" charset="-120"/>
              </a:rPr>
              <a:t>Git holds the desired state; an agent inside the cluster makes reality match it, and keeps it matching.</a:t>
            </a:r>
            <a:endParaRPr lang="en-US" sz="1150"/>
          </a:p>
        </p:txBody>
      </p:sp>
      <p:sp>
        <p:nvSpPr>
          <p:cNvPr id="7" name="client box">
            <a:extLst>
              <a:ext uri="{C183D7F6-B498-43B3-948B-1728B52AA6E4}">
                <adec:decorative xmlns:adec="http://schemas.microsoft.com/office/drawing/2017/decorative" val="1"/>
              </a:ext>
            </a:extLst>
          </p:cNvPr>
          <p:cNvSpPr/>
          <p:nvPr/>
        </p:nvSpPr>
        <p:spPr>
          <a:xfrm>
            <a:off x="502920" y="1737360"/>
            <a:ext cx="1737360" cy="868680"/>
          </a:xfrm>
          <a:prstGeom prst="rect">
            <a:avLst/>
          </a:prstGeom>
          <a:solidFill>
            <a:srgbClr val="F6F9FD"/>
          </a:solidFill>
          <a:ln w="12700">
            <a:solidFill>
              <a:srgbClr val="D8E5F2"/>
            </a:solidFill>
            <a:prstDash val="solid"/>
          </a:ln>
        </p:spPr>
        <p:txBody>
          <a:bodyPr/>
          <a:lstStyle/>
          <a:p>
            <a:endParaRPr lang="en-IN"/>
          </a:p>
        </p:txBody>
      </p:sp>
      <p:sp>
        <p:nvSpPr>
          <p:cNvPr id="8" name="Text 6"/>
          <p:cNvSpPr/>
          <p:nvPr/>
        </p:nvSpPr>
        <p:spPr>
          <a:xfrm>
            <a:off x="502920" y="1810512"/>
            <a:ext cx="1737360" cy="274320"/>
          </a:xfrm>
          <a:prstGeom prst="rect">
            <a:avLst/>
          </a:prstGeom>
          <a:noFill/>
          <a:ln/>
        </p:spPr>
        <p:txBody>
          <a:bodyPr wrap="square" lIns="0" tIns="0" rIns="0" bIns="0" rtlCol="0" anchor="ctr"/>
          <a:lstStyle/>
          <a:p>
            <a:pPr marL="0" indent="0" algn="ctr">
              <a:buNone/>
            </a:pPr>
            <a:r>
              <a:rPr lang="en-US" sz="1200" b="1">
                <a:solidFill>
                  <a:srgbClr val="0E2233"/>
                </a:solidFill>
                <a:latin typeface="Segoe UI" pitchFamily="34" charset="0"/>
                <a:ea typeface="Segoe UI" pitchFamily="34" charset="-122"/>
                <a:cs typeface="Segoe UI" pitchFamily="34" charset="-120"/>
              </a:rPr>
              <a:t>Git repository</a:t>
            </a:r>
            <a:endParaRPr lang="en-US" sz="1200"/>
          </a:p>
        </p:txBody>
      </p:sp>
      <p:sp>
        <p:nvSpPr>
          <p:cNvPr id="9" name="Text 7"/>
          <p:cNvSpPr/>
          <p:nvPr/>
        </p:nvSpPr>
        <p:spPr>
          <a:xfrm>
            <a:off x="548640" y="2084832"/>
            <a:ext cx="1645920" cy="457200"/>
          </a:xfrm>
          <a:prstGeom prst="rect">
            <a:avLst/>
          </a:prstGeom>
          <a:noFill/>
          <a:ln/>
        </p:spPr>
        <p:txBody>
          <a:bodyPr wrap="square" lIns="0" tIns="0" rIns="0" bIns="0" rtlCol="0" anchor="t"/>
          <a:lstStyle/>
          <a:p>
            <a:pPr marL="0" indent="0" algn="ctr">
              <a:buNone/>
            </a:pPr>
            <a:r>
              <a:rPr lang="en-US" sz="900">
                <a:solidFill>
                  <a:srgbClr val="44566B"/>
                </a:solidFill>
                <a:latin typeface="Segoe UI" pitchFamily="34" charset="0"/>
                <a:ea typeface="Segoe UI" pitchFamily="34" charset="-122"/>
                <a:cs typeface="Segoe UI" pitchFamily="34" charset="-120"/>
              </a:rPr>
              <a:t>manifests, the single</a:t>
            </a:r>
            <a:endParaRPr lang="en-US" sz="900"/>
          </a:p>
          <a:p>
            <a:pPr marL="0" indent="0" algn="ctr">
              <a:buNone/>
            </a:pPr>
            <a:r>
              <a:rPr lang="en-US" sz="900">
                <a:solidFill>
                  <a:srgbClr val="44566B"/>
                </a:solidFill>
                <a:latin typeface="Segoe UI" pitchFamily="34" charset="0"/>
                <a:ea typeface="Segoe UI" pitchFamily="34" charset="-122"/>
                <a:cs typeface="Segoe UI" pitchFamily="34" charset="-120"/>
              </a:rPr>
              <a:t>source of truth</a:t>
            </a:r>
            <a:endParaRPr lang="en-US" sz="900"/>
          </a:p>
        </p:txBody>
      </p:sp>
      <p:sp>
        <p:nvSpPr>
          <p:cNvPr id="10" name="flow arrow">
            <a:extLst>
              <a:ext uri="{C183D7F6-B498-43B3-948B-1728B52AA6E4}">
                <adec:decorative xmlns:adec="http://schemas.microsoft.com/office/drawing/2017/decorative" val="1"/>
              </a:ext>
            </a:extLst>
          </p:cNvPr>
          <p:cNvSpPr/>
          <p:nvPr/>
        </p:nvSpPr>
        <p:spPr>
          <a:xfrm>
            <a:off x="2331720" y="2084832"/>
            <a:ext cx="548640" cy="201168"/>
          </a:xfrm>
          <a:prstGeom prst="rightArrow">
            <a:avLst/>
          </a:prstGeom>
          <a:solidFill>
            <a:srgbClr val="17A9DB"/>
          </a:solidFill>
          <a:ln w="12700">
            <a:solidFill>
              <a:srgbClr val="333333"/>
            </a:solidFill>
            <a:prstDash val="solid"/>
          </a:ln>
        </p:spPr>
        <p:txBody>
          <a:bodyPr/>
          <a:lstStyle/>
          <a:p>
            <a:endParaRPr lang="en-IN"/>
          </a:p>
        </p:txBody>
      </p:sp>
      <p:sp>
        <p:nvSpPr>
          <p:cNvPr id="11" name="service box">
            <a:extLst>
              <a:ext uri="{C183D7F6-B498-43B3-948B-1728B52AA6E4}">
                <adec:decorative xmlns:adec="http://schemas.microsoft.com/office/drawing/2017/decorative" val="1"/>
              </a:ext>
            </a:extLst>
          </p:cNvPr>
          <p:cNvSpPr/>
          <p:nvPr/>
        </p:nvSpPr>
        <p:spPr>
          <a:xfrm>
            <a:off x="2971800" y="1600200"/>
            <a:ext cx="2377440" cy="1417320"/>
          </a:xfrm>
          <a:prstGeom prst="rect">
            <a:avLst/>
          </a:prstGeom>
          <a:solidFill>
            <a:srgbClr val="0A2E4E"/>
          </a:solidFill>
          <a:ln w="12700">
            <a:solidFill>
              <a:srgbClr val="333333"/>
            </a:solidFill>
            <a:prstDash val="solid"/>
          </a:ln>
        </p:spPr>
        <p:txBody>
          <a:bodyPr/>
          <a:lstStyle/>
          <a:p>
            <a:endParaRPr lang="en-IN"/>
          </a:p>
        </p:txBody>
      </p:sp>
      <p:sp>
        <p:nvSpPr>
          <p:cNvPr id="12" name="Text 10"/>
          <p:cNvSpPr/>
          <p:nvPr/>
        </p:nvSpPr>
        <p:spPr>
          <a:xfrm>
            <a:off x="2971800" y="1691640"/>
            <a:ext cx="2377440" cy="274320"/>
          </a:xfrm>
          <a:prstGeom prst="rect">
            <a:avLst/>
          </a:prstGeom>
          <a:noFill/>
          <a:ln/>
        </p:spPr>
        <p:txBody>
          <a:bodyPr wrap="square" lIns="0" tIns="0" rIns="0" bIns="0" rtlCol="0" anchor="ctr"/>
          <a:lstStyle/>
          <a:p>
            <a:pPr marL="0" indent="0" algn="ctr">
              <a:buNone/>
            </a:pPr>
            <a:r>
              <a:rPr lang="en-US" sz="1300" b="1">
                <a:solidFill>
                  <a:srgbClr val="FFFFFF"/>
                </a:solidFill>
                <a:latin typeface="Segoe UI" pitchFamily="34" charset="0"/>
                <a:ea typeface="Segoe UI" pitchFamily="34" charset="-122"/>
                <a:cs typeface="Segoe UI" pitchFamily="34" charset="-120"/>
              </a:rPr>
              <a:t>Argo CD</a:t>
            </a:r>
            <a:endParaRPr lang="en-US" sz="1300"/>
          </a:p>
        </p:txBody>
      </p:sp>
      <p:sp>
        <p:nvSpPr>
          <p:cNvPr id="13" name="Text 11"/>
          <p:cNvSpPr/>
          <p:nvPr/>
        </p:nvSpPr>
        <p:spPr>
          <a:xfrm>
            <a:off x="2971800" y="1965960"/>
            <a:ext cx="2377440" cy="237744"/>
          </a:xfrm>
          <a:prstGeom prst="rect">
            <a:avLst/>
          </a:prstGeom>
          <a:noFill/>
          <a:ln/>
        </p:spPr>
        <p:txBody>
          <a:bodyPr wrap="square" lIns="0" tIns="0" rIns="0" bIns="0" rtlCol="0" anchor="ctr"/>
          <a:lstStyle/>
          <a:p>
            <a:pPr marL="0" indent="0" algn="ctr">
              <a:buNone/>
            </a:pPr>
            <a:r>
              <a:rPr lang="en-US" sz="1000">
                <a:solidFill>
                  <a:srgbClr val="17A9DB"/>
                </a:solidFill>
                <a:latin typeface="Consolas" pitchFamily="34" charset="0"/>
                <a:ea typeface="Consolas" pitchFamily="34" charset="-122"/>
                <a:cs typeface="Consolas" pitchFamily="34" charset="-120"/>
              </a:rPr>
              <a:t>runs inside the cluster</a:t>
            </a:r>
            <a:endParaRPr lang="en-US" sz="1000"/>
          </a:p>
        </p:txBody>
      </p:sp>
      <p:sp>
        <p:nvSpPr>
          <p:cNvPr id="14" name="Text 12"/>
          <p:cNvSpPr/>
          <p:nvPr/>
        </p:nvSpPr>
        <p:spPr>
          <a:xfrm>
            <a:off x="3063240" y="2212848"/>
            <a:ext cx="2194560" cy="731520"/>
          </a:xfrm>
          <a:prstGeom prst="rect">
            <a:avLst/>
          </a:prstGeom>
          <a:noFill/>
          <a:ln/>
        </p:spPr>
        <p:txBody>
          <a:bodyPr wrap="square" lIns="0" tIns="0" rIns="0" bIns="0" rtlCol="0" anchor="t"/>
          <a:lstStyle/>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Compares desired state</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with actual state,</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every few minutes, and</a:t>
            </a:r>
            <a:endParaRPr lang="en-US" sz="900"/>
          </a:p>
          <a:p>
            <a:pPr marL="0" indent="0" algn="ctr">
              <a:lnSpc>
                <a:spcPct val="110000"/>
              </a:lnSpc>
              <a:buNone/>
            </a:pPr>
            <a:r>
              <a:rPr lang="en-US" sz="900">
                <a:solidFill>
                  <a:srgbClr val="A9C9E2"/>
                </a:solidFill>
                <a:latin typeface="Segoe UI" pitchFamily="34" charset="0"/>
                <a:ea typeface="Segoe UI" pitchFamily="34" charset="-122"/>
                <a:cs typeface="Segoe UI" pitchFamily="34" charset="-120"/>
              </a:rPr>
              <a:t>applies the difference</a:t>
            </a:r>
            <a:endParaRPr lang="en-US" sz="900"/>
          </a:p>
        </p:txBody>
      </p:sp>
      <p:sp>
        <p:nvSpPr>
          <p:cNvPr id="15" name="flow arrow">
            <a:extLst>
              <a:ext uri="{C183D7F6-B498-43B3-948B-1728B52AA6E4}">
                <adec:decorative xmlns:adec="http://schemas.microsoft.com/office/drawing/2017/decorative" val="1"/>
              </a:ext>
            </a:extLst>
          </p:cNvPr>
          <p:cNvSpPr/>
          <p:nvPr/>
        </p:nvSpPr>
        <p:spPr>
          <a:xfrm>
            <a:off x="5440680" y="2084832"/>
            <a:ext cx="502920" cy="201168"/>
          </a:xfrm>
          <a:prstGeom prst="rightArrow">
            <a:avLst/>
          </a:prstGeom>
          <a:solidFill>
            <a:srgbClr val="17A9DB"/>
          </a:solidFill>
          <a:ln w="12700">
            <a:solidFill>
              <a:srgbClr val="333333"/>
            </a:solidFill>
            <a:prstDash val="solid"/>
          </a:ln>
        </p:spPr>
        <p:txBody>
          <a:bodyPr/>
          <a:lstStyle/>
          <a:p>
            <a:endParaRPr lang="en-IN"/>
          </a:p>
        </p:txBody>
      </p:sp>
      <p:sp>
        <p:nvSpPr>
          <p:cNvPr id="16" name="pod box">
            <a:extLst>
              <a:ext uri="{C183D7F6-B498-43B3-948B-1728B52AA6E4}">
                <adec:decorative xmlns:adec="http://schemas.microsoft.com/office/drawing/2017/decorative" val="1"/>
              </a:ext>
            </a:extLst>
          </p:cNvPr>
          <p:cNvSpPr/>
          <p:nvPr/>
        </p:nvSpPr>
        <p:spPr>
          <a:xfrm>
            <a:off x="6035040" y="1572768"/>
            <a:ext cx="2606040" cy="420624"/>
          </a:xfrm>
          <a:prstGeom prst="rect">
            <a:avLst/>
          </a:prstGeom>
          <a:solidFill>
            <a:srgbClr val="EDF4FC"/>
          </a:solidFill>
          <a:ln w="9525">
            <a:solidFill>
              <a:srgbClr val="0B63CE"/>
            </a:solidFill>
            <a:prstDash val="solid"/>
          </a:ln>
        </p:spPr>
        <p:txBody>
          <a:bodyPr/>
          <a:lstStyle/>
          <a:p>
            <a:endParaRPr lang="en-IN"/>
          </a:p>
        </p:txBody>
      </p:sp>
      <p:sp>
        <p:nvSpPr>
          <p:cNvPr id="17" name="Text 15"/>
          <p:cNvSpPr/>
          <p:nvPr/>
        </p:nvSpPr>
        <p:spPr>
          <a:xfrm>
            <a:off x="6126480" y="1572768"/>
            <a:ext cx="2423160" cy="420624"/>
          </a:xfrm>
          <a:prstGeom prst="rect">
            <a:avLst/>
          </a:prstGeom>
          <a:noFill/>
          <a:ln/>
        </p:spPr>
        <p:txBody>
          <a:bodyPr wrap="square" lIns="0" tIns="0" rIns="0" bIns="0" rtlCol="0" anchor="ctr"/>
          <a:lstStyle/>
          <a:p>
            <a:pPr marL="0" indent="0">
              <a:buNone/>
            </a:pPr>
            <a:r>
              <a:rPr lang="en-US" sz="950" b="1">
                <a:solidFill>
                  <a:srgbClr val="0A2E4E"/>
                </a:solidFill>
                <a:latin typeface="Segoe UI" pitchFamily="34" charset="0"/>
                <a:ea typeface="Segoe UI" pitchFamily="34" charset="-122"/>
                <a:cs typeface="Segoe UI" pitchFamily="34" charset="-120"/>
              </a:rPr>
              <a:t>Cluster  </a:t>
            </a:r>
            <a:r>
              <a:rPr lang="en-US" sz="850">
                <a:solidFill>
                  <a:srgbClr val="44566B"/>
                </a:solidFill>
                <a:latin typeface="Segoe UI" pitchFamily="34" charset="0"/>
                <a:ea typeface="Segoe UI" pitchFamily="34" charset="-122"/>
                <a:cs typeface="Segoe UI" pitchFamily="34" charset="-120"/>
              </a:rPr>
              <a:t>live objects match Git</a:t>
            </a:r>
            <a:endParaRPr lang="en-US" sz="950"/>
          </a:p>
        </p:txBody>
      </p:sp>
      <p:sp>
        <p:nvSpPr>
          <p:cNvPr id="18" name="pod box">
            <a:extLst>
              <a:ext uri="{C183D7F6-B498-43B3-948B-1728B52AA6E4}">
                <adec:decorative xmlns:adec="http://schemas.microsoft.com/office/drawing/2017/decorative" val="1"/>
              </a:ext>
            </a:extLst>
          </p:cNvPr>
          <p:cNvSpPr/>
          <p:nvPr/>
        </p:nvSpPr>
        <p:spPr>
          <a:xfrm>
            <a:off x="6035040" y="2084832"/>
            <a:ext cx="2606040" cy="420624"/>
          </a:xfrm>
          <a:prstGeom prst="rect">
            <a:avLst/>
          </a:prstGeom>
          <a:solidFill>
            <a:srgbClr val="EDF4FC"/>
          </a:solidFill>
          <a:ln w="9525">
            <a:solidFill>
              <a:srgbClr val="0B63CE"/>
            </a:solidFill>
            <a:prstDash val="solid"/>
          </a:ln>
        </p:spPr>
        <p:txBody>
          <a:bodyPr/>
          <a:lstStyle/>
          <a:p>
            <a:endParaRPr lang="en-IN"/>
          </a:p>
        </p:txBody>
      </p:sp>
      <p:sp>
        <p:nvSpPr>
          <p:cNvPr id="19" name="Text 17"/>
          <p:cNvSpPr/>
          <p:nvPr/>
        </p:nvSpPr>
        <p:spPr>
          <a:xfrm>
            <a:off x="6126480" y="2084832"/>
            <a:ext cx="2423160" cy="420624"/>
          </a:xfrm>
          <a:prstGeom prst="rect">
            <a:avLst/>
          </a:prstGeom>
          <a:noFill/>
          <a:ln/>
        </p:spPr>
        <p:txBody>
          <a:bodyPr wrap="square" lIns="0" tIns="0" rIns="0" bIns="0" rtlCol="0" anchor="ctr"/>
          <a:lstStyle/>
          <a:p>
            <a:pPr marL="0" indent="0">
              <a:buNone/>
            </a:pPr>
            <a:r>
              <a:rPr lang="en-US" sz="950" b="1">
                <a:solidFill>
                  <a:srgbClr val="0A2E4E"/>
                </a:solidFill>
                <a:latin typeface="Segoe UI" pitchFamily="34" charset="0"/>
                <a:ea typeface="Segoe UI" pitchFamily="34" charset="-122"/>
                <a:cs typeface="Segoe UI" pitchFamily="34" charset="-120"/>
              </a:rPr>
              <a:t>Sync  </a:t>
            </a:r>
            <a:r>
              <a:rPr lang="en-US" sz="850">
                <a:solidFill>
                  <a:srgbClr val="44566B"/>
                </a:solidFill>
                <a:latin typeface="Segoe UI" pitchFamily="34" charset="0"/>
                <a:ea typeface="Segoe UI" pitchFamily="34" charset="-122"/>
                <a:cs typeface="Segoe UI" pitchFamily="34" charset="-120"/>
              </a:rPr>
              <a:t>state reconciled automatically</a:t>
            </a:r>
            <a:endParaRPr lang="en-US" sz="950"/>
          </a:p>
        </p:txBody>
      </p:sp>
      <p:sp>
        <p:nvSpPr>
          <p:cNvPr id="20" name="pod box">
            <a:extLst>
              <a:ext uri="{C183D7F6-B498-43B3-948B-1728B52AA6E4}">
                <adec:decorative xmlns:adec="http://schemas.microsoft.com/office/drawing/2017/decorative" val="1"/>
              </a:ext>
            </a:extLst>
          </p:cNvPr>
          <p:cNvSpPr/>
          <p:nvPr/>
        </p:nvSpPr>
        <p:spPr>
          <a:xfrm>
            <a:off x="6035040" y="2596896"/>
            <a:ext cx="2606040" cy="420624"/>
          </a:xfrm>
          <a:prstGeom prst="rect">
            <a:avLst/>
          </a:prstGeom>
          <a:solidFill>
            <a:srgbClr val="EDF4FC"/>
          </a:solidFill>
          <a:ln w="9525">
            <a:solidFill>
              <a:srgbClr val="0B63CE"/>
            </a:solidFill>
            <a:prstDash val="solid"/>
          </a:ln>
        </p:spPr>
        <p:txBody>
          <a:bodyPr/>
          <a:lstStyle/>
          <a:p>
            <a:endParaRPr lang="en-IN"/>
          </a:p>
        </p:txBody>
      </p:sp>
      <p:sp>
        <p:nvSpPr>
          <p:cNvPr id="21" name="Text 19"/>
          <p:cNvSpPr/>
          <p:nvPr/>
        </p:nvSpPr>
        <p:spPr>
          <a:xfrm>
            <a:off x="6126480" y="2596896"/>
            <a:ext cx="2423160" cy="420624"/>
          </a:xfrm>
          <a:prstGeom prst="rect">
            <a:avLst/>
          </a:prstGeom>
          <a:noFill/>
          <a:ln/>
        </p:spPr>
        <p:txBody>
          <a:bodyPr wrap="square" lIns="0" tIns="0" rIns="0" bIns="0" rtlCol="0" anchor="ctr"/>
          <a:lstStyle/>
          <a:p>
            <a:pPr marL="0" indent="0">
              <a:buNone/>
            </a:pPr>
            <a:r>
              <a:rPr lang="en-US" sz="950" b="1">
                <a:solidFill>
                  <a:srgbClr val="0A2E4E"/>
                </a:solidFill>
                <a:latin typeface="Segoe UI" pitchFamily="34" charset="0"/>
                <a:ea typeface="Segoe UI" pitchFamily="34" charset="-122"/>
                <a:cs typeface="Segoe UI" pitchFamily="34" charset="-120"/>
              </a:rPr>
              <a:t>Drift  </a:t>
            </a:r>
            <a:r>
              <a:rPr lang="en-US" sz="850">
                <a:solidFill>
                  <a:srgbClr val="44566B"/>
                </a:solidFill>
                <a:latin typeface="Segoe UI" pitchFamily="34" charset="0"/>
                <a:ea typeface="Segoe UI" pitchFamily="34" charset="-122"/>
                <a:cs typeface="Segoe UI" pitchFamily="34" charset="-120"/>
              </a:rPr>
              <a:t>manual changes are reverted or flagged</a:t>
            </a:r>
            <a:endParaRPr lang="en-US" sz="950"/>
          </a:p>
        </p:txBody>
      </p:sp>
      <p:sp>
        <p:nvSpPr>
          <p:cNvPr id="22" name="stat block">
            <a:extLst>
              <a:ext uri="{C183D7F6-B498-43B3-948B-1728B52AA6E4}">
                <adec:decorative xmlns:adec="http://schemas.microsoft.com/office/drawing/2017/decorative" val="1"/>
              </a:ext>
            </a:extLst>
          </p:cNvPr>
          <p:cNvSpPr/>
          <p:nvPr/>
        </p:nvSpPr>
        <p:spPr>
          <a:xfrm>
            <a:off x="502920"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3" name="stat accent">
            <a:extLst>
              <a:ext uri="{C183D7F6-B498-43B3-948B-1728B52AA6E4}">
                <adec:decorative xmlns:adec="http://schemas.microsoft.com/office/drawing/2017/decorative" val="1"/>
              </a:ext>
            </a:extLst>
          </p:cNvPr>
          <p:cNvSpPr/>
          <p:nvPr/>
        </p:nvSpPr>
        <p:spPr>
          <a:xfrm>
            <a:off x="502920" y="3246120"/>
            <a:ext cx="45720" cy="621792"/>
          </a:xfrm>
          <a:prstGeom prst="rect">
            <a:avLst/>
          </a:prstGeom>
          <a:solidFill>
            <a:srgbClr val="0B63CE"/>
          </a:solidFill>
          <a:ln w="12700">
            <a:solidFill>
              <a:srgbClr val="333333"/>
            </a:solidFill>
            <a:prstDash val="solid"/>
          </a:ln>
        </p:spPr>
        <p:txBody>
          <a:bodyPr/>
          <a:lstStyle/>
          <a:p>
            <a:endParaRPr lang="en-IN"/>
          </a:p>
        </p:txBody>
      </p:sp>
      <p:sp>
        <p:nvSpPr>
          <p:cNvPr id="24" name="Text 22"/>
          <p:cNvSpPr/>
          <p:nvPr/>
        </p:nvSpPr>
        <p:spPr>
          <a:xfrm>
            <a:off x="685800"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Pull, not push</a:t>
            </a:r>
            <a:endParaRPr lang="en-US" sz="1100"/>
          </a:p>
        </p:txBody>
      </p:sp>
      <p:sp>
        <p:nvSpPr>
          <p:cNvPr id="25" name="Text 23"/>
          <p:cNvSpPr/>
          <p:nvPr/>
        </p:nvSpPr>
        <p:spPr>
          <a:xfrm>
            <a:off x="685800" y="3557016"/>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The cluster reaches out to Git, so the pipeline never needs cluster credentials.</a:t>
            </a:r>
            <a:endParaRPr lang="en-US" sz="800"/>
          </a:p>
        </p:txBody>
      </p:sp>
      <p:sp>
        <p:nvSpPr>
          <p:cNvPr id="26" name="stat block">
            <a:extLst>
              <a:ext uri="{C183D7F6-B498-43B3-948B-1728B52AA6E4}">
                <adec:decorative xmlns:adec="http://schemas.microsoft.com/office/drawing/2017/decorative" val="1"/>
              </a:ext>
            </a:extLst>
          </p:cNvPr>
          <p:cNvSpPr/>
          <p:nvPr/>
        </p:nvSpPr>
        <p:spPr>
          <a:xfrm>
            <a:off x="3282696"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27" name="stat accent">
            <a:extLst>
              <a:ext uri="{C183D7F6-B498-43B3-948B-1728B52AA6E4}">
                <adec:decorative xmlns:adec="http://schemas.microsoft.com/office/drawing/2017/decorative" val="1"/>
              </a:ext>
            </a:extLst>
          </p:cNvPr>
          <p:cNvSpPr/>
          <p:nvPr/>
        </p:nvSpPr>
        <p:spPr>
          <a:xfrm>
            <a:off x="3282696" y="3246120"/>
            <a:ext cx="45720" cy="621792"/>
          </a:xfrm>
          <a:prstGeom prst="rect">
            <a:avLst/>
          </a:prstGeom>
          <a:solidFill>
            <a:srgbClr val="F2A93B"/>
          </a:solidFill>
          <a:ln w="12700">
            <a:solidFill>
              <a:srgbClr val="333333"/>
            </a:solidFill>
            <a:prstDash val="solid"/>
          </a:ln>
        </p:spPr>
        <p:txBody>
          <a:bodyPr/>
          <a:lstStyle/>
          <a:p>
            <a:endParaRPr lang="en-IN"/>
          </a:p>
        </p:txBody>
      </p:sp>
      <p:sp>
        <p:nvSpPr>
          <p:cNvPr id="28" name="Text 26"/>
          <p:cNvSpPr/>
          <p:nvPr/>
        </p:nvSpPr>
        <p:spPr>
          <a:xfrm>
            <a:off x="3465576"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Git is the audit trail</a:t>
            </a:r>
            <a:endParaRPr lang="en-US" sz="1100"/>
          </a:p>
        </p:txBody>
      </p:sp>
      <p:sp>
        <p:nvSpPr>
          <p:cNvPr id="29" name="Text 27"/>
          <p:cNvSpPr/>
          <p:nvPr/>
        </p:nvSpPr>
        <p:spPr>
          <a:xfrm>
            <a:off x="3465576" y="3557016"/>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Every change is a reviewed commit, and a rollback is a revert.</a:t>
            </a:r>
            <a:endParaRPr lang="en-US" sz="800"/>
          </a:p>
        </p:txBody>
      </p:sp>
      <p:sp>
        <p:nvSpPr>
          <p:cNvPr id="30" name="stat block">
            <a:extLst>
              <a:ext uri="{C183D7F6-B498-43B3-948B-1728B52AA6E4}">
                <adec:decorative xmlns:adec="http://schemas.microsoft.com/office/drawing/2017/decorative" val="1"/>
              </a:ext>
            </a:extLst>
          </p:cNvPr>
          <p:cNvSpPr/>
          <p:nvPr/>
        </p:nvSpPr>
        <p:spPr>
          <a:xfrm>
            <a:off x="6062472" y="3246120"/>
            <a:ext cx="2578608" cy="621792"/>
          </a:xfrm>
          <a:prstGeom prst="rect">
            <a:avLst/>
          </a:prstGeom>
          <a:solidFill>
            <a:srgbClr val="EDF4FC"/>
          </a:solidFill>
          <a:ln w="12700">
            <a:solidFill>
              <a:srgbClr val="333333"/>
            </a:solidFill>
            <a:prstDash val="solid"/>
          </a:ln>
        </p:spPr>
        <p:txBody>
          <a:bodyPr/>
          <a:lstStyle/>
          <a:p>
            <a:endParaRPr lang="en-IN"/>
          </a:p>
        </p:txBody>
      </p:sp>
      <p:sp>
        <p:nvSpPr>
          <p:cNvPr id="31" name="stat accent">
            <a:extLst>
              <a:ext uri="{C183D7F6-B498-43B3-948B-1728B52AA6E4}">
                <adec:decorative xmlns:adec="http://schemas.microsoft.com/office/drawing/2017/decorative" val="1"/>
              </a:ext>
            </a:extLst>
          </p:cNvPr>
          <p:cNvSpPr/>
          <p:nvPr/>
        </p:nvSpPr>
        <p:spPr>
          <a:xfrm>
            <a:off x="6062472" y="3246120"/>
            <a:ext cx="45720" cy="621792"/>
          </a:xfrm>
          <a:prstGeom prst="rect">
            <a:avLst/>
          </a:prstGeom>
          <a:solidFill>
            <a:srgbClr val="17A9DB"/>
          </a:solidFill>
          <a:ln w="12700">
            <a:solidFill>
              <a:srgbClr val="333333"/>
            </a:solidFill>
            <a:prstDash val="solid"/>
          </a:ln>
        </p:spPr>
        <p:txBody>
          <a:bodyPr/>
          <a:lstStyle/>
          <a:p>
            <a:endParaRPr lang="en-IN"/>
          </a:p>
        </p:txBody>
      </p:sp>
      <p:sp>
        <p:nvSpPr>
          <p:cNvPr id="32" name="Text 30"/>
          <p:cNvSpPr/>
          <p:nvPr/>
        </p:nvSpPr>
        <p:spPr>
          <a:xfrm>
            <a:off x="6245352" y="3319272"/>
            <a:ext cx="2258568" cy="237744"/>
          </a:xfrm>
          <a:prstGeom prst="rect">
            <a:avLst/>
          </a:prstGeom>
          <a:noFill/>
          <a:ln/>
        </p:spPr>
        <p:txBody>
          <a:bodyPr wrap="square" lIns="0" tIns="0" rIns="0" bIns="0" rtlCol="0" anchor="ctr"/>
          <a:lstStyle/>
          <a:p>
            <a:pPr marL="0" indent="0">
              <a:buNone/>
            </a:pPr>
            <a:r>
              <a:rPr lang="en-US" sz="1100" b="1">
                <a:solidFill>
                  <a:srgbClr val="0E2233"/>
                </a:solidFill>
                <a:latin typeface="Segoe UI" pitchFamily="34" charset="0"/>
                <a:ea typeface="Segoe UI" pitchFamily="34" charset="-122"/>
                <a:cs typeface="Segoe UI" pitchFamily="34" charset="-120"/>
              </a:rPr>
              <a:t>Self-healing</a:t>
            </a:r>
            <a:endParaRPr lang="en-US" sz="1100"/>
          </a:p>
        </p:txBody>
      </p:sp>
      <p:sp>
        <p:nvSpPr>
          <p:cNvPr id="33" name="Text 31"/>
          <p:cNvSpPr/>
          <p:nvPr/>
        </p:nvSpPr>
        <p:spPr>
          <a:xfrm>
            <a:off x="6245352" y="3557016"/>
            <a:ext cx="2258568" cy="256032"/>
          </a:xfrm>
          <a:prstGeom prst="rect">
            <a:avLst/>
          </a:prstGeom>
          <a:noFill/>
          <a:ln/>
        </p:spPr>
        <p:txBody>
          <a:bodyPr wrap="square" lIns="0" tIns="0" rIns="0" bIns="0" rtlCol="0" anchor="t"/>
          <a:lstStyle/>
          <a:p>
            <a:pPr marL="0" indent="0">
              <a:lnSpc>
                <a:spcPct val="105000"/>
              </a:lnSpc>
              <a:buNone/>
            </a:pPr>
            <a:r>
              <a:rPr lang="en-US" sz="700">
                <a:solidFill>
                  <a:srgbClr val="44566B"/>
                </a:solidFill>
                <a:latin typeface="Segoe UI" pitchFamily="34" charset="0"/>
                <a:ea typeface="Segoe UI" pitchFamily="34" charset="-122"/>
                <a:cs typeface="Segoe UI" pitchFamily="34" charset="-120"/>
              </a:rPr>
              <a:t>If someone edits a live object, Argo CD notices the drift and puts it back.</a:t>
            </a:r>
            <a:endParaRPr lang="en-US" sz="800"/>
          </a:p>
        </p:txBody>
      </p:sp>
      <p:sp>
        <p:nvSpPr>
          <p:cNvPr id="34" name="callout band">
            <a:extLst>
              <a:ext uri="{C183D7F6-B498-43B3-948B-1728B52AA6E4}">
                <adec:decorative xmlns:adec="http://schemas.microsoft.com/office/drawing/2017/decorative" val="1"/>
              </a:ext>
            </a:extLst>
          </p:cNvPr>
          <p:cNvSpPr/>
          <p:nvPr/>
        </p:nvSpPr>
        <p:spPr>
          <a:xfrm>
            <a:off x="502920" y="4133088"/>
            <a:ext cx="8138160" cy="457200"/>
          </a:xfrm>
          <a:prstGeom prst="rect">
            <a:avLst/>
          </a:prstGeom>
          <a:solidFill>
            <a:srgbClr val="EDF4FC"/>
          </a:solidFill>
          <a:ln w="12700">
            <a:solidFill>
              <a:srgbClr val="333333"/>
            </a:solidFill>
            <a:prstDash val="solid"/>
          </a:ln>
        </p:spPr>
        <p:txBody>
          <a:bodyPr/>
          <a:lstStyle/>
          <a:p>
            <a:endParaRPr lang="en-IN"/>
          </a:p>
        </p:txBody>
      </p:sp>
      <p:sp>
        <p:nvSpPr>
          <p:cNvPr id="35" name="callout accent">
            <a:extLst>
              <a:ext uri="{C183D7F6-B498-43B3-948B-1728B52AA6E4}">
                <adec:decorative xmlns:adec="http://schemas.microsoft.com/office/drawing/2017/decorative" val="1"/>
              </a:ext>
            </a:extLst>
          </p:cNvPr>
          <p:cNvSpPr/>
          <p:nvPr/>
        </p:nvSpPr>
        <p:spPr>
          <a:xfrm>
            <a:off x="502920" y="4133088"/>
            <a:ext cx="45720" cy="457200"/>
          </a:xfrm>
          <a:prstGeom prst="rect">
            <a:avLst/>
          </a:prstGeom>
          <a:solidFill>
            <a:srgbClr val="F2A93B"/>
          </a:solidFill>
          <a:ln w="12700">
            <a:solidFill>
              <a:srgbClr val="333333"/>
            </a:solidFill>
            <a:prstDash val="solid"/>
          </a:ln>
        </p:spPr>
        <p:txBody>
          <a:bodyPr/>
          <a:lstStyle/>
          <a:p>
            <a:endParaRPr lang="en-IN"/>
          </a:p>
        </p:txBody>
      </p:sp>
      <p:sp>
        <p:nvSpPr>
          <p:cNvPr id="36" name="Text 34"/>
          <p:cNvSpPr/>
          <p:nvPr/>
        </p:nvSpPr>
        <p:spPr>
          <a:xfrm>
            <a:off x="704088" y="4133088"/>
            <a:ext cx="7754112" cy="457200"/>
          </a:xfrm>
          <a:prstGeom prst="rect">
            <a:avLst/>
          </a:prstGeom>
          <a:noFill/>
          <a:ln/>
        </p:spPr>
        <p:txBody>
          <a:bodyPr wrap="square" lIns="0" tIns="0" rIns="0" bIns="0" rtlCol="0" anchor="ctr"/>
          <a:lstStyle/>
          <a:p>
            <a:pPr marL="0" indent="0">
              <a:buNone/>
            </a:pPr>
            <a:r>
              <a:rPr lang="en-US" sz="1000" b="1">
                <a:solidFill>
                  <a:srgbClr val="F2A93B"/>
                </a:solidFill>
                <a:latin typeface="Segoe UI" pitchFamily="34" charset="0"/>
                <a:ea typeface="Segoe UI" pitchFamily="34" charset="-122"/>
                <a:cs typeface="Segoe UI" pitchFamily="34" charset="-120"/>
              </a:rPr>
              <a:t>On AKS   </a:t>
            </a:r>
            <a:r>
              <a:rPr lang="en-US" sz="950">
                <a:solidFill>
                  <a:srgbClr val="0E2233"/>
                </a:solidFill>
                <a:latin typeface="Segoe UI" pitchFamily="34" charset="0"/>
                <a:ea typeface="Segoe UI" pitchFamily="34" charset="-122"/>
                <a:cs typeface="Segoe UI" pitchFamily="34" charset="-120"/>
              </a:rPr>
              <a:t>you can install Argo CD with Helm, or use the GitOps (Flux v2) cluster extension — the principle is identical: the desired state lives in Git.</a:t>
            </a:r>
            <a:endParaRPr lang="en-US" sz="1000"/>
          </a:p>
        </p:txBody>
      </p:sp>
      <p:sp>
        <p:nvSpPr>
          <p:cNvPr id="37"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Abstract illustration of glowing steps ascending towards a bright horizon, representing continued learning"/>
          <p:cNvPicPr>
            <a:picLocks noChangeAspect="1"/>
          </p:cNvPicPr>
          <p:nvPr/>
        </p:nvPicPr>
        <p:blipFill>
          <a:blip r:embed="rId3"/>
          <a:srcRect l="26988" r="26988"/>
          <a:stretch/>
        </p:blipFill>
        <p:spPr>
          <a:xfrm>
            <a:off x="4937760" y="0"/>
            <a:ext cx="4206240" cy="5143500"/>
          </a:xfrm>
          <a:prstGeom prst="rect">
            <a:avLst/>
          </a:prstGeom>
        </p:spPr>
      </p:pic>
      <p:sp>
        <p:nvSpPr>
          <p:cNvPr id="3" name="image wash">
            <a:extLst>
              <a:ext uri="{C183D7F6-B498-43B3-948B-1728B52AA6E4}">
                <adec:decorative xmlns:adec="http://schemas.microsoft.com/office/drawing/2017/decorative" val="1"/>
              </a:ext>
            </a:extLst>
          </p:cNvPr>
          <p:cNvSpPr/>
          <p:nvPr/>
        </p:nvSpPr>
        <p:spPr>
          <a:xfrm>
            <a:off x="4937760" y="0"/>
            <a:ext cx="4206240" cy="5143500"/>
          </a:xfrm>
          <a:prstGeom prst="rect">
            <a:avLst/>
          </a:prstGeom>
          <a:solidFill>
            <a:srgbClr val="FFFFFF">
              <a:alpha val="70000"/>
            </a:srgbClr>
          </a:solidFill>
          <a:ln w="12700">
            <a:solidFill>
              <a:srgbClr val="333333"/>
            </a:solidFill>
            <a:prstDash val="solid"/>
          </a:ln>
        </p:spPr>
        <p:txBody>
          <a:bodyPr/>
          <a:lstStyle/>
          <a:p>
            <a:endParaRPr lang="en-IN"/>
          </a:p>
        </p:txBody>
      </p:sp>
      <p:sp>
        <p:nvSpPr>
          <p:cNvPr id="4" name="Text 1"/>
          <p:cNvSpPr/>
          <p:nvPr/>
        </p:nvSpPr>
        <p:spPr>
          <a:xfrm>
            <a:off x="502920" y="457200"/>
            <a:ext cx="4114800" cy="228600"/>
          </a:xfrm>
          <a:prstGeom prst="rect">
            <a:avLst/>
          </a:prstGeom>
          <a:noFill/>
          <a:ln/>
        </p:spPr>
        <p:txBody>
          <a:bodyPr wrap="square" lIns="0" tIns="0" rIns="0" bIns="0" rtlCol="0" anchor="ctr"/>
          <a:lstStyle/>
          <a:p>
            <a:pPr marL="0" indent="0">
              <a:buNone/>
            </a:pPr>
            <a:r>
              <a:rPr lang="en-US" sz="1000" b="1" kern="0" spc="200">
                <a:solidFill>
                  <a:srgbClr val="0B63CE"/>
                </a:solidFill>
                <a:latin typeface="Segoe UI" pitchFamily="34" charset="0"/>
                <a:ea typeface="Segoe UI" pitchFamily="34" charset="-122"/>
                <a:cs typeface="Segoe UI" pitchFamily="34" charset="-120"/>
              </a:rPr>
              <a:t>DAY 2 · WRAP UP</a:t>
            </a:r>
            <a:endParaRPr lang="en-US" sz="1000"/>
          </a:p>
        </p:txBody>
      </p:sp>
      <p:sp>
        <p:nvSpPr>
          <p:cNvPr id="5" name="Text 2"/>
          <p:cNvSpPr/>
          <p:nvPr/>
        </p:nvSpPr>
        <p:spPr>
          <a:xfrm>
            <a:off x="502920" y="694944"/>
            <a:ext cx="4206240" cy="548640"/>
          </a:xfrm>
          <a:prstGeom prst="rect">
            <a:avLst/>
          </a:prstGeom>
          <a:noFill/>
          <a:ln/>
        </p:spPr>
        <p:txBody>
          <a:bodyPr wrap="square" lIns="0" tIns="0" rIns="0" bIns="0" rtlCol="0" anchor="ctr"/>
          <a:lstStyle/>
          <a:p>
            <a:pPr marL="0" indent="0">
              <a:buNone/>
            </a:pPr>
            <a:r>
              <a:rPr lang="en-US" sz="1800" b="1">
                <a:solidFill>
                  <a:srgbClr val="0E2233"/>
                </a:solidFill>
                <a:latin typeface="Segoe UI" pitchFamily="34" charset="0"/>
                <a:ea typeface="Segoe UI" pitchFamily="34" charset="-122"/>
                <a:cs typeface="Segoe UI" pitchFamily="34" charset="-120"/>
              </a:rPr>
              <a:t>Where to go from here</a:t>
            </a:r>
            <a:endParaRPr lang="en-US" sz="1800"/>
          </a:p>
        </p:txBody>
      </p:sp>
      <p:sp>
        <p:nvSpPr>
          <p:cNvPr id="6" name="rule">
            <a:extLst>
              <a:ext uri="{C183D7F6-B498-43B3-948B-1728B52AA6E4}">
                <adec:decorative xmlns:adec="http://schemas.microsoft.com/office/drawing/2017/decorative" val="1"/>
              </a:ext>
            </a:extLst>
          </p:cNvPr>
          <p:cNvSpPr/>
          <p:nvPr/>
        </p:nvSpPr>
        <p:spPr>
          <a:xfrm>
            <a:off x="502920" y="1298448"/>
            <a:ext cx="548640" cy="32004"/>
          </a:xfrm>
          <a:prstGeom prst="rect">
            <a:avLst/>
          </a:prstGeom>
          <a:solidFill>
            <a:srgbClr val="17A9DB"/>
          </a:solidFill>
          <a:ln w="12700">
            <a:solidFill>
              <a:srgbClr val="333333"/>
            </a:solidFill>
            <a:prstDash val="solid"/>
          </a:ln>
        </p:spPr>
        <p:txBody>
          <a:bodyPr/>
          <a:lstStyle/>
          <a:p>
            <a:endParaRPr lang="en-IN"/>
          </a:p>
        </p:txBody>
      </p:sp>
      <p:sp>
        <p:nvSpPr>
          <p:cNvPr id="7" name="item accent">
            <a:extLst>
              <a:ext uri="{C183D7F6-B498-43B3-948B-1728B52AA6E4}">
                <adec:decorative xmlns:adec="http://schemas.microsoft.com/office/drawing/2017/decorative" val="1"/>
              </a:ext>
            </a:extLst>
          </p:cNvPr>
          <p:cNvSpPr/>
          <p:nvPr/>
        </p:nvSpPr>
        <p:spPr>
          <a:xfrm>
            <a:off x="502920" y="1481328"/>
            <a:ext cx="41148" cy="548640"/>
          </a:xfrm>
          <a:prstGeom prst="rect">
            <a:avLst/>
          </a:prstGeom>
          <a:solidFill>
            <a:srgbClr val="0B63CE"/>
          </a:solidFill>
          <a:ln w="12700">
            <a:solidFill>
              <a:srgbClr val="333333"/>
            </a:solidFill>
            <a:prstDash val="solid"/>
          </a:ln>
        </p:spPr>
        <p:txBody>
          <a:bodyPr/>
          <a:lstStyle/>
          <a:p>
            <a:endParaRPr lang="en-IN"/>
          </a:p>
        </p:txBody>
      </p:sp>
      <p:sp>
        <p:nvSpPr>
          <p:cNvPr id="8" name="Text 5"/>
          <p:cNvSpPr/>
          <p:nvPr/>
        </p:nvSpPr>
        <p:spPr>
          <a:xfrm>
            <a:off x="713232" y="1481328"/>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Right-size before you autoscale</a:t>
            </a:r>
            <a:endParaRPr lang="en-US" sz="1250"/>
          </a:p>
        </p:txBody>
      </p:sp>
      <p:sp>
        <p:nvSpPr>
          <p:cNvPr id="9" name="Text 6"/>
          <p:cNvSpPr/>
          <p:nvPr/>
        </p:nvSpPr>
        <p:spPr>
          <a:xfrm>
            <a:off x="713232" y="1719072"/>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Requests and limits first, then an HPA. Autoscaling bad numbers just scales the problem.</a:t>
            </a:r>
            <a:endParaRPr lang="en-US" sz="1000"/>
          </a:p>
        </p:txBody>
      </p:sp>
      <p:sp>
        <p:nvSpPr>
          <p:cNvPr id="10" name="item accent">
            <a:extLst>
              <a:ext uri="{C183D7F6-B498-43B3-948B-1728B52AA6E4}">
                <adec:decorative xmlns:adec="http://schemas.microsoft.com/office/drawing/2017/decorative" val="1"/>
              </a:ext>
            </a:extLst>
          </p:cNvPr>
          <p:cNvSpPr/>
          <p:nvPr/>
        </p:nvSpPr>
        <p:spPr>
          <a:xfrm>
            <a:off x="502920" y="2103120"/>
            <a:ext cx="41148" cy="548640"/>
          </a:xfrm>
          <a:prstGeom prst="rect">
            <a:avLst/>
          </a:prstGeom>
          <a:solidFill>
            <a:srgbClr val="17A9DB"/>
          </a:solidFill>
          <a:ln w="12700">
            <a:solidFill>
              <a:srgbClr val="333333"/>
            </a:solidFill>
            <a:prstDash val="solid"/>
          </a:ln>
        </p:spPr>
        <p:txBody>
          <a:bodyPr/>
          <a:lstStyle/>
          <a:p>
            <a:endParaRPr lang="en-IN"/>
          </a:p>
        </p:txBody>
      </p:sp>
      <p:sp>
        <p:nvSpPr>
          <p:cNvPr id="11" name="Text 8"/>
          <p:cNvSpPr/>
          <p:nvPr/>
        </p:nvSpPr>
        <p:spPr>
          <a:xfrm>
            <a:off x="713232" y="2103120"/>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Design for disruption</a:t>
            </a:r>
            <a:endParaRPr lang="en-US" sz="1250"/>
          </a:p>
        </p:txBody>
      </p:sp>
      <p:sp>
        <p:nvSpPr>
          <p:cNvPr id="12" name="Text 9"/>
          <p:cNvSpPr/>
          <p:nvPr/>
        </p:nvSpPr>
        <p:spPr>
          <a:xfrm>
            <a:off x="713232" y="2340864"/>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Multiple replicas, spread across zones, with a Pod Disruption Budget that still lets nodes drain.</a:t>
            </a:r>
            <a:endParaRPr lang="en-US" sz="1000"/>
          </a:p>
        </p:txBody>
      </p:sp>
      <p:sp>
        <p:nvSpPr>
          <p:cNvPr id="13" name="item accent">
            <a:extLst>
              <a:ext uri="{C183D7F6-B498-43B3-948B-1728B52AA6E4}">
                <adec:decorative xmlns:adec="http://schemas.microsoft.com/office/drawing/2017/decorative" val="1"/>
              </a:ext>
            </a:extLst>
          </p:cNvPr>
          <p:cNvSpPr/>
          <p:nvPr/>
        </p:nvSpPr>
        <p:spPr>
          <a:xfrm>
            <a:off x="502920" y="2724912"/>
            <a:ext cx="41148" cy="548640"/>
          </a:xfrm>
          <a:prstGeom prst="rect">
            <a:avLst/>
          </a:prstGeom>
          <a:solidFill>
            <a:srgbClr val="0B63CE"/>
          </a:solidFill>
          <a:ln w="12700">
            <a:solidFill>
              <a:srgbClr val="333333"/>
            </a:solidFill>
            <a:prstDash val="solid"/>
          </a:ln>
        </p:spPr>
        <p:txBody>
          <a:bodyPr/>
          <a:lstStyle/>
          <a:p>
            <a:endParaRPr lang="en-IN"/>
          </a:p>
        </p:txBody>
      </p:sp>
      <p:sp>
        <p:nvSpPr>
          <p:cNvPr id="14" name="Text 11"/>
          <p:cNvSpPr/>
          <p:nvPr/>
        </p:nvSpPr>
        <p:spPr>
          <a:xfrm>
            <a:off x="713232" y="2724912"/>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One way in</a:t>
            </a:r>
            <a:endParaRPr lang="en-US" sz="1250"/>
          </a:p>
        </p:txBody>
      </p:sp>
      <p:sp>
        <p:nvSpPr>
          <p:cNvPr id="15" name="Text 12"/>
          <p:cNvSpPr/>
          <p:nvPr/>
        </p:nvSpPr>
        <p:spPr>
          <a:xfrm>
            <a:off x="713232" y="2962656"/>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An ingress controller with clear host and path rules, and certificate renewal on automation.</a:t>
            </a:r>
            <a:endParaRPr lang="en-US" sz="1000"/>
          </a:p>
        </p:txBody>
      </p:sp>
      <p:sp>
        <p:nvSpPr>
          <p:cNvPr id="16" name="item accent">
            <a:extLst>
              <a:ext uri="{C183D7F6-B498-43B3-948B-1728B52AA6E4}">
                <adec:decorative xmlns:adec="http://schemas.microsoft.com/office/drawing/2017/decorative" val="1"/>
              </a:ext>
            </a:extLst>
          </p:cNvPr>
          <p:cNvSpPr/>
          <p:nvPr/>
        </p:nvSpPr>
        <p:spPr>
          <a:xfrm>
            <a:off x="502920" y="3346704"/>
            <a:ext cx="41148" cy="548640"/>
          </a:xfrm>
          <a:prstGeom prst="rect">
            <a:avLst/>
          </a:prstGeom>
          <a:solidFill>
            <a:srgbClr val="17A9DB"/>
          </a:solidFill>
          <a:ln w="12700">
            <a:solidFill>
              <a:srgbClr val="333333"/>
            </a:solidFill>
            <a:prstDash val="solid"/>
          </a:ln>
        </p:spPr>
        <p:txBody>
          <a:bodyPr/>
          <a:lstStyle/>
          <a:p>
            <a:endParaRPr lang="en-IN"/>
          </a:p>
        </p:txBody>
      </p:sp>
      <p:sp>
        <p:nvSpPr>
          <p:cNvPr id="17" name="Text 14"/>
          <p:cNvSpPr/>
          <p:nvPr/>
        </p:nvSpPr>
        <p:spPr>
          <a:xfrm>
            <a:off x="713232" y="3346704"/>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Make the cluster observable</a:t>
            </a:r>
            <a:endParaRPr lang="en-US" sz="1250"/>
          </a:p>
        </p:txBody>
      </p:sp>
      <p:sp>
        <p:nvSpPr>
          <p:cNvPr id="18" name="Text 15"/>
          <p:cNvSpPr/>
          <p:nvPr/>
        </p:nvSpPr>
        <p:spPr>
          <a:xfrm>
            <a:off x="713232" y="3584448"/>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Container Insights, structured logs and alerts on the signals your users actually feel.</a:t>
            </a:r>
            <a:endParaRPr lang="en-US" sz="1000"/>
          </a:p>
        </p:txBody>
      </p:sp>
      <p:sp>
        <p:nvSpPr>
          <p:cNvPr id="19" name="item accent">
            <a:extLst>
              <a:ext uri="{C183D7F6-B498-43B3-948B-1728B52AA6E4}">
                <adec:decorative xmlns:adec="http://schemas.microsoft.com/office/drawing/2017/decorative" val="1"/>
              </a:ext>
            </a:extLst>
          </p:cNvPr>
          <p:cNvSpPr/>
          <p:nvPr/>
        </p:nvSpPr>
        <p:spPr>
          <a:xfrm>
            <a:off x="502920" y="3968496"/>
            <a:ext cx="41148" cy="548640"/>
          </a:xfrm>
          <a:prstGeom prst="rect">
            <a:avLst/>
          </a:prstGeom>
          <a:solidFill>
            <a:srgbClr val="0B63CE"/>
          </a:solidFill>
          <a:ln w="12700">
            <a:solidFill>
              <a:srgbClr val="333333"/>
            </a:solidFill>
            <a:prstDash val="solid"/>
          </a:ln>
        </p:spPr>
        <p:txBody>
          <a:bodyPr/>
          <a:lstStyle/>
          <a:p>
            <a:endParaRPr lang="en-IN"/>
          </a:p>
        </p:txBody>
      </p:sp>
      <p:sp>
        <p:nvSpPr>
          <p:cNvPr id="20" name="Text 17"/>
          <p:cNvSpPr/>
          <p:nvPr/>
        </p:nvSpPr>
        <p:spPr>
          <a:xfrm>
            <a:off x="713232" y="3968496"/>
            <a:ext cx="4023360" cy="256032"/>
          </a:xfrm>
          <a:prstGeom prst="rect">
            <a:avLst/>
          </a:prstGeom>
          <a:noFill/>
          <a:ln/>
        </p:spPr>
        <p:txBody>
          <a:bodyPr wrap="square" lIns="0" tIns="0" rIns="0" bIns="0" rtlCol="0" anchor="ctr"/>
          <a:lstStyle/>
          <a:p>
            <a:pPr marL="0" indent="0">
              <a:buNone/>
            </a:pPr>
            <a:r>
              <a:rPr lang="en-US" sz="1250" b="1">
                <a:solidFill>
                  <a:srgbClr val="0E2233"/>
                </a:solidFill>
                <a:latin typeface="Segoe UI" pitchFamily="34" charset="0"/>
                <a:ea typeface="Segoe UI" pitchFamily="34" charset="-122"/>
                <a:cs typeface="Segoe UI" pitchFamily="34" charset="-120"/>
              </a:rPr>
              <a:t>Ship through a pipeline, not by hand</a:t>
            </a:r>
            <a:endParaRPr lang="en-US" sz="1250"/>
          </a:p>
        </p:txBody>
      </p:sp>
      <p:sp>
        <p:nvSpPr>
          <p:cNvPr id="21" name="Text 18"/>
          <p:cNvSpPr/>
          <p:nvPr/>
        </p:nvSpPr>
        <p:spPr>
          <a:xfrm>
            <a:off x="713232" y="4206240"/>
            <a:ext cx="4023360" cy="310896"/>
          </a:xfrm>
          <a:prstGeom prst="rect">
            <a:avLst/>
          </a:prstGeom>
          <a:noFill/>
          <a:ln/>
        </p:spPr>
        <p:txBody>
          <a:bodyPr wrap="square" lIns="0" tIns="0" rIns="0" bIns="0" rtlCol="0" anchor="t"/>
          <a:lstStyle/>
          <a:p>
            <a:pPr marL="0" indent="0">
              <a:lnSpc>
                <a:spcPct val="105000"/>
              </a:lnSpc>
              <a:buNone/>
            </a:pPr>
            <a:r>
              <a:rPr lang="en-US" sz="1000">
                <a:solidFill>
                  <a:srgbClr val="44566B"/>
                </a:solidFill>
                <a:latin typeface="Segoe UI" pitchFamily="34" charset="0"/>
                <a:ea typeface="Segoe UI" pitchFamily="34" charset="-122"/>
                <a:cs typeface="Segoe UI" pitchFamily="34" charset="-120"/>
              </a:rPr>
              <a:t>Build once, deploy by immutable tag, and let Git hold the desired state.</a:t>
            </a:r>
            <a:endParaRPr lang="en-US" sz="1000"/>
          </a:p>
        </p:txBody>
      </p:sp>
      <p:sp>
        <p:nvSpPr>
          <p:cNvPr id="25" name="Slide Number Placeholder 0"/>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8360C-92AD-9661-0B5F-BBA47873DBB2}"/>
            </a:ext>
          </a:extLst>
        </p:cNvPr>
        <p:cNvGrpSpPr/>
        <p:nvPr/>
      </p:nvGrpSpPr>
      <p:grpSpPr>
        <a:xfrm>
          <a:off x="0" y="0"/>
          <a:ext cx="0" cy="0"/>
          <a:chOff x="0" y="0"/>
          <a:chExt cx="0" cy="0"/>
        </a:xfrm>
      </p:grpSpPr>
      <p:sp>
        <p:nvSpPr>
          <p:cNvPr id="2" name="section background">
            <a:extLst>
              <a:ext uri="{FF2B5EF4-FFF2-40B4-BE49-F238E27FC236}">
                <a16:creationId xmlns:a16="http://schemas.microsoft.com/office/drawing/2014/main" id="{01E4D1E3-1748-18D5-7B13-8EEDC70A6803}"/>
              </a:ext>
              <a:ext uri="{C183D7F6-B498-43B3-948B-1728B52AA6E4}">
                <adec:decorative xmlns:adec="http://schemas.microsoft.com/office/drawing/2017/decorative" val="1"/>
              </a:ext>
            </a:extLst>
          </p:cNvPr>
          <p:cNvSpPr/>
          <p:nvPr/>
        </p:nvSpPr>
        <p:spPr>
          <a:xfrm>
            <a:off x="0" y="-7620"/>
            <a:ext cx="9144000" cy="5143500"/>
          </a:xfrm>
          <a:prstGeom prst="rect">
            <a:avLst/>
          </a:prstGeom>
          <a:solidFill>
            <a:srgbClr val="0A2E4E"/>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Abstract technical illustration supporting the section theme">
            <a:extLst>
              <a:ext uri="{FF2B5EF4-FFF2-40B4-BE49-F238E27FC236}">
                <a16:creationId xmlns:a16="http://schemas.microsoft.com/office/drawing/2014/main" id="{17FD99C1-8A1E-B131-E724-E2C58832F9B2}"/>
              </a:ext>
            </a:extLst>
          </p:cNvPr>
          <p:cNvPicPr>
            <a:picLocks noChangeAspect="1"/>
          </p:cNvPicPr>
          <p:nvPr/>
        </p:nvPicPr>
        <p:blipFill>
          <a:blip r:embed="rId3">
            <a:alphaModFix amt="80000"/>
          </a:blip>
          <a:srcRect l="24987" r="24987"/>
          <a:stretch/>
        </p:blipFill>
        <p:spPr>
          <a:xfrm>
            <a:off x="4572000" y="0"/>
            <a:ext cx="4572000" cy="5143500"/>
          </a:xfrm>
          <a:prstGeom prst="rect">
            <a:avLst/>
          </a:prstGeom>
        </p:spPr>
      </p:pic>
      <p:sp>
        <p:nvSpPr>
          <p:cNvPr id="4" name="gradient blend">
            <a:extLst>
              <a:ext uri="{FF2B5EF4-FFF2-40B4-BE49-F238E27FC236}">
                <a16:creationId xmlns:a16="http://schemas.microsoft.com/office/drawing/2014/main" id="{4A2B7670-2254-6A9D-6C89-324BE04D096F}"/>
              </a:ext>
              <a:ext uri="{C183D7F6-B498-43B3-948B-1728B52AA6E4}">
                <adec:decorative xmlns:adec="http://schemas.microsoft.com/office/drawing/2017/decorative" val="1"/>
              </a:ext>
            </a:extLst>
          </p:cNvPr>
          <p:cNvSpPr/>
          <p:nvPr/>
        </p:nvSpPr>
        <p:spPr>
          <a:xfrm>
            <a:off x="4160520" y="0"/>
            <a:ext cx="420624" cy="5143500"/>
          </a:xfrm>
          <a:prstGeom prst="rect">
            <a:avLst/>
          </a:prstGeom>
          <a:solidFill>
            <a:srgbClr val="0A2E4E">
              <a:alpha val="55000"/>
            </a:srgbClr>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226042D4-99E4-7E57-390E-9862B358E731}"/>
              </a:ext>
            </a:extLst>
          </p:cNvPr>
          <p:cNvSpPr/>
          <p:nvPr/>
        </p:nvSpPr>
        <p:spPr>
          <a:xfrm>
            <a:off x="640080" y="1874520"/>
            <a:ext cx="3749040" cy="1005840"/>
          </a:xfrm>
          <a:prstGeom prst="rect">
            <a:avLst/>
          </a:prstGeom>
          <a:noFill/>
          <a:ln/>
        </p:spPr>
        <p:txBody>
          <a:bodyPr wrap="square" lIns="0" tIns="0" rIns="0" bIns="0"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Thank  You</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ule">
            <a:extLst>
              <a:ext uri="{FF2B5EF4-FFF2-40B4-BE49-F238E27FC236}">
                <a16:creationId xmlns:a16="http://schemas.microsoft.com/office/drawing/2014/main" id="{72957795-D777-52EE-B5C3-F025285AEC25}"/>
              </a:ext>
              <a:ext uri="{C183D7F6-B498-43B3-948B-1728B52AA6E4}">
                <adec:decorative xmlns:adec="http://schemas.microsoft.com/office/drawing/2017/decorative" val="1"/>
              </a:ext>
            </a:extLst>
          </p:cNvPr>
          <p:cNvSpPr/>
          <p:nvPr/>
        </p:nvSpPr>
        <p:spPr>
          <a:xfrm>
            <a:off x="640080" y="3017520"/>
            <a:ext cx="640080" cy="32004"/>
          </a:xfrm>
          <a:prstGeom prst="rect">
            <a:avLst/>
          </a:prstGeom>
          <a:solidFill>
            <a:srgbClr val="17A9D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lide Number Placeholder 0">
            <a:extLst>
              <a:ext uri="{FF2B5EF4-FFF2-40B4-BE49-F238E27FC236}">
                <a16:creationId xmlns:a16="http://schemas.microsoft.com/office/drawing/2014/main" id="{D67FDA52-9814-1B02-4D67-F90DAF6FD0BD}"/>
              </a:ext>
            </a:extLst>
          </p:cNvPr>
          <p:cNvSpPr>
            <a:spLocks noGrp="1"/>
          </p:cNvSpPr>
          <p:nvPr>
            <p:ph type="sldNum" sz="quarter" idx="4294967295"/>
          </p:nvPr>
        </p:nvSpPr>
        <p:spPr>
          <a:xfrm>
            <a:off x="8412480" y="4745736"/>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7C8FA3"/>
                </a:solidFill>
                <a:latin typeface="Segoe UI"/>
                <a:ea typeface="Segoe UI"/>
                <a:cs typeface="Segoe U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7C8FA3"/>
                </a:solidFill>
                <a:effectLst/>
                <a:uLnTx/>
                <a:uFillTx/>
                <a:latin typeface="Segoe UI"/>
                <a:cs typeface="Segoe UI"/>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900" b="0" i="0" u="none" strike="noStrike" kern="1200" cap="none" spc="0" normalizeH="0" baseline="0" noProof="0">
              <a:ln>
                <a:noFill/>
              </a:ln>
              <a:solidFill>
                <a:srgbClr val="7C8FA3"/>
              </a:solidFill>
              <a:effectLst/>
              <a:uLnTx/>
              <a:uFillTx/>
              <a:latin typeface="Segoe UI"/>
              <a:cs typeface="Segoe UI"/>
            </a:endParaRPr>
          </a:p>
        </p:txBody>
      </p:sp>
    </p:spTree>
    <p:extLst>
      <p:ext uri="{BB962C8B-B14F-4D97-AF65-F5344CB8AC3E}">
        <p14:creationId xmlns:p14="http://schemas.microsoft.com/office/powerpoint/2010/main" val="3481979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2354</TotalTime>
  <Words>32951</Words>
  <Application>Microsoft Office PowerPoint</Application>
  <PresentationFormat>On-screen Show (16:9)</PresentationFormat>
  <Paragraphs>2190</Paragraphs>
  <Slides>76</Slides>
  <Notes>76</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Sunagar</dc:creator>
  <cp:lastModifiedBy>Pramod Sunagar</cp:lastModifiedBy>
  <cp:revision>26</cp:revision>
  <dcterms:created xsi:type="dcterms:W3CDTF">2026-08-10T17:04:47Z</dcterms:created>
  <dcterms:modified xsi:type="dcterms:W3CDTF">2026-08-13T04:05:59Z</dcterms:modified>
</cp:coreProperties>
</file>